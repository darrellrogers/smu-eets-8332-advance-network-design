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53"/>
  </p:notesMasterIdLst>
  <p:handoutMasterIdLst>
    <p:handoutMasterId r:id="rId54"/>
  </p:handoutMasterIdLst>
  <p:sldIdLst>
    <p:sldId id="258" r:id="rId2"/>
    <p:sldId id="472" r:id="rId3"/>
    <p:sldId id="475" r:id="rId4"/>
    <p:sldId id="476" r:id="rId5"/>
    <p:sldId id="477" r:id="rId6"/>
    <p:sldId id="478" r:id="rId7"/>
    <p:sldId id="479" r:id="rId8"/>
    <p:sldId id="525" r:id="rId9"/>
    <p:sldId id="481" r:id="rId10"/>
    <p:sldId id="482" r:id="rId11"/>
    <p:sldId id="483" r:id="rId12"/>
    <p:sldId id="484" r:id="rId13"/>
    <p:sldId id="485" r:id="rId14"/>
    <p:sldId id="486" r:id="rId15"/>
    <p:sldId id="487" r:id="rId16"/>
    <p:sldId id="490" r:id="rId17"/>
    <p:sldId id="489" r:id="rId18"/>
    <p:sldId id="491" r:id="rId19"/>
    <p:sldId id="492" r:id="rId20"/>
    <p:sldId id="493" r:id="rId21"/>
    <p:sldId id="494" r:id="rId22"/>
    <p:sldId id="495" r:id="rId23"/>
    <p:sldId id="496" r:id="rId24"/>
    <p:sldId id="497" r:id="rId25"/>
    <p:sldId id="498" r:id="rId26"/>
    <p:sldId id="499" r:id="rId27"/>
    <p:sldId id="500" r:id="rId28"/>
    <p:sldId id="501" r:id="rId29"/>
    <p:sldId id="502" r:id="rId30"/>
    <p:sldId id="503" r:id="rId31"/>
    <p:sldId id="504" r:id="rId32"/>
    <p:sldId id="524" r:id="rId33"/>
    <p:sldId id="505" r:id="rId34"/>
    <p:sldId id="506" r:id="rId35"/>
    <p:sldId id="507" r:id="rId36"/>
    <p:sldId id="508" r:id="rId37"/>
    <p:sldId id="509" r:id="rId38"/>
    <p:sldId id="510" r:id="rId39"/>
    <p:sldId id="511" r:id="rId40"/>
    <p:sldId id="512" r:id="rId41"/>
    <p:sldId id="513" r:id="rId42"/>
    <p:sldId id="514" r:id="rId43"/>
    <p:sldId id="515" r:id="rId44"/>
    <p:sldId id="517" r:id="rId45"/>
    <p:sldId id="518" r:id="rId46"/>
    <p:sldId id="519" r:id="rId47"/>
    <p:sldId id="520" r:id="rId48"/>
    <p:sldId id="521" r:id="rId49"/>
    <p:sldId id="522" r:id="rId50"/>
    <p:sldId id="523" r:id="rId51"/>
    <p:sldId id="526" r:id="rId52"/>
  </p:sldIdLst>
  <p:sldSz cx="9144000" cy="6858000" type="screen4x3"/>
  <p:notesSz cx="6858000" cy="91440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04">
          <p15:clr>
            <a:srgbClr val="A4A3A4"/>
          </p15:clr>
        </p15:guide>
        <p15:guide id="3" orient="horz" pos="4136">
          <p15:clr>
            <a:srgbClr val="A4A3A4"/>
          </p15:clr>
        </p15:guide>
        <p15:guide id="4" pos="2880">
          <p15:clr>
            <a:srgbClr val="A4A3A4"/>
          </p15:clr>
        </p15:guide>
        <p15:guide id="5" pos="144">
          <p15:clr>
            <a:srgbClr val="A4A3A4"/>
          </p15:clr>
        </p15:guide>
        <p15:guide id="6" pos="5568">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EA6A"/>
    <a:srgbClr val="16DE0C"/>
    <a:srgbClr val="FFFF00"/>
    <a:srgbClr val="1F09BF"/>
    <a:srgbClr val="FBFBFB"/>
    <a:srgbClr val="2A3A68"/>
    <a:srgbClr val="FFFFFF"/>
    <a:srgbClr val="FFFFCC"/>
    <a:srgbClr val="CC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39" autoAdjust="0"/>
    <p:restoredTop sz="86834" autoAdjust="0"/>
  </p:normalViewPr>
  <p:slideViewPr>
    <p:cSldViewPr>
      <p:cViewPr varScale="1">
        <p:scale>
          <a:sx n="99" d="100"/>
          <a:sy n="99" d="100"/>
        </p:scale>
        <p:origin x="2118" y="78"/>
      </p:cViewPr>
      <p:guideLst>
        <p:guide orient="horz" pos="2160"/>
        <p:guide orient="horz" pos="4004"/>
        <p:guide orient="horz" pos="4136"/>
        <p:guide pos="2880"/>
        <p:guide pos="144"/>
        <p:guide pos="55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0" d="100"/>
          <a:sy n="120" d="100"/>
        </p:scale>
        <p:origin x="-1472" y="-104"/>
      </p:cViewPr>
      <p:guideLst>
        <p:guide orient="horz" pos="2880"/>
        <p:guide pos="216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bwMode="auto">
          <a:xfrm>
            <a:off x="2" y="0"/>
            <a:ext cx="2971800" cy="457200"/>
          </a:xfrm>
          <a:prstGeom prst="rect">
            <a:avLst/>
          </a:prstGeom>
          <a:noFill/>
          <a:ln w="9525">
            <a:noFill/>
            <a:miter lim="800000"/>
            <a:headEnd/>
            <a:tailEnd/>
          </a:ln>
          <a:effectLst/>
        </p:spPr>
        <p:txBody>
          <a:bodyPr vert="horz" wrap="square" lIns="91409" tIns="45704" rIns="91409" bIns="45704" numCol="1" anchor="t" anchorCtr="0" compatLnSpc="1">
            <a:prstTxWarp prst="textNoShape">
              <a:avLst/>
            </a:prstTxWarp>
          </a:bodyPr>
          <a:lstStyle>
            <a:lvl1pPr>
              <a:defRPr sz="1200"/>
            </a:lvl1pPr>
          </a:lstStyle>
          <a:p>
            <a:endParaRPr lang="en-US" dirty="0"/>
          </a:p>
        </p:txBody>
      </p:sp>
      <p:sp>
        <p:nvSpPr>
          <p:cNvPr id="89091" name="Rectangle 3"/>
          <p:cNvSpPr>
            <a:spLocks noGrp="1" noChangeArrowheads="1"/>
          </p:cNvSpPr>
          <p:nvPr>
            <p:ph type="dt" sz="quarter" idx="1"/>
          </p:nvPr>
        </p:nvSpPr>
        <p:spPr bwMode="auto">
          <a:xfrm>
            <a:off x="3886202" y="0"/>
            <a:ext cx="2971800" cy="457200"/>
          </a:xfrm>
          <a:prstGeom prst="rect">
            <a:avLst/>
          </a:prstGeom>
          <a:noFill/>
          <a:ln w="9525">
            <a:noFill/>
            <a:miter lim="800000"/>
            <a:headEnd/>
            <a:tailEnd/>
          </a:ln>
          <a:effectLst/>
        </p:spPr>
        <p:txBody>
          <a:bodyPr vert="horz" wrap="square" lIns="91409" tIns="45704" rIns="91409" bIns="45704" numCol="1" anchor="t" anchorCtr="0" compatLnSpc="1">
            <a:prstTxWarp prst="textNoShape">
              <a:avLst/>
            </a:prstTxWarp>
          </a:bodyPr>
          <a:lstStyle>
            <a:lvl1pPr algn="r">
              <a:defRPr sz="1200"/>
            </a:lvl1pPr>
          </a:lstStyle>
          <a:p>
            <a:endParaRPr lang="en-US" dirty="0"/>
          </a:p>
        </p:txBody>
      </p:sp>
      <p:sp>
        <p:nvSpPr>
          <p:cNvPr id="89092" name="Rectangle 4"/>
          <p:cNvSpPr>
            <a:spLocks noGrp="1" noChangeArrowheads="1"/>
          </p:cNvSpPr>
          <p:nvPr>
            <p:ph type="ftr" sz="quarter" idx="2"/>
          </p:nvPr>
        </p:nvSpPr>
        <p:spPr bwMode="auto">
          <a:xfrm>
            <a:off x="2" y="8686800"/>
            <a:ext cx="2971800" cy="457200"/>
          </a:xfrm>
          <a:prstGeom prst="rect">
            <a:avLst/>
          </a:prstGeom>
          <a:noFill/>
          <a:ln w="9525">
            <a:noFill/>
            <a:miter lim="800000"/>
            <a:headEnd/>
            <a:tailEnd/>
          </a:ln>
          <a:effectLst/>
        </p:spPr>
        <p:txBody>
          <a:bodyPr vert="horz" wrap="square" lIns="91409" tIns="45704" rIns="91409" bIns="45704" numCol="1" anchor="b" anchorCtr="0" compatLnSpc="1">
            <a:prstTxWarp prst="textNoShape">
              <a:avLst/>
            </a:prstTxWarp>
          </a:bodyPr>
          <a:lstStyle>
            <a:lvl1pPr>
              <a:defRPr sz="1200"/>
            </a:lvl1pPr>
          </a:lstStyle>
          <a:p>
            <a:endParaRPr lang="en-US" dirty="0"/>
          </a:p>
        </p:txBody>
      </p:sp>
      <p:sp>
        <p:nvSpPr>
          <p:cNvPr id="89093" name="Rectangle 5"/>
          <p:cNvSpPr>
            <a:spLocks noGrp="1" noChangeArrowheads="1"/>
          </p:cNvSpPr>
          <p:nvPr>
            <p:ph type="sldNum" sz="quarter" idx="3"/>
          </p:nvPr>
        </p:nvSpPr>
        <p:spPr bwMode="auto">
          <a:xfrm>
            <a:off x="3886202" y="8686800"/>
            <a:ext cx="2971800" cy="457200"/>
          </a:xfrm>
          <a:prstGeom prst="rect">
            <a:avLst/>
          </a:prstGeom>
          <a:noFill/>
          <a:ln w="9525">
            <a:noFill/>
            <a:miter lim="800000"/>
            <a:headEnd/>
            <a:tailEnd/>
          </a:ln>
          <a:effectLst/>
        </p:spPr>
        <p:txBody>
          <a:bodyPr vert="horz" wrap="square" lIns="91409" tIns="45704" rIns="91409" bIns="45704" numCol="1" anchor="b" anchorCtr="0" compatLnSpc="1">
            <a:prstTxWarp prst="textNoShape">
              <a:avLst/>
            </a:prstTxWarp>
          </a:bodyPr>
          <a:lstStyle>
            <a:lvl1pPr algn="r">
              <a:defRPr sz="1200"/>
            </a:lvl1pPr>
          </a:lstStyle>
          <a:p>
            <a:fld id="{D8B8FAEF-4EC0-46B6-842C-DD1E8A8FDD9A}" type="slidenum">
              <a:rPr lang="en-US"/>
              <a:pPr/>
              <a:t>‹#›</a:t>
            </a:fld>
            <a:endParaRPr lang="en-US" dirty="0"/>
          </a:p>
        </p:txBody>
      </p:sp>
    </p:spTree>
    <p:extLst>
      <p:ext uri="{BB962C8B-B14F-4D97-AF65-F5344CB8AC3E}">
        <p14:creationId xmlns:p14="http://schemas.microsoft.com/office/powerpoint/2010/main" val="21013833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2" y="0"/>
            <a:ext cx="2971800" cy="457200"/>
          </a:xfrm>
          <a:prstGeom prst="rect">
            <a:avLst/>
          </a:prstGeom>
          <a:noFill/>
          <a:ln w="9525">
            <a:noFill/>
            <a:miter lim="800000"/>
            <a:headEnd/>
            <a:tailEnd/>
          </a:ln>
          <a:effectLst/>
        </p:spPr>
        <p:txBody>
          <a:bodyPr vert="horz" wrap="square" lIns="91409" tIns="45704" rIns="91409" bIns="45704" numCol="1" anchor="t" anchorCtr="0" compatLnSpc="1">
            <a:prstTxWarp prst="textNoShape">
              <a:avLst/>
            </a:prstTxWarp>
          </a:bodyPr>
          <a:lstStyle>
            <a:lvl1pPr>
              <a:defRPr sz="1200" b="0"/>
            </a:lvl1pPr>
          </a:lstStyle>
          <a:p>
            <a:endParaRPr lang="en-US" dirty="0"/>
          </a:p>
        </p:txBody>
      </p:sp>
      <p:sp>
        <p:nvSpPr>
          <p:cNvPr id="6147" name="Rectangle 3"/>
          <p:cNvSpPr>
            <a:spLocks noGrp="1" noChangeArrowheads="1"/>
          </p:cNvSpPr>
          <p:nvPr>
            <p:ph type="dt" idx="1"/>
          </p:nvPr>
        </p:nvSpPr>
        <p:spPr bwMode="auto">
          <a:xfrm>
            <a:off x="3884615" y="0"/>
            <a:ext cx="2971800" cy="457200"/>
          </a:xfrm>
          <a:prstGeom prst="rect">
            <a:avLst/>
          </a:prstGeom>
          <a:noFill/>
          <a:ln w="9525">
            <a:noFill/>
            <a:miter lim="800000"/>
            <a:headEnd/>
            <a:tailEnd/>
          </a:ln>
          <a:effectLst/>
        </p:spPr>
        <p:txBody>
          <a:bodyPr vert="horz" wrap="square" lIns="91409" tIns="45704" rIns="91409" bIns="45704" numCol="1" anchor="t" anchorCtr="0" compatLnSpc="1">
            <a:prstTxWarp prst="textNoShape">
              <a:avLst/>
            </a:prstTxWarp>
          </a:bodyPr>
          <a:lstStyle>
            <a:lvl1pPr algn="r">
              <a:defRPr sz="1200" b="0"/>
            </a:lvl1pPr>
          </a:lstStyle>
          <a:p>
            <a:endParaRPr lang="en-US" dirty="0"/>
          </a:p>
        </p:txBody>
      </p:sp>
      <p:sp>
        <p:nvSpPr>
          <p:cNvPr id="61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09" tIns="45704" rIns="91409" bIns="45704"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150" name="Rectangle 6"/>
          <p:cNvSpPr>
            <a:spLocks noGrp="1" noChangeArrowheads="1"/>
          </p:cNvSpPr>
          <p:nvPr>
            <p:ph type="ftr" sz="quarter" idx="4"/>
          </p:nvPr>
        </p:nvSpPr>
        <p:spPr bwMode="auto">
          <a:xfrm>
            <a:off x="2" y="8685213"/>
            <a:ext cx="2971800" cy="457200"/>
          </a:xfrm>
          <a:prstGeom prst="rect">
            <a:avLst/>
          </a:prstGeom>
          <a:noFill/>
          <a:ln w="9525">
            <a:noFill/>
            <a:miter lim="800000"/>
            <a:headEnd/>
            <a:tailEnd/>
          </a:ln>
          <a:effectLst/>
        </p:spPr>
        <p:txBody>
          <a:bodyPr vert="horz" wrap="square" lIns="91409" tIns="45704" rIns="91409" bIns="45704" numCol="1" anchor="b" anchorCtr="0" compatLnSpc="1">
            <a:prstTxWarp prst="textNoShape">
              <a:avLst/>
            </a:prstTxWarp>
          </a:bodyPr>
          <a:lstStyle>
            <a:lvl1pPr>
              <a:defRPr sz="1200" b="0"/>
            </a:lvl1pPr>
          </a:lstStyle>
          <a:p>
            <a:endParaRPr lang="en-US" dirty="0"/>
          </a:p>
        </p:txBody>
      </p:sp>
      <p:sp>
        <p:nvSpPr>
          <p:cNvPr id="6151" name="Rectangle 7"/>
          <p:cNvSpPr>
            <a:spLocks noGrp="1" noChangeArrowheads="1"/>
          </p:cNvSpPr>
          <p:nvPr>
            <p:ph type="sldNum" sz="quarter" idx="5"/>
          </p:nvPr>
        </p:nvSpPr>
        <p:spPr bwMode="auto">
          <a:xfrm>
            <a:off x="3884615" y="8685213"/>
            <a:ext cx="2971800" cy="457200"/>
          </a:xfrm>
          <a:prstGeom prst="rect">
            <a:avLst/>
          </a:prstGeom>
          <a:noFill/>
          <a:ln w="9525">
            <a:noFill/>
            <a:miter lim="800000"/>
            <a:headEnd/>
            <a:tailEnd/>
          </a:ln>
          <a:effectLst/>
        </p:spPr>
        <p:txBody>
          <a:bodyPr vert="horz" wrap="square" lIns="91409" tIns="45704" rIns="91409" bIns="45704" numCol="1" anchor="b" anchorCtr="0" compatLnSpc="1">
            <a:prstTxWarp prst="textNoShape">
              <a:avLst/>
            </a:prstTxWarp>
          </a:bodyPr>
          <a:lstStyle>
            <a:lvl1pPr algn="r">
              <a:defRPr sz="1200" b="0"/>
            </a:lvl1pPr>
          </a:lstStyle>
          <a:p>
            <a:fld id="{461950BF-5E6A-4CD6-97CF-B82A16459836}" type="slidenum">
              <a:rPr lang="en-US"/>
              <a:pPr/>
              <a:t>‹#›</a:t>
            </a:fld>
            <a:endParaRPr lang="en-US" dirty="0"/>
          </a:p>
        </p:txBody>
      </p:sp>
    </p:spTree>
    <p:extLst>
      <p:ext uri="{BB962C8B-B14F-4D97-AF65-F5344CB8AC3E}">
        <p14:creationId xmlns:p14="http://schemas.microsoft.com/office/powerpoint/2010/main" val="292270770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0</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204" name="Picture 36" descr="stmntpg_bkgrd2"/>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7171" name="Rectangle 3"/>
          <p:cNvSpPr>
            <a:spLocks noGrp="1" noChangeArrowheads="1"/>
          </p:cNvSpPr>
          <p:nvPr>
            <p:ph type="ctrTitle"/>
          </p:nvPr>
        </p:nvSpPr>
        <p:spPr>
          <a:xfrm>
            <a:off x="533401" y="1931988"/>
            <a:ext cx="8153400" cy="887412"/>
          </a:xfrm>
        </p:spPr>
        <p:txBody>
          <a:bodyPr/>
          <a:lstStyle>
            <a:lvl1pPr algn="ctr">
              <a:defRPr sz="5400" cap="small" baseline="0">
                <a:solidFill>
                  <a:schemeClr val="bg1"/>
                </a:solidFill>
                <a:effectLst>
                  <a:outerShdw blurRad="38100" dist="38100" dir="2700000" algn="tl">
                    <a:srgbClr val="000000"/>
                  </a:outerShdw>
                </a:effectLst>
                <a:latin typeface="Calibri" pitchFamily="34" charset="0"/>
              </a:defRPr>
            </a:lvl1pPr>
          </a:lstStyle>
          <a:p>
            <a:r>
              <a:rPr lang="en-US" dirty="0"/>
              <a:t>Click to edit Master title style</a:t>
            </a:r>
          </a:p>
        </p:txBody>
      </p:sp>
      <p:sp>
        <p:nvSpPr>
          <p:cNvPr id="7172" name="Rectangle 4"/>
          <p:cNvSpPr>
            <a:spLocks noGrp="1" noChangeArrowheads="1"/>
          </p:cNvSpPr>
          <p:nvPr>
            <p:ph type="subTitle" idx="1"/>
          </p:nvPr>
        </p:nvSpPr>
        <p:spPr>
          <a:xfrm>
            <a:off x="631825" y="2898775"/>
            <a:ext cx="7851775" cy="3121025"/>
          </a:xfrm>
        </p:spPr>
        <p:txBody>
          <a:bodyPr/>
          <a:lstStyle>
            <a:lvl1pPr marL="0" indent="0" algn="ctr">
              <a:buFontTx/>
              <a:buNone/>
              <a:defRPr sz="3200" i="0">
                <a:solidFill>
                  <a:schemeClr val="bg1"/>
                </a:solidFill>
                <a:effectLst>
                  <a:outerShdw blurRad="38100" dist="38100" dir="2700000" algn="tl">
                    <a:srgbClr val="000000"/>
                  </a:outerShdw>
                </a:effectLst>
                <a:latin typeface="Calibri" pitchFamily="34" charset="0"/>
              </a:defRPr>
            </a:lvl1pPr>
          </a:lstStyle>
          <a:p>
            <a:r>
              <a:rPr lang="en-US" dirty="0"/>
              <a:t>Click to edit Master subtitle style</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22237"/>
            <a:ext cx="8686800" cy="563563"/>
          </a:xfrm>
        </p:spPr>
        <p:txBody>
          <a:bodyPr/>
          <a:lstStyle>
            <a:lvl1pPr>
              <a:defRPr sz="3600" b="0">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81000" y="990600"/>
            <a:ext cx="8382000" cy="4953000"/>
          </a:xfrm>
        </p:spPr>
        <p:txBody>
          <a:bodyPr/>
          <a:lstStyle>
            <a:lvl1pPr>
              <a:buClr>
                <a:schemeClr val="tx2"/>
              </a:buClr>
              <a:defRPr sz="3200">
                <a:latin typeface="Calibri" pitchFamily="34" charset="0"/>
              </a:defRPr>
            </a:lvl1pPr>
            <a:lvl2pPr>
              <a:buClr>
                <a:srgbClr val="C00000"/>
              </a:buClr>
              <a:buFont typeface="Wingdings" pitchFamily="2" charset="2"/>
              <a:buChar char="§"/>
              <a:defRPr sz="2800">
                <a:latin typeface="Calibri" pitchFamily="34" charset="0"/>
              </a:defRPr>
            </a:lvl2pPr>
            <a:lvl3pPr>
              <a:defRPr sz="2400">
                <a:latin typeface="Calibri" pitchFamily="34" charset="0"/>
              </a:defRPr>
            </a:lvl3pPr>
            <a:lvl4pPr>
              <a:defRPr sz="2400">
                <a:latin typeface="Calibri" pitchFamily="34" charset="0"/>
              </a:defRPr>
            </a:lvl4pPr>
            <a:lvl5pPr>
              <a:defRPr sz="2400">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p:cNvSpPr>
            <a:spLocks noGrp="1"/>
          </p:cNvSpPr>
          <p:nvPr>
            <p:ph type="sldNum" sz="quarter" idx="10"/>
          </p:nvPr>
        </p:nvSpPr>
        <p:spPr>
          <a:xfrm>
            <a:off x="8686800" y="6400800"/>
            <a:ext cx="155575" cy="152400"/>
          </a:xfrm>
        </p:spPr>
        <p:txBody>
          <a:bodyPr/>
          <a:lstStyle>
            <a:lvl1pPr>
              <a:defRPr/>
            </a:lvl1pPr>
          </a:lstStyle>
          <a:p>
            <a:fld id="{1C0FA7A3-0FBF-4EC3-BE45-825983E95E58}" type="slidenum">
              <a:rPr lang="en-US"/>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800" b="1" cap="small" baseline="0">
                <a:solidFill>
                  <a:schemeClr val="tx1"/>
                </a:solidFill>
                <a:latin typeface="Calibri" pitchFamily="34" charset="0"/>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Slide Number Placeholder 3"/>
          <p:cNvSpPr>
            <a:spLocks noGrp="1"/>
          </p:cNvSpPr>
          <p:nvPr>
            <p:ph type="sldNum" sz="quarter" idx="10"/>
          </p:nvPr>
        </p:nvSpPr>
        <p:spPr>
          <a:xfrm>
            <a:off x="8686800" y="6400800"/>
            <a:ext cx="155575" cy="152400"/>
          </a:xfrm>
        </p:spPr>
        <p:txBody>
          <a:bodyPr/>
          <a:lstStyle>
            <a:lvl1pPr>
              <a:defRPr/>
            </a:lvl1pPr>
          </a:lstStyle>
          <a:p>
            <a:fld id="{340D0772-A24E-4F60-87C6-1B8FABEC81BE}" type="slidenum">
              <a:rPr lang="en-US"/>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Content Placeholder 2"/>
          <p:cNvSpPr>
            <a:spLocks noGrp="1"/>
          </p:cNvSpPr>
          <p:nvPr>
            <p:ph sz="half" idx="1"/>
          </p:nvPr>
        </p:nvSpPr>
        <p:spPr>
          <a:xfrm>
            <a:off x="228600" y="15240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8686800" y="6400800"/>
            <a:ext cx="155575" cy="152400"/>
          </a:xfrm>
        </p:spPr>
        <p:txBody>
          <a:bodyPr/>
          <a:lstStyle>
            <a:lvl1pPr>
              <a:defRPr/>
            </a:lvl1pPr>
          </a:lstStyle>
          <a:p>
            <a:fld id="{30D1CA97-B344-4217-90AD-1773C9A60CA6}" type="slidenum">
              <a:rPr lang="en-US"/>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8600" y="46038"/>
            <a:ext cx="8229600" cy="563562"/>
          </a:xfrm>
        </p:spPr>
        <p:txBody>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457200" y="914400"/>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676400"/>
            <a:ext cx="4040188" cy="4449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914400"/>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676400"/>
            <a:ext cx="4041775" cy="4449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0"/>
          </p:nvPr>
        </p:nvSpPr>
        <p:spPr>
          <a:xfrm>
            <a:off x="8686800" y="6400800"/>
            <a:ext cx="155575" cy="152400"/>
          </a:xfrm>
        </p:spPr>
        <p:txBody>
          <a:bodyPr/>
          <a:lstStyle>
            <a:lvl1pPr>
              <a:defRPr/>
            </a:lvl1pPr>
          </a:lstStyle>
          <a:p>
            <a:fld id="{AA73854A-5C14-47C3-B598-1F673C68FB47}" type="slidenum">
              <a:rPr lang="en-US"/>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Slide Number Placeholder 2"/>
          <p:cNvSpPr>
            <a:spLocks noGrp="1"/>
          </p:cNvSpPr>
          <p:nvPr>
            <p:ph type="sldNum" sz="quarter" idx="10"/>
          </p:nvPr>
        </p:nvSpPr>
        <p:spPr>
          <a:xfrm>
            <a:off x="8686800" y="6400800"/>
            <a:ext cx="155575" cy="152400"/>
          </a:xfrm>
        </p:spPr>
        <p:txBody>
          <a:bodyPr/>
          <a:lstStyle>
            <a:lvl1pPr>
              <a:defRPr/>
            </a:lvl1pPr>
          </a:lstStyle>
          <a:p>
            <a:fld id="{CDC70ED7-27EA-4514-903C-D4A37184F7C2}" type="slidenum">
              <a:rPr lang="en-US"/>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8686800" y="6400800"/>
            <a:ext cx="155575" cy="152400"/>
          </a:xfrm>
        </p:spPr>
        <p:txBody>
          <a:bodyPr/>
          <a:lstStyle>
            <a:lvl1pPr>
              <a:defRPr/>
            </a:lvl1pPr>
          </a:lstStyle>
          <a:p>
            <a:fld id="{8361A7F4-E54E-4223-9BAA-A5DFCE9EB1E4}" type="slidenum">
              <a:rPr lang="en-US"/>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8686800" y="6400800"/>
            <a:ext cx="155575" cy="152400"/>
          </a:xfrm>
        </p:spPr>
        <p:txBody>
          <a:bodyPr/>
          <a:lstStyle>
            <a:lvl1pPr>
              <a:defRPr/>
            </a:lvl1pPr>
          </a:lstStyle>
          <a:p>
            <a:fld id="{C9188CC7-1F86-4711-BAA0-C20CBBAA9A13}" type="slidenum">
              <a:rPr lang="en-US"/>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8839200" y="6400800"/>
            <a:ext cx="155575" cy="152400"/>
          </a:xfrm>
        </p:spPr>
        <p:txBody>
          <a:bodyPr/>
          <a:lstStyle>
            <a:lvl1pPr>
              <a:defRPr/>
            </a:lvl1pPr>
          </a:lstStyle>
          <a:p>
            <a:fld id="{A23425AD-99C3-4D67-BAAA-9EF149E2BC6E}" type="slidenum">
              <a:rPr lang="en-US"/>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1CAF9A4D-BF2E-454A-8E48-0BE3BF83C625}" type="slidenum">
              <a:rPr lang="en-US"/>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685800"/>
            <a:ext cx="2171700" cy="5181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685800"/>
            <a:ext cx="6362700" cy="5181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78D09FAD-2610-4BCF-8A6E-D3BAB9283AB4}" type="slidenum">
              <a:rPr lang="en-US"/>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0518207C-D3B4-4E49-8C59-E267A7D5C2C0}" type="slidenum">
              <a:rPr lang="en-US" smtClean="0"/>
              <a:pPr/>
              <a:t>‹#›</a:t>
            </a:fld>
            <a:endParaRPr lang="en-US" dirty="0"/>
          </a:p>
        </p:txBody>
      </p:sp>
      <p:pic>
        <p:nvPicPr>
          <p:cNvPr id="4" name="Picture 21" descr="textpg_bkgrd2b2"/>
          <p:cNvPicPr>
            <a:picLocks noChangeAspect="1" noChangeArrowheads="1"/>
          </p:cNvPicPr>
          <p:nvPr userDrawn="1"/>
        </p:nvPicPr>
        <p:blipFill>
          <a:blip r:embed="rId2" cstate="print"/>
          <a:srcRect r="8560" b="8560"/>
          <a:stretch>
            <a:fillRect/>
          </a:stretch>
        </p:blipFill>
        <p:spPr bwMode="auto">
          <a:xfrm>
            <a:off x="0" y="0"/>
            <a:ext cx="9144000" cy="6858000"/>
          </a:xfrm>
          <a:prstGeom prst="rect">
            <a:avLst/>
          </a:prstGeom>
          <a:noFill/>
        </p:spPr>
      </p:pic>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gi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folHlink"/>
        </a:solidFill>
        <a:effectLst/>
      </p:bgPr>
    </p:bg>
    <p:spTree>
      <p:nvGrpSpPr>
        <p:cNvPr id="1" name=""/>
        <p:cNvGrpSpPr/>
        <p:nvPr/>
      </p:nvGrpSpPr>
      <p:grpSpPr>
        <a:xfrm>
          <a:off x="0" y="0"/>
          <a:ext cx="0" cy="0"/>
          <a:chOff x="0" y="0"/>
          <a:chExt cx="0" cy="0"/>
        </a:xfrm>
      </p:grpSpPr>
      <p:sp>
        <p:nvSpPr>
          <p:cNvPr id="1032" name="Rectangle 8"/>
          <p:cNvSpPr>
            <a:spLocks noGrp="1" noChangeArrowheads="1"/>
          </p:cNvSpPr>
          <p:nvPr>
            <p:ph type="sldNum" sz="quarter" idx="4"/>
          </p:nvPr>
        </p:nvSpPr>
        <p:spPr bwMode="auto">
          <a:xfrm>
            <a:off x="6245225" y="6400800"/>
            <a:ext cx="155575" cy="152400"/>
          </a:xfrm>
          <a:prstGeom prst="rect">
            <a:avLst/>
          </a:prstGeom>
          <a:noFill/>
          <a:ln w="9525">
            <a:noFill/>
            <a:miter lim="800000"/>
            <a:headEnd/>
            <a:tailEnd/>
          </a:ln>
          <a:effectLst/>
        </p:spPr>
        <p:txBody>
          <a:bodyPr vert="horz" wrap="none" lIns="0" tIns="0" rIns="0" bIns="0" numCol="1" anchor="ctr" anchorCtr="1" compatLnSpc="1">
            <a:prstTxWarp prst="textNoShape">
              <a:avLst/>
            </a:prstTxWarp>
            <a:spAutoFit/>
          </a:bodyPr>
          <a:lstStyle>
            <a:lvl1pPr>
              <a:defRPr sz="1000" b="0">
                <a:solidFill>
                  <a:schemeClr val="tx2"/>
                </a:solidFill>
              </a:defRPr>
            </a:lvl1pPr>
          </a:lstStyle>
          <a:p>
            <a:fld id="{0518207C-D3B4-4E49-8C59-E267A7D5C2C0}" type="slidenum">
              <a:rPr lang="en-US"/>
              <a:pPr/>
              <a:t>‹#›</a:t>
            </a:fld>
            <a:endParaRPr lang="en-US" dirty="0"/>
          </a:p>
        </p:txBody>
      </p:sp>
      <p:pic>
        <p:nvPicPr>
          <p:cNvPr id="1045" name="Picture 21" descr="textpg_bkgrd2b2"/>
          <p:cNvPicPr>
            <a:picLocks noChangeAspect="1" noChangeArrowheads="1"/>
          </p:cNvPicPr>
          <p:nvPr/>
        </p:nvPicPr>
        <p:blipFill>
          <a:blip r:embed="rId14" cstate="print"/>
          <a:srcRect r="5512" b="5512"/>
          <a:stretch>
            <a:fillRect/>
          </a:stretch>
        </p:blipFill>
        <p:spPr bwMode="auto">
          <a:xfrm>
            <a:off x="0" y="0"/>
            <a:ext cx="9144000" cy="6858000"/>
          </a:xfrm>
          <a:prstGeom prst="rect">
            <a:avLst/>
          </a:prstGeom>
          <a:noFill/>
        </p:spPr>
      </p:pic>
      <p:sp>
        <p:nvSpPr>
          <p:cNvPr id="1026" name="Rectangle 2"/>
          <p:cNvSpPr>
            <a:spLocks noGrp="1" noChangeArrowheads="1"/>
          </p:cNvSpPr>
          <p:nvPr>
            <p:ph type="title"/>
          </p:nvPr>
        </p:nvSpPr>
        <p:spPr bwMode="auto">
          <a:xfrm>
            <a:off x="228600" y="0"/>
            <a:ext cx="8686800" cy="639763"/>
          </a:xfrm>
          <a:prstGeom prst="rect">
            <a:avLst/>
          </a:prstGeom>
          <a:noFill/>
          <a:ln w="9525" algn="ctr">
            <a:noFill/>
            <a:miter lim="800000"/>
            <a:headEnd/>
            <a:tailEnd/>
          </a:ln>
          <a:effectLst/>
        </p:spPr>
        <p:txBody>
          <a:bodyPr vert="horz" wrap="square" lIns="0" tIns="0" rIns="0" bIns="0" numCol="1" anchor="b"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228600" y="838200"/>
            <a:ext cx="8686800" cy="5029200"/>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99" name="Rectangle 75"/>
          <p:cNvSpPr>
            <a:spLocks noChangeArrowheads="1"/>
          </p:cNvSpPr>
          <p:nvPr/>
        </p:nvSpPr>
        <p:spPr bwMode="auto">
          <a:xfrm>
            <a:off x="0" y="6248400"/>
            <a:ext cx="9144000" cy="609600"/>
          </a:xfrm>
          <a:prstGeom prst="rect">
            <a:avLst/>
          </a:prstGeom>
          <a:solidFill>
            <a:schemeClr val="bg1"/>
          </a:solidFill>
          <a:ln w="9525">
            <a:noFill/>
            <a:miter lim="800000"/>
            <a:headEnd/>
            <a:tailEnd/>
          </a:ln>
          <a:effectLst/>
        </p:spPr>
        <p:txBody>
          <a:bodyPr wrap="none" anchor="ctr"/>
          <a:lstStyle/>
          <a:p>
            <a:endParaRPr lang="en-US" dirty="0"/>
          </a:p>
        </p:txBody>
      </p:sp>
      <p:pic>
        <p:nvPicPr>
          <p:cNvPr id="1098" name="Picture 74"/>
          <p:cNvPicPr>
            <a:picLocks noChangeAspect="1" noChangeArrowheads="1"/>
          </p:cNvPicPr>
          <p:nvPr/>
        </p:nvPicPr>
        <p:blipFill>
          <a:blip r:embed="rId15" cstate="print"/>
          <a:stretch>
            <a:fillRect/>
          </a:stretch>
        </p:blipFill>
        <p:spPr bwMode="auto">
          <a:xfrm>
            <a:off x="127000" y="6324600"/>
            <a:ext cx="2971800" cy="460200"/>
          </a:xfrm>
          <a:prstGeom prst="rect">
            <a:avLst/>
          </a:prstGeom>
          <a:solidFill>
            <a:srgbClr val="FFFFFF">
              <a:shade val="85000"/>
            </a:srgbClr>
          </a:solidFill>
          <a:ln w="88900" cap="sq">
            <a:noFill/>
            <a:miter lim="800000"/>
          </a:ln>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hf hdr="0" ftr="0" dt="0"/>
  <p:txStyles>
    <p:titleStyle>
      <a:lvl1pPr algn="l" rtl="0" fontAlgn="base">
        <a:spcBef>
          <a:spcPct val="0"/>
        </a:spcBef>
        <a:spcAft>
          <a:spcPct val="0"/>
        </a:spcAft>
        <a:defRPr sz="3200" cap="small" baseline="0">
          <a:solidFill>
            <a:schemeClr val="bg1"/>
          </a:solidFill>
          <a:latin typeface="Calibri" pitchFamily="34" charset="0"/>
          <a:ea typeface="+mj-ea"/>
          <a:cs typeface="+mj-cs"/>
        </a:defRPr>
      </a:lvl1pPr>
      <a:lvl2pPr algn="l" rtl="0" fontAlgn="base">
        <a:spcBef>
          <a:spcPct val="0"/>
        </a:spcBef>
        <a:spcAft>
          <a:spcPct val="0"/>
        </a:spcAft>
        <a:defRPr sz="2400">
          <a:solidFill>
            <a:schemeClr val="tx1"/>
          </a:solidFill>
          <a:latin typeface="Arial" charset="0"/>
        </a:defRPr>
      </a:lvl2pPr>
      <a:lvl3pPr algn="l" rtl="0" fontAlgn="base">
        <a:spcBef>
          <a:spcPct val="0"/>
        </a:spcBef>
        <a:spcAft>
          <a:spcPct val="0"/>
        </a:spcAft>
        <a:defRPr sz="2400">
          <a:solidFill>
            <a:schemeClr val="tx1"/>
          </a:solidFill>
          <a:latin typeface="Arial" charset="0"/>
        </a:defRPr>
      </a:lvl3pPr>
      <a:lvl4pPr algn="l" rtl="0" fontAlgn="base">
        <a:spcBef>
          <a:spcPct val="0"/>
        </a:spcBef>
        <a:spcAft>
          <a:spcPct val="0"/>
        </a:spcAft>
        <a:defRPr sz="2400">
          <a:solidFill>
            <a:schemeClr val="tx1"/>
          </a:solidFill>
          <a:latin typeface="Arial" charset="0"/>
        </a:defRPr>
      </a:lvl4pPr>
      <a:lvl5pPr algn="l" rtl="0" fontAlgn="base">
        <a:spcBef>
          <a:spcPct val="0"/>
        </a:spcBef>
        <a:spcAft>
          <a:spcPct val="0"/>
        </a:spcAft>
        <a:defRPr sz="2400">
          <a:solidFill>
            <a:schemeClr val="tx1"/>
          </a:solidFill>
          <a:latin typeface="Arial" charset="0"/>
        </a:defRPr>
      </a:lvl5pPr>
      <a:lvl6pPr marL="457200" algn="l" rtl="0" fontAlgn="base">
        <a:spcBef>
          <a:spcPct val="0"/>
        </a:spcBef>
        <a:spcAft>
          <a:spcPct val="0"/>
        </a:spcAft>
        <a:defRPr sz="2400">
          <a:solidFill>
            <a:schemeClr val="tx1"/>
          </a:solidFill>
          <a:latin typeface="Arial" charset="0"/>
        </a:defRPr>
      </a:lvl6pPr>
      <a:lvl7pPr marL="914400" algn="l" rtl="0" fontAlgn="base">
        <a:spcBef>
          <a:spcPct val="0"/>
        </a:spcBef>
        <a:spcAft>
          <a:spcPct val="0"/>
        </a:spcAft>
        <a:defRPr sz="2400">
          <a:solidFill>
            <a:schemeClr val="tx1"/>
          </a:solidFill>
          <a:latin typeface="Arial" charset="0"/>
        </a:defRPr>
      </a:lvl7pPr>
      <a:lvl8pPr marL="1371600" algn="l" rtl="0" fontAlgn="base">
        <a:spcBef>
          <a:spcPct val="0"/>
        </a:spcBef>
        <a:spcAft>
          <a:spcPct val="0"/>
        </a:spcAft>
        <a:defRPr sz="2400">
          <a:solidFill>
            <a:schemeClr val="tx1"/>
          </a:solidFill>
          <a:latin typeface="Arial" charset="0"/>
        </a:defRPr>
      </a:lvl8pPr>
      <a:lvl9pPr marL="1828800" algn="l" rtl="0" fontAlgn="base">
        <a:spcBef>
          <a:spcPct val="0"/>
        </a:spcBef>
        <a:spcAft>
          <a:spcPct val="0"/>
        </a:spcAft>
        <a:defRPr sz="2400">
          <a:solidFill>
            <a:schemeClr val="tx1"/>
          </a:solidFill>
          <a:latin typeface="Arial" charset="0"/>
        </a:defRPr>
      </a:lvl9pPr>
    </p:titleStyle>
    <p:bodyStyle>
      <a:lvl1pPr marL="228600" indent="-228600" algn="l" rtl="0" fontAlgn="base">
        <a:spcBef>
          <a:spcPct val="20000"/>
        </a:spcBef>
        <a:spcAft>
          <a:spcPct val="0"/>
        </a:spcAft>
        <a:buClr>
          <a:schemeClr val="hlink"/>
        </a:buClr>
        <a:buChar char="•"/>
        <a:defRPr sz="2000">
          <a:solidFill>
            <a:schemeClr val="tx1"/>
          </a:solidFill>
          <a:latin typeface="+mn-lt"/>
          <a:ea typeface="+mn-ea"/>
          <a:cs typeface="+mn-cs"/>
        </a:defRPr>
      </a:lvl1pPr>
      <a:lvl2pPr marL="565150" indent="-222250" algn="l" rtl="0" fontAlgn="base">
        <a:spcBef>
          <a:spcPct val="20000"/>
        </a:spcBef>
        <a:spcAft>
          <a:spcPct val="0"/>
        </a:spcAft>
        <a:buClr>
          <a:schemeClr val="tx2"/>
        </a:buClr>
        <a:buFont typeface="Arial" charset="0"/>
        <a:buChar char="–"/>
        <a:defRPr>
          <a:solidFill>
            <a:schemeClr val="tx1"/>
          </a:solidFill>
          <a:latin typeface="+mn-lt"/>
        </a:defRPr>
      </a:lvl2pPr>
      <a:lvl3pPr marL="908050" indent="-228600" algn="l" rtl="0" fontAlgn="base">
        <a:spcBef>
          <a:spcPct val="20000"/>
        </a:spcBef>
        <a:spcAft>
          <a:spcPct val="0"/>
        </a:spcAft>
        <a:buClr>
          <a:srgbClr val="918C5A"/>
        </a:buClr>
        <a:buChar char="•"/>
        <a:defRPr sz="1600">
          <a:solidFill>
            <a:schemeClr val="tx1"/>
          </a:solidFill>
          <a:latin typeface="+mn-lt"/>
        </a:defRPr>
      </a:lvl3pPr>
      <a:lvl4pPr marL="1250950" indent="-228600" algn="l" rtl="0" fontAlgn="base">
        <a:spcBef>
          <a:spcPct val="20000"/>
        </a:spcBef>
        <a:spcAft>
          <a:spcPct val="0"/>
        </a:spcAft>
        <a:buClr>
          <a:srgbClr val="918C5A"/>
        </a:buClr>
        <a:buChar char="•"/>
        <a:defRPr sz="1600">
          <a:solidFill>
            <a:schemeClr val="tx1"/>
          </a:solidFill>
          <a:latin typeface="+mn-lt"/>
        </a:defRPr>
      </a:lvl4pPr>
      <a:lvl5pPr marL="1593850" indent="-228600" algn="l" rtl="0" fontAlgn="base">
        <a:spcBef>
          <a:spcPct val="20000"/>
        </a:spcBef>
        <a:spcAft>
          <a:spcPct val="0"/>
        </a:spcAft>
        <a:buClr>
          <a:srgbClr val="918C5A"/>
        </a:buClr>
        <a:buChar char="•"/>
        <a:defRPr sz="1600">
          <a:solidFill>
            <a:schemeClr val="tx1"/>
          </a:solidFill>
          <a:latin typeface="+mn-lt"/>
        </a:defRPr>
      </a:lvl5pPr>
      <a:lvl6pPr marL="2051050" indent="-228600" algn="l" rtl="0" fontAlgn="base">
        <a:spcBef>
          <a:spcPct val="20000"/>
        </a:spcBef>
        <a:spcAft>
          <a:spcPct val="0"/>
        </a:spcAft>
        <a:buClr>
          <a:srgbClr val="918C5A"/>
        </a:buClr>
        <a:buChar char="•"/>
        <a:defRPr sz="1600">
          <a:solidFill>
            <a:schemeClr val="tx1"/>
          </a:solidFill>
          <a:latin typeface="+mn-lt"/>
        </a:defRPr>
      </a:lvl6pPr>
      <a:lvl7pPr marL="2508250" indent="-228600" algn="l" rtl="0" fontAlgn="base">
        <a:spcBef>
          <a:spcPct val="20000"/>
        </a:spcBef>
        <a:spcAft>
          <a:spcPct val="0"/>
        </a:spcAft>
        <a:buClr>
          <a:srgbClr val="918C5A"/>
        </a:buClr>
        <a:buChar char="•"/>
        <a:defRPr sz="1600">
          <a:solidFill>
            <a:schemeClr val="tx1"/>
          </a:solidFill>
          <a:latin typeface="+mn-lt"/>
        </a:defRPr>
      </a:lvl7pPr>
      <a:lvl8pPr marL="2965450" indent="-228600" algn="l" rtl="0" fontAlgn="base">
        <a:spcBef>
          <a:spcPct val="20000"/>
        </a:spcBef>
        <a:spcAft>
          <a:spcPct val="0"/>
        </a:spcAft>
        <a:buClr>
          <a:srgbClr val="918C5A"/>
        </a:buClr>
        <a:buChar char="•"/>
        <a:defRPr sz="1600">
          <a:solidFill>
            <a:schemeClr val="tx1"/>
          </a:solidFill>
          <a:latin typeface="+mn-lt"/>
        </a:defRPr>
      </a:lvl8pPr>
      <a:lvl9pPr marL="3422650" indent="-228600" algn="l" rtl="0" fontAlgn="base">
        <a:spcBef>
          <a:spcPct val="20000"/>
        </a:spcBef>
        <a:spcAft>
          <a:spcPct val="0"/>
        </a:spcAft>
        <a:buClr>
          <a:srgbClr val="918C5A"/>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42" name="Rectangle 10"/>
          <p:cNvSpPr>
            <a:spLocks noGrp="1" noChangeArrowheads="1"/>
          </p:cNvSpPr>
          <p:nvPr>
            <p:ph type="ctrTitle"/>
          </p:nvPr>
        </p:nvSpPr>
        <p:spPr>
          <a:xfrm>
            <a:off x="838200" y="685800"/>
            <a:ext cx="7851775" cy="1725612"/>
          </a:xfrm>
        </p:spPr>
        <p:txBody>
          <a:bodyPr/>
          <a:lstStyle/>
          <a:p>
            <a:r>
              <a:rPr lang="en-US" sz="4000" dirty="0"/>
              <a:t>EETS 8332: Advanced Network Design</a:t>
            </a:r>
          </a:p>
        </p:txBody>
      </p:sp>
      <p:sp>
        <p:nvSpPr>
          <p:cNvPr id="44043" name="Rectangle 11"/>
          <p:cNvSpPr>
            <a:spLocks noGrp="1" noChangeArrowheads="1"/>
          </p:cNvSpPr>
          <p:nvPr>
            <p:ph type="subTitle" idx="1"/>
          </p:nvPr>
        </p:nvSpPr>
        <p:spPr>
          <a:xfrm>
            <a:off x="631825" y="3657600"/>
            <a:ext cx="7851775" cy="1597025"/>
          </a:xfrm>
        </p:spPr>
        <p:txBody>
          <a:bodyPr/>
          <a:lstStyle/>
          <a:p>
            <a:r>
              <a:rPr lang="en-US" sz="3600" i="0" dirty="0">
                <a:latin typeface="Calibri" pitchFamily="34" charset="0"/>
              </a:rPr>
              <a:t>M. Scott Kingsley</a:t>
            </a:r>
            <a:endParaRPr lang="en-US" i="0" dirty="0">
              <a:latin typeface="Calibri" pitchFamily="34" charset="0"/>
            </a:endParaRPr>
          </a:p>
          <a:p>
            <a:endParaRPr lang="en-US" sz="2800" dirty="0"/>
          </a:p>
          <a:p>
            <a:r>
              <a:rPr lang="en-US" sz="3600" i="0" dirty="0"/>
              <a:t>Dynamic Multipoint VPN (DMVPN)</a:t>
            </a:r>
            <a:endParaRPr lang="en-US" sz="3600" dirty="0">
              <a:effectLst>
                <a:outerShdw blurRad="38100" dist="38100" dir="2700000" algn="tl">
                  <a:srgbClr val="000000">
                    <a:alpha val="43137"/>
                  </a:srgbClr>
                </a:outerShdw>
              </a:effectLst>
            </a:endParaRPr>
          </a:p>
          <a:p>
            <a:endParaRPr lang="en-US" sz="2400" i="0" dirty="0">
              <a:latin typeface="Calibri" pitchFamily="3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Dynamic Multipoint VPN (DMVPN)</a:t>
            </a:r>
            <a:endParaRPr lang="en-US" sz="3200" dirty="0">
              <a:effectLst/>
            </a:endParaRPr>
          </a:p>
        </p:txBody>
      </p:sp>
      <p:sp>
        <p:nvSpPr>
          <p:cNvPr id="2" name="Content Placeholder 1"/>
          <p:cNvSpPr>
            <a:spLocks noGrp="1"/>
          </p:cNvSpPr>
          <p:nvPr>
            <p:ph idx="1"/>
          </p:nvPr>
        </p:nvSpPr>
        <p:spPr>
          <a:xfrm>
            <a:off x="304800" y="990600"/>
            <a:ext cx="8382000" cy="7391400"/>
          </a:xfrm>
        </p:spPr>
        <p:txBody>
          <a:bodyPr/>
          <a:lstStyle/>
          <a:p>
            <a:r>
              <a:rPr lang="en-US" sz="3600" dirty="0"/>
              <a:t>What is DMVPN?</a:t>
            </a:r>
          </a:p>
          <a:p>
            <a:pPr lvl="1"/>
            <a:r>
              <a:rPr lang="en-US" sz="3200" dirty="0"/>
              <a:t>DMVPN is a solution for building VPNs in an easy, dynamic and scalable manner </a:t>
            </a:r>
          </a:p>
          <a:p>
            <a:pPr lvl="1"/>
            <a:r>
              <a:rPr lang="en-US" sz="3200" dirty="0"/>
              <a:t>Uses standard technologies </a:t>
            </a:r>
          </a:p>
          <a:p>
            <a:pPr lvl="1"/>
            <a:r>
              <a:rPr lang="en-US" sz="3200" dirty="0"/>
              <a:t>GRE Tunnel Encapsulation </a:t>
            </a:r>
          </a:p>
          <a:p>
            <a:pPr lvl="1"/>
            <a:r>
              <a:rPr lang="en-US" sz="3200" dirty="0"/>
              <a:t>Next Hop Resolution Protocol (NHRP) </a:t>
            </a:r>
          </a:p>
          <a:p>
            <a:pPr lvl="1"/>
            <a:r>
              <a:rPr lang="en-US" sz="3200" dirty="0"/>
              <a:t>IPsec for encryption of the tunnel and authentication </a:t>
            </a:r>
          </a:p>
          <a:p>
            <a:pPr marL="0" indent="0">
              <a:buNone/>
            </a:pPr>
            <a:endParaRPr lang="en-US" sz="36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a:t>
            </a:fld>
            <a:endParaRPr lang="en-US" dirty="0"/>
          </a:p>
        </p:txBody>
      </p:sp>
    </p:spTree>
    <p:extLst>
      <p:ext uri="{BB962C8B-B14F-4D97-AF65-F5344CB8AC3E}">
        <p14:creationId xmlns:p14="http://schemas.microsoft.com/office/powerpoint/2010/main" val="324572920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Dynamic Multipoint VPN (DMVPN)</a:t>
            </a:r>
            <a:endParaRPr lang="en-US" sz="3200" dirty="0">
              <a:effectLst/>
            </a:endParaRPr>
          </a:p>
        </p:txBody>
      </p:sp>
      <p:sp>
        <p:nvSpPr>
          <p:cNvPr id="2" name="Content Placeholder 1"/>
          <p:cNvSpPr>
            <a:spLocks noGrp="1"/>
          </p:cNvSpPr>
          <p:nvPr>
            <p:ph idx="1"/>
          </p:nvPr>
        </p:nvSpPr>
        <p:spPr>
          <a:xfrm>
            <a:off x="382587" y="1143000"/>
            <a:ext cx="8382000" cy="7391400"/>
          </a:xfrm>
        </p:spPr>
        <p:txBody>
          <a:bodyPr/>
          <a:lstStyle/>
          <a:p>
            <a:r>
              <a:rPr lang="en-US" sz="4400" b="1" dirty="0"/>
              <a:t>Basic features</a:t>
            </a:r>
          </a:p>
          <a:p>
            <a:pPr lvl="1"/>
            <a:r>
              <a:rPr lang="en-US" sz="4000" dirty="0"/>
              <a:t>Layering model to support separation of forwarding, tunneling and encryption </a:t>
            </a:r>
          </a:p>
          <a:p>
            <a:pPr lvl="1"/>
            <a:r>
              <a:rPr lang="en-US" sz="4000" dirty="0"/>
              <a:t>Distributed system for scalability </a:t>
            </a:r>
          </a:p>
          <a:p>
            <a:pPr lvl="1"/>
            <a:r>
              <a:rPr lang="en-US" sz="4000" dirty="0"/>
              <a:t>Redundancy and load balancing </a:t>
            </a:r>
          </a:p>
          <a:p>
            <a:pPr marL="0" indent="0">
              <a:buNone/>
            </a:pPr>
            <a:endParaRPr lang="en-US" sz="4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2</a:t>
            </a:fld>
            <a:endParaRPr lang="en-US" dirty="0"/>
          </a:p>
        </p:txBody>
      </p:sp>
    </p:spTree>
    <p:extLst>
      <p:ext uri="{BB962C8B-B14F-4D97-AF65-F5344CB8AC3E}">
        <p14:creationId xmlns:p14="http://schemas.microsoft.com/office/powerpoint/2010/main" val="288279451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Dynamic Multipoint VPN (DMVPN)</a:t>
            </a:r>
            <a:endParaRPr lang="en-US" sz="3200" dirty="0">
              <a:effectLst/>
            </a:endParaRPr>
          </a:p>
        </p:txBody>
      </p:sp>
      <p:sp>
        <p:nvSpPr>
          <p:cNvPr id="2" name="Content Placeholder 1"/>
          <p:cNvSpPr>
            <a:spLocks noGrp="1"/>
          </p:cNvSpPr>
          <p:nvPr>
            <p:ph idx="1"/>
          </p:nvPr>
        </p:nvSpPr>
        <p:spPr>
          <a:xfrm>
            <a:off x="382587" y="1143000"/>
            <a:ext cx="8382000" cy="7391400"/>
          </a:xfrm>
        </p:spPr>
        <p:txBody>
          <a:bodyPr/>
          <a:lstStyle/>
          <a:p>
            <a:r>
              <a:rPr lang="en-US" sz="3600" dirty="0"/>
              <a:t>GRE and NHRP used for tunneling </a:t>
            </a:r>
          </a:p>
          <a:p>
            <a:pPr lvl="1"/>
            <a:r>
              <a:rPr lang="en-US" sz="3200" dirty="0"/>
              <a:t>Both IPv4/IPv6 passenger data over either IPv4 or IPv6 transport. </a:t>
            </a:r>
          </a:p>
          <a:p>
            <a:pPr lvl="1"/>
            <a:r>
              <a:rPr lang="en-US" sz="3200" dirty="0"/>
              <a:t>Can easily be extended for other passenger protocols.</a:t>
            </a:r>
          </a:p>
          <a:p>
            <a:pPr lvl="1"/>
            <a:r>
              <a:rPr lang="en-US" sz="3200" dirty="0"/>
              <a:t>No change needed to IPsec. </a:t>
            </a:r>
          </a:p>
          <a:p>
            <a:pPr lvl="1"/>
            <a:r>
              <a:rPr lang="en-US" sz="3200" dirty="0"/>
              <a:t>Single tunnel between peers supports any number of data flows. </a:t>
            </a:r>
          </a:p>
          <a:p>
            <a:pPr lvl="1"/>
            <a:r>
              <a:rPr lang="en-US" sz="3200" dirty="0"/>
              <a:t>Reduces the number of IPsec SAs. </a:t>
            </a:r>
          </a:p>
          <a:p>
            <a:pPr marL="0" indent="0">
              <a:buNone/>
            </a:pPr>
            <a:endParaRPr lang="en-US" sz="54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3</a:t>
            </a:fld>
            <a:endParaRPr lang="en-US" dirty="0"/>
          </a:p>
        </p:txBody>
      </p:sp>
    </p:spTree>
    <p:extLst>
      <p:ext uri="{BB962C8B-B14F-4D97-AF65-F5344CB8AC3E}">
        <p14:creationId xmlns:p14="http://schemas.microsoft.com/office/powerpoint/2010/main" val="59743524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Dynamic Multipoint VPN (DMVPN)</a:t>
            </a:r>
            <a:endParaRPr lang="en-US" sz="3200" dirty="0">
              <a:effectLst/>
            </a:endParaRPr>
          </a:p>
        </p:txBody>
      </p:sp>
      <p:sp>
        <p:nvSpPr>
          <p:cNvPr id="2" name="Content Placeholder 1"/>
          <p:cNvSpPr>
            <a:spLocks noGrp="1"/>
          </p:cNvSpPr>
          <p:nvPr>
            <p:ph idx="1"/>
          </p:nvPr>
        </p:nvSpPr>
        <p:spPr>
          <a:xfrm>
            <a:off x="382586" y="1143000"/>
            <a:ext cx="8685213" cy="7391400"/>
          </a:xfrm>
        </p:spPr>
        <p:txBody>
          <a:bodyPr/>
          <a:lstStyle/>
          <a:p>
            <a:pPr lvl="1"/>
            <a:r>
              <a:rPr lang="en-US" dirty="0"/>
              <a:t>Reduces the effectiveness of outsiders doing traffic analysis. </a:t>
            </a:r>
          </a:p>
          <a:p>
            <a:pPr lvl="1"/>
            <a:r>
              <a:rPr lang="en-US" dirty="0"/>
              <a:t>Easy setup and use of multiple tunnels between peers. </a:t>
            </a:r>
          </a:p>
          <a:p>
            <a:pPr lvl="1"/>
            <a:r>
              <a:rPr lang="en-US" dirty="0"/>
              <a:t>Redundancy and/or load-balancing of data flows. </a:t>
            </a:r>
          </a:p>
          <a:p>
            <a:pPr lvl="1"/>
            <a:r>
              <a:rPr lang="en-US" dirty="0"/>
              <a:t>No issue with IPsec SA’s trying to encrypt same flows to different peers.</a:t>
            </a:r>
          </a:p>
          <a:p>
            <a:pPr lvl="1"/>
            <a:r>
              <a:rPr lang="en-US" dirty="0"/>
              <a:t>NHRP mapping database is naturally distributed across network. </a:t>
            </a:r>
          </a:p>
          <a:p>
            <a:pPr lvl="1"/>
            <a:r>
              <a:rPr lang="en-US" dirty="0"/>
              <a:t>No single point of failure or congestion. </a:t>
            </a:r>
          </a:p>
          <a:p>
            <a:pPr lvl="1"/>
            <a:r>
              <a:rPr lang="en-US" dirty="0"/>
              <a:t>Provides for easy scaling. </a:t>
            </a:r>
          </a:p>
          <a:p>
            <a:pPr marL="0" indent="0">
              <a:buNone/>
            </a:pPr>
            <a:endParaRPr lang="en-US" sz="54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4</a:t>
            </a:fld>
            <a:endParaRPr lang="en-US" dirty="0"/>
          </a:p>
        </p:txBody>
      </p:sp>
    </p:spTree>
    <p:extLst>
      <p:ext uri="{BB962C8B-B14F-4D97-AF65-F5344CB8AC3E}">
        <p14:creationId xmlns:p14="http://schemas.microsoft.com/office/powerpoint/2010/main" val="152036820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Dynamic Multipoint VPN (DMVPN)</a:t>
            </a:r>
            <a:endParaRPr lang="en-US" sz="3200" dirty="0">
              <a:effectLst/>
            </a:endParaRPr>
          </a:p>
        </p:txBody>
      </p:sp>
      <p:sp>
        <p:nvSpPr>
          <p:cNvPr id="2" name="Content Placeholder 1"/>
          <p:cNvSpPr>
            <a:spLocks noGrp="1"/>
          </p:cNvSpPr>
          <p:nvPr>
            <p:ph idx="1"/>
          </p:nvPr>
        </p:nvSpPr>
        <p:spPr>
          <a:xfrm>
            <a:off x="382587" y="1143000"/>
            <a:ext cx="8382000" cy="7391400"/>
          </a:xfrm>
        </p:spPr>
        <p:txBody>
          <a:bodyPr/>
          <a:lstStyle/>
          <a:p>
            <a:r>
              <a:rPr lang="en-US" dirty="0"/>
              <a:t>Standard IP Routing over DMVPN</a:t>
            </a:r>
            <a:endParaRPr lang="en-US" sz="8800" dirty="0"/>
          </a:p>
          <a:p>
            <a:pPr lvl="1"/>
            <a:r>
              <a:rPr lang="en-US" dirty="0"/>
              <a:t>Dynamically learn destinations automatically.</a:t>
            </a:r>
          </a:p>
          <a:p>
            <a:pPr lvl="1"/>
            <a:r>
              <a:rPr lang="en-US" dirty="0"/>
              <a:t>Changes or movement of hosts/subnets/nodes automatically propagated throughout network. </a:t>
            </a:r>
          </a:p>
          <a:p>
            <a:pPr lvl="1"/>
            <a:r>
              <a:rPr lang="en-US" dirty="0"/>
              <a:t>Handles millions of routes.</a:t>
            </a:r>
          </a:p>
          <a:p>
            <a:pPr lvl="1"/>
            <a:r>
              <a:rPr lang="en-US" dirty="0"/>
              <a:t>Standard tools to control routing advertisements. </a:t>
            </a:r>
          </a:p>
          <a:p>
            <a:pPr lvl="1"/>
            <a:r>
              <a:rPr lang="en-US" dirty="0"/>
              <a:t>Optional tools can be layered on top for more sophisticated forwarding control. </a:t>
            </a:r>
          </a:p>
          <a:p>
            <a:pPr marL="0" indent="0">
              <a:buNone/>
            </a:pPr>
            <a:endParaRPr lang="en-US"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5</a:t>
            </a:fld>
            <a:endParaRPr lang="en-US" dirty="0"/>
          </a:p>
        </p:txBody>
      </p:sp>
    </p:spTree>
    <p:extLst>
      <p:ext uri="{BB962C8B-B14F-4D97-AF65-F5344CB8AC3E}">
        <p14:creationId xmlns:p14="http://schemas.microsoft.com/office/powerpoint/2010/main" val="130369765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Dynamic Multipoint VPN (DMVPN)</a:t>
            </a:r>
            <a:endParaRPr lang="en-US" sz="3200" dirty="0">
              <a:effectLst/>
            </a:endParaRPr>
          </a:p>
        </p:txBody>
      </p:sp>
      <p:sp>
        <p:nvSpPr>
          <p:cNvPr id="2" name="Content Placeholder 1"/>
          <p:cNvSpPr>
            <a:spLocks noGrp="1"/>
          </p:cNvSpPr>
          <p:nvPr>
            <p:ph idx="1"/>
          </p:nvPr>
        </p:nvSpPr>
        <p:spPr>
          <a:xfrm>
            <a:off x="382587" y="1143000"/>
            <a:ext cx="8382000" cy="7391400"/>
          </a:xfrm>
        </p:spPr>
        <p:txBody>
          <a:bodyPr/>
          <a:lstStyle/>
          <a:p>
            <a:r>
              <a:rPr lang="en-US" dirty="0"/>
              <a:t>IPsec used for Encryption </a:t>
            </a:r>
          </a:p>
          <a:p>
            <a:pPr lvl="1"/>
            <a:r>
              <a:rPr lang="en-US" dirty="0"/>
              <a:t>Encrypt the tunnel not the data flows. </a:t>
            </a:r>
          </a:p>
          <a:p>
            <a:pPr lvl="1"/>
            <a:r>
              <a:rPr lang="en-US" dirty="0"/>
              <a:t>Can add/remove data flows. </a:t>
            </a:r>
          </a:p>
          <a:p>
            <a:pPr lvl="1"/>
            <a:r>
              <a:rPr lang="en-US" dirty="0"/>
              <a:t>No change to IPsec. </a:t>
            </a:r>
          </a:p>
          <a:p>
            <a:pPr lvl="1"/>
            <a:r>
              <a:rPr lang="en-US" dirty="0"/>
              <a:t>Can add new passenger protocols. </a:t>
            </a:r>
          </a:p>
          <a:p>
            <a:pPr lvl="1"/>
            <a:r>
              <a:rPr lang="en-US" dirty="0"/>
              <a:t>Layering also makes it easier to add in new encryption protocols such as IKEv2.</a:t>
            </a:r>
          </a:p>
          <a:p>
            <a:endParaRPr lang="en-US"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6</a:t>
            </a:fld>
            <a:endParaRPr lang="en-US" dirty="0"/>
          </a:p>
        </p:txBody>
      </p:sp>
    </p:spTree>
    <p:extLst>
      <p:ext uri="{BB962C8B-B14F-4D97-AF65-F5344CB8AC3E}">
        <p14:creationId xmlns:p14="http://schemas.microsoft.com/office/powerpoint/2010/main" val="328479768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Dynamic Multipoint VPN (DMVPN)</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7</a:t>
            </a:fld>
            <a:endParaRPr lang="en-US" dirty="0"/>
          </a:p>
        </p:txBody>
      </p:sp>
      <p:sp>
        <p:nvSpPr>
          <p:cNvPr id="5" name="AutoShape 2" descr="Image result for generic route encapsulat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descr="generic routing encapsul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143000"/>
            <a:ext cx="5476875" cy="4333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780900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Dynamic Multipoint VPN (DMVPN)</a:t>
            </a:r>
            <a:endParaRPr lang="en-US" sz="3200" dirty="0">
              <a:effectLst/>
            </a:endParaRPr>
          </a:p>
        </p:txBody>
      </p:sp>
      <p:sp>
        <p:nvSpPr>
          <p:cNvPr id="2" name="Content Placeholder 1"/>
          <p:cNvSpPr>
            <a:spLocks noGrp="1"/>
          </p:cNvSpPr>
          <p:nvPr>
            <p:ph idx="1"/>
          </p:nvPr>
        </p:nvSpPr>
        <p:spPr>
          <a:xfrm>
            <a:off x="353695" y="914400"/>
            <a:ext cx="8382000" cy="7391400"/>
          </a:xfrm>
        </p:spPr>
        <p:txBody>
          <a:bodyPr/>
          <a:lstStyle/>
          <a:p>
            <a:r>
              <a:rPr lang="en-US" sz="3600" dirty="0"/>
              <a:t>How it works</a:t>
            </a:r>
          </a:p>
          <a:p>
            <a:pPr lvl="1"/>
            <a:r>
              <a:rPr lang="en-US" sz="3200" dirty="0"/>
              <a:t>Spokes build a dynamic permanent GRE/IPsec tunnel to the hub, but not to other spokes. Spokes register as NHRP clients of the NHRP hub. </a:t>
            </a:r>
          </a:p>
          <a:p>
            <a:pPr lvl="1"/>
            <a:r>
              <a:rPr lang="en-US" sz="3200" dirty="0"/>
              <a:t>When a spoke needs to send packets to a destination (private) subnet behind other spokes, they send packets via the hub path. </a:t>
            </a:r>
          </a:p>
          <a:p>
            <a:pPr lvl="1"/>
            <a:r>
              <a:rPr lang="en-US" sz="3200" dirty="0"/>
              <a:t>Hubs sends NHRP redirect message to spokes to trigger spokes to build direct path.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8</a:t>
            </a:fld>
            <a:endParaRPr lang="en-US" dirty="0"/>
          </a:p>
        </p:txBody>
      </p:sp>
    </p:spTree>
    <p:extLst>
      <p:ext uri="{BB962C8B-B14F-4D97-AF65-F5344CB8AC3E}">
        <p14:creationId xmlns:p14="http://schemas.microsoft.com/office/powerpoint/2010/main" val="95543578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Dynamic Multipoint VPN (DMVPN)</a:t>
            </a:r>
            <a:endParaRPr lang="en-US" sz="3200" dirty="0">
              <a:effectLst/>
            </a:endParaRPr>
          </a:p>
        </p:txBody>
      </p:sp>
      <p:sp>
        <p:nvSpPr>
          <p:cNvPr id="2" name="Content Placeholder 1"/>
          <p:cNvSpPr>
            <a:spLocks noGrp="1"/>
          </p:cNvSpPr>
          <p:nvPr>
            <p:ph idx="1"/>
          </p:nvPr>
        </p:nvSpPr>
        <p:spPr>
          <a:xfrm>
            <a:off x="336867" y="1066800"/>
            <a:ext cx="8382000" cy="7391400"/>
          </a:xfrm>
        </p:spPr>
        <p:txBody>
          <a:bodyPr/>
          <a:lstStyle/>
          <a:p>
            <a:pPr lvl="1"/>
            <a:r>
              <a:rPr lang="en-US" sz="3200" dirty="0"/>
              <a:t>Spokes send NHRP query via the hub path to get the real (outside) address of the remote spoke. </a:t>
            </a:r>
          </a:p>
          <a:p>
            <a:pPr lvl="1"/>
            <a:r>
              <a:rPr lang="en-US" sz="3200" dirty="0"/>
              <a:t>Spokes can then initiate a dynamic GRE/IPsec tunnel to the remote spoke (because it knows the peer address).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9</a:t>
            </a:fld>
            <a:endParaRPr lang="en-US" dirty="0"/>
          </a:p>
        </p:txBody>
      </p:sp>
    </p:spTree>
    <p:extLst>
      <p:ext uri="{BB962C8B-B14F-4D97-AF65-F5344CB8AC3E}">
        <p14:creationId xmlns:p14="http://schemas.microsoft.com/office/powerpoint/2010/main" val="276839513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Dynamic Multipoint VPN (DMVPN)</a:t>
            </a:r>
            <a:endParaRPr lang="en-US" sz="3200" dirty="0">
              <a:effectLst/>
            </a:endParaRPr>
          </a:p>
        </p:txBody>
      </p:sp>
      <p:sp>
        <p:nvSpPr>
          <p:cNvPr id="2" name="Content Placeholder 1"/>
          <p:cNvSpPr>
            <a:spLocks noGrp="1"/>
          </p:cNvSpPr>
          <p:nvPr>
            <p:ph idx="1"/>
          </p:nvPr>
        </p:nvSpPr>
        <p:spPr>
          <a:xfrm>
            <a:off x="336867" y="1066800"/>
            <a:ext cx="8382000" cy="7391400"/>
          </a:xfrm>
        </p:spPr>
        <p:txBody>
          <a:bodyPr/>
          <a:lstStyle/>
          <a:p>
            <a:r>
              <a:rPr lang="en-US" dirty="0"/>
              <a:t>A new spoke in a DMVPN does not require changes on a hub to which it is connected other than authentication and authorization state which are dynamically handled. </a:t>
            </a:r>
          </a:p>
          <a:p>
            <a:r>
              <a:rPr lang="en-US" dirty="0"/>
              <a:t>NHRP is used to distribute IP addresses. These mappings will be redistributed or rediscovered upon any address change. </a:t>
            </a:r>
          </a:p>
          <a:p>
            <a:r>
              <a:rPr lang="en-US" dirty="0"/>
              <a:t>Requires minimal configuration in order to configure protocols running over IPsec tunnels. </a:t>
            </a:r>
            <a:endParaRPr lang="en-US" sz="32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10</a:t>
            </a:fld>
            <a:endParaRPr lang="en-US" dirty="0"/>
          </a:p>
        </p:txBody>
      </p:sp>
    </p:spTree>
    <p:extLst>
      <p:ext uri="{BB962C8B-B14F-4D97-AF65-F5344CB8AC3E}">
        <p14:creationId xmlns:p14="http://schemas.microsoft.com/office/powerpoint/2010/main" val="365592087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Dynamic Multipoint VPN (DMVPN)</a:t>
            </a:r>
            <a:endParaRPr lang="en-US" sz="3200" dirty="0">
              <a:effectLst/>
            </a:endParaRPr>
          </a:p>
        </p:txBody>
      </p:sp>
      <p:sp>
        <p:nvSpPr>
          <p:cNvPr id="2" name="Content Placeholder 1"/>
          <p:cNvSpPr>
            <a:spLocks noGrp="1"/>
          </p:cNvSpPr>
          <p:nvPr>
            <p:ph idx="1"/>
          </p:nvPr>
        </p:nvSpPr>
        <p:spPr>
          <a:xfrm>
            <a:off x="336867" y="1066800"/>
            <a:ext cx="8382000" cy="7391400"/>
          </a:xfrm>
        </p:spPr>
        <p:txBody>
          <a:bodyPr/>
          <a:lstStyle/>
          <a:p>
            <a:r>
              <a:rPr lang="en-US" dirty="0"/>
              <a:t>Spokes can talk directly to each other if and only if the hub and spoke policies allow it. </a:t>
            </a:r>
          </a:p>
          <a:p>
            <a:r>
              <a:rPr lang="en-US" dirty="0"/>
              <a:t>DMVPN peers have unique authentication credentials and uses them for each peer connection. </a:t>
            </a:r>
          </a:p>
          <a:p>
            <a:r>
              <a:rPr lang="en-US" dirty="0"/>
              <a:t>DMVPN supports star, full mesh, or a partial mesh topologies. The protocol stack can be applied to all known scenarios. </a:t>
            </a:r>
            <a:endParaRPr lang="en-US" sz="32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11</a:t>
            </a:fld>
            <a:endParaRPr lang="en-US" dirty="0"/>
          </a:p>
        </p:txBody>
      </p:sp>
    </p:spTree>
    <p:extLst>
      <p:ext uri="{BB962C8B-B14F-4D97-AF65-F5344CB8AC3E}">
        <p14:creationId xmlns:p14="http://schemas.microsoft.com/office/powerpoint/2010/main" val="104781382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Dynamic Multipoint VPN (DMVPN)</a:t>
            </a:r>
            <a:endParaRPr lang="en-US" sz="3200" dirty="0">
              <a:effectLst/>
            </a:endParaRPr>
          </a:p>
        </p:txBody>
      </p:sp>
      <p:sp>
        <p:nvSpPr>
          <p:cNvPr id="2" name="Content Placeholder 1"/>
          <p:cNvSpPr>
            <a:spLocks noGrp="1"/>
          </p:cNvSpPr>
          <p:nvPr>
            <p:ph idx="1"/>
          </p:nvPr>
        </p:nvSpPr>
        <p:spPr>
          <a:xfrm>
            <a:off x="336867" y="1066800"/>
            <a:ext cx="8382000" cy="7391400"/>
          </a:xfrm>
        </p:spPr>
        <p:txBody>
          <a:bodyPr/>
          <a:lstStyle/>
          <a:p>
            <a:r>
              <a:rPr lang="en-US" dirty="0"/>
              <a:t>DMVPN allows monitoring and logging. </a:t>
            </a:r>
          </a:p>
          <a:p>
            <a:r>
              <a:rPr lang="en-US" dirty="0"/>
              <a:t>L3VPNs are supported over IPsec/GRE tunnels. </a:t>
            </a:r>
          </a:p>
          <a:p>
            <a:r>
              <a:rPr lang="en-US" dirty="0"/>
              <a:t>DMVPN allows multiple resiliency mechanisms and no device, spoke or hub, is a single point of failure.</a:t>
            </a:r>
          </a:p>
          <a:p>
            <a:endParaRPr lang="en-US" sz="32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12</a:t>
            </a:fld>
            <a:endParaRPr lang="en-US" dirty="0"/>
          </a:p>
        </p:txBody>
      </p:sp>
    </p:spTree>
    <p:extLst>
      <p:ext uri="{BB962C8B-B14F-4D97-AF65-F5344CB8AC3E}">
        <p14:creationId xmlns:p14="http://schemas.microsoft.com/office/powerpoint/2010/main" val="350133055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Dynamic Multipoint VPN (DMVPN) Summary</a:t>
            </a:r>
            <a:endParaRPr lang="en-US" sz="3200" dirty="0">
              <a:effectLst/>
            </a:endParaRPr>
          </a:p>
        </p:txBody>
      </p:sp>
      <p:sp>
        <p:nvSpPr>
          <p:cNvPr id="2" name="Content Placeholder 1"/>
          <p:cNvSpPr>
            <a:spLocks noGrp="1"/>
          </p:cNvSpPr>
          <p:nvPr>
            <p:ph idx="1"/>
          </p:nvPr>
        </p:nvSpPr>
        <p:spPr>
          <a:xfrm>
            <a:off x="382587" y="1143000"/>
            <a:ext cx="8382000" cy="7391400"/>
          </a:xfrm>
        </p:spPr>
        <p:txBody>
          <a:bodyPr/>
          <a:lstStyle/>
          <a:p>
            <a:r>
              <a:rPr lang="en-US" sz="3600" dirty="0"/>
              <a:t>Works with different types of spokes </a:t>
            </a:r>
          </a:p>
          <a:p>
            <a:pPr lvl="1"/>
            <a:r>
              <a:rPr lang="en-US" sz="3200" dirty="0"/>
              <a:t>Spokes with complex private networks. </a:t>
            </a:r>
          </a:p>
          <a:p>
            <a:pPr lvl="1"/>
            <a:r>
              <a:rPr lang="en-US" sz="3200" dirty="0"/>
              <a:t>PC Client with no private network. </a:t>
            </a:r>
          </a:p>
          <a:p>
            <a:pPr lvl="1"/>
            <a:r>
              <a:rPr lang="en-US" sz="3200" dirty="0"/>
              <a:t>Architecture and building blocks already exist, </a:t>
            </a:r>
          </a:p>
          <a:p>
            <a:endParaRPr lang="en-US" sz="3600" dirty="0"/>
          </a:p>
          <a:p>
            <a:pPr marL="0" indent="0">
              <a:buNone/>
            </a:pPr>
            <a:endParaRPr lang="en-US" sz="36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13</a:t>
            </a:fld>
            <a:endParaRPr lang="en-US" dirty="0"/>
          </a:p>
        </p:txBody>
      </p:sp>
    </p:spTree>
    <p:extLst>
      <p:ext uri="{BB962C8B-B14F-4D97-AF65-F5344CB8AC3E}">
        <p14:creationId xmlns:p14="http://schemas.microsoft.com/office/powerpoint/2010/main" val="296730837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Dynamic Multipoint VPN (DMVPN) Summary</a:t>
            </a:r>
            <a:endParaRPr lang="en-US" sz="3200" dirty="0">
              <a:effectLst/>
            </a:endParaRPr>
          </a:p>
        </p:txBody>
      </p:sp>
      <p:sp>
        <p:nvSpPr>
          <p:cNvPr id="2" name="Content Placeholder 1"/>
          <p:cNvSpPr>
            <a:spLocks noGrp="1"/>
          </p:cNvSpPr>
          <p:nvPr>
            <p:ph idx="1"/>
          </p:nvPr>
        </p:nvSpPr>
        <p:spPr>
          <a:xfrm>
            <a:off x="382587" y="914400"/>
            <a:ext cx="8382000" cy="7391400"/>
          </a:xfrm>
        </p:spPr>
        <p:txBody>
          <a:bodyPr/>
          <a:lstStyle/>
          <a:p>
            <a:r>
              <a:rPr lang="en-US" dirty="0"/>
              <a:t>Functional separation </a:t>
            </a:r>
          </a:p>
          <a:p>
            <a:pPr lvl="1"/>
            <a:r>
              <a:rPr lang="en-US" dirty="0"/>
              <a:t>Peer discovery </a:t>
            </a:r>
          </a:p>
          <a:p>
            <a:pPr lvl="1"/>
            <a:r>
              <a:rPr lang="en-US" dirty="0"/>
              <a:t>Tunneling </a:t>
            </a:r>
          </a:p>
          <a:p>
            <a:pPr lvl="1"/>
            <a:r>
              <a:rPr lang="en-US" dirty="0"/>
              <a:t>Authentication and authorization </a:t>
            </a:r>
          </a:p>
          <a:p>
            <a:pPr lvl="1"/>
            <a:r>
              <a:rPr lang="en-US" dirty="0"/>
              <a:t>Packet protection </a:t>
            </a:r>
          </a:p>
          <a:p>
            <a:r>
              <a:rPr lang="en-US" dirty="0"/>
              <a:t>Uses existing IETF RFCs </a:t>
            </a:r>
          </a:p>
          <a:p>
            <a:pPr lvl="1"/>
            <a:r>
              <a:rPr lang="en-US" dirty="0"/>
              <a:t>NHRP: RFC2332 </a:t>
            </a:r>
          </a:p>
          <a:p>
            <a:pPr lvl="1"/>
            <a:r>
              <a:rPr lang="en-US" dirty="0"/>
              <a:t>GRE: RFC1701 </a:t>
            </a:r>
          </a:p>
          <a:p>
            <a:pPr lvl="1"/>
            <a:r>
              <a:rPr lang="en-US" dirty="0"/>
              <a:t>PKIX/IKE: RFC5280/RFC5998 </a:t>
            </a:r>
          </a:p>
          <a:p>
            <a:pPr lvl="1"/>
            <a:r>
              <a:rPr lang="en-US" dirty="0"/>
              <a:t>IPsec: RFC4301 </a:t>
            </a:r>
          </a:p>
          <a:p>
            <a:pPr marL="0" indent="0">
              <a:buNone/>
            </a:pPr>
            <a:endParaRPr lang="en-US" sz="32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14</a:t>
            </a:fld>
            <a:endParaRPr lang="en-US" dirty="0"/>
          </a:p>
        </p:txBody>
      </p:sp>
    </p:spTree>
    <p:extLst>
      <p:ext uri="{BB962C8B-B14F-4D97-AF65-F5344CB8AC3E}">
        <p14:creationId xmlns:p14="http://schemas.microsoft.com/office/powerpoint/2010/main" val="23137456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Dynamic Multipoint VPN DEEP DIVE</a:t>
            </a:r>
            <a:endParaRPr lang="en-US" sz="3200" dirty="0">
              <a:effectLst/>
            </a:endParaRPr>
          </a:p>
        </p:txBody>
      </p:sp>
      <p:sp>
        <p:nvSpPr>
          <p:cNvPr id="2" name="Content Placeholder 1"/>
          <p:cNvSpPr>
            <a:spLocks noGrp="1"/>
          </p:cNvSpPr>
          <p:nvPr>
            <p:ph idx="1"/>
          </p:nvPr>
        </p:nvSpPr>
        <p:spPr>
          <a:xfrm>
            <a:off x="382587" y="914400"/>
            <a:ext cx="8382000" cy="7391400"/>
          </a:xfrm>
        </p:spPr>
        <p:txBody>
          <a:bodyPr/>
          <a:lstStyle/>
          <a:p>
            <a:r>
              <a:rPr lang="en-US" dirty="0"/>
              <a:t>There are four parts to the DMVPN:</a:t>
            </a:r>
          </a:p>
          <a:p>
            <a:pPr lvl="1"/>
            <a:r>
              <a:rPr lang="en-US" dirty="0"/>
              <a:t>Multipoint GRE (</a:t>
            </a:r>
            <a:r>
              <a:rPr lang="en-US" dirty="0" err="1"/>
              <a:t>mGRE</a:t>
            </a:r>
            <a:r>
              <a:rPr lang="en-US" dirty="0"/>
              <a:t>)</a:t>
            </a:r>
          </a:p>
          <a:p>
            <a:pPr lvl="1"/>
            <a:r>
              <a:rPr lang="en-US" dirty="0"/>
              <a:t>NHRP (Next Hop Resolution Protocol)</a:t>
            </a:r>
          </a:p>
          <a:p>
            <a:pPr lvl="1"/>
            <a:r>
              <a:rPr lang="en-US" dirty="0"/>
              <a:t>Routing (RIP, EIGRP, OSPF, BGP, etc.)</a:t>
            </a:r>
          </a:p>
          <a:p>
            <a:pPr lvl="1"/>
            <a:r>
              <a:rPr lang="en-US" dirty="0"/>
              <a:t>IPsec (not required but recommended)</a:t>
            </a:r>
          </a:p>
          <a:p>
            <a:pPr marL="0" indent="0">
              <a:buNone/>
            </a:pPr>
            <a:endParaRPr lang="en-US" sz="32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15</a:t>
            </a:fld>
            <a:endParaRPr lang="en-US" dirty="0"/>
          </a:p>
        </p:txBody>
      </p:sp>
    </p:spTree>
    <p:extLst>
      <p:ext uri="{BB962C8B-B14F-4D97-AF65-F5344CB8AC3E}">
        <p14:creationId xmlns:p14="http://schemas.microsoft.com/office/powerpoint/2010/main" val="2491604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Multipoint GRE</a:t>
            </a:r>
            <a:endParaRPr lang="en-US" sz="3200" dirty="0">
              <a:effectLst/>
            </a:endParaRPr>
          </a:p>
        </p:txBody>
      </p:sp>
      <p:sp>
        <p:nvSpPr>
          <p:cNvPr id="2" name="Content Placeholder 1"/>
          <p:cNvSpPr>
            <a:spLocks noGrp="1"/>
          </p:cNvSpPr>
          <p:nvPr>
            <p:ph idx="1"/>
          </p:nvPr>
        </p:nvSpPr>
        <p:spPr>
          <a:xfrm>
            <a:off x="382587" y="914400"/>
            <a:ext cx="8459788" cy="7391400"/>
          </a:xfrm>
        </p:spPr>
        <p:txBody>
          <a:bodyPr/>
          <a:lstStyle/>
          <a:p>
            <a:r>
              <a:rPr lang="en-US" dirty="0"/>
              <a:t>GRE tunnels are point-to-point and don’t scale well. </a:t>
            </a:r>
          </a:p>
          <a:p>
            <a:r>
              <a:rPr lang="en-US" dirty="0"/>
              <a:t>For example, let’s say we have a company network with some sites that we want to connect to each other using regular Internet connections:</a:t>
            </a:r>
            <a:endParaRPr lang="en-US" sz="32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16</a:t>
            </a:fld>
            <a:endParaRPr lang="en-US" dirty="0"/>
          </a:p>
        </p:txBody>
      </p:sp>
    </p:spTree>
    <p:extLst>
      <p:ext uri="{BB962C8B-B14F-4D97-AF65-F5344CB8AC3E}">
        <p14:creationId xmlns:p14="http://schemas.microsoft.com/office/powerpoint/2010/main" val="329957559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Multipoint GRE</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17</a:t>
            </a:fld>
            <a:endParaRPr lang="en-US" dirty="0"/>
          </a:p>
        </p:txBody>
      </p:sp>
      <p:pic>
        <p:nvPicPr>
          <p:cNvPr id="1026" name="Picture 2" descr="HQ Branch Routers Intern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1125" y="1097121"/>
            <a:ext cx="6610350" cy="48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431630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Multipoint GRE</a:t>
            </a:r>
            <a:endParaRPr lang="en-US" sz="3200" dirty="0">
              <a:effectLst/>
            </a:endParaRPr>
          </a:p>
        </p:txBody>
      </p:sp>
      <p:sp>
        <p:nvSpPr>
          <p:cNvPr id="2" name="Content Placeholder 1"/>
          <p:cNvSpPr>
            <a:spLocks noGrp="1"/>
          </p:cNvSpPr>
          <p:nvPr>
            <p:ph idx="1"/>
          </p:nvPr>
        </p:nvSpPr>
        <p:spPr>
          <a:xfrm>
            <a:off x="382587" y="914400"/>
            <a:ext cx="8382000" cy="7391400"/>
          </a:xfrm>
        </p:spPr>
        <p:txBody>
          <a:bodyPr/>
          <a:lstStyle/>
          <a:p>
            <a:r>
              <a:rPr lang="en-US" dirty="0"/>
              <a:t>Above we have one router that represents the HQ and there are four branch offices. Let’s say that we have the following requirements:</a:t>
            </a:r>
          </a:p>
          <a:p>
            <a:pPr lvl="1"/>
            <a:r>
              <a:rPr lang="en-US" dirty="0"/>
              <a:t>Each branch office has to be connected to the HQ.</a:t>
            </a:r>
          </a:p>
          <a:p>
            <a:pPr lvl="1"/>
            <a:r>
              <a:rPr lang="en-US" dirty="0"/>
              <a:t>Traffic between Branch 1 and Branch 2 has to be tunneled directly.</a:t>
            </a:r>
          </a:p>
          <a:p>
            <a:pPr lvl="1"/>
            <a:r>
              <a:rPr lang="en-US" dirty="0"/>
              <a:t>Traffic between Branch 3 and Branch 4 has to be tunneled directly.</a:t>
            </a:r>
          </a:p>
          <a:p>
            <a:r>
              <a:rPr lang="en-US" dirty="0"/>
              <a:t>To accomplish this we will have to configure a  bunch of GRE tunnels which will look like this:</a:t>
            </a:r>
          </a:p>
        </p:txBody>
      </p:sp>
      <p:sp>
        <p:nvSpPr>
          <p:cNvPr id="4" name="Slide Number Placeholder 3"/>
          <p:cNvSpPr>
            <a:spLocks noGrp="1"/>
          </p:cNvSpPr>
          <p:nvPr>
            <p:ph type="sldNum" sz="quarter" idx="10"/>
          </p:nvPr>
        </p:nvSpPr>
        <p:spPr/>
        <p:txBody>
          <a:bodyPr/>
          <a:lstStyle/>
          <a:p>
            <a:fld id="{1C0FA7A3-0FBF-4EC3-BE45-825983E95E58}" type="slidenum">
              <a:rPr lang="en-US" smtClean="0"/>
              <a:pPr/>
              <a:t>18</a:t>
            </a:fld>
            <a:endParaRPr lang="en-US" dirty="0"/>
          </a:p>
        </p:txBody>
      </p:sp>
    </p:spTree>
    <p:extLst>
      <p:ext uri="{BB962C8B-B14F-4D97-AF65-F5344CB8AC3E}">
        <p14:creationId xmlns:p14="http://schemas.microsoft.com/office/powerpoint/2010/main" val="189858866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Multipoint GRE</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19</a:t>
            </a:fld>
            <a:endParaRPr lang="en-US" dirty="0"/>
          </a:p>
        </p:txBody>
      </p:sp>
      <p:pic>
        <p:nvPicPr>
          <p:cNvPr id="2050" name="Picture 2" descr="HQ Branch Routers Internet GRE Tunne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3050" y="1238091"/>
            <a:ext cx="6286500" cy="4518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246962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Multipoint GRE</a:t>
            </a:r>
            <a:endParaRPr lang="en-US" sz="3200" dirty="0">
              <a:effectLst/>
            </a:endParaRPr>
          </a:p>
        </p:txBody>
      </p:sp>
      <p:sp>
        <p:nvSpPr>
          <p:cNvPr id="2" name="Content Placeholder 1"/>
          <p:cNvSpPr>
            <a:spLocks noGrp="1"/>
          </p:cNvSpPr>
          <p:nvPr>
            <p:ph idx="1"/>
          </p:nvPr>
        </p:nvSpPr>
        <p:spPr>
          <a:xfrm>
            <a:off x="382587" y="914400"/>
            <a:ext cx="8382000" cy="7391400"/>
          </a:xfrm>
        </p:spPr>
        <p:txBody>
          <a:bodyPr/>
          <a:lstStyle/>
          <a:p>
            <a:r>
              <a:rPr lang="en-US" dirty="0"/>
              <a:t>This will get messy quickly.</a:t>
            </a:r>
          </a:p>
          <a:p>
            <a:r>
              <a:rPr lang="en-US" dirty="0"/>
              <a:t>we have to create multiple tunnel interfaces, set the source/destination IP addresses etc. </a:t>
            </a:r>
          </a:p>
          <a:p>
            <a:r>
              <a:rPr lang="en-US" dirty="0"/>
              <a:t>It will work but it’s not a very scalable solution. </a:t>
            </a:r>
          </a:p>
          <a:p>
            <a:r>
              <a:rPr lang="en-US" dirty="0"/>
              <a:t>Multipoint GRE, as the name implies allows us to have </a:t>
            </a:r>
            <a:r>
              <a:rPr lang="en-US" b="1" dirty="0"/>
              <a:t>multiple destinations</a:t>
            </a:r>
            <a:r>
              <a:rPr lang="en-US" dirty="0"/>
              <a:t>. </a:t>
            </a:r>
          </a:p>
          <a:p>
            <a:r>
              <a:rPr lang="en-US" dirty="0"/>
              <a:t>When we use them, our picture could look like this:</a:t>
            </a:r>
          </a:p>
        </p:txBody>
      </p:sp>
      <p:sp>
        <p:nvSpPr>
          <p:cNvPr id="4" name="Slide Number Placeholder 3"/>
          <p:cNvSpPr>
            <a:spLocks noGrp="1"/>
          </p:cNvSpPr>
          <p:nvPr>
            <p:ph type="sldNum" sz="quarter" idx="10"/>
          </p:nvPr>
        </p:nvSpPr>
        <p:spPr/>
        <p:txBody>
          <a:bodyPr/>
          <a:lstStyle/>
          <a:p>
            <a:fld id="{1C0FA7A3-0FBF-4EC3-BE45-825983E95E58}" type="slidenum">
              <a:rPr lang="en-US" smtClean="0"/>
              <a:pPr/>
              <a:t>20</a:t>
            </a:fld>
            <a:endParaRPr lang="en-US" dirty="0"/>
          </a:p>
        </p:txBody>
      </p:sp>
    </p:spTree>
    <p:extLst>
      <p:ext uri="{BB962C8B-B14F-4D97-AF65-F5344CB8AC3E}">
        <p14:creationId xmlns:p14="http://schemas.microsoft.com/office/powerpoint/2010/main" val="107768547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Multipoint GRE</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21</a:t>
            </a:fld>
            <a:endParaRPr lang="en-US" dirty="0"/>
          </a:p>
        </p:txBody>
      </p:sp>
      <p:pic>
        <p:nvPicPr>
          <p:cNvPr id="3074" name="Picture 2" descr="HQ Branch Routers Internet GRE Multipoint Tunn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952341"/>
            <a:ext cx="6781800" cy="5090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588942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Multipoint GRE</a:t>
            </a:r>
            <a:endParaRPr lang="en-US" sz="3200" dirty="0">
              <a:effectLst/>
            </a:endParaRPr>
          </a:p>
        </p:txBody>
      </p:sp>
      <p:sp>
        <p:nvSpPr>
          <p:cNvPr id="2" name="Content Placeholder 1"/>
          <p:cNvSpPr>
            <a:spLocks noGrp="1"/>
          </p:cNvSpPr>
          <p:nvPr>
            <p:ph idx="1"/>
          </p:nvPr>
        </p:nvSpPr>
        <p:spPr>
          <a:xfrm>
            <a:off x="382587" y="762000"/>
            <a:ext cx="8382000" cy="7391400"/>
          </a:xfrm>
        </p:spPr>
        <p:txBody>
          <a:bodyPr/>
          <a:lstStyle/>
          <a:p>
            <a:r>
              <a:rPr lang="en-US" sz="2800" dirty="0"/>
              <a:t>When we use GRE Multipoint, there will be only </a:t>
            </a:r>
            <a:r>
              <a:rPr lang="en-US" sz="2800" b="1" dirty="0"/>
              <a:t>one tunnel interface </a:t>
            </a:r>
            <a:r>
              <a:rPr lang="en-US" sz="2800" dirty="0"/>
              <a:t>on each router. </a:t>
            </a:r>
          </a:p>
          <a:p>
            <a:r>
              <a:rPr lang="en-US" sz="2800" dirty="0"/>
              <a:t>The HQ for example has one tunnel with each branch office as its destination. </a:t>
            </a:r>
          </a:p>
          <a:p>
            <a:r>
              <a:rPr lang="en-US" sz="2800" dirty="0"/>
              <a:t>Now you might be wondering, what about the requirement where branch office 1/2 and branch office 3/4 have a direct tunnel?</a:t>
            </a:r>
          </a:p>
          <a:p>
            <a:r>
              <a:rPr lang="en-US" sz="2800" dirty="0"/>
              <a:t>Right now we have a hub and spoke topology. The cool thing about DMVPN is that we use multipoint GRE so we can have multiple destinations. </a:t>
            </a:r>
          </a:p>
          <a:p>
            <a:r>
              <a:rPr lang="en-US" sz="2800" dirty="0"/>
              <a:t>When we need to tunnel something between branch office 1/2 or 3/4, we automatically “build” new tunnels:</a:t>
            </a:r>
          </a:p>
        </p:txBody>
      </p:sp>
      <p:sp>
        <p:nvSpPr>
          <p:cNvPr id="4" name="Slide Number Placeholder 3"/>
          <p:cNvSpPr>
            <a:spLocks noGrp="1"/>
          </p:cNvSpPr>
          <p:nvPr>
            <p:ph type="sldNum" sz="quarter" idx="10"/>
          </p:nvPr>
        </p:nvSpPr>
        <p:spPr/>
        <p:txBody>
          <a:bodyPr/>
          <a:lstStyle/>
          <a:p>
            <a:fld id="{1C0FA7A3-0FBF-4EC3-BE45-825983E95E58}" type="slidenum">
              <a:rPr lang="en-US" smtClean="0"/>
              <a:pPr/>
              <a:t>22</a:t>
            </a:fld>
            <a:endParaRPr lang="en-US" dirty="0"/>
          </a:p>
        </p:txBody>
      </p:sp>
    </p:spTree>
    <p:extLst>
      <p:ext uri="{BB962C8B-B14F-4D97-AF65-F5344CB8AC3E}">
        <p14:creationId xmlns:p14="http://schemas.microsoft.com/office/powerpoint/2010/main" val="219064982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Multipoint GRE</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23</a:t>
            </a:fld>
            <a:endParaRPr lang="en-US" dirty="0"/>
          </a:p>
        </p:txBody>
      </p:sp>
      <p:pic>
        <p:nvPicPr>
          <p:cNvPr id="4098" name="Picture 2" descr="HQ Branch Routers Internet GRE Multipoint Tunnel Dynami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876299"/>
            <a:ext cx="6553200" cy="4991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671347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Multipoint GRE</a:t>
            </a:r>
            <a:endParaRPr lang="en-US" sz="3200" dirty="0">
              <a:effectLst/>
            </a:endParaRPr>
          </a:p>
        </p:txBody>
      </p:sp>
      <p:sp>
        <p:nvSpPr>
          <p:cNvPr id="2" name="Content Placeholder 1"/>
          <p:cNvSpPr>
            <a:spLocks noGrp="1"/>
          </p:cNvSpPr>
          <p:nvPr>
            <p:ph idx="1"/>
          </p:nvPr>
        </p:nvSpPr>
        <p:spPr>
          <a:xfrm>
            <a:off x="382587" y="838200"/>
            <a:ext cx="8382000" cy="7391400"/>
          </a:xfrm>
        </p:spPr>
        <p:txBody>
          <a:bodyPr/>
          <a:lstStyle/>
          <a:p>
            <a:r>
              <a:rPr lang="en-US" dirty="0"/>
              <a:t>When there is traffic between the branch offices, we can tunnel it directly instead of sending it through the HQ router. This sounds pretty cool but it introduces some problems…</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24</a:t>
            </a:fld>
            <a:endParaRPr lang="en-US" dirty="0"/>
          </a:p>
        </p:txBody>
      </p:sp>
    </p:spTree>
    <p:extLst>
      <p:ext uri="{BB962C8B-B14F-4D97-AF65-F5344CB8AC3E}">
        <p14:creationId xmlns:p14="http://schemas.microsoft.com/office/powerpoint/2010/main" val="125087051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Multipoint GRE</a:t>
            </a:r>
            <a:endParaRPr lang="en-US" sz="3200" dirty="0">
              <a:effectLst/>
            </a:endParaRPr>
          </a:p>
        </p:txBody>
      </p:sp>
      <p:sp>
        <p:nvSpPr>
          <p:cNvPr id="2" name="Content Placeholder 1"/>
          <p:cNvSpPr>
            <a:spLocks noGrp="1"/>
          </p:cNvSpPr>
          <p:nvPr>
            <p:ph idx="1"/>
          </p:nvPr>
        </p:nvSpPr>
        <p:spPr>
          <a:xfrm>
            <a:off x="382587" y="838200"/>
            <a:ext cx="8382000" cy="7391400"/>
          </a:xfrm>
        </p:spPr>
        <p:txBody>
          <a:bodyPr/>
          <a:lstStyle/>
          <a:p>
            <a:r>
              <a:rPr lang="en-US" dirty="0"/>
              <a:t>When we configure point-to-point GRE tunnels we have to configure a source and destination IP address that are used to build the GRE tunnel.</a:t>
            </a:r>
          </a:p>
          <a:p>
            <a:r>
              <a:rPr lang="en-US" dirty="0"/>
              <a:t> When two branch routers want to tunnel some traffic, how do they know what IP addresses to use? </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25</a:t>
            </a:fld>
            <a:endParaRPr lang="en-US" dirty="0"/>
          </a:p>
        </p:txBody>
      </p:sp>
    </p:spTree>
    <p:extLst>
      <p:ext uri="{BB962C8B-B14F-4D97-AF65-F5344CB8AC3E}">
        <p14:creationId xmlns:p14="http://schemas.microsoft.com/office/powerpoint/2010/main" val="1318064535"/>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Multipoint GRE</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26</a:t>
            </a:fld>
            <a:endParaRPr lang="en-US" dirty="0"/>
          </a:p>
        </p:txBody>
      </p:sp>
      <p:pic>
        <p:nvPicPr>
          <p:cNvPr id="5122" name="Picture 2" descr="HQ Branch Routers Internet GRE Multipoint Tunnel Dynami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210468"/>
            <a:ext cx="6724650" cy="4543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143154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Multipoint GRE</a:t>
            </a:r>
            <a:endParaRPr lang="en-US" sz="3200" dirty="0">
              <a:effectLst/>
            </a:endParaRPr>
          </a:p>
        </p:txBody>
      </p:sp>
      <p:sp>
        <p:nvSpPr>
          <p:cNvPr id="2" name="Content Placeholder 1"/>
          <p:cNvSpPr>
            <a:spLocks noGrp="1"/>
          </p:cNvSpPr>
          <p:nvPr>
            <p:ph idx="1"/>
          </p:nvPr>
        </p:nvSpPr>
        <p:spPr>
          <a:xfrm>
            <a:off x="382587" y="838200"/>
            <a:ext cx="8382000" cy="7391400"/>
          </a:xfrm>
        </p:spPr>
        <p:txBody>
          <a:bodyPr/>
          <a:lstStyle/>
          <a:p>
            <a:r>
              <a:rPr lang="en-US" sz="4000" dirty="0"/>
              <a:t>Above we have our HQ and two branch routers, branch1 and branch2. Each router is connected to the Internet and has a public IP address:</a:t>
            </a:r>
          </a:p>
          <a:p>
            <a:pPr lvl="1"/>
            <a:r>
              <a:rPr lang="en-US" sz="3600" dirty="0"/>
              <a:t>HQ: 1.1.1.1</a:t>
            </a:r>
          </a:p>
          <a:p>
            <a:pPr lvl="1"/>
            <a:r>
              <a:rPr lang="en-US" sz="3600" dirty="0"/>
              <a:t>Branch 1: 2.2.2.2</a:t>
            </a:r>
          </a:p>
          <a:p>
            <a:pPr lvl="1"/>
            <a:r>
              <a:rPr lang="en-US" sz="3600" dirty="0"/>
              <a:t>Branch 2: 3.3.3.3</a:t>
            </a:r>
          </a:p>
        </p:txBody>
      </p:sp>
      <p:sp>
        <p:nvSpPr>
          <p:cNvPr id="4" name="Slide Number Placeholder 3"/>
          <p:cNvSpPr>
            <a:spLocks noGrp="1"/>
          </p:cNvSpPr>
          <p:nvPr>
            <p:ph type="sldNum" sz="quarter" idx="10"/>
          </p:nvPr>
        </p:nvSpPr>
        <p:spPr/>
        <p:txBody>
          <a:bodyPr/>
          <a:lstStyle/>
          <a:p>
            <a:fld id="{1C0FA7A3-0FBF-4EC3-BE45-825983E95E58}" type="slidenum">
              <a:rPr lang="en-US" smtClean="0"/>
              <a:pPr/>
              <a:t>27</a:t>
            </a:fld>
            <a:endParaRPr lang="en-US" dirty="0"/>
          </a:p>
        </p:txBody>
      </p:sp>
    </p:spTree>
    <p:extLst>
      <p:ext uri="{BB962C8B-B14F-4D97-AF65-F5344CB8AC3E}">
        <p14:creationId xmlns:p14="http://schemas.microsoft.com/office/powerpoint/2010/main" val="100498341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Multipoint GRE</a:t>
            </a:r>
            <a:endParaRPr lang="en-US" sz="3200" dirty="0">
              <a:effectLst/>
            </a:endParaRPr>
          </a:p>
        </p:txBody>
      </p:sp>
      <p:sp>
        <p:nvSpPr>
          <p:cNvPr id="2" name="Content Placeholder 1"/>
          <p:cNvSpPr>
            <a:spLocks noGrp="1"/>
          </p:cNvSpPr>
          <p:nvPr>
            <p:ph idx="1"/>
          </p:nvPr>
        </p:nvSpPr>
        <p:spPr>
          <a:xfrm>
            <a:off x="382587" y="838200"/>
            <a:ext cx="8382000" cy="7391400"/>
          </a:xfrm>
        </p:spPr>
        <p:txBody>
          <a:bodyPr/>
          <a:lstStyle/>
          <a:p>
            <a:r>
              <a:rPr lang="en-US" dirty="0"/>
              <a:t>On the GRE multipoint tunnel interface we use a single subnet with the following private IP addresses:</a:t>
            </a:r>
          </a:p>
          <a:p>
            <a:pPr lvl="1"/>
            <a:r>
              <a:rPr lang="en-US" dirty="0"/>
              <a:t>HQ: 192.168.1.1</a:t>
            </a:r>
          </a:p>
          <a:p>
            <a:pPr lvl="1"/>
            <a:r>
              <a:rPr lang="en-US" dirty="0"/>
              <a:t>Branch1: 192.168.1.2</a:t>
            </a:r>
          </a:p>
          <a:p>
            <a:pPr lvl="1"/>
            <a:r>
              <a:rPr lang="en-US" dirty="0"/>
              <a:t>Branch2: 192.168.1.3</a:t>
            </a:r>
          </a:p>
          <a:p>
            <a:r>
              <a:rPr lang="en-US" dirty="0"/>
              <a:t>Let’s say that we want to send a ping from branch1’s tunnel interface to the tunnel interface of branch 2. Here’s what the GRE encapsulated IP packet will look like:</a:t>
            </a:r>
          </a:p>
        </p:txBody>
      </p:sp>
      <p:sp>
        <p:nvSpPr>
          <p:cNvPr id="4" name="Slide Number Placeholder 3"/>
          <p:cNvSpPr>
            <a:spLocks noGrp="1"/>
          </p:cNvSpPr>
          <p:nvPr>
            <p:ph type="sldNum" sz="quarter" idx="10"/>
          </p:nvPr>
        </p:nvSpPr>
        <p:spPr/>
        <p:txBody>
          <a:bodyPr/>
          <a:lstStyle/>
          <a:p>
            <a:fld id="{1C0FA7A3-0FBF-4EC3-BE45-825983E95E58}" type="slidenum">
              <a:rPr lang="en-US" smtClean="0"/>
              <a:pPr/>
              <a:t>28</a:t>
            </a:fld>
            <a:endParaRPr lang="en-US" dirty="0"/>
          </a:p>
        </p:txBody>
      </p:sp>
    </p:spTree>
    <p:extLst>
      <p:ext uri="{BB962C8B-B14F-4D97-AF65-F5344CB8AC3E}">
        <p14:creationId xmlns:p14="http://schemas.microsoft.com/office/powerpoint/2010/main" val="51811503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Multipoint GRE</a:t>
            </a:r>
            <a:endParaRPr lang="en-US" sz="3200" dirty="0">
              <a:effectLst/>
            </a:endParaRPr>
          </a:p>
        </p:txBody>
      </p:sp>
      <p:sp>
        <p:nvSpPr>
          <p:cNvPr id="2" name="Content Placeholder 1"/>
          <p:cNvSpPr>
            <a:spLocks noGrp="1"/>
          </p:cNvSpPr>
          <p:nvPr>
            <p:ph idx="1"/>
          </p:nvPr>
        </p:nvSpPr>
        <p:spPr>
          <a:xfrm>
            <a:off x="382587" y="838200"/>
            <a:ext cx="8382000" cy="2133600"/>
          </a:xfrm>
        </p:spPr>
        <p:txBody>
          <a:bodyPr/>
          <a:lstStyle/>
          <a:p>
            <a:r>
              <a:rPr lang="en-US" dirty="0"/>
              <a:t>Let’s say that we want to send a ping from branch1’s tunnel interface to the tunnel interface of branch2. Here’s what the GRE encapsulated IP packet will look like:</a:t>
            </a:r>
          </a:p>
        </p:txBody>
      </p:sp>
      <p:sp>
        <p:nvSpPr>
          <p:cNvPr id="4" name="Slide Number Placeholder 3"/>
          <p:cNvSpPr>
            <a:spLocks noGrp="1"/>
          </p:cNvSpPr>
          <p:nvPr>
            <p:ph type="sldNum" sz="quarter" idx="10"/>
          </p:nvPr>
        </p:nvSpPr>
        <p:spPr/>
        <p:txBody>
          <a:bodyPr/>
          <a:lstStyle/>
          <a:p>
            <a:fld id="{1C0FA7A3-0FBF-4EC3-BE45-825983E95E58}" type="slidenum">
              <a:rPr lang="en-US" smtClean="0"/>
              <a:pPr/>
              <a:t>29</a:t>
            </a:fld>
            <a:endParaRPr lang="en-US" dirty="0"/>
          </a:p>
        </p:txBody>
      </p:sp>
      <p:pic>
        <p:nvPicPr>
          <p:cNvPr id="7172" name="Picture 4" descr="DMVPN GRE Header Unknown Destination I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600" y="3344863"/>
            <a:ext cx="8486775" cy="72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369595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Multipoint GRE</a:t>
            </a:r>
            <a:endParaRPr lang="en-US" sz="3200" dirty="0">
              <a:effectLst/>
            </a:endParaRPr>
          </a:p>
        </p:txBody>
      </p:sp>
      <p:sp>
        <p:nvSpPr>
          <p:cNvPr id="2" name="Content Placeholder 1"/>
          <p:cNvSpPr>
            <a:spLocks noGrp="1"/>
          </p:cNvSpPr>
          <p:nvPr>
            <p:ph idx="1"/>
          </p:nvPr>
        </p:nvSpPr>
        <p:spPr>
          <a:xfrm>
            <a:off x="397827" y="838200"/>
            <a:ext cx="8382000" cy="2133600"/>
          </a:xfrm>
        </p:spPr>
        <p:txBody>
          <a:bodyPr/>
          <a:lstStyle/>
          <a:p>
            <a:r>
              <a:rPr lang="en-US" sz="2800" dirty="0"/>
              <a:t>The “inner” source and destination IP addresses are known to us, these are the IP address of the tunnel interfaces. </a:t>
            </a:r>
          </a:p>
          <a:p>
            <a:r>
              <a:rPr lang="en-US" sz="2800" dirty="0"/>
              <a:t>We encapsulate this IP packet, put a GRE header in front of it and then we have to fill in the “outer” source and destination IP addresses so that this packet can be routed on the Internet. </a:t>
            </a:r>
          </a:p>
          <a:p>
            <a:r>
              <a:rPr lang="en-US" sz="2800" dirty="0"/>
              <a:t>The branch 1 router knows it’s own public IP address but it has no clue what the public IP address of branch2 is.</a:t>
            </a:r>
          </a:p>
          <a:p>
            <a:r>
              <a:rPr lang="en-US" sz="2800" dirty="0"/>
              <a:t>To fix this problem, we need some help from another protocol.</a:t>
            </a:r>
          </a:p>
        </p:txBody>
      </p:sp>
      <p:sp>
        <p:nvSpPr>
          <p:cNvPr id="4" name="Slide Number Placeholder 3"/>
          <p:cNvSpPr>
            <a:spLocks noGrp="1"/>
          </p:cNvSpPr>
          <p:nvPr>
            <p:ph type="sldNum" sz="quarter" idx="10"/>
          </p:nvPr>
        </p:nvSpPr>
        <p:spPr/>
        <p:txBody>
          <a:bodyPr/>
          <a:lstStyle/>
          <a:p>
            <a:fld id="{1C0FA7A3-0FBF-4EC3-BE45-825983E95E58}" type="slidenum">
              <a:rPr lang="en-US" smtClean="0"/>
              <a:pPr/>
              <a:t>30</a:t>
            </a:fld>
            <a:endParaRPr lang="en-US" dirty="0"/>
          </a:p>
        </p:txBody>
      </p:sp>
    </p:spTree>
    <p:extLst>
      <p:ext uri="{BB962C8B-B14F-4D97-AF65-F5344CB8AC3E}">
        <p14:creationId xmlns:p14="http://schemas.microsoft.com/office/powerpoint/2010/main" val="240508820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Multipoint GRE</a:t>
            </a:r>
            <a:endParaRPr lang="en-US" sz="3200" dirty="0">
              <a:effectLst/>
            </a:endParaRPr>
          </a:p>
        </p:txBody>
      </p:sp>
      <p:sp>
        <p:nvSpPr>
          <p:cNvPr id="2" name="Content Placeholder 1"/>
          <p:cNvSpPr>
            <a:spLocks noGrp="1"/>
          </p:cNvSpPr>
          <p:nvPr>
            <p:ph idx="1"/>
          </p:nvPr>
        </p:nvSpPr>
        <p:spPr>
          <a:xfrm>
            <a:off x="397827" y="838200"/>
            <a:ext cx="8382000" cy="2133600"/>
          </a:xfrm>
        </p:spPr>
        <p:txBody>
          <a:bodyPr/>
          <a:lstStyle/>
          <a:p>
            <a:r>
              <a:rPr lang="en-US" dirty="0"/>
              <a:t>In NHRP terminology , you’ll see that we don’t talk about “public IP addresses” but NBMA addresses. NHRP is an old protocol (the RFC is from 1998) which was originally developed for NBMA networks like frame-relay or ATM.</a:t>
            </a:r>
          </a:p>
          <a:p>
            <a:r>
              <a:rPr lang="en-US" dirty="0"/>
              <a:t>NHRP is a bit similar to ARP or frame-relay inverse ARP. Instead of mapping L2 to L3 information, we are now mapping a tunnel IP address to a NBMA IP address.</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31</a:t>
            </a:fld>
            <a:endParaRPr lang="en-US" dirty="0"/>
          </a:p>
        </p:txBody>
      </p:sp>
    </p:spTree>
    <p:extLst>
      <p:ext uri="{BB962C8B-B14F-4D97-AF65-F5344CB8AC3E}">
        <p14:creationId xmlns:p14="http://schemas.microsoft.com/office/powerpoint/2010/main" val="344696071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Next Hop Resolution Protocol (NHRP)</a:t>
            </a:r>
            <a:endParaRPr lang="en-US" sz="3200" dirty="0">
              <a:effectLst/>
            </a:endParaRPr>
          </a:p>
        </p:txBody>
      </p:sp>
      <p:sp>
        <p:nvSpPr>
          <p:cNvPr id="2" name="Content Placeholder 1"/>
          <p:cNvSpPr>
            <a:spLocks noGrp="1"/>
          </p:cNvSpPr>
          <p:nvPr>
            <p:ph idx="1"/>
          </p:nvPr>
        </p:nvSpPr>
        <p:spPr>
          <a:xfrm>
            <a:off x="382587" y="990600"/>
            <a:ext cx="8382000" cy="2133600"/>
          </a:xfrm>
        </p:spPr>
        <p:txBody>
          <a:bodyPr/>
          <a:lstStyle/>
          <a:p>
            <a:r>
              <a:rPr lang="en-US" dirty="0"/>
              <a:t>We need something that helps our branch 1 router figure out what the  public IP address is of the branch 2 router, we do this with a protocol called </a:t>
            </a:r>
            <a:r>
              <a:rPr lang="en-US" b="1" dirty="0"/>
              <a:t>NHRP (Next Hop Resolution Protocol)</a:t>
            </a:r>
            <a:r>
              <a:rPr lang="en-US" dirty="0"/>
              <a:t>. Here’s an explanation of how NHRP works:</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32</a:t>
            </a:fld>
            <a:endParaRPr lang="en-US" dirty="0"/>
          </a:p>
        </p:txBody>
      </p:sp>
    </p:spTree>
    <p:extLst>
      <p:ext uri="{BB962C8B-B14F-4D97-AF65-F5344CB8AC3E}">
        <p14:creationId xmlns:p14="http://schemas.microsoft.com/office/powerpoint/2010/main" val="2142504662"/>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Next Hop Resolution Protocol (NHRP)</a:t>
            </a:r>
            <a:endParaRPr lang="en-US" sz="3200" dirty="0">
              <a:effectLst/>
            </a:endParaRPr>
          </a:p>
        </p:txBody>
      </p:sp>
      <p:sp>
        <p:nvSpPr>
          <p:cNvPr id="2" name="Content Placeholder 1"/>
          <p:cNvSpPr>
            <a:spLocks noGrp="1"/>
          </p:cNvSpPr>
          <p:nvPr>
            <p:ph idx="1"/>
          </p:nvPr>
        </p:nvSpPr>
        <p:spPr>
          <a:xfrm>
            <a:off x="382587" y="990600"/>
            <a:ext cx="8382000" cy="2133600"/>
          </a:xfrm>
        </p:spPr>
        <p:txBody>
          <a:bodyPr/>
          <a:lstStyle/>
          <a:p>
            <a:r>
              <a:rPr lang="en-US" dirty="0"/>
              <a:t>One router will be the </a:t>
            </a:r>
            <a:r>
              <a:rPr lang="en-US" b="1" dirty="0"/>
              <a:t>NHRP server</a:t>
            </a:r>
            <a:r>
              <a:rPr lang="en-US" dirty="0"/>
              <a:t>.</a:t>
            </a:r>
          </a:p>
          <a:p>
            <a:r>
              <a:rPr lang="en-US" dirty="0"/>
              <a:t>All other routers will be </a:t>
            </a:r>
            <a:r>
              <a:rPr lang="en-US" b="1" dirty="0"/>
              <a:t>NHRP clients</a:t>
            </a:r>
            <a:r>
              <a:rPr lang="en-US" dirty="0"/>
              <a:t>.</a:t>
            </a:r>
          </a:p>
          <a:p>
            <a:r>
              <a:rPr lang="en-US" dirty="0"/>
              <a:t>NHRP clients register themselves with the NHRP server and </a:t>
            </a:r>
            <a:r>
              <a:rPr lang="en-US" b="1" dirty="0"/>
              <a:t>report their public IP address</a:t>
            </a:r>
            <a:r>
              <a:rPr lang="en-US" dirty="0"/>
              <a:t>.</a:t>
            </a:r>
          </a:p>
          <a:p>
            <a:r>
              <a:rPr lang="en-US" dirty="0"/>
              <a:t>The NHRP server </a:t>
            </a:r>
            <a:r>
              <a:rPr lang="en-US" b="1" dirty="0"/>
              <a:t>keeps track of all public IP addresses in its  cache</a:t>
            </a:r>
            <a:r>
              <a:rPr lang="en-US" dirty="0"/>
              <a:t>.</a:t>
            </a:r>
          </a:p>
          <a:p>
            <a:r>
              <a:rPr lang="en-US" dirty="0"/>
              <a:t>When one router wants to tunnel something to another router, it will </a:t>
            </a:r>
            <a:r>
              <a:rPr lang="en-US" b="1" dirty="0"/>
              <a:t>request the NHRP server </a:t>
            </a:r>
            <a:r>
              <a:rPr lang="en-US" dirty="0"/>
              <a:t>for the public IP address of the other router.</a:t>
            </a:r>
          </a:p>
        </p:txBody>
      </p:sp>
      <p:sp>
        <p:nvSpPr>
          <p:cNvPr id="4" name="Slide Number Placeholder 3"/>
          <p:cNvSpPr>
            <a:spLocks noGrp="1"/>
          </p:cNvSpPr>
          <p:nvPr>
            <p:ph type="sldNum" sz="quarter" idx="10"/>
          </p:nvPr>
        </p:nvSpPr>
        <p:spPr/>
        <p:txBody>
          <a:bodyPr/>
          <a:lstStyle/>
          <a:p>
            <a:fld id="{1C0FA7A3-0FBF-4EC3-BE45-825983E95E58}" type="slidenum">
              <a:rPr lang="en-US" smtClean="0"/>
              <a:pPr/>
              <a:t>33</a:t>
            </a:fld>
            <a:endParaRPr lang="en-US" dirty="0"/>
          </a:p>
        </p:txBody>
      </p:sp>
    </p:spTree>
    <p:extLst>
      <p:ext uri="{BB962C8B-B14F-4D97-AF65-F5344CB8AC3E}">
        <p14:creationId xmlns:p14="http://schemas.microsoft.com/office/powerpoint/2010/main" val="2809099354"/>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Next Hop Resolution Protocol (NHRP)</a:t>
            </a:r>
            <a:endParaRPr lang="en-US" sz="3200" dirty="0">
              <a:effectLst/>
            </a:endParaRPr>
          </a:p>
        </p:txBody>
      </p:sp>
      <p:sp>
        <p:nvSpPr>
          <p:cNvPr id="2" name="Content Placeholder 1"/>
          <p:cNvSpPr>
            <a:spLocks noGrp="1"/>
          </p:cNvSpPr>
          <p:nvPr>
            <p:ph idx="1"/>
          </p:nvPr>
        </p:nvSpPr>
        <p:spPr>
          <a:xfrm>
            <a:off x="382587" y="990600"/>
            <a:ext cx="8382000" cy="2133600"/>
          </a:xfrm>
        </p:spPr>
        <p:txBody>
          <a:bodyPr/>
          <a:lstStyle/>
          <a:p>
            <a:r>
              <a:rPr lang="en-US" dirty="0"/>
              <a:t>Since NHRP uses this </a:t>
            </a:r>
            <a:r>
              <a:rPr lang="en-US" i="1" dirty="0"/>
              <a:t>server and clients</a:t>
            </a:r>
            <a:r>
              <a:rPr lang="en-US" dirty="0"/>
              <a:t> model, it makes sense to use a hub and spoke topology for multipoint GRE. </a:t>
            </a:r>
          </a:p>
          <a:p>
            <a:r>
              <a:rPr lang="en-US" dirty="0"/>
              <a:t>Our hub router will be the NHRP server and all other routers will be the spokes.</a:t>
            </a:r>
          </a:p>
        </p:txBody>
      </p:sp>
      <p:sp>
        <p:nvSpPr>
          <p:cNvPr id="4" name="Slide Number Placeholder 3"/>
          <p:cNvSpPr>
            <a:spLocks noGrp="1"/>
          </p:cNvSpPr>
          <p:nvPr>
            <p:ph type="sldNum" sz="quarter" idx="10"/>
          </p:nvPr>
        </p:nvSpPr>
        <p:spPr/>
        <p:txBody>
          <a:bodyPr/>
          <a:lstStyle/>
          <a:p>
            <a:fld id="{1C0FA7A3-0FBF-4EC3-BE45-825983E95E58}" type="slidenum">
              <a:rPr lang="en-US" smtClean="0"/>
              <a:pPr/>
              <a:t>34</a:t>
            </a:fld>
            <a:endParaRPr lang="en-US" dirty="0"/>
          </a:p>
        </p:txBody>
      </p:sp>
    </p:spTree>
    <p:extLst>
      <p:ext uri="{BB962C8B-B14F-4D97-AF65-F5344CB8AC3E}">
        <p14:creationId xmlns:p14="http://schemas.microsoft.com/office/powerpoint/2010/main" val="1224142391"/>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dirty="0">
                <a:effectLst/>
              </a:rPr>
              <a:t>Next Hop Resolution Protocol (NHRP)</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35</a:t>
            </a:fld>
            <a:endParaRPr lang="en-US" dirty="0"/>
          </a:p>
        </p:txBody>
      </p:sp>
      <p:sp>
        <p:nvSpPr>
          <p:cNvPr id="5" name="Content Placeholder 4"/>
          <p:cNvSpPr>
            <a:spLocks noGrp="1"/>
          </p:cNvSpPr>
          <p:nvPr>
            <p:ph idx="1"/>
          </p:nvPr>
        </p:nvSpPr>
        <p:spPr>
          <a:xfrm>
            <a:off x="367347" y="701040"/>
            <a:ext cx="8382000" cy="4953000"/>
          </a:xfrm>
        </p:spPr>
        <p:txBody>
          <a:bodyPr/>
          <a:lstStyle/>
          <a:p>
            <a:r>
              <a:rPr lang="en-US" sz="2800" dirty="0"/>
              <a:t>Below we have two spoke routers (NHRP clients) which establish a tunnel to the hub router. </a:t>
            </a:r>
          </a:p>
          <a:p>
            <a:r>
              <a:rPr lang="en-US" sz="2800" dirty="0"/>
              <a:t>The destination IP address of the hub router will be </a:t>
            </a:r>
            <a:r>
              <a:rPr lang="en-US" sz="2800" b="1" dirty="0"/>
              <a:t>statically configured</a:t>
            </a:r>
            <a:r>
              <a:rPr lang="en-US" sz="2800" dirty="0"/>
              <a:t> on the spoke routers. </a:t>
            </a:r>
          </a:p>
          <a:p>
            <a:r>
              <a:rPr lang="en-US" sz="2800" dirty="0"/>
              <a:t>The hub router will </a:t>
            </a:r>
            <a:r>
              <a:rPr lang="en-US" sz="2800" b="1" dirty="0"/>
              <a:t>dynamically</a:t>
            </a:r>
            <a:r>
              <a:rPr lang="en-US" sz="2800" dirty="0"/>
              <a:t> accept spoke routers. </a:t>
            </a:r>
          </a:p>
          <a:p>
            <a:r>
              <a:rPr lang="en-US" sz="2800" dirty="0"/>
              <a:t>The routers will use a </a:t>
            </a:r>
            <a:r>
              <a:rPr lang="en-US" sz="2800" b="1" dirty="0"/>
              <a:t>NHRP registration request</a:t>
            </a:r>
            <a:r>
              <a:rPr lang="en-US" sz="2800" dirty="0"/>
              <a:t> message to register their public IP addresses to the hub.</a:t>
            </a:r>
          </a:p>
          <a:p>
            <a:r>
              <a:rPr lang="en-US" sz="2800" dirty="0"/>
              <a:t>The hub, our NHRP server will create a mapping between the public IP addresses and the IP addresses of the tunnel interfaces.</a:t>
            </a:r>
          </a:p>
        </p:txBody>
      </p:sp>
    </p:spTree>
    <p:extLst>
      <p:ext uri="{BB962C8B-B14F-4D97-AF65-F5344CB8AC3E}">
        <p14:creationId xmlns:p14="http://schemas.microsoft.com/office/powerpoint/2010/main" val="219366209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Next Hop Resolution Protocol (NHRP)</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36</a:t>
            </a:fld>
            <a:endParaRPr lang="en-US" dirty="0"/>
          </a:p>
        </p:txBody>
      </p:sp>
      <p:pic>
        <p:nvPicPr>
          <p:cNvPr id="13314" name="Picture 2" descr="DMVPN Hub Builds Cach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066800"/>
            <a:ext cx="6724650" cy="4476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6801981"/>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dirty="0">
                <a:effectLst/>
              </a:rPr>
              <a:t>Next Hop Resolution Protocol (NHRP)</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37</a:t>
            </a:fld>
            <a:endParaRPr lang="en-US" dirty="0"/>
          </a:p>
        </p:txBody>
      </p:sp>
      <p:sp>
        <p:nvSpPr>
          <p:cNvPr id="5" name="Content Placeholder 4"/>
          <p:cNvSpPr>
            <a:spLocks noGrp="1"/>
          </p:cNvSpPr>
          <p:nvPr>
            <p:ph idx="1"/>
          </p:nvPr>
        </p:nvSpPr>
        <p:spPr/>
        <p:txBody>
          <a:bodyPr/>
          <a:lstStyle/>
          <a:p>
            <a:r>
              <a:rPr lang="en-US" dirty="0"/>
              <a:t>A few seconds later, spoke1 decides that it wants to send something to spoke2. </a:t>
            </a:r>
          </a:p>
          <a:p>
            <a:r>
              <a:rPr lang="en-US" dirty="0"/>
              <a:t>It needs to figure out the destination public IP address of spoke2 so it will send a </a:t>
            </a:r>
            <a:r>
              <a:rPr lang="en-US" b="1" dirty="0"/>
              <a:t>NHRP resolution request</a:t>
            </a:r>
            <a:r>
              <a:rPr lang="en-US" dirty="0"/>
              <a:t>, asking the hub router what the public IP address of spoke2 is.</a:t>
            </a:r>
          </a:p>
        </p:txBody>
      </p:sp>
    </p:spTree>
    <p:extLst>
      <p:ext uri="{BB962C8B-B14F-4D97-AF65-F5344CB8AC3E}">
        <p14:creationId xmlns:p14="http://schemas.microsoft.com/office/powerpoint/2010/main" val="1538976247"/>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dirty="0">
                <a:effectLst/>
              </a:rPr>
              <a:t>Next Hop Resolution Protocol (NHRP)</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38</a:t>
            </a:fld>
            <a:endParaRPr lang="en-US" dirty="0"/>
          </a:p>
        </p:txBody>
      </p:sp>
      <p:pic>
        <p:nvPicPr>
          <p:cNvPr id="14338" name="Picture 2" descr="DMVPN NHRP Resolution Repl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9675" y="1322069"/>
            <a:ext cx="6724650" cy="4381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8382218"/>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dirty="0">
                <a:effectLst/>
              </a:rPr>
              <a:t>Next Hop Resolution Protocol (NHRP)</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39</a:t>
            </a:fld>
            <a:endParaRPr lang="en-US" dirty="0"/>
          </a:p>
        </p:txBody>
      </p:sp>
      <p:sp>
        <p:nvSpPr>
          <p:cNvPr id="5" name="Content Placeholder 4"/>
          <p:cNvSpPr>
            <a:spLocks noGrp="1"/>
          </p:cNvSpPr>
          <p:nvPr>
            <p:ph idx="1"/>
          </p:nvPr>
        </p:nvSpPr>
        <p:spPr/>
        <p:txBody>
          <a:bodyPr/>
          <a:lstStyle/>
          <a:p>
            <a:r>
              <a:rPr lang="en-US" dirty="0"/>
              <a:t>The hub router checks its cache, finds an entry for spoke2 and sends the </a:t>
            </a:r>
            <a:r>
              <a:rPr lang="en-US" b="1" dirty="0"/>
              <a:t>NHRP resolution reply</a:t>
            </a:r>
            <a:r>
              <a:rPr lang="en-US" dirty="0"/>
              <a:t> to spoke1 with the public IP address of spoke2.</a:t>
            </a:r>
          </a:p>
          <a:p>
            <a:pPr marL="0" indent="0">
              <a:buNone/>
            </a:pPr>
            <a:br>
              <a:rPr lang="en-US" dirty="0"/>
            </a:br>
            <a:endParaRPr lang="en-US" dirty="0"/>
          </a:p>
        </p:txBody>
      </p:sp>
    </p:spTree>
    <p:extLst>
      <p:ext uri="{BB962C8B-B14F-4D97-AF65-F5344CB8AC3E}">
        <p14:creationId xmlns:p14="http://schemas.microsoft.com/office/powerpoint/2010/main" val="40968599"/>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dirty="0">
                <a:effectLst/>
              </a:rPr>
              <a:t>Next Hop Resolution Protocol (NHRP)</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40</a:t>
            </a:fld>
            <a:endParaRPr lang="en-US" dirty="0"/>
          </a:p>
        </p:txBody>
      </p:sp>
      <p:pic>
        <p:nvPicPr>
          <p:cNvPr id="16386" name="Picture 2" descr="DMVPN NHRP Resolution Repl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9675" y="1219200"/>
            <a:ext cx="6724650" cy="4381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9595813"/>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dirty="0">
                <a:effectLst/>
              </a:rPr>
              <a:t>Next Hop Resolution Protocol (NHRP)</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41</a:t>
            </a:fld>
            <a:endParaRPr lang="en-US" dirty="0"/>
          </a:p>
        </p:txBody>
      </p:sp>
      <p:sp>
        <p:nvSpPr>
          <p:cNvPr id="5" name="Content Placeholder 4"/>
          <p:cNvSpPr>
            <a:spLocks noGrp="1"/>
          </p:cNvSpPr>
          <p:nvPr>
            <p:ph idx="1"/>
          </p:nvPr>
        </p:nvSpPr>
        <p:spPr/>
        <p:txBody>
          <a:bodyPr/>
          <a:lstStyle/>
          <a:p>
            <a:r>
              <a:rPr lang="en-US" dirty="0"/>
              <a:t>Spoke1 now knows the destination public IP address of spoke2 and is able to tunnel something directly. </a:t>
            </a:r>
          </a:p>
          <a:p>
            <a:r>
              <a:rPr lang="en-US" dirty="0"/>
              <a:t>This is great, we only required the hub to figure out what the public IP address is and all traffic can be sent from spoke to spoke directly.</a:t>
            </a:r>
          </a:p>
        </p:txBody>
      </p:sp>
    </p:spTree>
    <p:extLst>
      <p:ext uri="{BB962C8B-B14F-4D97-AF65-F5344CB8AC3E}">
        <p14:creationId xmlns:p14="http://schemas.microsoft.com/office/powerpoint/2010/main" val="815338182"/>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dirty="0">
                <a:effectLst/>
              </a:rPr>
              <a:t>Next Hop Resolution Protocol (NHRP)</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42</a:t>
            </a:fld>
            <a:endParaRPr lang="en-US" dirty="0"/>
          </a:p>
        </p:txBody>
      </p:sp>
      <p:pic>
        <p:nvPicPr>
          <p:cNvPr id="18434" name="Picture 2" descr="DMVPN Spoke1 to Spoke2 pack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4887" y="1304924"/>
            <a:ext cx="7134225" cy="4476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1233657"/>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dirty="0">
                <a:effectLst/>
              </a:rPr>
              <a:t>Next Hop Resolution Protocol (NHRP)</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43</a:t>
            </a:fld>
            <a:endParaRPr lang="en-US" dirty="0"/>
          </a:p>
        </p:txBody>
      </p:sp>
      <p:sp>
        <p:nvSpPr>
          <p:cNvPr id="5" name="Content Placeholder 4"/>
          <p:cNvSpPr>
            <a:spLocks noGrp="1"/>
          </p:cNvSpPr>
          <p:nvPr>
            <p:ph idx="1"/>
          </p:nvPr>
        </p:nvSpPr>
        <p:spPr/>
        <p:txBody>
          <a:bodyPr/>
          <a:lstStyle/>
          <a:p>
            <a:r>
              <a:rPr lang="en-US" dirty="0"/>
              <a:t>DMVPN has different versions which we call phases, there’s three of them:</a:t>
            </a:r>
          </a:p>
          <a:p>
            <a:pPr lvl="1"/>
            <a:r>
              <a:rPr lang="en-US" dirty="0"/>
              <a:t>Phase 1</a:t>
            </a:r>
          </a:p>
          <a:p>
            <a:pPr lvl="1"/>
            <a:r>
              <a:rPr lang="en-US" dirty="0"/>
              <a:t>Phase 2</a:t>
            </a:r>
          </a:p>
          <a:p>
            <a:pPr lvl="1"/>
            <a:r>
              <a:rPr lang="en-US" dirty="0"/>
              <a:t>Phase 3</a:t>
            </a:r>
          </a:p>
        </p:txBody>
      </p:sp>
    </p:spTree>
    <p:extLst>
      <p:ext uri="{BB962C8B-B14F-4D97-AF65-F5344CB8AC3E}">
        <p14:creationId xmlns:p14="http://schemas.microsoft.com/office/powerpoint/2010/main" val="6316938"/>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dirty="0">
                <a:effectLst/>
              </a:rPr>
              <a:t>Next Hop Resolution Protocol (NHRP)</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44</a:t>
            </a:fld>
            <a:endParaRPr lang="en-US" dirty="0"/>
          </a:p>
        </p:txBody>
      </p:sp>
      <p:sp>
        <p:nvSpPr>
          <p:cNvPr id="5" name="Content Placeholder 4"/>
          <p:cNvSpPr>
            <a:spLocks noGrp="1"/>
          </p:cNvSpPr>
          <p:nvPr>
            <p:ph idx="1"/>
          </p:nvPr>
        </p:nvSpPr>
        <p:spPr/>
        <p:txBody>
          <a:bodyPr/>
          <a:lstStyle/>
          <a:p>
            <a:r>
              <a:rPr lang="en-US" dirty="0"/>
              <a:t>Phase 1</a:t>
            </a:r>
          </a:p>
          <a:p>
            <a:pPr lvl="1"/>
            <a:r>
              <a:rPr lang="en-US" dirty="0"/>
              <a:t>DMVPN phase 1 only provides hub-and-spoke tunnel deployment. </a:t>
            </a:r>
          </a:p>
          <a:p>
            <a:pPr lvl="1"/>
            <a:r>
              <a:rPr lang="en-US" dirty="0"/>
              <a:t>This means GRE tunnels are only built between the hub and the spokes. </a:t>
            </a:r>
          </a:p>
          <a:p>
            <a:pPr lvl="1"/>
            <a:r>
              <a:rPr lang="en-US" dirty="0"/>
              <a:t>Traffic destined to networks behind spokes is forced to first traverse the hub.</a:t>
            </a:r>
          </a:p>
        </p:txBody>
      </p:sp>
    </p:spTree>
    <p:extLst>
      <p:ext uri="{BB962C8B-B14F-4D97-AF65-F5344CB8AC3E}">
        <p14:creationId xmlns:p14="http://schemas.microsoft.com/office/powerpoint/2010/main" val="1307016917"/>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dirty="0">
                <a:effectLst/>
              </a:rPr>
              <a:t>Next Hop Resolution Protocol (NHRP)</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45</a:t>
            </a:fld>
            <a:endParaRPr lang="en-US" dirty="0"/>
          </a:p>
        </p:txBody>
      </p:sp>
      <p:sp>
        <p:nvSpPr>
          <p:cNvPr id="5" name="Content Placeholder 4"/>
          <p:cNvSpPr>
            <a:spLocks noGrp="1"/>
          </p:cNvSpPr>
          <p:nvPr>
            <p:ph idx="1"/>
          </p:nvPr>
        </p:nvSpPr>
        <p:spPr>
          <a:xfrm>
            <a:off x="382587" y="762000"/>
            <a:ext cx="8382000" cy="4953000"/>
          </a:xfrm>
        </p:spPr>
        <p:txBody>
          <a:bodyPr/>
          <a:lstStyle/>
          <a:p>
            <a:r>
              <a:rPr lang="en-US" dirty="0"/>
              <a:t>Phase 2</a:t>
            </a:r>
          </a:p>
          <a:p>
            <a:pPr lvl="1"/>
            <a:r>
              <a:rPr lang="en-US" dirty="0"/>
              <a:t>In Phase 1, traffic between the spokes would always hit the hub. This was a shortcoming of DMVPN as, in a larger deployment, the hub would always have to be burdened with encapsulate/de-capsulate overhead for the spoke-to-spoke traffic. </a:t>
            </a:r>
          </a:p>
          <a:p>
            <a:pPr lvl="1"/>
            <a:r>
              <a:rPr lang="en-US" dirty="0"/>
              <a:t>In addition to increased routing overhead on the hub, spoke-to-spoke traffic would take a suboptimal path by detouring to the hub and then reaching the remote spoke. </a:t>
            </a:r>
          </a:p>
          <a:p>
            <a:pPr lvl="1"/>
            <a:r>
              <a:rPr lang="en-US" dirty="0"/>
              <a:t>Phase 2 improved on Phase 1 by allowing spokes to build a spoke-to-spoke tunnels. </a:t>
            </a:r>
          </a:p>
        </p:txBody>
      </p:sp>
    </p:spTree>
    <p:extLst>
      <p:ext uri="{BB962C8B-B14F-4D97-AF65-F5344CB8AC3E}">
        <p14:creationId xmlns:p14="http://schemas.microsoft.com/office/powerpoint/2010/main" val="3284218174"/>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dirty="0">
                <a:effectLst/>
              </a:rPr>
              <a:t>Next Hop Resolution Protocol (NHRP)</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46</a:t>
            </a:fld>
            <a:endParaRPr lang="en-US" dirty="0"/>
          </a:p>
        </p:txBody>
      </p:sp>
      <p:sp>
        <p:nvSpPr>
          <p:cNvPr id="5" name="Content Placeholder 4"/>
          <p:cNvSpPr>
            <a:spLocks noGrp="1"/>
          </p:cNvSpPr>
          <p:nvPr>
            <p:ph idx="1"/>
          </p:nvPr>
        </p:nvSpPr>
        <p:spPr/>
        <p:txBody>
          <a:bodyPr/>
          <a:lstStyle/>
          <a:p>
            <a:r>
              <a:rPr lang="en-US" dirty="0"/>
              <a:t>Phase 3</a:t>
            </a:r>
          </a:p>
          <a:p>
            <a:pPr lvl="1"/>
            <a:r>
              <a:rPr lang="en-US" dirty="0"/>
              <a:t>Though DMVPN Phase 2 deployment provided direct spoke-to-spoke tunnels, one of the limitations is maintaining full routing tables on the spokes. </a:t>
            </a:r>
          </a:p>
          <a:p>
            <a:pPr lvl="1"/>
            <a:r>
              <a:rPr lang="en-US" dirty="0"/>
              <a:t>Each route for remote spoke networks needs to be a specific route with the next hop pointing to the remote spoke’s tunnel address. </a:t>
            </a:r>
          </a:p>
          <a:p>
            <a:pPr lvl="1"/>
            <a:r>
              <a:rPr lang="en-US" dirty="0"/>
              <a:t>This prevents the hub from being able to send down a summarized route to the spokes for a more concise routing table.</a:t>
            </a:r>
          </a:p>
          <a:p>
            <a:br>
              <a:rPr lang="en-US" sz="1000" dirty="0"/>
            </a:br>
            <a:endParaRPr lang="en-US" dirty="0"/>
          </a:p>
        </p:txBody>
      </p:sp>
    </p:spTree>
    <p:extLst>
      <p:ext uri="{BB962C8B-B14F-4D97-AF65-F5344CB8AC3E}">
        <p14:creationId xmlns:p14="http://schemas.microsoft.com/office/powerpoint/2010/main" val="1695702776"/>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dirty="0">
                <a:effectLst/>
              </a:rPr>
              <a:t>Next Hop Resolution Protocol (NHRP)</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47</a:t>
            </a:fld>
            <a:endParaRPr lang="en-US" dirty="0"/>
          </a:p>
        </p:txBody>
      </p:sp>
      <p:sp>
        <p:nvSpPr>
          <p:cNvPr id="5" name="Content Placeholder 4"/>
          <p:cNvSpPr>
            <a:spLocks noGrp="1"/>
          </p:cNvSpPr>
          <p:nvPr>
            <p:ph idx="1"/>
          </p:nvPr>
        </p:nvSpPr>
        <p:spPr/>
        <p:txBody>
          <a:bodyPr/>
          <a:lstStyle/>
          <a:p>
            <a:r>
              <a:rPr lang="en-US" sz="2800" dirty="0"/>
              <a:t>Phase 3 overcomes this restriction using NHRP traffic indication messages from the hub to signal to the spokes that a better path exists to reach the target network. </a:t>
            </a:r>
          </a:p>
          <a:p>
            <a:br>
              <a:rPr lang="en-US" sz="2800" dirty="0"/>
            </a:br>
            <a:endParaRPr lang="en-US" sz="2800" dirty="0"/>
          </a:p>
          <a:p>
            <a:br>
              <a:rPr lang="en-US" sz="900" dirty="0"/>
            </a:br>
            <a:endParaRPr lang="en-US" sz="2800" dirty="0"/>
          </a:p>
        </p:txBody>
      </p:sp>
    </p:spTree>
    <p:extLst>
      <p:ext uri="{BB962C8B-B14F-4D97-AF65-F5344CB8AC3E}">
        <p14:creationId xmlns:p14="http://schemas.microsoft.com/office/powerpoint/2010/main" val="3563119184"/>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dirty="0">
                <a:effectLst/>
              </a:rPr>
              <a:t>DMVPN versus MPLS</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48</a:t>
            </a:fld>
            <a:endParaRPr lang="en-US" dirty="0"/>
          </a:p>
        </p:txBody>
      </p:sp>
      <p:sp>
        <p:nvSpPr>
          <p:cNvPr id="5" name="Content Placeholder 4"/>
          <p:cNvSpPr>
            <a:spLocks noGrp="1"/>
          </p:cNvSpPr>
          <p:nvPr>
            <p:ph idx="1"/>
          </p:nvPr>
        </p:nvSpPr>
        <p:spPr/>
        <p:txBody>
          <a:bodyPr/>
          <a:lstStyle/>
          <a:p>
            <a:r>
              <a:rPr lang="en-US" sz="2800" dirty="0"/>
              <a:t>DMVPN over Internet</a:t>
            </a:r>
          </a:p>
          <a:p>
            <a:r>
              <a:rPr lang="en-US" sz="2800" dirty="0"/>
              <a:t>MPLS over provider private IP network</a:t>
            </a:r>
          </a:p>
          <a:p>
            <a:r>
              <a:rPr lang="en-US" sz="2800" dirty="0"/>
              <a:t>MPLS cost</a:t>
            </a:r>
          </a:p>
          <a:p>
            <a:r>
              <a:rPr lang="en-US" sz="2800" dirty="0"/>
              <a:t>MPLS reliability and </a:t>
            </a:r>
            <a:r>
              <a:rPr lang="en-US" sz="2800" dirty="0" err="1"/>
              <a:t>QoS</a:t>
            </a:r>
            <a:endParaRPr lang="en-US" sz="2800" dirty="0"/>
          </a:p>
          <a:p>
            <a:r>
              <a:rPr lang="en-US" sz="2800" dirty="0"/>
              <a:t>DMVPN often used as backup for MPLS</a:t>
            </a:r>
          </a:p>
          <a:p>
            <a:r>
              <a:rPr lang="en-US" sz="2800" dirty="0"/>
              <a:t>DMVPN encryption</a:t>
            </a:r>
            <a:br>
              <a:rPr lang="en-US" sz="2800" dirty="0"/>
            </a:br>
            <a:endParaRPr lang="en-US" sz="2800" dirty="0"/>
          </a:p>
          <a:p>
            <a:br>
              <a:rPr lang="en-US" sz="900" dirty="0"/>
            </a:br>
            <a:endParaRPr lang="en-US" sz="2800" dirty="0"/>
          </a:p>
        </p:txBody>
      </p:sp>
    </p:spTree>
    <p:extLst>
      <p:ext uri="{BB962C8B-B14F-4D97-AF65-F5344CB8AC3E}">
        <p14:creationId xmlns:p14="http://schemas.microsoft.com/office/powerpoint/2010/main" val="2926703862"/>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dirty="0">
                <a:effectLst/>
              </a:rPr>
              <a:t>DMVPN versus MPLS</a:t>
            </a:r>
            <a:endParaRPr lang="en-US" sz="3200"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49</a:t>
            </a:fld>
            <a:endParaRPr lang="en-US" dirty="0"/>
          </a:p>
        </p:txBody>
      </p:sp>
      <p:pic>
        <p:nvPicPr>
          <p:cNvPr id="20482" name="Picture 2" descr="dmvpn-vs-mp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838200"/>
            <a:ext cx="6702425" cy="528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7157897"/>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CISCO VPN COMPARISON</a:t>
            </a:r>
            <a:endParaRPr lang="en-US" sz="3200" dirty="0">
              <a:effectLst/>
            </a:endParaRPr>
          </a:p>
        </p:txBody>
      </p:sp>
      <p:sp>
        <p:nvSpPr>
          <p:cNvPr id="2" name="Content Placeholder 1"/>
          <p:cNvSpPr>
            <a:spLocks noGrp="1"/>
          </p:cNvSpPr>
          <p:nvPr>
            <p:ph idx="1"/>
          </p:nvPr>
        </p:nvSpPr>
        <p:spPr>
          <a:xfrm>
            <a:off x="382587" y="914400"/>
            <a:ext cx="8382000" cy="7391400"/>
          </a:xfrm>
        </p:spPr>
        <p:txBody>
          <a:bodyPr/>
          <a:lstStyle/>
          <a:p>
            <a:pPr marL="0" indent="0">
              <a:buNone/>
            </a:pPr>
            <a:endParaRPr lang="en-US" sz="32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50</a:t>
            </a:fld>
            <a:endParaRPr lang="en-US" dirty="0"/>
          </a:p>
        </p:txBody>
      </p:sp>
    </p:spTree>
    <p:extLst>
      <p:ext uri="{BB962C8B-B14F-4D97-AF65-F5344CB8AC3E}">
        <p14:creationId xmlns:p14="http://schemas.microsoft.com/office/powerpoint/2010/main" val="508920581"/>
      </p:ext>
    </p:extLst>
  </p:cSld>
  <p:clrMapOvr>
    <a:masterClrMapping/>
  </p:clrMapOvr>
  <p:transition/>
</p:sld>
</file>

<file path=ppt/theme/theme1.xml><?xml version="1.0" encoding="utf-8"?>
<a:theme xmlns:a="http://schemas.openxmlformats.org/drawingml/2006/main" name="Default Design">
  <a:themeElements>
    <a:clrScheme name="">
      <a:dk1>
        <a:srgbClr val="000000"/>
      </a:dk1>
      <a:lt1>
        <a:srgbClr val="FFFFFF"/>
      </a:lt1>
      <a:dk2>
        <a:srgbClr val="0B3D91"/>
      </a:dk2>
      <a:lt2>
        <a:srgbClr val="000066"/>
      </a:lt2>
      <a:accent1>
        <a:srgbClr val="97A8D9"/>
      </a:accent1>
      <a:accent2>
        <a:srgbClr val="C7D2F5"/>
      </a:accent2>
      <a:accent3>
        <a:srgbClr val="FFFFFF"/>
      </a:accent3>
      <a:accent4>
        <a:srgbClr val="000000"/>
      </a:accent4>
      <a:accent5>
        <a:srgbClr val="C9D1E9"/>
      </a:accent5>
      <a:accent6>
        <a:srgbClr val="B4BEDE"/>
      </a:accent6>
      <a:hlink>
        <a:srgbClr val="DC241F"/>
      </a:hlink>
      <a:folHlink>
        <a:srgbClr val="CCCC99"/>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alpha val="50000"/>
          </a:schemeClr>
        </a:solidFill>
        <a:ln w="9525" cap="flat" cmpd="sng" algn="ctr">
          <a:solidFill>
            <a:srgbClr val="FFFF00"/>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1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66"/>
        </a:dk2>
        <a:lt2>
          <a:srgbClr val="808080"/>
        </a:lt2>
        <a:accent1>
          <a:srgbClr val="CCCC99"/>
        </a:accent1>
        <a:accent2>
          <a:srgbClr val="DC241F"/>
        </a:accent2>
        <a:accent3>
          <a:srgbClr val="FFFFFF"/>
        </a:accent3>
        <a:accent4>
          <a:srgbClr val="000000"/>
        </a:accent4>
        <a:accent5>
          <a:srgbClr val="E2E2CA"/>
        </a:accent5>
        <a:accent6>
          <a:srgbClr val="C7201B"/>
        </a:accent6>
        <a:hlink>
          <a:srgbClr val="0035AD"/>
        </a:hlink>
        <a:folHlink>
          <a:srgbClr val="918C5A"/>
        </a:folHlink>
      </a:clrScheme>
      <a:clrMap bg1="lt1" tx1="dk1" bg2="lt2" tx2="dk2" accent1="accent1" accent2="accent2" accent3="accent3" accent4="accent4" accent5="accent5" accent6="accent6" hlink="hlink" folHlink="folHlink"/>
    </a:extraClrScheme>
    <a:extraClrScheme>
      <a:clrScheme name="Default Design 14">
        <a:dk1>
          <a:srgbClr val="000000"/>
        </a:dk1>
        <a:lt1>
          <a:srgbClr val="FFFFFF"/>
        </a:lt1>
        <a:dk2>
          <a:srgbClr val="0B3D91"/>
        </a:dk2>
        <a:lt2>
          <a:srgbClr val="000066"/>
        </a:lt2>
        <a:accent1>
          <a:srgbClr val="70B2F4"/>
        </a:accent1>
        <a:accent2>
          <a:srgbClr val="C3EAFD"/>
        </a:accent2>
        <a:accent3>
          <a:srgbClr val="FFFFFF"/>
        </a:accent3>
        <a:accent4>
          <a:srgbClr val="000000"/>
        </a:accent4>
        <a:accent5>
          <a:srgbClr val="BBD5F8"/>
        </a:accent5>
        <a:accent6>
          <a:srgbClr val="B0D4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
      <a:clrScheme name="Default Design 15">
        <a:dk1>
          <a:srgbClr val="000000"/>
        </a:dk1>
        <a:lt1>
          <a:srgbClr val="FFFFFF"/>
        </a:lt1>
        <a:dk2>
          <a:srgbClr val="0B3D91"/>
        </a:dk2>
        <a:lt2>
          <a:srgbClr val="000066"/>
        </a:lt2>
        <a:accent1>
          <a:srgbClr val="70B2F4"/>
        </a:accent1>
        <a:accent2>
          <a:srgbClr val="C3DCFD"/>
        </a:accent2>
        <a:accent3>
          <a:srgbClr val="FFFFFF"/>
        </a:accent3>
        <a:accent4>
          <a:srgbClr val="000000"/>
        </a:accent4>
        <a:accent5>
          <a:srgbClr val="BBD5F8"/>
        </a:accent5>
        <a:accent6>
          <a:srgbClr val="B0C7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
      <a:clrScheme name="Default Design 16">
        <a:dk1>
          <a:srgbClr val="000000"/>
        </a:dk1>
        <a:lt1>
          <a:srgbClr val="FFFFFF"/>
        </a:lt1>
        <a:dk2>
          <a:srgbClr val="0B3D91"/>
        </a:dk2>
        <a:lt2>
          <a:srgbClr val="000066"/>
        </a:lt2>
        <a:accent1>
          <a:srgbClr val="70B2F4"/>
        </a:accent1>
        <a:accent2>
          <a:srgbClr val="C3E4FD"/>
        </a:accent2>
        <a:accent3>
          <a:srgbClr val="FFFFFF"/>
        </a:accent3>
        <a:accent4>
          <a:srgbClr val="000000"/>
        </a:accent4>
        <a:accent5>
          <a:srgbClr val="BBD5F8"/>
        </a:accent5>
        <a:accent6>
          <a:srgbClr val="B0CF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15230</TotalTime>
  <Words>2267</Words>
  <Application>Microsoft Office PowerPoint</Application>
  <PresentationFormat>On-screen Show (4:3)</PresentationFormat>
  <Paragraphs>256</Paragraphs>
  <Slides>51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Arial</vt:lpstr>
      <vt:lpstr>Calibri</vt:lpstr>
      <vt:lpstr>Wingdings</vt:lpstr>
      <vt:lpstr>Default Design</vt:lpstr>
      <vt:lpstr>EETS 8332: Advanced Network Design</vt:lpstr>
      <vt:lpstr>Dynamic Multipoint VPN (DMVPN)</vt:lpstr>
      <vt:lpstr>Dynamic Multipoint VPN (DMVPN)</vt:lpstr>
      <vt:lpstr>Dynamic Multipoint VPN (DMVPN)</vt:lpstr>
      <vt:lpstr>Dynamic Multipoint VPN (DMVPN)</vt:lpstr>
      <vt:lpstr>Dynamic Multipoint VPN (DMVPN)</vt:lpstr>
      <vt:lpstr>Dynamic Multipoint VPN (DMVPN)</vt:lpstr>
      <vt:lpstr>Dynamic Multipoint VPN (DMVPN)</vt:lpstr>
      <vt:lpstr>Dynamic Multipoint VPN (DMVPN)</vt:lpstr>
      <vt:lpstr>Dynamic Multipoint VPN (DMVPN)</vt:lpstr>
      <vt:lpstr>Dynamic Multipoint VPN (DMVPN)</vt:lpstr>
      <vt:lpstr>Dynamic Multipoint VPN (DMVPN)</vt:lpstr>
      <vt:lpstr>Dynamic Multipoint VPN (DMVPN)</vt:lpstr>
      <vt:lpstr>Dynamic Multipoint VPN (DMVPN) Summary</vt:lpstr>
      <vt:lpstr>Dynamic Multipoint VPN (DMVPN) Summary</vt:lpstr>
      <vt:lpstr>Dynamic Multipoint VPN DEEP DIVE</vt:lpstr>
      <vt:lpstr>Multipoint GRE</vt:lpstr>
      <vt:lpstr>Multipoint GRE</vt:lpstr>
      <vt:lpstr>Multipoint GRE</vt:lpstr>
      <vt:lpstr>Multipoint GRE</vt:lpstr>
      <vt:lpstr>Multipoint GRE</vt:lpstr>
      <vt:lpstr>Multipoint GRE</vt:lpstr>
      <vt:lpstr>Multipoint GRE</vt:lpstr>
      <vt:lpstr>Multipoint GRE</vt:lpstr>
      <vt:lpstr>Multipoint GRE</vt:lpstr>
      <vt:lpstr>Multipoint GRE</vt:lpstr>
      <vt:lpstr>Multipoint GRE</vt:lpstr>
      <vt:lpstr>Multipoint GRE</vt:lpstr>
      <vt:lpstr>Multipoint GRE</vt:lpstr>
      <vt:lpstr>Multipoint GRE</vt:lpstr>
      <vt:lpstr>Multipoint GRE</vt:lpstr>
      <vt:lpstr>Multipoint GRE</vt:lpstr>
      <vt:lpstr>Next Hop Resolution Protocol (NHRP)</vt:lpstr>
      <vt:lpstr>Next Hop Resolution Protocol (NHRP)</vt:lpstr>
      <vt:lpstr>Next Hop Resolution Protocol (NHRP)</vt:lpstr>
      <vt:lpstr>Next Hop Resolution Protocol (NHRP)</vt:lpstr>
      <vt:lpstr>Next Hop Resolution Protocol (NHRP)</vt:lpstr>
      <vt:lpstr>Next Hop Resolution Protocol (NHRP)</vt:lpstr>
      <vt:lpstr>Next Hop Resolution Protocol (NHRP)</vt:lpstr>
      <vt:lpstr>Next Hop Resolution Protocol (NHRP)</vt:lpstr>
      <vt:lpstr>Next Hop Resolution Protocol (NHRP)</vt:lpstr>
      <vt:lpstr>Next Hop Resolution Protocol (NHRP)</vt:lpstr>
      <vt:lpstr>Next Hop Resolution Protocol (NHRP)</vt:lpstr>
      <vt:lpstr>Next Hop Resolution Protocol (NHRP)</vt:lpstr>
      <vt:lpstr>Next Hop Resolution Protocol (NHRP)</vt:lpstr>
      <vt:lpstr>Next Hop Resolution Protocol (NHRP)</vt:lpstr>
      <vt:lpstr>Next Hop Resolution Protocol (NHRP)</vt:lpstr>
      <vt:lpstr>Next Hop Resolution Protocol (NHRP)</vt:lpstr>
      <vt:lpstr>DMVPN versus MPLS</vt:lpstr>
      <vt:lpstr>DMVPN versus MPLS</vt:lpstr>
      <vt:lpstr>CISCO VPN COMPARISON</vt:lpstr>
    </vt:vector>
  </TitlesOfParts>
  <Company>SMU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SMU Generic Template: Blue</dc:title>
  <dc:creator>Marlin Kingsley</dc:creator>
  <cp:lastModifiedBy>Kingsley, Scott</cp:lastModifiedBy>
  <cp:revision>844</cp:revision>
  <cp:lastPrinted>2019-10-17T14:22:35Z</cp:lastPrinted>
  <dcterms:created xsi:type="dcterms:W3CDTF">2004-08-08T18:58:35Z</dcterms:created>
  <dcterms:modified xsi:type="dcterms:W3CDTF">2022-11-07T22:49:44Z</dcterms:modified>
</cp:coreProperties>
</file>