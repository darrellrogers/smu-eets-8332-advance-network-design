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8"/>
  </p:notesMasterIdLst>
  <p:handoutMasterIdLst>
    <p:handoutMasterId r:id="rId49"/>
  </p:handoutMasterIdLst>
  <p:sldIdLst>
    <p:sldId id="493" r:id="rId2"/>
    <p:sldId id="417" r:id="rId3"/>
    <p:sldId id="419" r:id="rId4"/>
    <p:sldId id="421" r:id="rId5"/>
    <p:sldId id="424" r:id="rId6"/>
    <p:sldId id="425" r:id="rId7"/>
    <p:sldId id="426" r:id="rId8"/>
    <p:sldId id="427" r:id="rId9"/>
    <p:sldId id="428" r:id="rId10"/>
    <p:sldId id="429" r:id="rId11"/>
    <p:sldId id="433" r:id="rId12"/>
    <p:sldId id="434" r:id="rId13"/>
    <p:sldId id="447" r:id="rId14"/>
    <p:sldId id="448" r:id="rId15"/>
    <p:sldId id="449" r:id="rId16"/>
    <p:sldId id="450" r:id="rId17"/>
    <p:sldId id="451" r:id="rId18"/>
    <p:sldId id="452" r:id="rId19"/>
    <p:sldId id="453" r:id="rId20"/>
    <p:sldId id="454" r:id="rId21"/>
    <p:sldId id="456" r:id="rId22"/>
    <p:sldId id="457" r:id="rId23"/>
    <p:sldId id="458" r:id="rId24"/>
    <p:sldId id="459" r:id="rId25"/>
    <p:sldId id="460" r:id="rId26"/>
    <p:sldId id="461" r:id="rId27"/>
    <p:sldId id="462" r:id="rId28"/>
    <p:sldId id="463" r:id="rId29"/>
    <p:sldId id="464" r:id="rId30"/>
    <p:sldId id="465" r:id="rId31"/>
    <p:sldId id="466" r:id="rId32"/>
    <p:sldId id="467" r:id="rId33"/>
    <p:sldId id="468" r:id="rId34"/>
    <p:sldId id="480" r:id="rId35"/>
    <p:sldId id="481" r:id="rId36"/>
    <p:sldId id="482" r:id="rId37"/>
    <p:sldId id="483" r:id="rId38"/>
    <p:sldId id="484" r:id="rId39"/>
    <p:sldId id="485" r:id="rId40"/>
    <p:sldId id="486" r:id="rId41"/>
    <p:sldId id="487" r:id="rId42"/>
    <p:sldId id="488" r:id="rId43"/>
    <p:sldId id="489" r:id="rId44"/>
    <p:sldId id="490" r:id="rId45"/>
    <p:sldId id="491" r:id="rId46"/>
    <p:sldId id="494" r:id="rId47"/>
  </p:sldIdLst>
  <p:sldSz cx="9144000" cy="6858000" type="screen4x3"/>
  <p:notesSz cx="6985000" cy="92837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5" autoAdjust="0"/>
    <p:restoredTop sz="94660"/>
  </p:normalViewPr>
  <p:slideViewPr>
    <p:cSldViewPr>
      <p:cViewPr varScale="1">
        <p:scale>
          <a:sx n="111" d="100"/>
          <a:sy n="111" d="100"/>
        </p:scale>
        <p:origin x="-161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7363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56050" y="0"/>
            <a:ext cx="3027363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589FD1-ECB7-4B6D-9DE5-950BEECE2187}" type="datetimeFigureOut">
              <a:rPr lang="en-US" smtClean="0"/>
              <a:pPr/>
              <a:t>1/27/2015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18563"/>
            <a:ext cx="3027363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56050" y="8818563"/>
            <a:ext cx="3027363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28D623-53C6-4F7C-A81D-9849EB2649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794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5655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r">
              <a:defRPr sz="1200"/>
            </a:lvl1pPr>
          </a:lstStyle>
          <a:p>
            <a:fld id="{546D8ADF-4389-46FB-B02D-137748EA4271}" type="datetimeFigureOut">
              <a:rPr lang="en-US" smtClean="0"/>
              <a:pPr/>
              <a:t>1/27/2015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696913"/>
            <a:ext cx="4641850" cy="3481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58" tIns="46479" rIns="92958" bIns="4647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8500" y="4409758"/>
            <a:ext cx="5588000" cy="4177665"/>
          </a:xfrm>
          <a:prstGeom prst="rect">
            <a:avLst/>
          </a:prstGeom>
        </p:spPr>
        <p:txBody>
          <a:bodyPr vert="horz" lIns="92958" tIns="46479" rIns="92958" bIns="4647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5655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r">
              <a:defRPr sz="1200"/>
            </a:lvl1pPr>
          </a:lstStyle>
          <a:p>
            <a:fld id="{85F8726F-0D78-4D34-80A9-876A6440C6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744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A4543E-D60C-42B0-A583-F885EA494547}" type="slidenum">
              <a:rPr lang="en-US"/>
              <a:pPr/>
              <a:t>21</a:t>
            </a:fld>
            <a:endParaRPr lang="en-US"/>
          </a:p>
        </p:txBody>
      </p:sp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5784" y="696277"/>
            <a:ext cx="4656667" cy="3481388"/>
          </a:xfrm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334" y="4409758"/>
            <a:ext cx="5122333" cy="417766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6D69E3-56FA-4290-9D01-7F893AF27EA5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9432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8A01E2-5BC1-4318-B203-9622648489A1}" type="slidenum">
              <a:rPr lang="en-US"/>
              <a:pPr/>
              <a:t>29</a:t>
            </a:fld>
            <a:endParaRPr lang="en-US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4167" y="694667"/>
            <a:ext cx="4635648" cy="3465270"/>
          </a:xfrm>
          <a:ln/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C08ED1-9876-4803-BF95-0DA938B373FB}" type="slidenum">
              <a:rPr lang="zh-CN" altLang="en-US"/>
              <a:pPr/>
              <a:t>31</a:t>
            </a:fld>
            <a:endParaRPr lang="en-US" altLang="zh-CN"/>
          </a:p>
        </p:txBody>
      </p:sp>
      <p:sp>
        <p:nvSpPr>
          <p:cNvPr id="424962" name="Rectangle 2"/>
          <p:cNvSpPr>
            <a:spLocks noChangeArrowheads="1"/>
          </p:cNvSpPr>
          <p:nvPr/>
        </p:nvSpPr>
        <p:spPr bwMode="auto">
          <a:xfrm>
            <a:off x="3957834" y="-1507"/>
            <a:ext cx="3027166" cy="461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424963" name="Rectangle 3"/>
          <p:cNvSpPr>
            <a:spLocks noChangeArrowheads="1"/>
          </p:cNvSpPr>
          <p:nvPr/>
        </p:nvSpPr>
        <p:spPr bwMode="auto">
          <a:xfrm>
            <a:off x="3957834" y="8816653"/>
            <a:ext cx="3027166" cy="467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424964" name="Rectangle 4"/>
          <p:cNvSpPr>
            <a:spLocks noChangeArrowheads="1"/>
          </p:cNvSpPr>
          <p:nvPr/>
        </p:nvSpPr>
        <p:spPr bwMode="auto">
          <a:xfrm>
            <a:off x="1" y="8816653"/>
            <a:ext cx="3027167" cy="467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424965" name="Rectangle 5"/>
          <p:cNvSpPr>
            <a:spLocks noChangeArrowheads="1"/>
          </p:cNvSpPr>
          <p:nvPr/>
        </p:nvSpPr>
        <p:spPr bwMode="auto">
          <a:xfrm>
            <a:off x="1" y="-1507"/>
            <a:ext cx="3027167" cy="461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424966" name="Rectangle 6"/>
          <p:cNvSpPr>
            <a:spLocks noChangeArrowheads="1"/>
          </p:cNvSpPr>
          <p:nvPr/>
        </p:nvSpPr>
        <p:spPr bwMode="auto">
          <a:xfrm>
            <a:off x="3957834" y="-1507"/>
            <a:ext cx="3027166" cy="461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424967" name="Rectangle 7"/>
          <p:cNvSpPr>
            <a:spLocks noChangeArrowheads="1"/>
          </p:cNvSpPr>
          <p:nvPr/>
        </p:nvSpPr>
        <p:spPr bwMode="auto">
          <a:xfrm>
            <a:off x="1" y="8816653"/>
            <a:ext cx="3027167" cy="467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424968" name="Rectangle 8"/>
          <p:cNvSpPr>
            <a:spLocks noChangeArrowheads="1"/>
          </p:cNvSpPr>
          <p:nvPr/>
        </p:nvSpPr>
        <p:spPr bwMode="auto">
          <a:xfrm>
            <a:off x="1" y="-1507"/>
            <a:ext cx="3027167" cy="461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42496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932336" y="4411341"/>
            <a:ext cx="5120332" cy="417480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4805" tIns="47402" rIns="94805" bIns="47402"/>
          <a:lstStyle/>
          <a:p>
            <a:endParaRPr lang="zh-CN" altLang="en-US" dirty="0"/>
          </a:p>
        </p:txBody>
      </p:sp>
      <p:sp>
        <p:nvSpPr>
          <p:cNvPr id="424970" name="Rectangle 10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03468" y="855842"/>
            <a:ext cx="4176448" cy="3121966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E908AE-C269-49EE-B523-C927ED26BBC4}" type="slidenum">
              <a:rPr lang="en-US"/>
              <a:pPr/>
              <a:t>33</a:t>
            </a:fld>
            <a:endParaRPr lang="en-US"/>
          </a:p>
        </p:txBody>
      </p:sp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7400" y="693055"/>
            <a:ext cx="4645349" cy="3473329"/>
          </a:xfrm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334" y="4408147"/>
            <a:ext cx="5122333" cy="4179276"/>
          </a:xfrm>
        </p:spPr>
        <p:txBody>
          <a:bodyPr lIns="91856" tIns="45927" rIns="91856" bIns="45927"/>
          <a:lstStyle/>
          <a:p>
            <a:pPr marL="116197" indent="-116197"/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6F3450-8D41-44B4-B7D2-FE122912DEB8}" type="slidenum">
              <a:rPr lang="en-US"/>
              <a:pPr/>
              <a:t>39</a:t>
            </a:fld>
            <a:endParaRPr lang="en-US"/>
          </a:p>
        </p:txBody>
      </p:sp>
      <p:sp>
        <p:nvSpPr>
          <p:cNvPr id="995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5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F9F282-BE8D-4882-968E-1AE14B93DAB0}" type="slidenum">
              <a:rPr lang="en-US"/>
              <a:pPr/>
              <a:t>40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38D864-FABD-4B36-B7C5-6071C72584D8}" type="slidenum">
              <a:rPr lang="en-US"/>
              <a:pPr/>
              <a:t>41</a:t>
            </a:fld>
            <a:endParaRPr lang="en-US"/>
          </a:p>
        </p:txBody>
      </p:sp>
      <p:sp>
        <p:nvSpPr>
          <p:cNvPr id="999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9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F79DC3-764E-4A7F-8B98-C22131FD29F5}" type="slidenum">
              <a:rPr lang="en-US"/>
              <a:pPr/>
              <a:t>42</a:t>
            </a:fld>
            <a:endParaRPr lang="en-US"/>
          </a:p>
        </p:txBody>
      </p:sp>
      <p:sp>
        <p:nvSpPr>
          <p:cNvPr id="1002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2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CDDE8B-6297-4949-A22E-E4C0182B026F}" type="slidenum">
              <a:rPr lang="en-US"/>
              <a:pPr/>
              <a:t>44</a:t>
            </a:fld>
            <a:endParaRPr lang="en-US"/>
          </a:p>
        </p:txBody>
      </p:sp>
      <p:sp>
        <p:nvSpPr>
          <p:cNvPr id="1005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5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334" y="4409758"/>
            <a:ext cx="5122333" cy="4177665"/>
          </a:xfrm>
        </p:spPr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E8966F-0277-4EAE-9E0B-D357E736F02B}" type="slidenum">
              <a:rPr lang="en-US"/>
              <a:pPr/>
              <a:t>45</a:t>
            </a:fld>
            <a:endParaRPr lang="en-US"/>
          </a:p>
        </p:txBody>
      </p:sp>
      <p:sp>
        <p:nvSpPr>
          <p:cNvPr id="1009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9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334" y="4409758"/>
            <a:ext cx="5122333" cy="4177665"/>
          </a:xfrm>
        </p:spPr>
        <p:txBody>
          <a:bodyPr/>
          <a:lstStyle/>
          <a:p>
            <a:pPr marL="1626763" lvl="3" indent="-232395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E8966F-0277-4EAE-9E0B-D357E736F02B}" type="slidenum">
              <a:rPr lang="en-US"/>
              <a:pPr/>
              <a:t>46</a:t>
            </a:fld>
            <a:endParaRPr lang="en-US"/>
          </a:p>
        </p:txBody>
      </p:sp>
      <p:sp>
        <p:nvSpPr>
          <p:cNvPr id="1009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9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334" y="4409758"/>
            <a:ext cx="5122333" cy="4177665"/>
          </a:xfrm>
        </p:spPr>
        <p:txBody>
          <a:bodyPr/>
          <a:lstStyle/>
          <a:p>
            <a:pPr marL="1626763" lvl="3" indent="-232395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61181-C1EB-4E9D-B919-B59ED1877BAB}" type="datetime1">
              <a:rPr lang="en-US" smtClean="0"/>
              <a:t>1/27/2015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DE9D5F7-DBBB-443F-BC5A-E6BAD04A05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8912B-A28C-4CC0-933F-09E9488B8768}" type="datetime1">
              <a:rPr lang="en-US" smtClean="0"/>
              <a:t>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6DE9D5F7-DBBB-443F-BC5A-E6BAD04A05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1D9E-7226-4231-B6E8-A20B9348DF07}" type="datetime1">
              <a:rPr lang="en-US" smtClean="0"/>
              <a:t>1/27/2015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DE9D5F7-DBBB-443F-BC5A-E6BAD04A05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DA462C53-E2CC-47B0-9FDD-89DA04EEF790}" type="datetime1">
              <a:rPr lang="en-US" smtClean="0"/>
              <a:t>1/27/2015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4864E-F9F4-4082-A6F4-2A6023605EAE}" type="datetime1">
              <a:rPr lang="en-US" smtClean="0"/>
              <a:t>1/27/2015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6DE9D5F7-DBBB-443F-BC5A-E6BAD04A05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083C-B60D-4ED7-89FD-B95C56DA075B}" type="datetime1">
              <a:rPr lang="en-US" smtClean="0"/>
              <a:t>1/27/2015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6DE9D5F7-DBBB-443F-BC5A-E6BAD04A05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69F55-BF6A-4254-A301-9A9CC58E8525}" type="datetime1">
              <a:rPr lang="en-US" smtClean="0"/>
              <a:t>1/27/2015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DE9D5F7-DBBB-443F-BC5A-E6BAD04A05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DE9D5F7-DBBB-443F-BC5A-E6BAD04A05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488DF-3433-4033-B91E-BB379CD2D8FF}" type="datetime1">
              <a:rPr lang="en-US" smtClean="0"/>
              <a:t>1/27/2015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6DE9D5F7-DBBB-443F-BC5A-E6BAD04A05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4AD46CA5-9DD7-4C47-9338-87A3ED9FBF64}" type="datetime1">
              <a:rPr lang="en-US" smtClean="0"/>
              <a:t>1/27/2015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A592-55F6-4281-ACF2-8AA0446484B6}" type="datetime1">
              <a:rPr lang="en-US" smtClean="0"/>
              <a:t>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6DE9D5F7-DBBB-443F-BC5A-E6BAD04A05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FA133-76C3-4A2D-AED7-B86CF55180DE}" type="datetime1">
              <a:rPr lang="en-US" smtClean="0"/>
              <a:t>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822A7755-2247-4A00-8BC3-FFE12A3DD6DB}" type="datetime1">
              <a:rPr lang="en-US" smtClean="0"/>
              <a:t>1/27/2015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DE9D5F7-DBBB-443F-BC5A-E6BAD04A05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/index.php?title=WAN_PHY_(10GBASE-W)&amp;action=edit&amp;redlink=1" TargetMode="External"/><Relationship Id="rId2" Type="http://schemas.openxmlformats.org/officeDocument/2006/relationships/hyperlink" Target="http://en.wikipedia.org/wiki/Generic_Framing_Procedur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en.wikipedia.org/wiki/40_Gigabit_Ethernet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://en.wikipedia.org/wiki/100_Gigabit_Ethernet" TargetMode="External"/><Relationship Id="rId3" Type="http://schemas.openxmlformats.org/officeDocument/2006/relationships/hyperlink" Target="http://en.wikipedia.org/wiki/Optical_Transport_Network" TargetMode="External"/><Relationship Id="rId7" Type="http://schemas.openxmlformats.org/officeDocument/2006/relationships/hyperlink" Target="http://en.wikipedia.org/wiki/40_Gigabit_Ethernet" TargetMode="External"/><Relationship Id="rId12" Type="http://schemas.openxmlformats.org/officeDocument/2006/relationships/hyperlink" Target="http://en.wikipedia.org/wiki/Common_Public_Radio_Interface" TargetMode="External"/><Relationship Id="rId2" Type="http://schemas.openxmlformats.org/officeDocument/2006/relationships/hyperlink" Target="http://en.wikipedia.org/wiki/1000BASE-X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en.wikipedia.org/wiki/10GFC" TargetMode="External"/><Relationship Id="rId11" Type="http://schemas.openxmlformats.org/officeDocument/2006/relationships/hyperlink" Target="http://en.wikipedia.org/wiki/InfiniBand" TargetMode="External"/><Relationship Id="rId5" Type="http://schemas.openxmlformats.org/officeDocument/2006/relationships/hyperlink" Target="http://en.wikipedia.org/wiki/10_Gigabit_Ethernet" TargetMode="External"/><Relationship Id="rId10" Type="http://schemas.openxmlformats.org/officeDocument/2006/relationships/hyperlink" Target="http://en.wikipedia.org/wiki/8GFC" TargetMode="External"/><Relationship Id="rId4" Type="http://schemas.openxmlformats.org/officeDocument/2006/relationships/hyperlink" Target="http://en.wikipedia.org/wiki/Generic_Framing_Procedure" TargetMode="External"/><Relationship Id="rId9" Type="http://schemas.openxmlformats.org/officeDocument/2006/relationships/hyperlink" Target="http://en.wikipedia.org/wiki/Constant_bitrate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jpeg"/><Relationship Id="rId4" Type="http://schemas.openxmlformats.org/officeDocument/2006/relationships/image" Target="../media/image7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://metroethernetforum.org/index.php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33.png"/><Relationship Id="rId7" Type="http://schemas.openxmlformats.org/officeDocument/2006/relationships/image" Target="../media/image30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0.png"/><Relationship Id="rId5" Type="http://schemas.openxmlformats.org/officeDocument/2006/relationships/image" Target="../media/image35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47.png"/><Relationship Id="rId7" Type="http://schemas.openxmlformats.org/officeDocument/2006/relationships/image" Target="../media/image39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34.png"/><Relationship Id="rId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37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55.png"/><Relationship Id="rId18" Type="http://schemas.openxmlformats.org/officeDocument/2006/relationships/image" Target="../media/image57.png"/><Relationship Id="rId3" Type="http://schemas.openxmlformats.org/officeDocument/2006/relationships/image" Target="../media/image43.png"/><Relationship Id="rId7" Type="http://schemas.openxmlformats.org/officeDocument/2006/relationships/image" Target="../media/image44.png"/><Relationship Id="rId12" Type="http://schemas.openxmlformats.org/officeDocument/2006/relationships/image" Target="../media/image54.png"/><Relationship Id="rId17" Type="http://schemas.openxmlformats.org/officeDocument/2006/relationships/image" Target="../media/image47.png"/><Relationship Id="rId2" Type="http://schemas.openxmlformats.org/officeDocument/2006/relationships/image" Target="../media/image38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3.png"/><Relationship Id="rId5" Type="http://schemas.openxmlformats.org/officeDocument/2006/relationships/image" Target="../media/image50.png"/><Relationship Id="rId15" Type="http://schemas.openxmlformats.org/officeDocument/2006/relationships/image" Target="../media/image49.png"/><Relationship Id="rId10" Type="http://schemas.openxmlformats.org/officeDocument/2006/relationships/image" Target="../media/image52.png"/><Relationship Id="rId4" Type="http://schemas.openxmlformats.org/officeDocument/2006/relationships/image" Target="../media/image45.png"/><Relationship Id="rId9" Type="http://schemas.openxmlformats.org/officeDocument/2006/relationships/image" Target="../media/image34.png"/><Relationship Id="rId14" Type="http://schemas.openxmlformats.org/officeDocument/2006/relationships/image" Target="../media/image56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58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59.png"/><Relationship Id="rId5" Type="http://schemas.openxmlformats.org/officeDocument/2006/relationships/image" Target="../media/image44.png"/><Relationship Id="rId10" Type="http://schemas.openxmlformats.org/officeDocument/2006/relationships/image" Target="../media/image50.png"/><Relationship Id="rId4" Type="http://schemas.openxmlformats.org/officeDocument/2006/relationships/image" Target="../media/image38.png"/><Relationship Id="rId9" Type="http://schemas.openxmlformats.org/officeDocument/2006/relationships/image" Target="../media/image45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58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59.png"/><Relationship Id="rId5" Type="http://schemas.openxmlformats.org/officeDocument/2006/relationships/image" Target="../media/image44.png"/><Relationship Id="rId10" Type="http://schemas.openxmlformats.org/officeDocument/2006/relationships/image" Target="../media/image50.png"/><Relationship Id="rId4" Type="http://schemas.openxmlformats.org/officeDocument/2006/relationships/image" Target="../media/image38.png"/><Relationship Id="rId9" Type="http://schemas.openxmlformats.org/officeDocument/2006/relationships/image" Target="../media/image45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457200"/>
            <a:ext cx="8458200" cy="1470025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accent2"/>
                </a:solidFill>
              </a:rPr>
              <a:t>Advanced Network Design</a:t>
            </a:r>
            <a:br>
              <a:rPr lang="en-US" dirty="0" smtClean="0">
                <a:solidFill>
                  <a:schemeClr val="accent2"/>
                </a:solidFill>
              </a:rPr>
            </a:br>
            <a:r>
              <a:rPr lang="en-US" dirty="0" smtClean="0">
                <a:solidFill>
                  <a:schemeClr val="accent2"/>
                </a:solidFill>
              </a:rPr>
              <a:t>EETS8332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43800" y="6459379"/>
            <a:ext cx="13548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© Dr. Scott Kingsley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13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accent2"/>
                </a:solidFill>
              </a:rPr>
              <a:t>Optical Transport Network (OTN)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94738" y="1600200"/>
            <a:ext cx="8503920" cy="44958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OTN builds </a:t>
            </a:r>
            <a:r>
              <a:rPr lang="en-US" sz="2400" dirty="0"/>
              <a:t>upon the concepts of </a:t>
            </a:r>
            <a:r>
              <a:rPr lang="en-US" sz="2400" dirty="0" smtClean="0"/>
              <a:t>SONET/SDH and </a:t>
            </a:r>
            <a:r>
              <a:rPr lang="en-US" sz="2400" dirty="0"/>
              <a:t>has been designed to carry </a:t>
            </a:r>
            <a:r>
              <a:rPr lang="en-US" sz="2400" dirty="0" smtClean="0"/>
              <a:t>all types </a:t>
            </a:r>
            <a:r>
              <a:rPr lang="en-US" sz="2400" dirty="0"/>
              <a:t>of data traffic including SONET/SDH traffic. </a:t>
            </a:r>
            <a:endParaRPr lang="en-US" sz="2400" dirty="0" smtClean="0"/>
          </a:p>
          <a:p>
            <a:r>
              <a:rPr lang="en-US" sz="2400" dirty="0" smtClean="0"/>
              <a:t>It </a:t>
            </a:r>
            <a:r>
              <a:rPr lang="en-US" sz="2400" dirty="0"/>
              <a:t>has been enhanced to </a:t>
            </a:r>
            <a:r>
              <a:rPr lang="en-US" sz="2400" dirty="0" smtClean="0"/>
              <a:t>operate at </a:t>
            </a:r>
            <a:r>
              <a:rPr lang="en-US" sz="2400" dirty="0"/>
              <a:t>very high transmission rates, and it has a complete and flexible set of </a:t>
            </a:r>
            <a:r>
              <a:rPr lang="en-US" sz="2400" dirty="0" smtClean="0"/>
              <a:t>operation and </a:t>
            </a:r>
            <a:r>
              <a:rPr lang="en-US" sz="2400" dirty="0"/>
              <a:t>management features.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543800" y="6459379"/>
            <a:ext cx="13548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© Dr. Scott Kingsley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504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Optical Transport Network (OTN)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OTN is an industry-standard optical transport protocol</a:t>
            </a:r>
          </a:p>
          <a:p>
            <a:r>
              <a:rPr lang="en-US" dirty="0" smtClean="0"/>
              <a:t>ITU </a:t>
            </a:r>
            <a:r>
              <a:rPr lang="en-US" dirty="0"/>
              <a:t>G.872 "Architecture for the Optical Transport Network (OTN)” (Oct 2001)</a:t>
            </a:r>
          </a:p>
          <a:p>
            <a:r>
              <a:rPr lang="en-US" dirty="0" smtClean="0"/>
              <a:t>Further </a:t>
            </a:r>
            <a:r>
              <a:rPr lang="en-US" dirty="0"/>
              <a:t>refined in ITU-T G.709 </a:t>
            </a:r>
            <a:r>
              <a:rPr lang="en-US" dirty="0" smtClean="0"/>
              <a:t>Jan 2003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Amendment 3 Oct </a:t>
            </a:r>
            <a:r>
              <a:rPr lang="en-US" dirty="0" smtClean="0"/>
              <a:t>2009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50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Optical Transport Network (OTN)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ITU G.709</a:t>
            </a:r>
          </a:p>
          <a:p>
            <a:r>
              <a:rPr lang="en-US" dirty="0" smtClean="0"/>
              <a:t>Designed to </a:t>
            </a:r>
            <a:r>
              <a:rPr lang="en-US" dirty="0"/>
              <a:t>transport data packet traffic such as IP and Ethernet over fiber optics, </a:t>
            </a:r>
            <a:r>
              <a:rPr lang="en-US" dirty="0" smtClean="0"/>
              <a:t>as well </a:t>
            </a:r>
            <a:r>
              <a:rPr lang="en-US" dirty="0"/>
              <a:t>as legacy traffic and in particular SONET/SDH.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called the </a:t>
            </a:r>
            <a:r>
              <a:rPr lang="en-US" i="1" dirty="0"/>
              <a:t>digital </a:t>
            </a:r>
            <a:r>
              <a:rPr lang="en-US" i="1" dirty="0" smtClean="0"/>
              <a:t>wrapper </a:t>
            </a:r>
            <a:r>
              <a:rPr lang="en-US" dirty="0"/>
              <a:t>technology because it wraps any client signal in overhead information for </a:t>
            </a:r>
            <a:r>
              <a:rPr lang="en-US" dirty="0" smtClean="0"/>
              <a:t>operations, administration</a:t>
            </a:r>
            <a:r>
              <a:rPr lang="en-US" dirty="0"/>
              <a:t>, and management.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1115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Optical Transport Network (OTN)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dirty="0"/>
              <a:t>Asynchronous </a:t>
            </a:r>
            <a:r>
              <a:rPr lang="en-US" sz="2800" dirty="0" smtClean="0"/>
              <a:t>timing </a:t>
            </a:r>
          </a:p>
          <a:p>
            <a:pPr lvl="1"/>
            <a:r>
              <a:rPr lang="en-US" dirty="0" smtClean="0"/>
              <a:t>OTN </a:t>
            </a:r>
            <a:r>
              <a:rPr lang="en-US" dirty="0"/>
              <a:t>has an asynchronous mapping of client signals </a:t>
            </a:r>
            <a:r>
              <a:rPr lang="en-US" dirty="0" smtClean="0"/>
              <a:t>into OTN </a:t>
            </a:r>
            <a:r>
              <a:rPr lang="en-US" dirty="0"/>
              <a:t>frames where the clock that generates the frames can be a simple </a:t>
            </a:r>
            <a:r>
              <a:rPr lang="en-US" dirty="0" smtClean="0"/>
              <a:t>free-running oscillator. </a:t>
            </a:r>
          </a:p>
          <a:p>
            <a:pPr lvl="1"/>
            <a:r>
              <a:rPr lang="en-US" dirty="0" smtClean="0"/>
              <a:t>To account for any mismatch between the clocks of the OTN frames </a:t>
            </a:r>
            <a:r>
              <a:rPr lang="en-US" dirty="0"/>
              <a:t>and the client signal, the OTN payload floats within the frame. </a:t>
            </a:r>
            <a:endParaRPr lang="en-US" dirty="0" smtClean="0"/>
          </a:p>
          <a:p>
            <a:pPr lvl="1"/>
            <a:r>
              <a:rPr lang="en-US" dirty="0"/>
              <a:t>S</a:t>
            </a:r>
            <a:r>
              <a:rPr lang="en-US" dirty="0" smtClean="0"/>
              <a:t>imple </a:t>
            </a:r>
            <a:r>
              <a:rPr lang="en-US" dirty="0"/>
              <a:t>free-running oscillators can simplify implementation and reduce costs</a:t>
            </a:r>
            <a:r>
              <a:rPr lang="en-US" dirty="0" smtClean="0"/>
              <a:t>.</a:t>
            </a:r>
          </a:p>
          <a:p>
            <a:r>
              <a:rPr lang="en-US" sz="2600" dirty="0" smtClean="0"/>
              <a:t>Unlike </a:t>
            </a:r>
            <a:r>
              <a:rPr lang="en-US" sz="2600" dirty="0"/>
              <a:t>SONET/SDH, as the </a:t>
            </a:r>
            <a:r>
              <a:rPr lang="en-US" sz="2600" dirty="0" smtClean="0"/>
              <a:t>line rate </a:t>
            </a:r>
            <a:r>
              <a:rPr lang="en-US" sz="2600" dirty="0"/>
              <a:t>increases, the G.709 frame </a:t>
            </a:r>
            <a:r>
              <a:rPr lang="en-US" sz="2600" dirty="0" smtClean="0"/>
              <a:t>size (</a:t>
            </a:r>
            <a:r>
              <a:rPr lang="en-US" sz="2600" dirty="0"/>
              <a:t>4 x 4080) remains the same and </a:t>
            </a:r>
            <a:r>
              <a:rPr lang="en-US" sz="2600" dirty="0" smtClean="0"/>
              <a:t>the frame </a:t>
            </a:r>
            <a:r>
              <a:rPr lang="en-US" sz="2600" dirty="0"/>
              <a:t>rate increases. </a:t>
            </a:r>
            <a:endParaRPr lang="en-US" sz="2600" dirty="0" smtClean="0"/>
          </a:p>
          <a:p>
            <a:pPr lvl="1"/>
            <a:r>
              <a:rPr lang="en-US" sz="2300" dirty="0" smtClean="0"/>
              <a:t>This </a:t>
            </a:r>
            <a:r>
              <a:rPr lang="en-US" sz="2300" dirty="0"/>
              <a:t>is </a:t>
            </a:r>
            <a:r>
              <a:rPr lang="en-US" sz="2300" dirty="0" smtClean="0"/>
              <a:t>a fundamental departure </a:t>
            </a:r>
            <a:r>
              <a:rPr lang="en-US" sz="2300" dirty="0"/>
              <a:t>from the </a:t>
            </a:r>
            <a:r>
              <a:rPr lang="en-US" sz="2300" dirty="0" smtClean="0"/>
              <a:t>8 kHz/64kbps PCM frame </a:t>
            </a:r>
            <a:r>
              <a:rPr lang="en-US" sz="2300" dirty="0"/>
              <a:t>rate that has been </a:t>
            </a:r>
            <a:r>
              <a:rPr lang="en-US" sz="2300" dirty="0" smtClean="0"/>
              <a:t>a foundation </a:t>
            </a:r>
            <a:r>
              <a:rPr lang="en-US" sz="2300" dirty="0"/>
              <a:t>of digital </a:t>
            </a:r>
            <a:r>
              <a:rPr lang="en-US" sz="2300" dirty="0" smtClean="0"/>
              <a:t>telecommunication networks</a:t>
            </a:r>
            <a:endParaRPr lang="en-US" sz="6100" dirty="0"/>
          </a:p>
        </p:txBody>
      </p:sp>
    </p:spTree>
    <p:extLst>
      <p:ext uri="{BB962C8B-B14F-4D97-AF65-F5344CB8AC3E}">
        <p14:creationId xmlns:p14="http://schemas.microsoft.com/office/powerpoint/2010/main" val="4169965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Optical Transport Network (OTN)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dirty="0"/>
              <a:t>Asynchronous timing </a:t>
            </a:r>
          </a:p>
          <a:p>
            <a:pPr lvl="1"/>
            <a:r>
              <a:rPr lang="en-US" dirty="0"/>
              <a:t>OTN has an asynchronous mapping of client signals into OTN frames where the clock that generates the frames can be a simple free-running oscillator. </a:t>
            </a:r>
          </a:p>
          <a:p>
            <a:pPr lvl="1"/>
            <a:r>
              <a:rPr lang="en-US" dirty="0"/>
              <a:t>To account for any mismatch between the clocks of the OTN frames and the client signal, the OTN payload floats within the frame. </a:t>
            </a:r>
          </a:p>
          <a:p>
            <a:pPr lvl="1"/>
            <a:r>
              <a:rPr lang="en-US" dirty="0"/>
              <a:t>Simple free-running oscillators can simplify implementation and reduce costs.</a:t>
            </a:r>
          </a:p>
          <a:p>
            <a:r>
              <a:rPr lang="en-US" sz="2600" dirty="0"/>
              <a:t>Unlike SONET/SDH, as the line rate increases, the G.709 frame size (4 x 4080) remains the same and the frame rate increases. </a:t>
            </a:r>
          </a:p>
          <a:p>
            <a:pPr lvl="1"/>
            <a:r>
              <a:rPr lang="en-US" sz="2300" dirty="0"/>
              <a:t>This is a fundamental departure from the 8 kHz/64kbps PCM frame rate that has been a foundation of digital telecommunication networks</a:t>
            </a:r>
            <a:endParaRPr lang="en-US" sz="6100" dirty="0"/>
          </a:p>
        </p:txBody>
      </p:sp>
    </p:spTree>
    <p:extLst>
      <p:ext uri="{BB962C8B-B14F-4D97-AF65-F5344CB8AC3E}">
        <p14:creationId xmlns:p14="http://schemas.microsoft.com/office/powerpoint/2010/main" val="2824906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OTN Hierarchy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>
          <a:xfrm>
            <a:off x="152400" y="1550192"/>
            <a:ext cx="4727448" cy="4774407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/>
              <a:t>The optical </a:t>
            </a:r>
            <a:r>
              <a:rPr lang="en-US" sz="2800" dirty="0" smtClean="0"/>
              <a:t>transmission section </a:t>
            </a:r>
            <a:r>
              <a:rPr lang="en-US" sz="2800" dirty="0"/>
              <a:t>(OTS), optical multiplexed section (OMS), and optical channel (</a:t>
            </a:r>
            <a:r>
              <a:rPr lang="en-US" sz="2800" dirty="0" err="1"/>
              <a:t>OCh</a:t>
            </a:r>
            <a:r>
              <a:rPr lang="en-US" sz="2800" dirty="0"/>
              <a:t>) </a:t>
            </a:r>
            <a:r>
              <a:rPr lang="en-US" sz="2800" dirty="0" smtClean="0"/>
              <a:t>layers are </a:t>
            </a:r>
            <a:r>
              <a:rPr lang="en-US" sz="2800" dirty="0"/>
              <a:t>in the optical domain. </a:t>
            </a:r>
            <a:endParaRPr lang="en-US" sz="2800" dirty="0" smtClean="0"/>
          </a:p>
          <a:p>
            <a:pPr lvl="1"/>
            <a:r>
              <a:rPr lang="en-US" sz="2300" dirty="0" smtClean="0"/>
              <a:t>The OTS </a:t>
            </a:r>
            <a:r>
              <a:rPr lang="en-US" sz="2300" dirty="0"/>
              <a:t>layer manages fiber link segments between </a:t>
            </a:r>
            <a:r>
              <a:rPr lang="en-US" sz="2300" dirty="0" smtClean="0"/>
              <a:t>optical components </a:t>
            </a:r>
            <a:r>
              <a:rPr lang="en-US" sz="2300" dirty="0"/>
              <a:t>such as between optical amplifiers, or optical amplifiers and </a:t>
            </a:r>
            <a:r>
              <a:rPr lang="en-US" sz="2300" dirty="0" smtClean="0"/>
              <a:t>WDM multiplexers</a:t>
            </a:r>
            <a:r>
              <a:rPr lang="en-US" sz="2300" dirty="0"/>
              <a:t>. </a:t>
            </a:r>
            <a:endParaRPr lang="en-US" sz="2300" dirty="0" smtClean="0"/>
          </a:p>
          <a:p>
            <a:pPr lvl="1"/>
            <a:r>
              <a:rPr lang="en-US" sz="2300" dirty="0" smtClean="0"/>
              <a:t>The </a:t>
            </a:r>
            <a:r>
              <a:rPr lang="en-US" sz="2300" dirty="0"/>
              <a:t>OMS layer manages fiber links between optical multiplexers </a:t>
            </a:r>
            <a:r>
              <a:rPr lang="en-US" sz="2300" dirty="0" smtClean="0"/>
              <a:t>and switches. </a:t>
            </a:r>
          </a:p>
          <a:p>
            <a:pPr lvl="1"/>
            <a:r>
              <a:rPr lang="en-US" sz="2300" dirty="0" smtClean="0"/>
              <a:t>The </a:t>
            </a:r>
            <a:r>
              <a:rPr lang="en-US" sz="2300" dirty="0" err="1"/>
              <a:t>OCh</a:t>
            </a:r>
            <a:r>
              <a:rPr lang="en-US" sz="2300" dirty="0"/>
              <a:t> layer manages optical connections between 3R </a:t>
            </a:r>
            <a:r>
              <a:rPr lang="en-US" sz="2300" dirty="0" smtClean="0"/>
              <a:t>regenerators (</a:t>
            </a:r>
            <a:r>
              <a:rPr lang="en-US" sz="2300" dirty="0"/>
              <a:t>e.g., </a:t>
            </a:r>
            <a:r>
              <a:rPr lang="en-US" sz="2300" dirty="0" err="1"/>
              <a:t>lightpaths</a:t>
            </a:r>
            <a:r>
              <a:rPr lang="en-US" sz="2300" dirty="0"/>
              <a:t>).</a:t>
            </a:r>
            <a:endParaRPr lang="en-US" dirty="0"/>
          </a:p>
        </p:txBody>
      </p:sp>
      <p:pic>
        <p:nvPicPr>
          <p:cNvPr id="5" name="Picture 5" descr="Fig_6_1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981200"/>
            <a:ext cx="3886200" cy="3709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9396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OTN Hierarchy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188" y="1524000"/>
            <a:ext cx="6905625" cy="226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187" y="3758045"/>
            <a:ext cx="6905625" cy="2490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3235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OTN Hierarchy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>
          <a:xfrm>
            <a:off x="152400" y="1550192"/>
            <a:ext cx="8610600" cy="4774407"/>
          </a:xfrm>
        </p:spPr>
        <p:txBody>
          <a:bodyPr>
            <a:noAutofit/>
          </a:bodyPr>
          <a:lstStyle/>
          <a:p>
            <a:r>
              <a:rPr lang="en-US" sz="2000" dirty="0"/>
              <a:t>The OPU (Optical Payload Unit) maps (encapsulates, digitally wrapping) </a:t>
            </a:r>
            <a:r>
              <a:rPr lang="en-US" sz="2000" dirty="0" smtClean="0"/>
              <a:t>the  Client </a:t>
            </a:r>
            <a:r>
              <a:rPr lang="en-US" sz="2000" dirty="0"/>
              <a:t>signal (e.g. SONET/SDH, IP-packets, ATM cells, Ethernet frames) </a:t>
            </a:r>
            <a:r>
              <a:rPr lang="en-US" sz="2000" dirty="0" smtClean="0"/>
              <a:t>and performs </a:t>
            </a:r>
            <a:r>
              <a:rPr lang="en-US" sz="2000" dirty="0"/>
              <a:t>rate justification, if needed.</a:t>
            </a:r>
          </a:p>
          <a:p>
            <a:r>
              <a:rPr lang="en-US" sz="2000" dirty="0" smtClean="0"/>
              <a:t>The </a:t>
            </a:r>
            <a:r>
              <a:rPr lang="en-US" sz="2000" dirty="0"/>
              <a:t>ODU (Optical Channel Data Unit) consists of the OPU and the </a:t>
            </a:r>
            <a:r>
              <a:rPr lang="en-US" sz="2000" dirty="0" smtClean="0"/>
              <a:t>ODU overhead</a:t>
            </a:r>
            <a:r>
              <a:rPr lang="en-US" sz="2000" dirty="0"/>
              <a:t>. </a:t>
            </a:r>
            <a:endParaRPr lang="en-US" sz="2000" dirty="0" smtClean="0"/>
          </a:p>
          <a:p>
            <a:pPr lvl="1"/>
            <a:r>
              <a:rPr lang="en-US" sz="1600" dirty="0" smtClean="0"/>
              <a:t>The </a:t>
            </a:r>
            <a:r>
              <a:rPr lang="en-US" sz="1600" dirty="0"/>
              <a:t>ODU overhead functionality is similar to the path overhead </a:t>
            </a:r>
            <a:r>
              <a:rPr lang="en-US" sz="1600" dirty="0" smtClean="0"/>
              <a:t>in SONET/SDH</a:t>
            </a:r>
            <a:r>
              <a:rPr lang="en-US" sz="1600" dirty="0"/>
              <a:t>. </a:t>
            </a:r>
            <a:endParaRPr lang="en-US" sz="1600" dirty="0" smtClean="0"/>
          </a:p>
          <a:p>
            <a:pPr lvl="1"/>
            <a:r>
              <a:rPr lang="en-US" sz="1600" dirty="0" smtClean="0"/>
              <a:t>It </a:t>
            </a:r>
            <a:r>
              <a:rPr lang="en-US" sz="1600" dirty="0"/>
              <a:t>provides multiplexing, protection switching, end-to-end </a:t>
            </a:r>
            <a:r>
              <a:rPr lang="en-US" sz="1600" dirty="0" smtClean="0"/>
              <a:t>path supervision</a:t>
            </a:r>
            <a:r>
              <a:rPr lang="en-US" sz="1600" dirty="0"/>
              <a:t>, tandem connection monitoring, BIP for signal quality supervision</a:t>
            </a:r>
            <a:r>
              <a:rPr lang="en-US" sz="1600" dirty="0" smtClean="0"/>
              <a:t>, maintenance </a:t>
            </a:r>
            <a:r>
              <a:rPr lang="en-US" sz="1600" dirty="0"/>
              <a:t>signals, and data communication channels.</a:t>
            </a:r>
          </a:p>
          <a:p>
            <a:r>
              <a:rPr lang="en-US" sz="2000" dirty="0" smtClean="0"/>
              <a:t>The </a:t>
            </a:r>
            <a:r>
              <a:rPr lang="en-US" sz="2000" dirty="0"/>
              <a:t>OTU (Optical Channel Transport Unit) is the highest layer in the </a:t>
            </a:r>
            <a:r>
              <a:rPr lang="en-US" sz="2000" dirty="0" smtClean="0"/>
              <a:t>electrical domain</a:t>
            </a:r>
            <a:r>
              <a:rPr lang="en-US" sz="2000" dirty="0"/>
              <a:t>. Its functionality is similar to the Section Overhead in </a:t>
            </a:r>
            <a:r>
              <a:rPr lang="en-US" sz="2000" dirty="0" smtClean="0"/>
              <a:t>SONET/SDH and </a:t>
            </a:r>
            <a:r>
              <a:rPr lang="en-US" sz="2000" dirty="0"/>
              <a:t>includes BIP calculation, Trail Trace ID, and Forward Error </a:t>
            </a:r>
            <a:r>
              <a:rPr lang="en-US" sz="2000" dirty="0" smtClean="0"/>
              <a:t>Correction (</a:t>
            </a:r>
            <a:r>
              <a:rPr lang="en-US" sz="2000" dirty="0"/>
              <a:t>FEC</a:t>
            </a:r>
            <a:r>
              <a:rPr lang="en-US" sz="2000" dirty="0" smtClean="0"/>
              <a:t>).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85303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OTN Hierarchy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>
          <a:xfrm>
            <a:off x="152400" y="1550192"/>
            <a:ext cx="8610600" cy="4774407"/>
          </a:xfrm>
        </p:spPr>
        <p:txBody>
          <a:bodyPr>
            <a:noAutofit/>
          </a:bodyPr>
          <a:lstStyle/>
          <a:p>
            <a:r>
              <a:rPr lang="en-US" sz="2400" dirty="0"/>
              <a:t>The </a:t>
            </a:r>
            <a:r>
              <a:rPr lang="en-US" sz="2400" dirty="0" err="1"/>
              <a:t>OCh</a:t>
            </a:r>
            <a:r>
              <a:rPr lang="en-US" sz="2400" dirty="0"/>
              <a:t> (Optical Channel) performs electrical to optical signal conversion and modulates the DWDM wavelength (ITU-T grid) carrier.</a:t>
            </a:r>
          </a:p>
          <a:p>
            <a:r>
              <a:rPr lang="en-US" sz="2400" dirty="0"/>
              <a:t>The OMS (Optical Multiplex Section) multiplexes several wavelengths, each carrying one </a:t>
            </a:r>
            <a:r>
              <a:rPr lang="en-US" sz="2400" dirty="0" err="1"/>
              <a:t>OCh</a:t>
            </a:r>
            <a:r>
              <a:rPr lang="en-US" sz="2400" dirty="0"/>
              <a:t> into one fiber. The OMS layer refers to the section between an optical multiplexer and </a:t>
            </a:r>
            <a:r>
              <a:rPr lang="en-US" sz="2400" dirty="0" err="1"/>
              <a:t>demultiplexer</a:t>
            </a:r>
            <a:r>
              <a:rPr lang="en-US" sz="2400" dirty="0"/>
              <a:t>.</a:t>
            </a:r>
          </a:p>
          <a:p>
            <a:r>
              <a:rPr lang="en-US" sz="2400" dirty="0"/>
              <a:t>The OTS (Optical Transmission Section) exists between each of the in-line optical amplifier units.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03211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Optical Transport Network (OTN) Hierarchy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029938"/>
              </p:ext>
            </p:extLst>
          </p:nvPr>
        </p:nvGraphicFramePr>
        <p:xfrm>
          <a:off x="304800" y="1600201"/>
          <a:ext cx="8534401" cy="449579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47800"/>
                <a:gridCol w="1981200"/>
                <a:gridCol w="5105401"/>
              </a:tblGrid>
              <a:tr h="82509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Signal Level</a:t>
                      </a:r>
                      <a:endParaRPr lang="en-US" sz="1800" b="1" dirty="0"/>
                    </a:p>
                  </a:txBody>
                  <a:tcPr marL="41062" marR="41062" marT="20531" marB="20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Data Rate (</a:t>
                      </a:r>
                      <a:r>
                        <a:rPr lang="en-US" sz="1800" err="1"/>
                        <a:t>Gbit</a:t>
                      </a:r>
                      <a:r>
                        <a:rPr lang="en-US" sz="1800"/>
                        <a:t>/s</a:t>
                      </a:r>
                      <a:r>
                        <a:rPr lang="en-US" sz="1800" smtClean="0"/>
                        <a:t>) (Approximate)</a:t>
                      </a:r>
                      <a:endParaRPr lang="en-US" sz="1800" b="1" dirty="0"/>
                    </a:p>
                  </a:txBody>
                  <a:tcPr marL="41062" marR="41062" marT="20531" marB="20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Typical Applications</a:t>
                      </a:r>
                      <a:endParaRPr lang="en-US" sz="1800" b="1" dirty="0"/>
                    </a:p>
                  </a:txBody>
                  <a:tcPr marL="41062" marR="41062" marT="20531" marB="20531" anchor="ctr"/>
                </a:tc>
              </a:tr>
              <a:tr h="95949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ODU1</a:t>
                      </a:r>
                      <a:endParaRPr lang="en-US" sz="1800" b="1" dirty="0"/>
                    </a:p>
                  </a:txBody>
                  <a:tcPr marL="41062" marR="41062" marT="20531" marB="20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2.5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Gbps</a:t>
                      </a:r>
                      <a:endParaRPr lang="en-US" sz="1800" b="1" dirty="0"/>
                    </a:p>
                  </a:txBody>
                  <a:tcPr marL="41062" marR="41062" marT="20531" marB="20531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Transport of two ODU0 signals or a STS-48/STM-16 signal or a stream of packets (such as Ethernet, MPLS or IP) using </a:t>
                      </a:r>
                      <a:r>
                        <a:rPr lang="en-US" sz="1400" dirty="0">
                          <a:hlinkClick r:id="rId2" tooltip="Generic Framing Procedure"/>
                        </a:rPr>
                        <a:t>Generic Framing Procedure</a:t>
                      </a:r>
                      <a:r>
                        <a:rPr lang="en-US" sz="1400" dirty="0"/>
                        <a:t>.</a:t>
                      </a:r>
                      <a:endParaRPr lang="en-US" sz="1400" b="1" dirty="0"/>
                    </a:p>
                  </a:txBody>
                  <a:tcPr marL="41062" marR="41062" marT="20531" marB="20531" anchor="ctr"/>
                </a:tc>
              </a:tr>
              <a:tr h="1255185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ODU2</a:t>
                      </a:r>
                      <a:endParaRPr lang="en-US" sz="1800" b="1"/>
                    </a:p>
                  </a:txBody>
                  <a:tcPr marL="41062" marR="41062" marT="20531" marB="20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10 </a:t>
                      </a:r>
                      <a:r>
                        <a:rPr lang="en-US" sz="1800" dirty="0" err="1" smtClean="0"/>
                        <a:t>Gbps</a:t>
                      </a:r>
                      <a:endParaRPr lang="en-US" sz="1800" b="1" dirty="0"/>
                    </a:p>
                  </a:txBody>
                  <a:tcPr marL="41062" marR="41062" marT="20531" marB="2053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Transport of up to eight ODU0 signals or up to four ODU1 signals or a STS-192/STM-64 signal or a </a:t>
                      </a:r>
                      <a:r>
                        <a:rPr lang="en-US" sz="1400">
                          <a:hlinkClick r:id="rId3" tooltip="WAN PHY (10GBASE-W) (page does not exist)"/>
                        </a:rPr>
                        <a:t>WAN PHY (10GBASE-W)</a:t>
                      </a:r>
                      <a:r>
                        <a:rPr lang="en-US" sz="1400"/>
                        <a:t> or a stream of packets (such as Ethernet, MPLS or IP) using </a:t>
                      </a:r>
                      <a:r>
                        <a:rPr lang="en-US" sz="1400">
                          <a:hlinkClick r:id="rId2" tooltip="Generic Framing Procedure"/>
                        </a:rPr>
                        <a:t>Generic Framing Procedure</a:t>
                      </a:r>
                      <a:endParaRPr lang="en-US" sz="1400" b="1"/>
                    </a:p>
                  </a:txBody>
                  <a:tcPr marL="41062" marR="41062" marT="20531" marB="20531" anchor="ctr"/>
                </a:tc>
              </a:tr>
              <a:tr h="145602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ODU3</a:t>
                      </a:r>
                      <a:endParaRPr lang="en-US" sz="1800" b="1" dirty="0"/>
                    </a:p>
                  </a:txBody>
                  <a:tcPr marL="41062" marR="41062" marT="20531" marB="20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40 </a:t>
                      </a:r>
                      <a:r>
                        <a:rPr lang="en-US" sz="1800" dirty="0" err="1" smtClean="0"/>
                        <a:t>Gbps</a:t>
                      </a:r>
                      <a:endParaRPr lang="en-US" sz="1800" b="1" dirty="0"/>
                    </a:p>
                  </a:txBody>
                  <a:tcPr marL="41062" marR="41062" marT="20531" marB="20531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Transport of up to 32 ODU0 signals or up to 16 ODU1 signals or up to four ODU2 signals or a STS-768/STM-256 signal or a timing transparent transcoded </a:t>
                      </a:r>
                      <a:r>
                        <a:rPr lang="en-US" sz="1400" dirty="0">
                          <a:hlinkClick r:id="rId4" tooltip="40 Gigabit Ethernet"/>
                        </a:rPr>
                        <a:t>40 Gigabit Ethernet</a:t>
                      </a:r>
                      <a:r>
                        <a:rPr lang="en-US" sz="1400" dirty="0"/>
                        <a:t> signal or a stream of packets (such as Ethernet, MPLS or IP) using </a:t>
                      </a:r>
                      <a:r>
                        <a:rPr lang="en-US" sz="1400" dirty="0">
                          <a:hlinkClick r:id="rId2" tooltip="Generic Framing Procedure"/>
                        </a:rPr>
                        <a:t>Generic Framing Procedure</a:t>
                      </a:r>
                      <a:endParaRPr lang="en-US" sz="1400" b="1" dirty="0"/>
                    </a:p>
                  </a:txBody>
                  <a:tcPr marL="41062" marR="41062" marT="20531" marB="20531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8543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 smtClean="0">
                <a:solidFill>
                  <a:schemeClr val="accent2"/>
                </a:solidFill>
              </a:rPr>
              <a:t>Optical Transport Network (OTN)  Hierarchy</a:t>
            </a:r>
            <a:br>
              <a:rPr lang="en-US" sz="2400" dirty="0" smtClean="0">
                <a:solidFill>
                  <a:schemeClr val="accent2"/>
                </a:solidFill>
              </a:rPr>
            </a:br>
            <a:r>
              <a:rPr lang="en-US" sz="2400" dirty="0" smtClean="0">
                <a:solidFill>
                  <a:schemeClr val="accent2"/>
                </a:solidFill>
              </a:rPr>
              <a:t>Added in 2009</a:t>
            </a:r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081579"/>
              </p:ext>
            </p:extLst>
          </p:nvPr>
        </p:nvGraphicFramePr>
        <p:xfrm>
          <a:off x="301625" y="1524000"/>
          <a:ext cx="8534401" cy="513755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98575"/>
                <a:gridCol w="1447800"/>
                <a:gridCol w="5788026"/>
              </a:tblGrid>
              <a:tr h="64176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ODU0</a:t>
                      </a:r>
                      <a:endParaRPr lang="en-US" sz="1600" b="1" dirty="0"/>
                    </a:p>
                  </a:txBody>
                  <a:tcPr marL="41062" marR="41062" marT="20531" marB="20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1.25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baseline="0" dirty="0" err="1" smtClean="0"/>
                        <a:t>Gbps</a:t>
                      </a:r>
                      <a:endParaRPr lang="en-US" sz="1600" b="1" dirty="0"/>
                    </a:p>
                  </a:txBody>
                  <a:tcPr marL="41062" marR="41062" marT="20531" marB="20531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Transport of a timing transparent transcoded (compressed) </a:t>
                      </a:r>
                      <a:r>
                        <a:rPr lang="en-US" sz="1200" dirty="0">
                          <a:hlinkClick r:id="rId2" tooltip="1000BASE-X"/>
                        </a:rPr>
                        <a:t>1000BASE-X</a:t>
                      </a:r>
                      <a:r>
                        <a:rPr lang="en-US" sz="1200" dirty="0"/>
                        <a:t> signal</a:t>
                      </a:r>
                      <a:r>
                        <a:rPr lang="en-US" sz="1200" baseline="30000" dirty="0">
                          <a:hlinkClick r:id="rId3"/>
                        </a:rPr>
                        <a:t>[3]</a:t>
                      </a:r>
                      <a:r>
                        <a:rPr lang="en-US" sz="1200" dirty="0"/>
                        <a:t> or a stream of packets (such as Ethernet, MPLS or IP) using </a:t>
                      </a:r>
                      <a:r>
                        <a:rPr lang="en-US" sz="1200" dirty="0">
                          <a:hlinkClick r:id="rId4" tooltip="Generic Framing Procedure"/>
                        </a:rPr>
                        <a:t>Generic Framing Procedure</a:t>
                      </a:r>
                      <a:endParaRPr lang="en-US" sz="1200" b="1" dirty="0"/>
                    </a:p>
                  </a:txBody>
                  <a:tcPr marL="41062" marR="41062" marT="20531" marB="20531" anchor="ctr"/>
                </a:tc>
              </a:tr>
              <a:tr h="6417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ODU2e</a:t>
                      </a:r>
                      <a:endParaRPr lang="en-US" sz="1400" b="1" dirty="0"/>
                    </a:p>
                  </a:txBody>
                  <a:tcPr marL="41062" marR="41062" marT="20531" marB="20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10 </a:t>
                      </a:r>
                      <a:r>
                        <a:rPr lang="en-US" sz="1400" dirty="0" err="1" smtClean="0"/>
                        <a:t>Gbps</a:t>
                      </a:r>
                      <a:endParaRPr lang="en-US" sz="1400" b="1" dirty="0"/>
                    </a:p>
                  </a:txBody>
                  <a:tcPr marL="41062" marR="41062" marT="20531" marB="20531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Transport of a </a:t>
                      </a:r>
                      <a:r>
                        <a:rPr lang="en-US" sz="1100" dirty="0">
                          <a:hlinkClick r:id="rId5" tooltip="10 Gigabit Ethernet"/>
                        </a:rPr>
                        <a:t>10 Gigabit Ethernet</a:t>
                      </a:r>
                      <a:r>
                        <a:rPr lang="en-US" sz="1100" dirty="0"/>
                        <a:t> signal or a timing transparent transcoded (compressed) </a:t>
                      </a:r>
                      <a:r>
                        <a:rPr lang="en-US" sz="1100" dirty="0" err="1"/>
                        <a:t>Fibre</a:t>
                      </a:r>
                      <a:r>
                        <a:rPr lang="en-US" sz="1100" dirty="0"/>
                        <a:t> Channel </a:t>
                      </a:r>
                      <a:r>
                        <a:rPr lang="en-US" sz="1100" dirty="0">
                          <a:hlinkClick r:id="rId6" tooltip="10GFC"/>
                        </a:rPr>
                        <a:t>10GFC</a:t>
                      </a:r>
                      <a:r>
                        <a:rPr lang="en-US" sz="1100" dirty="0"/>
                        <a:t> signal</a:t>
                      </a:r>
                      <a:endParaRPr lang="en-US" sz="1100" b="1" dirty="0"/>
                    </a:p>
                  </a:txBody>
                  <a:tcPr marL="41062" marR="41062" marT="20531" marB="20531" anchor="ctr"/>
                </a:tc>
              </a:tr>
              <a:tr h="121934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ODU3</a:t>
                      </a:r>
                      <a:endParaRPr lang="en-US" sz="1400" b="1" dirty="0"/>
                    </a:p>
                  </a:txBody>
                  <a:tcPr marL="41062" marR="41062" marT="20531" marB="20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40 </a:t>
                      </a:r>
                      <a:r>
                        <a:rPr lang="en-US" sz="1400" dirty="0" err="1" smtClean="0"/>
                        <a:t>Gbps</a:t>
                      </a:r>
                      <a:endParaRPr lang="en-US" sz="1400" b="1" dirty="0"/>
                    </a:p>
                  </a:txBody>
                  <a:tcPr marL="41062" marR="41062" marT="20531" marB="20531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Transport of up to 32 ODU0 signals or up to 16 ODU1 signals or up to four ODU2 signals or a STS-768/STM-256 signal or a timing transparent transcoded </a:t>
                      </a:r>
                      <a:r>
                        <a:rPr lang="en-US" sz="1100" dirty="0">
                          <a:hlinkClick r:id="rId7" tooltip="40 Gigabit Ethernet"/>
                        </a:rPr>
                        <a:t>40 Gigabit Ethernet</a:t>
                      </a:r>
                      <a:r>
                        <a:rPr lang="en-US" sz="1100" dirty="0"/>
                        <a:t> signal or a stream of packets (such as Ethernet, MPLS or IP) using </a:t>
                      </a:r>
                      <a:r>
                        <a:rPr lang="en-US" sz="1100" dirty="0">
                          <a:hlinkClick r:id="rId4" tooltip="Generic Framing Procedure"/>
                        </a:rPr>
                        <a:t>Generic Framing Procedure</a:t>
                      </a:r>
                      <a:endParaRPr lang="en-US" sz="1100" b="1" dirty="0"/>
                    </a:p>
                  </a:txBody>
                  <a:tcPr marL="41062" marR="41062" marT="20531" marB="20531" anchor="ctr"/>
                </a:tc>
              </a:tr>
              <a:tr h="44923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ODU3e2</a:t>
                      </a:r>
                      <a:endParaRPr lang="en-US" sz="1400" b="1" dirty="0"/>
                    </a:p>
                  </a:txBody>
                  <a:tcPr marL="41062" marR="41062" marT="20531" marB="20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41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baseline="0" dirty="0" err="1" smtClean="0"/>
                        <a:t>Gbps</a:t>
                      </a:r>
                      <a:endParaRPr lang="en-US" sz="1400" b="1" dirty="0"/>
                    </a:p>
                  </a:txBody>
                  <a:tcPr marL="41062" marR="41062" marT="20531" marB="20531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Transport of up to four ODU2e signals</a:t>
                      </a:r>
                      <a:endParaRPr lang="en-US" sz="1100" b="1" dirty="0"/>
                    </a:p>
                  </a:txBody>
                  <a:tcPr marL="41062" marR="41062" marT="20531" marB="20531" anchor="ctr"/>
                </a:tc>
              </a:tr>
              <a:tr h="803525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ODU4</a:t>
                      </a:r>
                      <a:endParaRPr lang="en-US" sz="1400" b="1"/>
                    </a:p>
                  </a:txBody>
                  <a:tcPr marL="41062" marR="41062" marT="20531" marB="20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105 </a:t>
                      </a:r>
                      <a:r>
                        <a:rPr lang="en-US" sz="1400" dirty="0" err="1" smtClean="0"/>
                        <a:t>Gbps</a:t>
                      </a:r>
                      <a:endParaRPr lang="en-US" sz="1400" b="1" dirty="0"/>
                    </a:p>
                  </a:txBody>
                  <a:tcPr marL="41062" marR="41062" marT="20531" marB="20531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Transport of up to 80 ODU0 signals or up to 40 ODU1 signals or up to ten ODU2 signals or up to two ODU3 signals or a </a:t>
                      </a:r>
                      <a:r>
                        <a:rPr lang="en-US" sz="1100" dirty="0">
                          <a:hlinkClick r:id="rId8" tooltip="100 Gigabit Ethernet"/>
                        </a:rPr>
                        <a:t>100 Gigabit Ethernet</a:t>
                      </a:r>
                      <a:r>
                        <a:rPr lang="en-US" sz="1100" dirty="0"/>
                        <a:t> signal</a:t>
                      </a:r>
                      <a:endParaRPr lang="en-US" sz="1100" b="1" dirty="0"/>
                    </a:p>
                  </a:txBody>
                  <a:tcPr marL="41062" marR="41062" marT="20531" marB="20531" anchor="ctr"/>
                </a:tc>
              </a:tr>
              <a:tr h="6909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ODUflex</a:t>
                      </a:r>
                      <a:r>
                        <a:rPr lang="en-US" sz="1400" dirty="0"/>
                        <a:t>(CBR)</a:t>
                      </a:r>
                      <a:endParaRPr lang="en-US" sz="1400" b="1" dirty="0"/>
                    </a:p>
                  </a:txBody>
                  <a:tcPr marL="41062" marR="41062" marT="20531" marB="20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client </a:t>
                      </a:r>
                      <a:r>
                        <a:rPr lang="en-US" sz="1400" dirty="0"/>
                        <a:t>bit </a:t>
                      </a:r>
                      <a:r>
                        <a:rPr lang="en-US" sz="1400" dirty="0" smtClean="0"/>
                        <a:t>rate</a:t>
                      </a:r>
                      <a:endParaRPr lang="en-US" sz="1400" b="1" dirty="0"/>
                    </a:p>
                  </a:txBody>
                  <a:tcPr marL="41062" marR="41062" marT="20531" marB="20531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Transport of a </a:t>
                      </a:r>
                      <a:r>
                        <a:rPr lang="en-US" sz="1100" dirty="0">
                          <a:hlinkClick r:id="rId9" tooltip="Constant bitrate"/>
                        </a:rPr>
                        <a:t>Constant bitrate</a:t>
                      </a:r>
                      <a:r>
                        <a:rPr lang="en-US" sz="1100" dirty="0"/>
                        <a:t> signal such as </a:t>
                      </a:r>
                      <a:r>
                        <a:rPr lang="en-US" sz="1100" dirty="0" err="1"/>
                        <a:t>Fibre</a:t>
                      </a:r>
                      <a:r>
                        <a:rPr lang="en-US" sz="1100" dirty="0"/>
                        <a:t> Channel </a:t>
                      </a:r>
                      <a:r>
                        <a:rPr lang="en-US" sz="1100" dirty="0">
                          <a:hlinkClick r:id="rId10" tooltip="8GFC"/>
                        </a:rPr>
                        <a:t>8GFC</a:t>
                      </a:r>
                      <a:r>
                        <a:rPr lang="en-US" sz="1100" dirty="0"/>
                        <a:t>, </a:t>
                      </a:r>
                      <a:r>
                        <a:rPr lang="en-US" sz="1100" dirty="0" err="1">
                          <a:hlinkClick r:id="rId11" tooltip="InfiniBand"/>
                        </a:rPr>
                        <a:t>InfiniBand</a:t>
                      </a:r>
                      <a:r>
                        <a:rPr lang="en-US" sz="1100" dirty="0"/>
                        <a:t> or </a:t>
                      </a:r>
                      <a:r>
                        <a:rPr lang="en-US" sz="1100" dirty="0">
                          <a:hlinkClick r:id="rId12" tooltip="Common Public Radio Interface"/>
                        </a:rPr>
                        <a:t>Common Public Radio Interface</a:t>
                      </a:r>
                      <a:endParaRPr lang="en-US" sz="1100" b="1" dirty="0"/>
                    </a:p>
                  </a:txBody>
                  <a:tcPr marL="41062" marR="41062" marT="20531" marB="20531" anchor="ctr"/>
                </a:tc>
              </a:tr>
              <a:tr h="6909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ODUflex</a:t>
                      </a:r>
                      <a:r>
                        <a:rPr lang="en-US" sz="1400" dirty="0"/>
                        <a:t>(GFP)</a:t>
                      </a:r>
                      <a:endParaRPr lang="en-US" sz="1400" b="1" dirty="0"/>
                    </a:p>
                  </a:txBody>
                  <a:tcPr marL="41062" marR="41062" marT="20531" marB="20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configured rate</a:t>
                      </a:r>
                      <a:endParaRPr lang="en-US" sz="1400" b="1" dirty="0"/>
                    </a:p>
                  </a:txBody>
                  <a:tcPr marL="41062" marR="41062" marT="20531" marB="20531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Transport of a stream of packets (such as Ethernet, MPLS or IP) using </a:t>
                      </a:r>
                      <a:r>
                        <a:rPr lang="en-US" sz="1100" dirty="0">
                          <a:hlinkClick r:id="rId4" tooltip="Generic Framing Procedure"/>
                        </a:rPr>
                        <a:t>Generic Framing Procedure</a:t>
                      </a:r>
                      <a:endParaRPr lang="en-US" sz="1100" b="1" dirty="0"/>
                    </a:p>
                  </a:txBody>
                  <a:tcPr marL="41062" marR="41062" marT="20531" marB="20531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4413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What is MPLS?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800" dirty="0" smtClean="0"/>
              <a:t>MPLS </a:t>
            </a:r>
            <a:r>
              <a:rPr lang="en-US" sz="2800" dirty="0"/>
              <a:t>stands for "Multiprotocol Label </a:t>
            </a:r>
            <a:r>
              <a:rPr lang="en-US" sz="2800" dirty="0" smtClean="0"/>
              <a:t>Switching.”</a:t>
            </a:r>
            <a:r>
              <a:rPr lang="en-US" sz="2800" dirty="0"/>
              <a:t> </a:t>
            </a:r>
            <a:r>
              <a:rPr lang="en-US" sz="3200" dirty="0"/>
              <a:t>  </a:t>
            </a:r>
            <a:endParaRPr lang="en-US" sz="3200" dirty="0" smtClean="0"/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en-US" sz="2400" dirty="0" smtClean="0"/>
              <a:t>In </a:t>
            </a:r>
            <a:r>
              <a:rPr lang="en-US" sz="2400" dirty="0"/>
              <a:t>an MPLS network, incoming packets are assigned a "label" by a "label edge router (LER)".  </a:t>
            </a:r>
            <a:endParaRPr lang="en-US" sz="2400" dirty="0" smtClean="0"/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en-US" sz="2400" dirty="0" smtClean="0"/>
              <a:t>Packets </a:t>
            </a:r>
            <a:r>
              <a:rPr lang="en-US" sz="2400" dirty="0"/>
              <a:t>are forwarded along a "label switch path (LSP)" where each "label switch router (LSR)" makes forwarding decisions based solely on the contents of the label.  </a:t>
            </a:r>
            <a:endParaRPr lang="en-US" sz="2400" dirty="0" smtClean="0"/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en-US" sz="2400" dirty="0" smtClean="0"/>
              <a:t>At </a:t>
            </a:r>
            <a:r>
              <a:rPr lang="en-US" sz="2400" dirty="0"/>
              <a:t>each hop, the LSR strips off the existing label and applies a new label which tells the next hop how to forward the packet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6934200" y="6312932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© Dr. Kingsley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671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What is MPLS?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400" dirty="0"/>
              <a:t>Label Switch Paths (LSPs) are established by network operators for a variety of purposes, such as to guarantee a certain level of performance, to route around network congestion, or to create IP tunnels for network-based virtual private networks.  </a:t>
            </a:r>
            <a:endParaRPr lang="en-US" sz="2400" dirty="0" smtClean="0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400" dirty="0" smtClean="0"/>
              <a:t>In </a:t>
            </a:r>
            <a:r>
              <a:rPr lang="en-US" sz="2400" dirty="0"/>
              <a:t>many ways, LSPs are no different than circuit-switched paths in ATM or Frame Relay networks, except that they are not dependent on a particular Layer 2 technology. 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34200" y="6312932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© Dr. Kingsley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203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What is MPLS?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800" dirty="0"/>
              <a:t>An LSP can be established that crosses multiple Layer 2 transports such as ATM, Frame Relay or Ethernet.  </a:t>
            </a:r>
            <a:endParaRPr lang="en-US" sz="2800" dirty="0" smtClean="0"/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en-US" sz="2800" dirty="0" smtClean="0"/>
              <a:t>Thus</a:t>
            </a:r>
            <a:r>
              <a:rPr lang="en-US" sz="2800" dirty="0"/>
              <a:t>, one of the true promises of MPLS is the ability to create end-to-end circuits, with specific performance characteristics, across any type of transport medium, eliminating the need for overlay networks or Layer 2 only control mechanisms.”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34200" y="6312932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© Dr. Kingsley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678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What is MPLS?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3200" dirty="0" smtClean="0"/>
              <a:t>Network World</a:t>
            </a:r>
          </a:p>
          <a:p>
            <a:pPr lvl="1">
              <a:lnSpc>
                <a:spcPct val="80000"/>
              </a:lnSpc>
            </a:pPr>
            <a:r>
              <a:rPr lang="en-US" sz="2400" dirty="0" smtClean="0"/>
              <a:t>“Multiprotocol Label Switching has been without a doubt one of the most successful technologies of the past decade. The advantages of MPLS are many: in addition to protocol neutrality, MPLS is highly scalable and can intelligently route time-sensitive voice and video packets through low-latency routes throughout the network. Because of these key features MPLS has been widely adopted by enterprises for their WANs, as the most recent data from </a:t>
            </a:r>
            <a:r>
              <a:rPr lang="en-US" sz="2400" dirty="0" err="1" smtClean="0"/>
              <a:t>Nemertes</a:t>
            </a:r>
            <a:r>
              <a:rPr lang="en-US" sz="2400" dirty="0" smtClean="0"/>
              <a:t> Research indicates that around 84% of companies are now using MPLS for their WANs.”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6934200" y="6312932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© Dr. Kingsley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373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What is MPLS?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800" dirty="0"/>
              <a:t>OK now in plain English now please?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Packets enter MPLS Network at a “Label Edge Router” (LER</a:t>
            </a:r>
            <a:r>
              <a:rPr lang="en-US" sz="2400" dirty="0" smtClean="0"/>
              <a:t>).</a:t>
            </a:r>
            <a:endParaRPr lang="en-US" sz="2400" dirty="0"/>
          </a:p>
          <a:p>
            <a:pPr lvl="1">
              <a:lnSpc>
                <a:spcPct val="80000"/>
              </a:lnSpc>
            </a:pPr>
            <a:r>
              <a:rPr lang="en-US" sz="2400" dirty="0"/>
              <a:t>LER </a:t>
            </a:r>
            <a:r>
              <a:rPr lang="en-US" sz="2400" dirty="0" smtClean="0"/>
              <a:t>apply a </a:t>
            </a:r>
            <a:r>
              <a:rPr lang="en-US" sz="2400" dirty="0"/>
              <a:t>label to packet and forwards it to the MPLS </a:t>
            </a:r>
            <a:r>
              <a:rPr lang="en-US" sz="2400" dirty="0" smtClean="0"/>
              <a:t>network.</a:t>
            </a:r>
            <a:endParaRPr lang="en-US" sz="2400" dirty="0"/>
          </a:p>
          <a:p>
            <a:pPr lvl="1">
              <a:lnSpc>
                <a:spcPct val="80000"/>
              </a:lnSpc>
            </a:pPr>
            <a:r>
              <a:rPr lang="en-US" sz="2400" dirty="0"/>
              <a:t>Label switches in the network at each hop makes forwarding decision solely based on label. </a:t>
            </a:r>
            <a:endParaRPr lang="en-US" sz="2400" dirty="0" smtClean="0"/>
          </a:p>
          <a:p>
            <a:pPr lvl="1">
              <a:lnSpc>
                <a:spcPct val="80000"/>
              </a:lnSpc>
            </a:pPr>
            <a:r>
              <a:rPr lang="en-US" sz="2400" dirty="0" smtClean="0"/>
              <a:t>That </a:t>
            </a:r>
            <a:r>
              <a:rPr lang="en-US" sz="2400" dirty="0"/>
              <a:t>decision is made based on a pre-established “Label Switch Path” (LSP).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Labels can be integrated with existing L2 info such </a:t>
            </a:r>
            <a:r>
              <a:rPr lang="en-US" sz="2400" dirty="0" smtClean="0"/>
              <a:t>as DLCI or ATM </a:t>
            </a:r>
            <a:r>
              <a:rPr lang="en-US" sz="2400" dirty="0"/>
              <a:t>VCs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6934200" y="6312932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© Dr. Kingsley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054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MPLS Motivation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b="1" dirty="0"/>
              <a:t>Original drivers towards label switching: 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Designed to make routers faster 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ATM switches were faster than routers 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Fixed length label lookup faster than longest match used by IP routing 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Allow a device to do the same job as a router with performance of ATM switch 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Enabled IP + ATM integration 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Mapping of IP to ATM had become very complex, hence simplify by replacing ATM </a:t>
            </a:r>
            <a:r>
              <a:rPr lang="en-US" sz="2000" dirty="0" err="1"/>
              <a:t>signalling</a:t>
            </a:r>
            <a:r>
              <a:rPr lang="en-US" sz="2000" dirty="0"/>
              <a:t> protocols with IP control protocols</a:t>
            </a:r>
          </a:p>
          <a:p>
            <a:pPr>
              <a:lnSpc>
                <a:spcPct val="90000"/>
              </a:lnSpc>
            </a:pP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6934200" y="6312932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© Dr. Kingsley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010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Some MPLS Benefits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sz="3200" dirty="0"/>
              <a:t>Traffic </a:t>
            </a:r>
            <a:r>
              <a:rPr lang="en-US" sz="3200" dirty="0" smtClean="0"/>
              <a:t>Engineering</a:t>
            </a:r>
          </a:p>
          <a:p>
            <a:pPr lvl="1">
              <a:lnSpc>
                <a:spcPct val="80000"/>
              </a:lnSpc>
            </a:pPr>
            <a:r>
              <a:rPr lang="en-US" sz="2000" dirty="0" smtClean="0"/>
              <a:t>The </a:t>
            </a:r>
            <a:r>
              <a:rPr lang="en-US" sz="2000" dirty="0"/>
              <a:t>ability to set the path traffic will take through the network, and the ability to set performance characteristics for a class of </a:t>
            </a:r>
            <a:r>
              <a:rPr lang="en-US" sz="2000" dirty="0" smtClean="0"/>
              <a:t>traffic.</a:t>
            </a: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  <a:p>
            <a:pPr>
              <a:lnSpc>
                <a:spcPct val="80000"/>
              </a:lnSpc>
            </a:pPr>
            <a:r>
              <a:rPr lang="en-US" sz="3200" dirty="0" smtClean="0"/>
              <a:t>VPNs</a:t>
            </a:r>
          </a:p>
          <a:p>
            <a:pPr lvl="1">
              <a:lnSpc>
                <a:spcPct val="80000"/>
              </a:lnSpc>
            </a:pPr>
            <a:r>
              <a:rPr lang="en-US" sz="2000" dirty="0" smtClean="0"/>
              <a:t>Using </a:t>
            </a:r>
            <a:r>
              <a:rPr lang="en-US" sz="2000" dirty="0"/>
              <a:t>MPLS, service providers can create IP tunnels throughout their network, without the need for encryption or end-user </a:t>
            </a:r>
            <a:r>
              <a:rPr lang="en-US" sz="2000" dirty="0" smtClean="0"/>
              <a:t>applications.</a:t>
            </a: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  <a:p>
            <a:pPr>
              <a:lnSpc>
                <a:spcPct val="80000"/>
              </a:lnSpc>
            </a:pPr>
            <a:r>
              <a:rPr lang="en-US" sz="3200" dirty="0"/>
              <a:t>Layer 2 </a:t>
            </a:r>
            <a:r>
              <a:rPr lang="en-US" sz="3200" dirty="0" smtClean="0"/>
              <a:t>Transport</a:t>
            </a:r>
          </a:p>
          <a:p>
            <a:pPr lvl="1">
              <a:lnSpc>
                <a:spcPct val="80000"/>
              </a:lnSpc>
            </a:pPr>
            <a:r>
              <a:rPr lang="en-US" sz="2000" dirty="0" smtClean="0"/>
              <a:t>New </a:t>
            </a:r>
            <a:r>
              <a:rPr lang="en-US" sz="2000" dirty="0"/>
              <a:t>standards being defined by the IETF's PWE3 and PPVPN working groups allow service providers to carry Layer 2 services including Ethernet, Frame Relay and ATM over an IP/MPLS </a:t>
            </a:r>
            <a:r>
              <a:rPr lang="en-US" sz="2000" dirty="0" smtClean="0"/>
              <a:t>core.</a:t>
            </a:r>
          </a:p>
          <a:p>
            <a:pPr>
              <a:lnSpc>
                <a:spcPct val="80000"/>
              </a:lnSpc>
            </a:pPr>
            <a:r>
              <a:rPr lang="en-US" sz="3200" dirty="0" smtClean="0"/>
              <a:t>Restoration</a:t>
            </a:r>
            <a:r>
              <a:rPr lang="en-US" sz="2500" dirty="0"/>
              <a:t/>
            </a:r>
            <a:br>
              <a:rPr lang="en-US" sz="2500" dirty="0"/>
            </a:br>
            <a:endParaRPr lang="en-US" sz="2500" dirty="0"/>
          </a:p>
        </p:txBody>
      </p:sp>
      <p:sp>
        <p:nvSpPr>
          <p:cNvPr id="4" name="TextBox 3"/>
          <p:cNvSpPr txBox="1"/>
          <p:nvPr/>
        </p:nvSpPr>
        <p:spPr>
          <a:xfrm>
            <a:off x="6934200" y="6312932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© Dr. Kingsley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291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Some MPLS Benefits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sz="2800" dirty="0"/>
              <a:t>Elimination of Multiple Layers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Typically most carrier networks employ an overlay model where SONET/SDH is deployed at Layer 1, ATM is used at Layer 2 and IP is used at Layer 3.  </a:t>
            </a:r>
            <a:endParaRPr lang="en-US" sz="2400" dirty="0" smtClean="0"/>
          </a:p>
          <a:p>
            <a:pPr lvl="1">
              <a:lnSpc>
                <a:spcPct val="80000"/>
              </a:lnSpc>
            </a:pPr>
            <a:r>
              <a:rPr lang="en-US" sz="2400" dirty="0" smtClean="0"/>
              <a:t>Using </a:t>
            </a:r>
            <a:r>
              <a:rPr lang="en-US" sz="2400" dirty="0"/>
              <a:t>MPLS, carriers can migrate many of the functions of the SONET/SDH and ATM control plane to Layer 3, thereby simplifying network management and network complexity.  </a:t>
            </a:r>
            <a:endParaRPr lang="en-US" sz="2400" dirty="0" smtClean="0"/>
          </a:p>
          <a:p>
            <a:pPr lvl="1">
              <a:lnSpc>
                <a:spcPct val="80000"/>
              </a:lnSpc>
            </a:pPr>
            <a:r>
              <a:rPr lang="en-US" sz="2400" dirty="0" smtClean="0"/>
              <a:t>Eventually</a:t>
            </a:r>
            <a:r>
              <a:rPr lang="en-US" sz="2400" dirty="0"/>
              <a:t>, carrier networks may be able to migrate away from SONET/SDH and ATM all-together, which means elimination of ATM's inherent "cell-tax" in carrying IP </a:t>
            </a:r>
            <a:r>
              <a:rPr lang="en-US" sz="2400" dirty="0" smtClean="0"/>
              <a:t>traffic.</a:t>
            </a:r>
          </a:p>
          <a:p>
            <a:pPr lvl="1">
              <a:lnSpc>
                <a:spcPct val="80000"/>
              </a:lnSpc>
            </a:pPr>
            <a:r>
              <a:rPr lang="en-US" sz="2400" dirty="0" smtClean="0"/>
              <a:t>Restoration of failed traffic in SONET timeframe without the capacity requirements. 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6934200" y="6312932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© Dr. Kingsley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44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15400" cy="97790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accent2"/>
                </a:solidFill>
              </a:rPr>
              <a:t>MPLS and </a:t>
            </a:r>
            <a:r>
              <a:rPr lang="en-US" sz="3200" dirty="0" smtClean="0">
                <a:solidFill>
                  <a:schemeClr val="accent2"/>
                </a:solidFill>
              </a:rPr>
              <a:t>OSI Model </a:t>
            </a:r>
            <a:br>
              <a:rPr lang="en-US" sz="3200" dirty="0" smtClean="0">
                <a:solidFill>
                  <a:schemeClr val="accent2"/>
                </a:solidFill>
              </a:rPr>
            </a:br>
            <a:r>
              <a:rPr lang="en-US" sz="3200" dirty="0" smtClean="0">
                <a:solidFill>
                  <a:schemeClr val="accent2"/>
                </a:solidFill>
              </a:rPr>
              <a:t>(MPLS </a:t>
            </a:r>
            <a:r>
              <a:rPr lang="en-US" sz="3200" dirty="0">
                <a:solidFill>
                  <a:schemeClr val="accent2"/>
                </a:solidFill>
              </a:rPr>
              <a:t>is a </a:t>
            </a:r>
            <a:r>
              <a:rPr lang="en-US" sz="3200" dirty="0" smtClean="0">
                <a:solidFill>
                  <a:schemeClr val="accent2"/>
                </a:solidFill>
              </a:rPr>
              <a:t>“Layer 2.5” </a:t>
            </a:r>
            <a:r>
              <a:rPr lang="en-US" sz="3200" dirty="0">
                <a:solidFill>
                  <a:schemeClr val="accent2"/>
                </a:solidFill>
              </a:rPr>
              <a:t>protocol)</a:t>
            </a:r>
          </a:p>
        </p:txBody>
      </p:sp>
      <p:sp>
        <p:nvSpPr>
          <p:cNvPr id="65539" name="Rectangle 3"/>
          <p:cNvSpPr>
            <a:spLocks noChangeArrowheads="1"/>
          </p:cNvSpPr>
          <p:nvPr/>
        </p:nvSpPr>
        <p:spPr bwMode="auto">
          <a:xfrm>
            <a:off x="1114425" y="4510088"/>
            <a:ext cx="7100888" cy="457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200" b="1">
                <a:solidFill>
                  <a:schemeClr val="accent2"/>
                </a:solidFill>
                <a:latin typeface="Arial" pitchFamily="34" charset="0"/>
              </a:rPr>
              <a:t>Physical </a:t>
            </a:r>
          </a:p>
        </p:txBody>
      </p:sp>
      <p:sp>
        <p:nvSpPr>
          <p:cNvPr id="65540" name="Rectangle 4"/>
          <p:cNvSpPr>
            <a:spLocks noChangeArrowheads="1"/>
          </p:cNvSpPr>
          <p:nvPr/>
        </p:nvSpPr>
        <p:spPr bwMode="auto">
          <a:xfrm>
            <a:off x="1085850" y="3128963"/>
            <a:ext cx="7129463" cy="457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200" b="1">
                <a:solidFill>
                  <a:schemeClr val="accent2"/>
                </a:solidFill>
                <a:latin typeface="Arial" pitchFamily="34" charset="0"/>
              </a:rPr>
              <a:t>IP</a:t>
            </a:r>
          </a:p>
        </p:txBody>
      </p:sp>
      <p:sp>
        <p:nvSpPr>
          <p:cNvPr id="65541" name="Rectangle 5"/>
          <p:cNvSpPr>
            <a:spLocks noChangeArrowheads="1"/>
          </p:cNvSpPr>
          <p:nvPr/>
        </p:nvSpPr>
        <p:spPr bwMode="auto">
          <a:xfrm>
            <a:off x="1114425" y="1828800"/>
            <a:ext cx="7072313" cy="8413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200" b="1">
                <a:solidFill>
                  <a:schemeClr val="accent2"/>
                </a:solidFill>
                <a:latin typeface="Arial" pitchFamily="34" charset="0"/>
              </a:rPr>
              <a:t>Applications</a:t>
            </a:r>
          </a:p>
        </p:txBody>
      </p:sp>
      <p:sp>
        <p:nvSpPr>
          <p:cNvPr id="65542" name="Rectangle 6"/>
          <p:cNvSpPr>
            <a:spLocks noChangeArrowheads="1"/>
          </p:cNvSpPr>
          <p:nvPr/>
        </p:nvSpPr>
        <p:spPr bwMode="auto">
          <a:xfrm>
            <a:off x="1114425" y="2641600"/>
            <a:ext cx="3559175" cy="457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200" b="1">
                <a:solidFill>
                  <a:schemeClr val="accent2"/>
                </a:solidFill>
                <a:latin typeface="Arial" pitchFamily="34" charset="0"/>
              </a:rPr>
              <a:t>TCP</a:t>
            </a:r>
          </a:p>
        </p:txBody>
      </p:sp>
      <p:sp>
        <p:nvSpPr>
          <p:cNvPr id="65543" name="Rectangle 7"/>
          <p:cNvSpPr>
            <a:spLocks noChangeArrowheads="1"/>
          </p:cNvSpPr>
          <p:nvPr/>
        </p:nvSpPr>
        <p:spPr bwMode="auto">
          <a:xfrm>
            <a:off x="4676775" y="2670175"/>
            <a:ext cx="3525838" cy="457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200" b="1">
                <a:solidFill>
                  <a:schemeClr val="accent2"/>
                </a:solidFill>
                <a:latin typeface="Arial" pitchFamily="34" charset="0"/>
              </a:rPr>
              <a:t>UDP</a:t>
            </a:r>
          </a:p>
        </p:txBody>
      </p:sp>
      <p:sp>
        <p:nvSpPr>
          <p:cNvPr id="65544" name="Rectangle 8"/>
          <p:cNvSpPr>
            <a:spLocks noChangeArrowheads="1"/>
          </p:cNvSpPr>
          <p:nvPr/>
        </p:nvSpPr>
        <p:spPr bwMode="auto">
          <a:xfrm>
            <a:off x="1085850" y="3990975"/>
            <a:ext cx="14478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200" b="1">
                <a:solidFill>
                  <a:schemeClr val="accent2"/>
                </a:solidFill>
                <a:latin typeface="Arial" pitchFamily="34" charset="0"/>
              </a:rPr>
              <a:t>PPP</a:t>
            </a:r>
          </a:p>
        </p:txBody>
      </p:sp>
      <p:sp>
        <p:nvSpPr>
          <p:cNvPr id="65545" name="Rectangle 9"/>
          <p:cNvSpPr>
            <a:spLocks noChangeArrowheads="1"/>
          </p:cNvSpPr>
          <p:nvPr/>
        </p:nvSpPr>
        <p:spPr bwMode="auto">
          <a:xfrm>
            <a:off x="2533650" y="3990975"/>
            <a:ext cx="14478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200" b="1">
                <a:solidFill>
                  <a:schemeClr val="accent2"/>
                </a:solidFill>
                <a:latin typeface="Arial" pitchFamily="34" charset="0"/>
              </a:rPr>
              <a:t>FR</a:t>
            </a:r>
          </a:p>
        </p:txBody>
      </p:sp>
      <p:sp>
        <p:nvSpPr>
          <p:cNvPr id="65546" name="Rectangle 10"/>
          <p:cNvSpPr>
            <a:spLocks noChangeArrowheads="1"/>
          </p:cNvSpPr>
          <p:nvPr/>
        </p:nvSpPr>
        <p:spPr bwMode="auto">
          <a:xfrm>
            <a:off x="3937000" y="4005263"/>
            <a:ext cx="14478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200" b="1">
                <a:solidFill>
                  <a:schemeClr val="accent2"/>
                </a:solidFill>
                <a:latin typeface="Arial" pitchFamily="34" charset="0"/>
              </a:rPr>
              <a:t>ATM </a:t>
            </a:r>
          </a:p>
        </p:txBody>
      </p:sp>
      <p:sp>
        <p:nvSpPr>
          <p:cNvPr id="65547" name="Rectangle 11"/>
          <p:cNvSpPr>
            <a:spLocks noChangeArrowheads="1"/>
          </p:cNvSpPr>
          <p:nvPr/>
        </p:nvSpPr>
        <p:spPr bwMode="auto">
          <a:xfrm>
            <a:off x="1100138" y="3581400"/>
            <a:ext cx="5765800" cy="381000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200" b="1">
                <a:solidFill>
                  <a:srgbClr val="001428"/>
                </a:solidFill>
                <a:latin typeface="Arial" pitchFamily="34" charset="0"/>
              </a:rPr>
              <a:t>MPLS</a:t>
            </a:r>
            <a:endParaRPr lang="en-US" sz="1300" b="1">
              <a:solidFill>
                <a:srgbClr val="001428"/>
              </a:solidFill>
              <a:latin typeface="Arial" pitchFamily="34" charset="0"/>
              <a:sym typeface="Monotype Sorts" pitchFamily="2" charset="2"/>
            </a:endParaRPr>
          </a:p>
        </p:txBody>
      </p:sp>
      <p:sp>
        <p:nvSpPr>
          <p:cNvPr id="65549" name="Rectangle 13"/>
          <p:cNvSpPr>
            <a:spLocks noChangeArrowheads="1"/>
          </p:cNvSpPr>
          <p:nvPr/>
        </p:nvSpPr>
        <p:spPr bwMode="auto">
          <a:xfrm>
            <a:off x="5418138" y="4005263"/>
            <a:ext cx="14478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200" b="1">
                <a:solidFill>
                  <a:schemeClr val="accent2"/>
                </a:solidFill>
                <a:latin typeface="Arial" pitchFamily="34" charset="0"/>
              </a:rPr>
              <a:t>Ethernet </a:t>
            </a:r>
          </a:p>
        </p:txBody>
      </p:sp>
      <p:sp>
        <p:nvSpPr>
          <p:cNvPr id="65550" name="Rectangle 14"/>
          <p:cNvSpPr>
            <a:spLocks noChangeArrowheads="1"/>
          </p:cNvSpPr>
          <p:nvPr/>
        </p:nvSpPr>
        <p:spPr bwMode="auto">
          <a:xfrm>
            <a:off x="6832600" y="3556000"/>
            <a:ext cx="1403350" cy="9842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200" b="1">
                <a:solidFill>
                  <a:schemeClr val="accent2"/>
                </a:solidFill>
                <a:latin typeface="Arial" pitchFamily="34" charset="0"/>
              </a:rPr>
              <a:t>MP</a:t>
            </a:r>
            <a:r>
              <a:rPr lang="en-US" sz="2200" b="1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S</a:t>
            </a:r>
          </a:p>
          <a:p>
            <a:pPr algn="ctr"/>
            <a:r>
              <a:rPr lang="en-US" sz="2200" b="1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DWDM</a:t>
            </a:r>
            <a:endParaRPr lang="en-US" sz="2200" b="1">
              <a:solidFill>
                <a:schemeClr val="accent2"/>
              </a:solidFill>
              <a:latin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34200" y="6312932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© Dr. Kingsley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301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2" grpId="0" animBg="1" autoUpdateAnimBg="0"/>
      <p:bldP spid="65543" grpId="0" animBg="1" autoUpdateAnimBg="0"/>
      <p:bldP spid="65547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52400"/>
            <a:ext cx="7793037" cy="1103312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Label Switching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752600"/>
            <a:ext cx="8534400" cy="4648200"/>
          </a:xfrm>
        </p:spPr>
        <p:txBody>
          <a:bodyPr>
            <a:normAutofit/>
          </a:bodyPr>
          <a:lstStyle/>
          <a:p>
            <a:r>
              <a:rPr lang="en-US" sz="3200" dirty="0"/>
              <a:t>What is it?</a:t>
            </a:r>
          </a:p>
          <a:p>
            <a:r>
              <a:rPr lang="en-US" sz="3200" dirty="0"/>
              <a:t>Goal: sending a packet from A to B</a:t>
            </a:r>
          </a:p>
          <a:p>
            <a:pPr lvl="1"/>
            <a:r>
              <a:rPr lang="en-US" sz="2800" dirty="0" smtClean="0"/>
              <a:t>Broadcasts</a:t>
            </a:r>
            <a:endParaRPr lang="en-US" sz="2800" dirty="0"/>
          </a:p>
          <a:p>
            <a:pPr lvl="1"/>
            <a:r>
              <a:rPr lang="en-US" sz="2800" dirty="0" smtClean="0"/>
              <a:t>Hop-by-hop</a:t>
            </a:r>
            <a:endParaRPr lang="en-US" sz="2800" dirty="0"/>
          </a:p>
          <a:p>
            <a:pPr lvl="1"/>
            <a:r>
              <a:rPr lang="en-US" sz="2800" dirty="0" smtClean="0"/>
              <a:t>Source routing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6934200" y="6312932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© Dr. Kingsley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223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-228600"/>
            <a:ext cx="7543800" cy="1198563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accent2"/>
                </a:solidFill>
              </a:rPr>
              <a:t>Labels are not new!</a:t>
            </a:r>
            <a:endParaRPr lang="en-US" sz="4000" dirty="0">
              <a:solidFill>
                <a:schemeClr val="accent2"/>
              </a:solidFill>
            </a:endParaRP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155825"/>
            <a:ext cx="8497888" cy="3460750"/>
          </a:xfrm>
        </p:spPr>
        <p:txBody>
          <a:bodyPr>
            <a:normAutofit/>
          </a:bodyPr>
          <a:lstStyle/>
          <a:p>
            <a:r>
              <a:rPr lang="en-US" sz="2800" dirty="0"/>
              <a:t>ATM: VPI/VCI</a:t>
            </a:r>
          </a:p>
          <a:p>
            <a:r>
              <a:rPr lang="en-US" sz="2800" dirty="0"/>
              <a:t>Frame Relay: DLCI</a:t>
            </a:r>
          </a:p>
          <a:p>
            <a:r>
              <a:rPr lang="en-US" sz="2800" dirty="0"/>
              <a:t>X.25: LCI (logical Channel Identifier)</a:t>
            </a:r>
          </a:p>
          <a:p>
            <a:r>
              <a:rPr lang="en-US" sz="2800" dirty="0"/>
              <a:t>TDM: the time slot (Circuit Identification </a:t>
            </a:r>
            <a:r>
              <a:rPr lang="en-US" sz="2800" dirty="0" smtClean="0"/>
              <a:t>Code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6934200" y="6312932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© Dr. Kingsley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975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-152400"/>
            <a:ext cx="7035800" cy="1139825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2"/>
                </a:solidFill>
              </a:rPr>
              <a:t>Label </a:t>
            </a:r>
            <a:r>
              <a:rPr lang="en-US" sz="4000" dirty="0" smtClean="0">
                <a:solidFill>
                  <a:schemeClr val="accent2"/>
                </a:solidFill>
              </a:rPr>
              <a:t>Swapping</a:t>
            </a:r>
            <a:endParaRPr lang="en-US" sz="4000" dirty="0">
              <a:solidFill>
                <a:schemeClr val="accent2"/>
              </a:solidFill>
            </a:endParaRPr>
          </a:p>
        </p:txBody>
      </p:sp>
      <p:pic>
        <p:nvPicPr>
          <p:cNvPr id="70659" name="Picture 3" descr="RouterATM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902219" y="3313112"/>
            <a:ext cx="1604963" cy="1057275"/>
          </a:xfrm>
          <a:noFill/>
          <a:ln/>
        </p:spPr>
      </p:pic>
      <p:sp>
        <p:nvSpPr>
          <p:cNvPr id="70660" name="Text Box 4"/>
          <p:cNvSpPr txBox="1">
            <a:spLocks noChangeArrowheads="1"/>
          </p:cNvSpPr>
          <p:nvPr/>
        </p:nvSpPr>
        <p:spPr bwMode="auto">
          <a:xfrm>
            <a:off x="2105025" y="2444750"/>
            <a:ext cx="11953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Verdana" pitchFamily="34" charset="0"/>
              </a:rPr>
              <a:t>Label-A1</a:t>
            </a:r>
          </a:p>
        </p:txBody>
      </p:sp>
      <p:sp>
        <p:nvSpPr>
          <p:cNvPr id="70661" name="Text Box 5"/>
          <p:cNvSpPr txBox="1">
            <a:spLocks noChangeArrowheads="1"/>
          </p:cNvSpPr>
          <p:nvPr/>
        </p:nvSpPr>
        <p:spPr bwMode="auto">
          <a:xfrm>
            <a:off x="5661025" y="2482850"/>
            <a:ext cx="11969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Verdana" pitchFamily="34" charset="0"/>
              </a:rPr>
              <a:t>Label-B1</a:t>
            </a:r>
          </a:p>
        </p:txBody>
      </p:sp>
      <p:sp>
        <p:nvSpPr>
          <p:cNvPr id="70662" name="Line 6"/>
          <p:cNvSpPr>
            <a:spLocks noChangeShapeType="1"/>
          </p:cNvSpPr>
          <p:nvPr/>
        </p:nvSpPr>
        <p:spPr bwMode="auto">
          <a:xfrm>
            <a:off x="1638300" y="2882900"/>
            <a:ext cx="17907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70663" name="Line 7"/>
          <p:cNvSpPr>
            <a:spLocks noChangeShapeType="1"/>
          </p:cNvSpPr>
          <p:nvPr/>
        </p:nvSpPr>
        <p:spPr bwMode="auto">
          <a:xfrm>
            <a:off x="5486400" y="2895600"/>
            <a:ext cx="17907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70664" name="Text Box 8"/>
          <p:cNvSpPr txBox="1">
            <a:spLocks noChangeArrowheads="1"/>
          </p:cNvSpPr>
          <p:nvPr/>
        </p:nvSpPr>
        <p:spPr bwMode="auto">
          <a:xfrm>
            <a:off x="2105025" y="3092450"/>
            <a:ext cx="11953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Verdana" pitchFamily="34" charset="0"/>
              </a:rPr>
              <a:t>Label-A2</a:t>
            </a:r>
          </a:p>
        </p:txBody>
      </p:sp>
      <p:sp>
        <p:nvSpPr>
          <p:cNvPr id="70665" name="Line 9"/>
          <p:cNvSpPr>
            <a:spLocks noChangeShapeType="1"/>
          </p:cNvSpPr>
          <p:nvPr/>
        </p:nvSpPr>
        <p:spPr bwMode="auto">
          <a:xfrm>
            <a:off x="1638300" y="3530600"/>
            <a:ext cx="17907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70666" name="Text Box 10"/>
          <p:cNvSpPr txBox="1">
            <a:spLocks noChangeArrowheads="1"/>
          </p:cNvSpPr>
          <p:nvPr/>
        </p:nvSpPr>
        <p:spPr bwMode="auto">
          <a:xfrm>
            <a:off x="2130425" y="3778250"/>
            <a:ext cx="11953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Verdana" pitchFamily="34" charset="0"/>
              </a:rPr>
              <a:t>Label-A3</a:t>
            </a:r>
          </a:p>
        </p:txBody>
      </p:sp>
      <p:sp>
        <p:nvSpPr>
          <p:cNvPr id="70667" name="Line 11"/>
          <p:cNvSpPr>
            <a:spLocks noChangeShapeType="1"/>
          </p:cNvSpPr>
          <p:nvPr/>
        </p:nvSpPr>
        <p:spPr bwMode="auto">
          <a:xfrm>
            <a:off x="1663700" y="4216400"/>
            <a:ext cx="17907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70668" name="Text Box 12"/>
          <p:cNvSpPr txBox="1">
            <a:spLocks noChangeArrowheads="1"/>
          </p:cNvSpPr>
          <p:nvPr/>
        </p:nvSpPr>
        <p:spPr bwMode="auto">
          <a:xfrm>
            <a:off x="2117725" y="4438650"/>
            <a:ext cx="11953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Verdana" pitchFamily="34" charset="0"/>
              </a:rPr>
              <a:t>Label-A4</a:t>
            </a:r>
          </a:p>
        </p:txBody>
      </p:sp>
      <p:sp>
        <p:nvSpPr>
          <p:cNvPr id="70669" name="Line 13"/>
          <p:cNvSpPr>
            <a:spLocks noChangeShapeType="1"/>
          </p:cNvSpPr>
          <p:nvPr/>
        </p:nvSpPr>
        <p:spPr bwMode="auto">
          <a:xfrm>
            <a:off x="1651000" y="4876800"/>
            <a:ext cx="17907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70670" name="Text Box 14"/>
          <p:cNvSpPr txBox="1">
            <a:spLocks noChangeArrowheads="1"/>
          </p:cNvSpPr>
          <p:nvPr/>
        </p:nvSpPr>
        <p:spPr bwMode="auto">
          <a:xfrm>
            <a:off x="5686425" y="3181350"/>
            <a:ext cx="11969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Verdana" pitchFamily="34" charset="0"/>
              </a:rPr>
              <a:t>Label-B2</a:t>
            </a:r>
          </a:p>
        </p:txBody>
      </p:sp>
      <p:sp>
        <p:nvSpPr>
          <p:cNvPr id="70671" name="Line 15"/>
          <p:cNvSpPr>
            <a:spLocks noChangeShapeType="1"/>
          </p:cNvSpPr>
          <p:nvPr/>
        </p:nvSpPr>
        <p:spPr bwMode="auto">
          <a:xfrm>
            <a:off x="5511800" y="3594100"/>
            <a:ext cx="17907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70672" name="Text Box 16"/>
          <p:cNvSpPr txBox="1">
            <a:spLocks noChangeArrowheads="1"/>
          </p:cNvSpPr>
          <p:nvPr/>
        </p:nvSpPr>
        <p:spPr bwMode="auto">
          <a:xfrm>
            <a:off x="5724525" y="3841750"/>
            <a:ext cx="11969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Verdana" pitchFamily="34" charset="0"/>
              </a:rPr>
              <a:t>Label-B3</a:t>
            </a:r>
          </a:p>
        </p:txBody>
      </p:sp>
      <p:sp>
        <p:nvSpPr>
          <p:cNvPr id="70673" name="Line 17"/>
          <p:cNvSpPr>
            <a:spLocks noChangeShapeType="1"/>
          </p:cNvSpPr>
          <p:nvPr/>
        </p:nvSpPr>
        <p:spPr bwMode="auto">
          <a:xfrm>
            <a:off x="5549900" y="4254500"/>
            <a:ext cx="17907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70674" name="Text Box 18"/>
          <p:cNvSpPr txBox="1">
            <a:spLocks noChangeArrowheads="1"/>
          </p:cNvSpPr>
          <p:nvPr/>
        </p:nvSpPr>
        <p:spPr bwMode="auto">
          <a:xfrm>
            <a:off x="5749925" y="4451350"/>
            <a:ext cx="11969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Verdana" pitchFamily="34" charset="0"/>
              </a:rPr>
              <a:t>Label-B4</a:t>
            </a:r>
          </a:p>
        </p:txBody>
      </p:sp>
      <p:sp>
        <p:nvSpPr>
          <p:cNvPr id="70675" name="Line 19"/>
          <p:cNvSpPr>
            <a:spLocks noChangeShapeType="1"/>
          </p:cNvSpPr>
          <p:nvPr/>
        </p:nvSpPr>
        <p:spPr bwMode="auto">
          <a:xfrm>
            <a:off x="5575300" y="4864100"/>
            <a:ext cx="17907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603664" y="5377933"/>
            <a:ext cx="64540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accent2"/>
                </a:solidFill>
              </a:rPr>
              <a:t>Labels are only locally significant!!</a:t>
            </a:r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34200" y="6312932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© Dr. Kingsley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935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-152400"/>
            <a:ext cx="7793038" cy="1071563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MPLS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752600"/>
            <a:ext cx="8763000" cy="3536950"/>
          </a:xfrm>
        </p:spPr>
        <p:txBody>
          <a:bodyPr>
            <a:noAutofit/>
          </a:bodyPr>
          <a:lstStyle/>
          <a:p>
            <a:r>
              <a:rPr lang="en-US" sz="2800" dirty="0" smtClean="0"/>
              <a:t>Uses “source routing.”</a:t>
            </a:r>
            <a:endParaRPr lang="en-US" sz="2300" dirty="0"/>
          </a:p>
          <a:p>
            <a:r>
              <a:rPr lang="en-US" sz="2800" dirty="0"/>
              <a:t>A </a:t>
            </a:r>
            <a:r>
              <a:rPr lang="en-US" sz="2800" i="1" dirty="0"/>
              <a:t>hop-by-hop</a:t>
            </a:r>
            <a:r>
              <a:rPr lang="en-US" sz="2800" dirty="0"/>
              <a:t> forwarding </a:t>
            </a:r>
            <a:r>
              <a:rPr lang="en-US" sz="2800" dirty="0" smtClean="0"/>
              <a:t>mechanism.</a:t>
            </a:r>
            <a:endParaRPr lang="en-US" sz="2800" dirty="0"/>
          </a:p>
          <a:p>
            <a:r>
              <a:rPr lang="en-US" sz="2800" dirty="0"/>
              <a:t>Use labels to set up the path</a:t>
            </a:r>
          </a:p>
          <a:p>
            <a:pPr lvl="1"/>
            <a:r>
              <a:rPr lang="en-US" sz="2400" dirty="0"/>
              <a:t>Require a </a:t>
            </a:r>
            <a:r>
              <a:rPr lang="en-US" sz="2400" i="1" dirty="0"/>
              <a:t>protocol</a:t>
            </a:r>
            <a:r>
              <a:rPr lang="en-US" sz="2400" dirty="0"/>
              <a:t> to set up the labels along the path</a:t>
            </a:r>
          </a:p>
          <a:p>
            <a:r>
              <a:rPr lang="en-US" sz="2800" dirty="0"/>
              <a:t>It builds a </a:t>
            </a:r>
            <a:r>
              <a:rPr lang="en-US" sz="2800" i="1" dirty="0"/>
              <a:t>connection-oriented</a:t>
            </a:r>
            <a:r>
              <a:rPr lang="en-US" sz="2800" dirty="0"/>
              <a:t> service on the IP </a:t>
            </a:r>
            <a:r>
              <a:rPr lang="en-US" sz="2800" dirty="0" smtClean="0"/>
              <a:t>network.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6934200" y="6312932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© Dr. Kingsley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06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93038" cy="944563"/>
          </a:xfrm>
        </p:spPr>
        <p:txBody>
          <a:bodyPr/>
          <a:lstStyle/>
          <a:p>
            <a:r>
              <a:rPr lang="en-US" sz="4000" dirty="0">
                <a:solidFill>
                  <a:schemeClr val="accent2"/>
                </a:solidFill>
              </a:rPr>
              <a:t>Terminology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763000" cy="3952875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sz="2400" dirty="0" smtClean="0"/>
              <a:t>Label Switch Router (LSR)</a:t>
            </a:r>
          </a:p>
          <a:p>
            <a:pPr lvl="1">
              <a:lnSpc>
                <a:spcPct val="80000"/>
              </a:lnSpc>
            </a:pPr>
            <a:r>
              <a:rPr lang="en-US" sz="1900" dirty="0" smtClean="0"/>
              <a:t>Routers </a:t>
            </a:r>
            <a:r>
              <a:rPr lang="en-US" sz="1900" dirty="0"/>
              <a:t>that support MPLS are called Label Switch Router </a:t>
            </a:r>
          </a:p>
          <a:p>
            <a:pPr>
              <a:lnSpc>
                <a:spcPct val="80000"/>
              </a:lnSpc>
            </a:pPr>
            <a:r>
              <a:rPr lang="en-US" sz="2400" dirty="0" smtClean="0"/>
              <a:t>Label Edge Router (LER)</a:t>
            </a:r>
          </a:p>
          <a:p>
            <a:pPr lvl="1">
              <a:lnSpc>
                <a:spcPct val="80000"/>
              </a:lnSpc>
            </a:pPr>
            <a:r>
              <a:rPr lang="en-US" sz="1900" dirty="0" smtClean="0"/>
              <a:t>LSR </a:t>
            </a:r>
            <a:r>
              <a:rPr lang="en-US" sz="1900" dirty="0"/>
              <a:t>at the edge of the network is called Label Edge Router (</a:t>
            </a:r>
            <a:r>
              <a:rPr lang="en-US" sz="1900" dirty="0" err="1"/>
              <a:t>a.k.a</a:t>
            </a:r>
            <a:r>
              <a:rPr lang="en-US" sz="1900" dirty="0"/>
              <a:t> Edge LSR)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Ingress LER is responsible for adding labels to unlabeled IP </a:t>
            </a:r>
            <a:r>
              <a:rPr lang="en-US" sz="2000" dirty="0" smtClean="0"/>
              <a:t>packets and determining the route through network. </a:t>
            </a:r>
            <a:endParaRPr lang="en-US" sz="2000" dirty="0"/>
          </a:p>
          <a:p>
            <a:pPr lvl="1">
              <a:lnSpc>
                <a:spcPct val="80000"/>
              </a:lnSpc>
            </a:pPr>
            <a:r>
              <a:rPr lang="en-US" sz="2000" dirty="0"/>
              <a:t>Egress LER is responsible for removing the labels.</a:t>
            </a:r>
          </a:p>
          <a:p>
            <a:pPr>
              <a:lnSpc>
                <a:spcPct val="80000"/>
              </a:lnSpc>
            </a:pPr>
            <a:r>
              <a:rPr lang="en-US" sz="2400" dirty="0"/>
              <a:t>Label Switch Path (LSP</a:t>
            </a:r>
            <a:r>
              <a:rPr lang="en-US" sz="2400" dirty="0" smtClean="0"/>
              <a:t>)</a:t>
            </a:r>
          </a:p>
          <a:p>
            <a:pPr lvl="1">
              <a:lnSpc>
                <a:spcPct val="80000"/>
              </a:lnSpc>
            </a:pPr>
            <a:r>
              <a:rPr lang="en-US" sz="1900" dirty="0"/>
              <a:t>T</a:t>
            </a:r>
            <a:r>
              <a:rPr lang="en-US" sz="1900" dirty="0" smtClean="0"/>
              <a:t>he </a:t>
            </a:r>
            <a:r>
              <a:rPr lang="en-US" sz="1900" dirty="0"/>
              <a:t>path defined by the labels through LSRs between two LERs.</a:t>
            </a:r>
          </a:p>
          <a:p>
            <a:pPr>
              <a:lnSpc>
                <a:spcPct val="80000"/>
              </a:lnSpc>
            </a:pPr>
            <a:r>
              <a:rPr lang="en-US" sz="2400" dirty="0"/>
              <a:t>Label Forwarding Information Base (</a:t>
            </a:r>
            <a:r>
              <a:rPr lang="en-US" sz="2400" dirty="0" smtClean="0"/>
              <a:t>LFIB)</a:t>
            </a:r>
          </a:p>
          <a:p>
            <a:pPr lvl="1">
              <a:lnSpc>
                <a:spcPct val="80000"/>
              </a:lnSpc>
            </a:pPr>
            <a:r>
              <a:rPr lang="en-US" sz="1900" dirty="0" smtClean="0"/>
              <a:t>A </a:t>
            </a:r>
            <a:r>
              <a:rPr lang="en-US" sz="1900" dirty="0"/>
              <a:t>forwarding table (mapping) between labels to outgoing interfaces.</a:t>
            </a:r>
          </a:p>
          <a:p>
            <a:pPr>
              <a:lnSpc>
                <a:spcPct val="80000"/>
              </a:lnSpc>
            </a:pPr>
            <a:r>
              <a:rPr lang="en-US" sz="2400" dirty="0"/>
              <a:t>Forward Equivalent Class (</a:t>
            </a:r>
            <a:r>
              <a:rPr lang="en-US" sz="2400" dirty="0" smtClean="0"/>
              <a:t>FEC)</a:t>
            </a:r>
          </a:p>
          <a:p>
            <a:pPr lvl="1">
              <a:lnSpc>
                <a:spcPct val="80000"/>
              </a:lnSpc>
            </a:pPr>
            <a:r>
              <a:rPr lang="en-US" sz="1900" dirty="0" smtClean="0"/>
              <a:t>All </a:t>
            </a:r>
            <a:r>
              <a:rPr lang="en-US" sz="1900" dirty="0"/>
              <a:t>IP packets follow the same path on the MPLS network and receive the same treatment at each node.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34200" y="6312932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© Dr. Kingsley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858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93038" cy="944563"/>
          </a:xfrm>
        </p:spPr>
        <p:txBody>
          <a:bodyPr/>
          <a:lstStyle/>
          <a:p>
            <a:r>
              <a:rPr lang="en-US" sz="4000" dirty="0" smtClean="0">
                <a:solidFill>
                  <a:schemeClr val="accent2"/>
                </a:solidFill>
              </a:rPr>
              <a:t>FEC</a:t>
            </a:r>
            <a:endParaRPr lang="en-US" sz="4000" dirty="0">
              <a:solidFill>
                <a:schemeClr val="accent2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b="1" dirty="0">
                <a:latin typeface="Times New Roman" pitchFamily="18" charset="0"/>
              </a:rPr>
              <a:t>A packet can be mapped to a particular FEC based on the following criteria:</a:t>
            </a:r>
          </a:p>
          <a:p>
            <a:pPr lvl="1">
              <a:buFontTx/>
              <a:buChar char="•"/>
            </a:pPr>
            <a:r>
              <a:rPr lang="en-US" sz="2400" b="1" dirty="0" smtClean="0">
                <a:latin typeface="Times New Roman" pitchFamily="18" charset="0"/>
              </a:rPr>
              <a:t>Destination </a:t>
            </a:r>
            <a:r>
              <a:rPr lang="en-US" sz="2400" b="1" dirty="0">
                <a:latin typeface="Times New Roman" pitchFamily="18" charset="0"/>
              </a:rPr>
              <a:t>IP </a:t>
            </a:r>
            <a:r>
              <a:rPr lang="en-US" sz="2400" b="1" dirty="0" smtClean="0">
                <a:latin typeface="Times New Roman" pitchFamily="18" charset="0"/>
              </a:rPr>
              <a:t>address</a:t>
            </a:r>
            <a:endParaRPr lang="en-US" sz="2400" b="1" dirty="0">
              <a:latin typeface="Times New Roman" pitchFamily="18" charset="0"/>
            </a:endParaRPr>
          </a:p>
          <a:p>
            <a:pPr lvl="1">
              <a:buFontTx/>
              <a:buChar char="•"/>
            </a:pPr>
            <a:r>
              <a:rPr lang="en-US" sz="2400" b="1" dirty="0">
                <a:latin typeface="Times New Roman" pitchFamily="18" charset="0"/>
              </a:rPr>
              <a:t>S</a:t>
            </a:r>
            <a:r>
              <a:rPr lang="en-US" sz="2400" b="1" dirty="0" smtClean="0">
                <a:latin typeface="Times New Roman" pitchFamily="18" charset="0"/>
              </a:rPr>
              <a:t>ource </a:t>
            </a:r>
            <a:r>
              <a:rPr lang="en-US" sz="2400" b="1" dirty="0">
                <a:latin typeface="Times New Roman" pitchFamily="18" charset="0"/>
              </a:rPr>
              <a:t>IP </a:t>
            </a:r>
            <a:r>
              <a:rPr lang="en-US" sz="2400" b="1" dirty="0" smtClean="0">
                <a:latin typeface="Times New Roman" pitchFamily="18" charset="0"/>
              </a:rPr>
              <a:t>address</a:t>
            </a:r>
            <a:endParaRPr lang="en-US" sz="2400" b="1" dirty="0">
              <a:latin typeface="Times New Roman" pitchFamily="18" charset="0"/>
            </a:endParaRPr>
          </a:p>
          <a:p>
            <a:pPr lvl="1">
              <a:buFontTx/>
              <a:buChar char="•"/>
            </a:pPr>
            <a:r>
              <a:rPr lang="en-US" sz="2400" b="1" dirty="0">
                <a:latin typeface="Times New Roman" pitchFamily="18" charset="0"/>
              </a:rPr>
              <a:t>TCP/UDP </a:t>
            </a:r>
            <a:r>
              <a:rPr lang="en-US" sz="2400" b="1" dirty="0" smtClean="0">
                <a:latin typeface="Times New Roman" pitchFamily="18" charset="0"/>
              </a:rPr>
              <a:t>port</a:t>
            </a:r>
            <a:endParaRPr lang="en-US" sz="2400" b="1" dirty="0">
              <a:latin typeface="Times New Roman" pitchFamily="18" charset="0"/>
            </a:endParaRPr>
          </a:p>
          <a:p>
            <a:pPr lvl="1">
              <a:buFontTx/>
              <a:buChar char="•"/>
            </a:pPr>
            <a:r>
              <a:rPr lang="en-US" sz="2400" b="1" dirty="0">
                <a:latin typeface="Times New Roman" pitchFamily="18" charset="0"/>
              </a:rPr>
              <a:t>C</a:t>
            </a:r>
            <a:r>
              <a:rPr lang="en-US" sz="2400" b="1" dirty="0" smtClean="0">
                <a:latin typeface="Times New Roman" pitchFamily="18" charset="0"/>
              </a:rPr>
              <a:t>lass </a:t>
            </a:r>
            <a:r>
              <a:rPr lang="en-US" sz="2400" b="1" dirty="0">
                <a:latin typeface="Times New Roman" pitchFamily="18" charset="0"/>
              </a:rPr>
              <a:t>of S</a:t>
            </a:r>
            <a:r>
              <a:rPr lang="en-US" sz="2400" b="1" dirty="0" smtClean="0">
                <a:latin typeface="Times New Roman" pitchFamily="18" charset="0"/>
              </a:rPr>
              <a:t>ervice </a:t>
            </a:r>
            <a:r>
              <a:rPr lang="en-US" sz="2400" b="1" dirty="0">
                <a:latin typeface="Times New Roman" pitchFamily="18" charset="0"/>
              </a:rPr>
              <a:t>(</a:t>
            </a:r>
            <a:r>
              <a:rPr lang="en-US" sz="2400" b="1" dirty="0" err="1">
                <a:latin typeface="Times New Roman" pitchFamily="18" charset="0"/>
              </a:rPr>
              <a:t>CoS</a:t>
            </a:r>
            <a:r>
              <a:rPr lang="en-US" sz="2400" b="1" dirty="0">
                <a:latin typeface="Times New Roman" pitchFamily="18" charset="0"/>
              </a:rPr>
              <a:t>) or T</a:t>
            </a:r>
            <a:r>
              <a:rPr lang="en-US" sz="2400" b="1" dirty="0" smtClean="0">
                <a:latin typeface="Times New Roman" pitchFamily="18" charset="0"/>
              </a:rPr>
              <a:t>ype </a:t>
            </a:r>
            <a:r>
              <a:rPr lang="en-US" sz="2400" b="1" dirty="0">
                <a:latin typeface="Times New Roman" pitchFamily="18" charset="0"/>
              </a:rPr>
              <a:t>of </a:t>
            </a:r>
            <a:r>
              <a:rPr lang="en-US" sz="2400" b="1" dirty="0" smtClean="0">
                <a:latin typeface="Times New Roman" pitchFamily="18" charset="0"/>
              </a:rPr>
              <a:t>Service </a:t>
            </a:r>
            <a:r>
              <a:rPr lang="en-US" sz="2400" b="1" dirty="0">
                <a:latin typeface="Times New Roman" pitchFamily="18" charset="0"/>
              </a:rPr>
              <a:t>(</a:t>
            </a:r>
            <a:r>
              <a:rPr lang="en-US" sz="2400" b="1" dirty="0" err="1">
                <a:latin typeface="Times New Roman" pitchFamily="18" charset="0"/>
              </a:rPr>
              <a:t>ToS</a:t>
            </a:r>
            <a:r>
              <a:rPr lang="en-US" sz="2400" b="1" dirty="0">
                <a:latin typeface="Times New Roman" pitchFamily="18" charset="0"/>
              </a:rPr>
              <a:t>), </a:t>
            </a:r>
          </a:p>
          <a:p>
            <a:pPr lvl="1">
              <a:buFontTx/>
              <a:buChar char="•"/>
            </a:pPr>
            <a:r>
              <a:rPr lang="en-US" sz="2400" b="1" dirty="0" smtClean="0">
                <a:latin typeface="Times New Roman" pitchFamily="18" charset="0"/>
              </a:rPr>
              <a:t>Application used</a:t>
            </a:r>
            <a:endParaRPr lang="en-US" sz="2400" b="1" dirty="0">
              <a:latin typeface="Times New Roman" pitchFamily="18" charset="0"/>
            </a:endParaRPr>
          </a:p>
          <a:p>
            <a:pPr lvl="1">
              <a:buFontTx/>
              <a:buChar char="•"/>
            </a:pPr>
            <a:r>
              <a:rPr lang="en-US" sz="2400" b="1" dirty="0" smtClean="0">
                <a:latin typeface="Times New Roman" pitchFamily="18" charset="0"/>
              </a:rPr>
              <a:t>Any </a:t>
            </a:r>
            <a:r>
              <a:rPr lang="en-US" sz="2400" b="1" dirty="0">
                <a:latin typeface="Times New Roman" pitchFamily="18" charset="0"/>
              </a:rPr>
              <a:t>combination of the previous </a:t>
            </a:r>
            <a:r>
              <a:rPr lang="en-US" sz="2400" b="1" dirty="0" smtClean="0">
                <a:latin typeface="Times New Roman" pitchFamily="18" charset="0"/>
              </a:rPr>
              <a:t>criteria or others.</a:t>
            </a:r>
            <a:endParaRPr lang="en-US" sz="2400" b="1" dirty="0">
              <a:latin typeface="Times New Roman" pitchFamily="18" charset="0"/>
            </a:endParaRP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34200" y="6312932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© Dr. Kingsley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293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93038" cy="944563"/>
          </a:xfrm>
        </p:spPr>
        <p:txBody>
          <a:bodyPr/>
          <a:lstStyle/>
          <a:p>
            <a:r>
              <a:rPr lang="en-US" sz="4000" dirty="0" smtClean="0">
                <a:solidFill>
                  <a:schemeClr val="accent2"/>
                </a:solidFill>
              </a:rPr>
              <a:t>Label Process</a:t>
            </a:r>
            <a:endParaRPr lang="en-US" sz="4000" dirty="0">
              <a:solidFill>
                <a:schemeClr val="accent2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426244" y="1596230"/>
            <a:ext cx="7986712" cy="4848225"/>
            <a:chOff x="376238" y="1868488"/>
            <a:chExt cx="7986712" cy="4848225"/>
          </a:xfrm>
        </p:grpSpPr>
        <p:sp>
          <p:nvSpPr>
            <p:cNvPr id="6" name="Text Box 2"/>
            <p:cNvSpPr txBox="1">
              <a:spLocks noChangeArrowheads="1"/>
            </p:cNvSpPr>
            <p:nvPr/>
          </p:nvSpPr>
          <p:spPr bwMode="auto">
            <a:xfrm>
              <a:off x="6762750" y="4035425"/>
              <a:ext cx="16002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latin typeface="Times New Roman" pitchFamily="18" charset="0"/>
                </a:rPr>
                <a:t>Label removal</a:t>
              </a:r>
              <a:endParaRPr lang="en-US" b="1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sp>
          <p:nvSpPr>
            <p:cNvPr id="7" name="Text Box 3"/>
            <p:cNvSpPr txBox="1">
              <a:spLocks noChangeArrowheads="1"/>
            </p:cNvSpPr>
            <p:nvPr/>
          </p:nvSpPr>
          <p:spPr bwMode="auto">
            <a:xfrm>
              <a:off x="376238" y="4411663"/>
              <a:ext cx="1892300" cy="641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latin typeface="Times New Roman" pitchFamily="18" charset="0"/>
                </a:rPr>
                <a:t>Classification</a:t>
              </a:r>
            </a:p>
            <a:p>
              <a:r>
                <a:rPr lang="en-US" b="1">
                  <a:latin typeface="Times New Roman" pitchFamily="18" charset="0"/>
                </a:rPr>
                <a:t>Label assignment</a:t>
              </a:r>
              <a:endParaRPr lang="en-US" sz="2200" b="1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sp>
          <p:nvSpPr>
            <p:cNvPr id="8" name="Line 4"/>
            <p:cNvSpPr>
              <a:spLocks noChangeShapeType="1"/>
            </p:cNvSpPr>
            <p:nvPr/>
          </p:nvSpPr>
          <p:spPr bwMode="auto">
            <a:xfrm>
              <a:off x="7010400" y="5907088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3352800" y="5907088"/>
              <a:ext cx="281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4267200" y="5221288"/>
              <a:ext cx="1041400" cy="990600"/>
            </a:xfrm>
            <a:prstGeom prst="rect">
              <a:avLst/>
            </a:prstGeom>
            <a:gradFill rotWithShape="0">
              <a:gsLst>
                <a:gs pos="0">
                  <a:srgbClr val="CCCC00"/>
                </a:gs>
                <a:gs pos="100000">
                  <a:srgbClr val="996633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6172200" y="5221288"/>
              <a:ext cx="1041400" cy="990600"/>
            </a:xfrm>
            <a:prstGeom prst="rect">
              <a:avLst/>
            </a:prstGeom>
            <a:gradFill rotWithShape="0">
              <a:gsLst>
                <a:gs pos="0">
                  <a:srgbClr val="CCCC00"/>
                </a:gs>
                <a:gs pos="100000">
                  <a:srgbClr val="996633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Rectangle 8"/>
            <p:cNvSpPr>
              <a:spLocks noChangeArrowheads="1"/>
            </p:cNvSpPr>
            <p:nvPr/>
          </p:nvSpPr>
          <p:spPr bwMode="auto">
            <a:xfrm>
              <a:off x="2362200" y="5221288"/>
              <a:ext cx="1041400" cy="990600"/>
            </a:xfrm>
            <a:prstGeom prst="rect">
              <a:avLst/>
            </a:prstGeom>
            <a:gradFill rotWithShape="0">
              <a:gsLst>
                <a:gs pos="0">
                  <a:srgbClr val="CCCC00"/>
                </a:gs>
                <a:gs pos="100000">
                  <a:srgbClr val="996633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Rectangle 9"/>
            <p:cNvSpPr>
              <a:spLocks noChangeArrowheads="1"/>
            </p:cNvSpPr>
            <p:nvPr/>
          </p:nvSpPr>
          <p:spPr bwMode="auto">
            <a:xfrm>
              <a:off x="2362200" y="2020888"/>
              <a:ext cx="4114800" cy="304800"/>
            </a:xfrm>
            <a:prstGeom prst="rect">
              <a:avLst/>
            </a:prstGeom>
            <a:gradFill rotWithShape="0">
              <a:gsLst>
                <a:gs pos="0">
                  <a:srgbClr val="CCFFFF"/>
                </a:gs>
                <a:gs pos="100000">
                  <a:srgbClr val="CCFFCC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2362200" y="2706688"/>
              <a:ext cx="4876800" cy="304800"/>
            </a:xfrm>
            <a:prstGeom prst="rect">
              <a:avLst/>
            </a:prstGeom>
            <a:gradFill rotWithShape="0">
              <a:gsLst>
                <a:gs pos="0">
                  <a:srgbClr val="CCFFCC"/>
                </a:gs>
                <a:gs pos="100000">
                  <a:srgbClr val="CCFF99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Text Box 11"/>
            <p:cNvSpPr txBox="1">
              <a:spLocks noChangeArrowheads="1"/>
            </p:cNvSpPr>
            <p:nvPr/>
          </p:nvSpPr>
          <p:spPr bwMode="auto">
            <a:xfrm>
              <a:off x="3733800" y="2706688"/>
              <a:ext cx="185420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001428"/>
                  </a:solidFill>
                  <a:latin typeface="Times New Roman" pitchFamily="18" charset="0"/>
                </a:rPr>
                <a:t>Routing Protocol</a:t>
              </a:r>
              <a:endParaRPr lang="en-US" sz="2200" b="1">
                <a:solidFill>
                  <a:srgbClr val="001428"/>
                </a:solidFill>
                <a:latin typeface="Times New Roman" pitchFamily="18" charset="0"/>
              </a:endParaRPr>
            </a:p>
          </p:txBody>
        </p:sp>
        <p:sp>
          <p:nvSpPr>
            <p:cNvPr id="16" name="Text Box 12"/>
            <p:cNvSpPr txBox="1">
              <a:spLocks noChangeArrowheads="1"/>
            </p:cNvSpPr>
            <p:nvPr/>
          </p:nvSpPr>
          <p:spPr bwMode="auto">
            <a:xfrm>
              <a:off x="3886200" y="1981200"/>
              <a:ext cx="19748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001428"/>
                  </a:solidFill>
                  <a:latin typeface="Times New Roman" pitchFamily="18" charset="0"/>
                </a:rPr>
                <a:t>Label Switch Path</a:t>
              </a:r>
              <a:endParaRPr lang="en-US" sz="2200" b="1">
                <a:solidFill>
                  <a:srgbClr val="001428"/>
                </a:solidFill>
                <a:latin typeface="Times New Roman" pitchFamily="18" charset="0"/>
              </a:endParaRPr>
            </a:p>
          </p:txBody>
        </p:sp>
        <p:sp>
          <p:nvSpPr>
            <p:cNvPr id="17" name="AutoShape 13"/>
            <p:cNvSpPr>
              <a:spLocks noChangeArrowheads="1"/>
            </p:cNvSpPr>
            <p:nvPr/>
          </p:nvSpPr>
          <p:spPr bwMode="auto">
            <a:xfrm rot="-16191713">
              <a:off x="6515100" y="1830388"/>
              <a:ext cx="685800" cy="762000"/>
            </a:xfrm>
            <a:prstGeom prst="triangle">
              <a:avLst>
                <a:gd name="adj" fmla="val 50000"/>
              </a:avLst>
            </a:prstGeom>
            <a:gradFill rotWithShape="0">
              <a:gsLst>
                <a:gs pos="0">
                  <a:srgbClr val="CCFFFF"/>
                </a:gs>
                <a:gs pos="100000">
                  <a:srgbClr val="CCFFCC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Rectangle 14"/>
            <p:cNvSpPr>
              <a:spLocks noChangeArrowheads="1"/>
            </p:cNvSpPr>
            <p:nvPr/>
          </p:nvSpPr>
          <p:spPr bwMode="auto">
            <a:xfrm>
              <a:off x="4267200" y="4611688"/>
              <a:ext cx="1066800" cy="304800"/>
            </a:xfrm>
            <a:prstGeom prst="rect">
              <a:avLst/>
            </a:prstGeom>
            <a:gradFill rotWithShape="0">
              <a:gsLst>
                <a:gs pos="0">
                  <a:srgbClr val="CCFF33"/>
                </a:gs>
                <a:gs pos="100000">
                  <a:srgbClr val="CCCC00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Text Box 15"/>
            <p:cNvSpPr txBox="1">
              <a:spLocks noChangeArrowheads="1"/>
            </p:cNvSpPr>
            <p:nvPr/>
          </p:nvSpPr>
          <p:spPr bwMode="auto">
            <a:xfrm>
              <a:off x="4343400" y="4487863"/>
              <a:ext cx="835025" cy="4270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200" b="1">
                  <a:solidFill>
                    <a:srgbClr val="001428"/>
                  </a:solidFill>
                  <a:latin typeface="Times New Roman" pitchFamily="18" charset="0"/>
                </a:rPr>
                <a:t>LFIB</a:t>
              </a:r>
            </a:p>
          </p:txBody>
        </p:sp>
        <p:sp>
          <p:nvSpPr>
            <p:cNvPr id="20" name="Rectangle 16"/>
            <p:cNvSpPr>
              <a:spLocks noChangeArrowheads="1"/>
            </p:cNvSpPr>
            <p:nvPr/>
          </p:nvSpPr>
          <p:spPr bwMode="auto">
            <a:xfrm>
              <a:off x="6172200" y="4611688"/>
              <a:ext cx="1066800" cy="304800"/>
            </a:xfrm>
            <a:prstGeom prst="rect">
              <a:avLst/>
            </a:prstGeom>
            <a:gradFill rotWithShape="0">
              <a:gsLst>
                <a:gs pos="0">
                  <a:srgbClr val="CCFF33"/>
                </a:gs>
                <a:gs pos="100000">
                  <a:srgbClr val="CCCC00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Rectangle 17"/>
            <p:cNvSpPr>
              <a:spLocks noChangeArrowheads="1"/>
            </p:cNvSpPr>
            <p:nvPr/>
          </p:nvSpPr>
          <p:spPr bwMode="auto">
            <a:xfrm>
              <a:off x="6172200" y="2706688"/>
              <a:ext cx="1041400" cy="304800"/>
            </a:xfrm>
            <a:prstGeom prst="rect">
              <a:avLst/>
            </a:prstGeom>
            <a:gradFill rotWithShape="0">
              <a:gsLst>
                <a:gs pos="0">
                  <a:srgbClr val="CCFFCC"/>
                </a:gs>
                <a:gs pos="100000">
                  <a:srgbClr val="CCFF99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Text Box 18"/>
            <p:cNvSpPr txBox="1">
              <a:spLocks noChangeArrowheads="1"/>
            </p:cNvSpPr>
            <p:nvPr/>
          </p:nvSpPr>
          <p:spPr bwMode="auto">
            <a:xfrm>
              <a:off x="2559050" y="6259513"/>
              <a:ext cx="657225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>
                  <a:solidFill>
                    <a:schemeClr val="accent2"/>
                  </a:solidFill>
                  <a:latin typeface="Times New Roman" pitchFamily="18" charset="0"/>
                </a:rPr>
                <a:t>Ingress</a:t>
              </a:r>
            </a:p>
            <a:p>
              <a:pPr algn="ctr"/>
              <a:r>
                <a:rPr lang="en-US" sz="1200" b="1">
                  <a:solidFill>
                    <a:schemeClr val="accent2"/>
                  </a:solidFill>
                  <a:latin typeface="Times New Roman" pitchFamily="18" charset="0"/>
                </a:rPr>
                <a:t>Node</a:t>
              </a:r>
              <a:endParaRPr lang="en-US" sz="2200" b="1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sp>
          <p:nvSpPr>
            <p:cNvPr id="23" name="Text Box 19"/>
            <p:cNvSpPr txBox="1">
              <a:spLocks noChangeArrowheads="1"/>
            </p:cNvSpPr>
            <p:nvPr/>
          </p:nvSpPr>
          <p:spPr bwMode="auto">
            <a:xfrm>
              <a:off x="4470400" y="6230938"/>
              <a:ext cx="522288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>
                  <a:solidFill>
                    <a:schemeClr val="accent2"/>
                  </a:solidFill>
                  <a:latin typeface="Times New Roman" pitchFamily="18" charset="0"/>
                </a:rPr>
                <a:t>Core</a:t>
              </a:r>
            </a:p>
            <a:p>
              <a:pPr algn="ctr"/>
              <a:r>
                <a:rPr lang="en-US" sz="1200" b="1">
                  <a:solidFill>
                    <a:schemeClr val="accent2"/>
                  </a:solidFill>
                  <a:latin typeface="Times New Roman" pitchFamily="18" charset="0"/>
                </a:rPr>
                <a:t>Node</a:t>
              </a:r>
              <a:endParaRPr lang="en-US" sz="2200" b="1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sp>
          <p:nvSpPr>
            <p:cNvPr id="24" name="Text Box 20"/>
            <p:cNvSpPr txBox="1">
              <a:spLocks noChangeArrowheads="1"/>
            </p:cNvSpPr>
            <p:nvPr/>
          </p:nvSpPr>
          <p:spPr bwMode="auto">
            <a:xfrm>
              <a:off x="6400800" y="6200775"/>
              <a:ext cx="6159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>
                  <a:solidFill>
                    <a:schemeClr val="accent2"/>
                  </a:solidFill>
                  <a:latin typeface="Times New Roman" pitchFamily="18" charset="0"/>
                </a:rPr>
                <a:t>Egress</a:t>
              </a:r>
            </a:p>
            <a:p>
              <a:pPr algn="ctr"/>
              <a:r>
                <a:rPr lang="en-US" sz="1200" b="1">
                  <a:solidFill>
                    <a:schemeClr val="accent2"/>
                  </a:solidFill>
                  <a:latin typeface="Times New Roman" pitchFamily="18" charset="0"/>
                </a:rPr>
                <a:t>Node</a:t>
              </a:r>
              <a:endParaRPr lang="en-US" sz="2200" b="1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sp>
          <p:nvSpPr>
            <p:cNvPr id="25" name="Line 21"/>
            <p:cNvSpPr>
              <a:spLocks noChangeShapeType="1"/>
            </p:cNvSpPr>
            <p:nvPr/>
          </p:nvSpPr>
          <p:spPr bwMode="auto">
            <a:xfrm>
              <a:off x="2841625" y="3787775"/>
              <a:ext cx="0" cy="8382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22"/>
            <p:cNvSpPr>
              <a:spLocks noChangeShapeType="1"/>
            </p:cNvSpPr>
            <p:nvPr/>
          </p:nvSpPr>
          <p:spPr bwMode="auto">
            <a:xfrm>
              <a:off x="2362200" y="5678488"/>
              <a:ext cx="1041400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Text Box 23"/>
            <p:cNvSpPr txBox="1">
              <a:spLocks noChangeArrowheads="1"/>
            </p:cNvSpPr>
            <p:nvPr/>
          </p:nvSpPr>
          <p:spPr bwMode="auto">
            <a:xfrm>
              <a:off x="2514600" y="5297488"/>
              <a:ext cx="688975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chemeClr val="accent2"/>
                  </a:solidFill>
                  <a:latin typeface="Times New Roman" pitchFamily="18" charset="0"/>
                </a:rPr>
                <a:t>Layer 2</a:t>
              </a:r>
              <a:endParaRPr lang="en-US" sz="2200" b="1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sp>
          <p:nvSpPr>
            <p:cNvPr id="28" name="Text Box 24"/>
            <p:cNvSpPr txBox="1">
              <a:spLocks noChangeArrowheads="1"/>
            </p:cNvSpPr>
            <p:nvPr/>
          </p:nvSpPr>
          <p:spPr bwMode="auto">
            <a:xfrm>
              <a:off x="2514600" y="5830888"/>
              <a:ext cx="688975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chemeClr val="accent2"/>
                  </a:solidFill>
                  <a:latin typeface="Times New Roman" pitchFamily="18" charset="0"/>
                </a:rPr>
                <a:t>Layer 1</a:t>
              </a:r>
              <a:endParaRPr lang="en-US" sz="2200" b="1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sp>
          <p:nvSpPr>
            <p:cNvPr id="29" name="Text Box 25"/>
            <p:cNvSpPr txBox="1">
              <a:spLocks noChangeArrowheads="1"/>
            </p:cNvSpPr>
            <p:nvPr/>
          </p:nvSpPr>
          <p:spPr bwMode="auto">
            <a:xfrm>
              <a:off x="4419600" y="5297488"/>
              <a:ext cx="688975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chemeClr val="accent2"/>
                  </a:solidFill>
                  <a:latin typeface="Times New Roman" pitchFamily="18" charset="0"/>
                </a:rPr>
                <a:t>Layer 2</a:t>
              </a:r>
              <a:endParaRPr lang="en-US" sz="2200" b="1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sp>
          <p:nvSpPr>
            <p:cNvPr id="30" name="Text Box 26"/>
            <p:cNvSpPr txBox="1">
              <a:spLocks noChangeArrowheads="1"/>
            </p:cNvSpPr>
            <p:nvPr/>
          </p:nvSpPr>
          <p:spPr bwMode="auto">
            <a:xfrm>
              <a:off x="4419600" y="5830888"/>
              <a:ext cx="688975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chemeClr val="accent2"/>
                  </a:solidFill>
                  <a:latin typeface="Times New Roman" pitchFamily="18" charset="0"/>
                </a:rPr>
                <a:t>Layer 1</a:t>
              </a:r>
              <a:endParaRPr lang="en-US" sz="2200" b="1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sp>
          <p:nvSpPr>
            <p:cNvPr id="31" name="Text Box 27"/>
            <p:cNvSpPr txBox="1">
              <a:spLocks noChangeArrowheads="1"/>
            </p:cNvSpPr>
            <p:nvPr/>
          </p:nvSpPr>
          <p:spPr bwMode="auto">
            <a:xfrm>
              <a:off x="6324600" y="5297488"/>
              <a:ext cx="688975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chemeClr val="accent2"/>
                  </a:solidFill>
                  <a:latin typeface="Times New Roman" pitchFamily="18" charset="0"/>
                </a:rPr>
                <a:t>Layer 2</a:t>
              </a:r>
              <a:endParaRPr lang="en-US" sz="2200" b="1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sp>
          <p:nvSpPr>
            <p:cNvPr id="32" name="Text Box 28"/>
            <p:cNvSpPr txBox="1">
              <a:spLocks noChangeArrowheads="1"/>
            </p:cNvSpPr>
            <p:nvPr/>
          </p:nvSpPr>
          <p:spPr bwMode="auto">
            <a:xfrm>
              <a:off x="6324600" y="5830888"/>
              <a:ext cx="688975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chemeClr val="accent2"/>
                  </a:solidFill>
                  <a:latin typeface="Times New Roman" pitchFamily="18" charset="0"/>
                </a:rPr>
                <a:t>Layer 1</a:t>
              </a:r>
              <a:endParaRPr lang="en-US" sz="2200" b="1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sp>
          <p:nvSpPr>
            <p:cNvPr id="33" name="Line 29"/>
            <p:cNvSpPr>
              <a:spLocks noChangeShapeType="1"/>
            </p:cNvSpPr>
            <p:nvPr/>
          </p:nvSpPr>
          <p:spPr bwMode="auto">
            <a:xfrm>
              <a:off x="1524000" y="5907088"/>
              <a:ext cx="838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Text Box 30"/>
            <p:cNvSpPr txBox="1">
              <a:spLocks noChangeArrowheads="1"/>
            </p:cNvSpPr>
            <p:nvPr/>
          </p:nvSpPr>
          <p:spPr bwMode="auto">
            <a:xfrm>
              <a:off x="6248400" y="4487863"/>
              <a:ext cx="835025" cy="4270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200" b="1">
                  <a:solidFill>
                    <a:srgbClr val="001428"/>
                  </a:solidFill>
                  <a:latin typeface="Times New Roman" pitchFamily="18" charset="0"/>
                </a:rPr>
                <a:t>LFIB</a:t>
              </a:r>
            </a:p>
          </p:txBody>
        </p:sp>
        <p:sp>
          <p:nvSpPr>
            <p:cNvPr id="35" name="Line 31"/>
            <p:cNvSpPr>
              <a:spLocks noChangeShapeType="1"/>
            </p:cNvSpPr>
            <p:nvPr/>
          </p:nvSpPr>
          <p:spPr bwMode="auto">
            <a:xfrm>
              <a:off x="4800600" y="3773488"/>
              <a:ext cx="0" cy="8382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Text Box 32"/>
            <p:cNvSpPr txBox="1">
              <a:spLocks noChangeArrowheads="1"/>
            </p:cNvSpPr>
            <p:nvPr/>
          </p:nvSpPr>
          <p:spPr bwMode="auto">
            <a:xfrm>
              <a:off x="4419600" y="5297488"/>
              <a:ext cx="688975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chemeClr val="accent2"/>
                  </a:solidFill>
                  <a:latin typeface="Times New Roman" pitchFamily="18" charset="0"/>
                </a:rPr>
                <a:t>Layer 2</a:t>
              </a:r>
              <a:endParaRPr lang="en-US" sz="2200" b="1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sp>
          <p:nvSpPr>
            <p:cNvPr id="37" name="Text Box 33"/>
            <p:cNvSpPr txBox="1">
              <a:spLocks noChangeArrowheads="1"/>
            </p:cNvSpPr>
            <p:nvPr/>
          </p:nvSpPr>
          <p:spPr bwMode="auto">
            <a:xfrm>
              <a:off x="4419600" y="5830888"/>
              <a:ext cx="688975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chemeClr val="accent2"/>
                  </a:solidFill>
                  <a:latin typeface="Times New Roman" pitchFamily="18" charset="0"/>
                </a:rPr>
                <a:t>Layer 1</a:t>
              </a:r>
              <a:endParaRPr lang="en-US" sz="2200" b="1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sp>
          <p:nvSpPr>
            <p:cNvPr id="38" name="Line 34"/>
            <p:cNvSpPr>
              <a:spLocks noChangeShapeType="1"/>
            </p:cNvSpPr>
            <p:nvPr/>
          </p:nvSpPr>
          <p:spPr bwMode="auto">
            <a:xfrm>
              <a:off x="6705600" y="3773488"/>
              <a:ext cx="0" cy="8382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Text Box 35"/>
            <p:cNvSpPr txBox="1">
              <a:spLocks noChangeArrowheads="1"/>
            </p:cNvSpPr>
            <p:nvPr/>
          </p:nvSpPr>
          <p:spPr bwMode="auto">
            <a:xfrm>
              <a:off x="6324600" y="5297488"/>
              <a:ext cx="688975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chemeClr val="accent2"/>
                  </a:solidFill>
                  <a:latin typeface="Times New Roman" pitchFamily="18" charset="0"/>
                </a:rPr>
                <a:t>Layer 2</a:t>
              </a:r>
              <a:endParaRPr lang="en-US" sz="2200" b="1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sp>
          <p:nvSpPr>
            <p:cNvPr id="40" name="Text Box 36"/>
            <p:cNvSpPr txBox="1">
              <a:spLocks noChangeArrowheads="1"/>
            </p:cNvSpPr>
            <p:nvPr/>
          </p:nvSpPr>
          <p:spPr bwMode="auto">
            <a:xfrm>
              <a:off x="6324600" y="5830888"/>
              <a:ext cx="688975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chemeClr val="accent2"/>
                  </a:solidFill>
                  <a:latin typeface="Times New Roman" pitchFamily="18" charset="0"/>
                </a:rPr>
                <a:t>Layer 1</a:t>
              </a:r>
              <a:endParaRPr lang="en-US" sz="2200" b="1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sp>
          <p:nvSpPr>
            <p:cNvPr id="41" name="Line 37"/>
            <p:cNvSpPr>
              <a:spLocks noChangeShapeType="1"/>
            </p:cNvSpPr>
            <p:nvPr/>
          </p:nvSpPr>
          <p:spPr bwMode="auto">
            <a:xfrm>
              <a:off x="4267200" y="5678488"/>
              <a:ext cx="1041400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Line 38"/>
            <p:cNvSpPr>
              <a:spLocks noChangeShapeType="1"/>
            </p:cNvSpPr>
            <p:nvPr/>
          </p:nvSpPr>
          <p:spPr bwMode="auto">
            <a:xfrm>
              <a:off x="6172200" y="5678488"/>
              <a:ext cx="1041400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Rectangle 39"/>
            <p:cNvSpPr>
              <a:spLocks noChangeArrowheads="1"/>
            </p:cNvSpPr>
            <p:nvPr/>
          </p:nvSpPr>
          <p:spPr bwMode="auto">
            <a:xfrm>
              <a:off x="4267200" y="3468688"/>
              <a:ext cx="1066800" cy="304800"/>
            </a:xfrm>
            <a:prstGeom prst="rect">
              <a:avLst/>
            </a:prstGeom>
            <a:gradFill rotWithShape="0">
              <a:gsLst>
                <a:gs pos="0">
                  <a:srgbClr val="CCFF99"/>
                </a:gs>
                <a:gs pos="100000">
                  <a:srgbClr val="CCFF66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Rectangle 40"/>
            <p:cNvSpPr>
              <a:spLocks noChangeArrowheads="1"/>
            </p:cNvSpPr>
            <p:nvPr/>
          </p:nvSpPr>
          <p:spPr bwMode="auto">
            <a:xfrm>
              <a:off x="6172200" y="3468688"/>
              <a:ext cx="1066800" cy="304800"/>
            </a:xfrm>
            <a:prstGeom prst="rect">
              <a:avLst/>
            </a:prstGeom>
            <a:gradFill rotWithShape="0">
              <a:gsLst>
                <a:gs pos="0">
                  <a:srgbClr val="CCFF99"/>
                </a:gs>
                <a:gs pos="100000">
                  <a:srgbClr val="CCFF66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Rectangle 41"/>
            <p:cNvSpPr>
              <a:spLocks noChangeArrowheads="1"/>
            </p:cNvSpPr>
            <p:nvPr/>
          </p:nvSpPr>
          <p:spPr bwMode="auto">
            <a:xfrm>
              <a:off x="2362200" y="3468688"/>
              <a:ext cx="1066800" cy="304800"/>
            </a:xfrm>
            <a:prstGeom prst="rect">
              <a:avLst/>
            </a:prstGeom>
            <a:gradFill rotWithShape="0">
              <a:gsLst>
                <a:gs pos="0">
                  <a:srgbClr val="CCFF99"/>
                </a:gs>
                <a:gs pos="100000">
                  <a:srgbClr val="CCFF66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Text Box 42"/>
            <p:cNvSpPr txBox="1">
              <a:spLocks noChangeArrowheads="1"/>
            </p:cNvSpPr>
            <p:nvPr/>
          </p:nvSpPr>
          <p:spPr bwMode="auto">
            <a:xfrm>
              <a:off x="2667000" y="3468688"/>
              <a:ext cx="488950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rgbClr val="001428"/>
                  </a:solidFill>
                  <a:latin typeface="Times New Roman" pitchFamily="18" charset="0"/>
                </a:rPr>
                <a:t>FEC</a:t>
              </a:r>
              <a:endParaRPr lang="en-US" sz="2200" b="1">
                <a:solidFill>
                  <a:srgbClr val="001428"/>
                </a:solidFill>
                <a:latin typeface="Times New Roman" pitchFamily="18" charset="0"/>
              </a:endParaRPr>
            </a:p>
          </p:txBody>
        </p:sp>
        <p:sp>
          <p:nvSpPr>
            <p:cNvPr id="47" name="Text Box 43"/>
            <p:cNvSpPr txBox="1">
              <a:spLocks noChangeArrowheads="1"/>
            </p:cNvSpPr>
            <p:nvPr/>
          </p:nvSpPr>
          <p:spPr bwMode="auto">
            <a:xfrm>
              <a:off x="4572000" y="3468688"/>
              <a:ext cx="488950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rgbClr val="001428"/>
                  </a:solidFill>
                  <a:latin typeface="Times New Roman" pitchFamily="18" charset="0"/>
                </a:rPr>
                <a:t>FEC</a:t>
              </a:r>
              <a:endParaRPr lang="en-US" sz="2200" b="1">
                <a:solidFill>
                  <a:srgbClr val="001428"/>
                </a:solidFill>
                <a:latin typeface="Times New Roman" pitchFamily="18" charset="0"/>
              </a:endParaRPr>
            </a:p>
          </p:txBody>
        </p:sp>
        <p:sp>
          <p:nvSpPr>
            <p:cNvPr id="48" name="Text Box 44"/>
            <p:cNvSpPr txBox="1">
              <a:spLocks noChangeArrowheads="1"/>
            </p:cNvSpPr>
            <p:nvPr/>
          </p:nvSpPr>
          <p:spPr bwMode="auto">
            <a:xfrm>
              <a:off x="6477000" y="3468688"/>
              <a:ext cx="488950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rgbClr val="001428"/>
                  </a:solidFill>
                  <a:latin typeface="Times New Roman" pitchFamily="18" charset="0"/>
                </a:rPr>
                <a:t>FEC</a:t>
              </a:r>
              <a:endParaRPr lang="en-US" sz="2200" b="1">
                <a:solidFill>
                  <a:srgbClr val="001428"/>
                </a:solidFill>
                <a:latin typeface="Times New Roman" pitchFamily="18" charset="0"/>
              </a:endParaRPr>
            </a:p>
          </p:txBody>
        </p:sp>
        <p:sp>
          <p:nvSpPr>
            <p:cNvPr id="49" name="Line 45"/>
            <p:cNvSpPr>
              <a:spLocks noChangeShapeType="1"/>
            </p:cNvSpPr>
            <p:nvPr/>
          </p:nvSpPr>
          <p:spPr bwMode="auto">
            <a:xfrm>
              <a:off x="2819400" y="3011488"/>
              <a:ext cx="0" cy="4572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Line 46"/>
            <p:cNvSpPr>
              <a:spLocks noChangeShapeType="1"/>
            </p:cNvSpPr>
            <p:nvPr/>
          </p:nvSpPr>
          <p:spPr bwMode="auto">
            <a:xfrm>
              <a:off x="4800600" y="3011488"/>
              <a:ext cx="0" cy="4572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Line 47"/>
            <p:cNvSpPr>
              <a:spLocks noChangeShapeType="1"/>
            </p:cNvSpPr>
            <p:nvPr/>
          </p:nvSpPr>
          <p:spPr bwMode="auto">
            <a:xfrm>
              <a:off x="6705600" y="3011488"/>
              <a:ext cx="0" cy="4572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Freeform 48"/>
            <p:cNvSpPr>
              <a:spLocks/>
            </p:cNvSpPr>
            <p:nvPr/>
          </p:nvSpPr>
          <p:spPr bwMode="auto">
            <a:xfrm>
              <a:off x="1600200" y="4860925"/>
              <a:ext cx="2209800" cy="1168400"/>
            </a:xfrm>
            <a:custGeom>
              <a:avLst/>
              <a:gdLst/>
              <a:ahLst/>
              <a:cxnLst>
                <a:cxn ang="0">
                  <a:pos x="0" y="680"/>
                </a:cxn>
                <a:cxn ang="0">
                  <a:pos x="576" y="632"/>
                </a:cxn>
                <a:cxn ang="0">
                  <a:pos x="720" y="104"/>
                </a:cxn>
                <a:cxn ang="0">
                  <a:pos x="816" y="8"/>
                </a:cxn>
                <a:cxn ang="0">
                  <a:pos x="912" y="104"/>
                </a:cxn>
                <a:cxn ang="0">
                  <a:pos x="960" y="632"/>
                </a:cxn>
                <a:cxn ang="0">
                  <a:pos x="1392" y="728"/>
                </a:cxn>
              </a:cxnLst>
              <a:rect l="0" t="0" r="r" b="b"/>
              <a:pathLst>
                <a:path w="1392" h="736">
                  <a:moveTo>
                    <a:pt x="0" y="680"/>
                  </a:moveTo>
                  <a:cubicBezTo>
                    <a:pt x="228" y="704"/>
                    <a:pt x="456" y="728"/>
                    <a:pt x="576" y="632"/>
                  </a:cubicBezTo>
                  <a:cubicBezTo>
                    <a:pt x="696" y="536"/>
                    <a:pt x="680" y="208"/>
                    <a:pt x="720" y="104"/>
                  </a:cubicBezTo>
                  <a:cubicBezTo>
                    <a:pt x="760" y="0"/>
                    <a:pt x="784" y="8"/>
                    <a:pt x="816" y="8"/>
                  </a:cubicBezTo>
                  <a:cubicBezTo>
                    <a:pt x="848" y="8"/>
                    <a:pt x="888" y="0"/>
                    <a:pt x="912" y="104"/>
                  </a:cubicBezTo>
                  <a:cubicBezTo>
                    <a:pt x="936" y="208"/>
                    <a:pt x="880" y="528"/>
                    <a:pt x="960" y="632"/>
                  </a:cubicBezTo>
                  <a:cubicBezTo>
                    <a:pt x="1040" y="736"/>
                    <a:pt x="1320" y="712"/>
                    <a:pt x="1392" y="728"/>
                  </a:cubicBezTo>
                </a:path>
              </a:pathLst>
            </a:custGeom>
            <a:noFill/>
            <a:ln w="28575" cap="flat" cmpd="sng">
              <a:solidFill>
                <a:srgbClr val="333333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Freeform 49"/>
            <p:cNvSpPr>
              <a:spLocks/>
            </p:cNvSpPr>
            <p:nvPr/>
          </p:nvSpPr>
          <p:spPr bwMode="auto">
            <a:xfrm>
              <a:off x="3810000" y="5297488"/>
              <a:ext cx="1981200" cy="546100"/>
            </a:xfrm>
            <a:custGeom>
              <a:avLst/>
              <a:gdLst/>
              <a:ahLst/>
              <a:cxnLst>
                <a:cxn ang="0">
                  <a:pos x="0" y="344"/>
                </a:cxn>
                <a:cxn ang="0">
                  <a:pos x="384" y="296"/>
                </a:cxn>
                <a:cxn ang="0">
                  <a:pos x="528" y="56"/>
                </a:cxn>
                <a:cxn ang="0">
                  <a:pos x="624" y="8"/>
                </a:cxn>
                <a:cxn ang="0">
                  <a:pos x="720" y="104"/>
                </a:cxn>
                <a:cxn ang="0">
                  <a:pos x="768" y="296"/>
                </a:cxn>
                <a:cxn ang="0">
                  <a:pos x="1248" y="344"/>
                </a:cxn>
              </a:cxnLst>
              <a:rect l="0" t="0" r="r" b="b"/>
              <a:pathLst>
                <a:path w="1248" h="344">
                  <a:moveTo>
                    <a:pt x="0" y="344"/>
                  </a:moveTo>
                  <a:cubicBezTo>
                    <a:pt x="148" y="344"/>
                    <a:pt x="296" y="344"/>
                    <a:pt x="384" y="296"/>
                  </a:cubicBezTo>
                  <a:cubicBezTo>
                    <a:pt x="472" y="248"/>
                    <a:pt x="488" y="104"/>
                    <a:pt x="528" y="56"/>
                  </a:cubicBezTo>
                  <a:cubicBezTo>
                    <a:pt x="568" y="8"/>
                    <a:pt x="592" y="0"/>
                    <a:pt x="624" y="8"/>
                  </a:cubicBezTo>
                  <a:cubicBezTo>
                    <a:pt x="656" y="16"/>
                    <a:pt x="696" y="56"/>
                    <a:pt x="720" y="104"/>
                  </a:cubicBezTo>
                  <a:cubicBezTo>
                    <a:pt x="744" y="152"/>
                    <a:pt x="680" y="256"/>
                    <a:pt x="768" y="296"/>
                  </a:cubicBezTo>
                  <a:cubicBezTo>
                    <a:pt x="856" y="336"/>
                    <a:pt x="1052" y="340"/>
                    <a:pt x="1248" y="344"/>
                  </a:cubicBezTo>
                </a:path>
              </a:pathLst>
            </a:custGeom>
            <a:noFill/>
            <a:ln w="28575" cap="flat" cmpd="sng">
              <a:solidFill>
                <a:srgbClr val="3366FF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Freeform 50"/>
            <p:cNvSpPr>
              <a:spLocks/>
            </p:cNvSpPr>
            <p:nvPr/>
          </p:nvSpPr>
          <p:spPr bwMode="auto">
            <a:xfrm>
              <a:off x="5791200" y="4687888"/>
              <a:ext cx="1905000" cy="1244600"/>
            </a:xfrm>
            <a:custGeom>
              <a:avLst/>
              <a:gdLst/>
              <a:ahLst/>
              <a:cxnLst>
                <a:cxn ang="0">
                  <a:pos x="0" y="728"/>
                </a:cxn>
                <a:cxn ang="0">
                  <a:pos x="336" y="680"/>
                </a:cxn>
                <a:cxn ang="0">
                  <a:pos x="480" y="152"/>
                </a:cxn>
                <a:cxn ang="0">
                  <a:pos x="576" y="56"/>
                </a:cxn>
                <a:cxn ang="0">
                  <a:pos x="672" y="104"/>
                </a:cxn>
                <a:cxn ang="0">
                  <a:pos x="768" y="680"/>
                </a:cxn>
                <a:cxn ang="0">
                  <a:pos x="1200" y="728"/>
                </a:cxn>
              </a:cxnLst>
              <a:rect l="0" t="0" r="r" b="b"/>
              <a:pathLst>
                <a:path w="1200" h="784">
                  <a:moveTo>
                    <a:pt x="0" y="728"/>
                  </a:moveTo>
                  <a:cubicBezTo>
                    <a:pt x="128" y="752"/>
                    <a:pt x="256" y="776"/>
                    <a:pt x="336" y="680"/>
                  </a:cubicBezTo>
                  <a:cubicBezTo>
                    <a:pt x="416" y="584"/>
                    <a:pt x="440" y="256"/>
                    <a:pt x="480" y="152"/>
                  </a:cubicBezTo>
                  <a:cubicBezTo>
                    <a:pt x="520" y="48"/>
                    <a:pt x="544" y="64"/>
                    <a:pt x="576" y="56"/>
                  </a:cubicBezTo>
                  <a:cubicBezTo>
                    <a:pt x="608" y="48"/>
                    <a:pt x="640" y="0"/>
                    <a:pt x="672" y="104"/>
                  </a:cubicBezTo>
                  <a:cubicBezTo>
                    <a:pt x="704" y="208"/>
                    <a:pt x="680" y="576"/>
                    <a:pt x="768" y="680"/>
                  </a:cubicBezTo>
                  <a:cubicBezTo>
                    <a:pt x="856" y="784"/>
                    <a:pt x="1028" y="756"/>
                    <a:pt x="1200" y="728"/>
                  </a:cubicBezTo>
                </a:path>
              </a:pathLst>
            </a:custGeom>
            <a:noFill/>
            <a:ln w="28575" cap="flat" cmpd="sng">
              <a:solidFill>
                <a:srgbClr val="333333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Rectangle 52"/>
            <p:cNvSpPr>
              <a:spLocks noChangeArrowheads="1"/>
            </p:cNvSpPr>
            <p:nvPr/>
          </p:nvSpPr>
          <p:spPr bwMode="auto">
            <a:xfrm>
              <a:off x="2351088" y="4625975"/>
              <a:ext cx="1066800" cy="304800"/>
            </a:xfrm>
            <a:prstGeom prst="rect">
              <a:avLst/>
            </a:prstGeom>
            <a:gradFill rotWithShape="0">
              <a:gsLst>
                <a:gs pos="0">
                  <a:srgbClr val="CCFF33"/>
                </a:gs>
                <a:gs pos="100000">
                  <a:srgbClr val="CCCC00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Text Box 53"/>
            <p:cNvSpPr txBox="1">
              <a:spLocks noChangeArrowheads="1"/>
            </p:cNvSpPr>
            <p:nvPr/>
          </p:nvSpPr>
          <p:spPr bwMode="auto">
            <a:xfrm>
              <a:off x="2457450" y="4575175"/>
              <a:ext cx="835025" cy="4270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200" b="1">
                  <a:solidFill>
                    <a:srgbClr val="001428"/>
                  </a:solidFill>
                  <a:latin typeface="Times New Roman" pitchFamily="18" charset="0"/>
                </a:rPr>
                <a:t>LFIB</a:t>
              </a:r>
            </a:p>
          </p:txBody>
        </p:sp>
        <p:sp>
          <p:nvSpPr>
            <p:cNvPr id="57" name="Text Box 54"/>
            <p:cNvSpPr txBox="1">
              <a:spLocks noChangeArrowheads="1"/>
            </p:cNvSpPr>
            <p:nvPr/>
          </p:nvSpPr>
          <p:spPr bwMode="auto">
            <a:xfrm>
              <a:off x="3946525" y="4006058"/>
              <a:ext cx="176530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Times New Roman" pitchFamily="18" charset="0"/>
                </a:rPr>
                <a:t>Label Swapping</a:t>
              </a:r>
              <a:endParaRPr lang="en-US" b="1" dirty="0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sp>
          <p:nvSpPr>
            <p:cNvPr id="58" name="Text Box 54"/>
            <p:cNvSpPr txBox="1">
              <a:spLocks noChangeArrowheads="1"/>
            </p:cNvSpPr>
            <p:nvPr/>
          </p:nvSpPr>
          <p:spPr bwMode="auto">
            <a:xfrm>
              <a:off x="1968500" y="4009232"/>
              <a:ext cx="194803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Times New Roman" pitchFamily="18" charset="0"/>
                </a:rPr>
                <a:t>Label </a:t>
              </a:r>
              <a:r>
                <a:rPr lang="en-US" b="1" dirty="0" smtClean="0">
                  <a:latin typeface="Times New Roman" pitchFamily="18" charset="0"/>
                </a:rPr>
                <a:t>Assignment</a:t>
              </a:r>
              <a:endParaRPr lang="en-US" b="1" dirty="0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6934200" y="6312932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© Dr. Kingsley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203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Line 2"/>
          <p:cNvSpPr>
            <a:spLocks noChangeShapeType="1"/>
          </p:cNvSpPr>
          <p:nvPr/>
        </p:nvSpPr>
        <p:spPr bwMode="auto">
          <a:xfrm>
            <a:off x="5848350" y="4343400"/>
            <a:ext cx="1295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82550" tIns="41275" rIns="82550" bIns="41275" anchor="ctr">
            <a:spAutoFit/>
          </a:bodyPr>
          <a:lstStyle/>
          <a:p>
            <a:endParaRPr 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How does it work?</a:t>
            </a:r>
          </a:p>
        </p:txBody>
      </p:sp>
      <p:pic>
        <p:nvPicPr>
          <p:cNvPr id="74756" name="Picture 4" descr="router-generic"/>
          <p:cNvPicPr>
            <a:picLocks noGrp="1" noChangeAspect="1" noChangeArrowheads="1"/>
          </p:cNvPicPr>
          <p:nvPr>
            <p:ph sz="half" idx="1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1984375" y="4343400"/>
            <a:ext cx="873125" cy="590550"/>
          </a:xfrm>
          <a:noFill/>
          <a:ln/>
        </p:spPr>
      </p:pic>
      <p:sp>
        <p:nvSpPr>
          <p:cNvPr id="74757" name="Line 5"/>
          <p:cNvSpPr>
            <a:spLocks noChangeShapeType="1"/>
          </p:cNvSpPr>
          <p:nvPr/>
        </p:nvSpPr>
        <p:spPr bwMode="auto">
          <a:xfrm>
            <a:off x="2266950" y="4343400"/>
            <a:ext cx="10541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82550" tIns="41275" rIns="82550" bIns="41275" anchor="ctr">
            <a:spAutoFit/>
          </a:bodyPr>
          <a:lstStyle/>
          <a:p>
            <a:endParaRPr lang="en-US"/>
          </a:p>
        </p:txBody>
      </p:sp>
      <p:sp>
        <p:nvSpPr>
          <p:cNvPr id="74758" name="Line 6"/>
          <p:cNvSpPr>
            <a:spLocks noChangeShapeType="1"/>
          </p:cNvSpPr>
          <p:nvPr/>
        </p:nvSpPr>
        <p:spPr bwMode="auto">
          <a:xfrm>
            <a:off x="4095750" y="4343400"/>
            <a:ext cx="1104900" cy="127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82550" tIns="41275" rIns="82550" bIns="41275" anchor="ctr">
            <a:spAutoFit/>
          </a:bodyPr>
          <a:lstStyle/>
          <a:p>
            <a:endParaRPr lang="en-US"/>
          </a:p>
        </p:txBody>
      </p:sp>
      <p:sp>
        <p:nvSpPr>
          <p:cNvPr id="74759" name="Line 7"/>
          <p:cNvSpPr>
            <a:spLocks noChangeShapeType="1"/>
          </p:cNvSpPr>
          <p:nvPr/>
        </p:nvSpPr>
        <p:spPr bwMode="auto">
          <a:xfrm>
            <a:off x="8007350" y="4368800"/>
            <a:ext cx="990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82550" tIns="41275" rIns="82550" bIns="41275" anchor="ctr">
            <a:spAutoFit/>
          </a:bodyPr>
          <a:lstStyle/>
          <a:p>
            <a:endParaRPr lang="en-US"/>
          </a:p>
        </p:txBody>
      </p:sp>
      <p:sp>
        <p:nvSpPr>
          <p:cNvPr id="74760" name="Line 8"/>
          <p:cNvSpPr>
            <a:spLocks noChangeShapeType="1"/>
          </p:cNvSpPr>
          <p:nvPr/>
        </p:nvSpPr>
        <p:spPr bwMode="auto">
          <a:xfrm>
            <a:off x="438150" y="4343400"/>
            <a:ext cx="838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82550" tIns="41275" rIns="82550" bIns="41275" anchor="ctr">
            <a:spAutoFit/>
          </a:bodyPr>
          <a:lstStyle/>
          <a:p>
            <a:endParaRPr lang="en-US"/>
          </a:p>
        </p:txBody>
      </p:sp>
      <p:sp>
        <p:nvSpPr>
          <p:cNvPr id="74761" name="Rectangle 9"/>
          <p:cNvSpPr>
            <a:spLocks noChangeArrowheads="1"/>
          </p:cNvSpPr>
          <p:nvPr/>
        </p:nvSpPr>
        <p:spPr bwMode="auto">
          <a:xfrm>
            <a:off x="330200" y="4876800"/>
            <a:ext cx="584200" cy="3968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lIns="82550" tIns="41275" rIns="82550" bIns="41275" anchor="ctr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Arial" pitchFamily="34" charset="0"/>
              </a:rPr>
              <a:t>IP</a:t>
            </a:r>
            <a:endParaRPr lang="en-US" sz="1400">
              <a:solidFill>
                <a:schemeClr val="bg1"/>
              </a:solidFill>
              <a:latin typeface="Arial" pitchFamily="34" charset="0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1981200" y="4876800"/>
            <a:ext cx="1371600" cy="396875"/>
            <a:chOff x="1200" y="2112"/>
            <a:chExt cx="864" cy="250"/>
          </a:xfrm>
        </p:grpSpPr>
        <p:sp>
          <p:nvSpPr>
            <p:cNvPr id="74763" name="Rectangle 11"/>
            <p:cNvSpPr>
              <a:spLocks noChangeArrowheads="1"/>
            </p:cNvSpPr>
            <p:nvPr/>
          </p:nvSpPr>
          <p:spPr bwMode="auto">
            <a:xfrm>
              <a:off x="1200" y="2112"/>
              <a:ext cx="368" cy="2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lIns="82550" tIns="41275" rIns="82550" bIns="41275" anchor="ctr">
              <a:spAutoFit/>
            </a:bodyPr>
            <a:lstStyle/>
            <a:p>
              <a:pPr algn="ctr"/>
              <a:r>
                <a:rPr lang="en-US" sz="2000">
                  <a:solidFill>
                    <a:schemeClr val="bg1"/>
                  </a:solidFill>
                  <a:latin typeface="Arial" pitchFamily="34" charset="0"/>
                </a:rPr>
                <a:t>IP</a:t>
              </a:r>
              <a:endParaRPr lang="en-US" sz="1400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74764" name="Rectangle 12"/>
            <p:cNvSpPr>
              <a:spLocks noChangeArrowheads="1"/>
            </p:cNvSpPr>
            <p:nvPr/>
          </p:nvSpPr>
          <p:spPr bwMode="auto">
            <a:xfrm>
              <a:off x="1584" y="2112"/>
              <a:ext cx="480" cy="25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lIns="82550" tIns="41275" rIns="82550" bIns="41275" anchor="ctr">
              <a:spAutoFit/>
            </a:bodyPr>
            <a:lstStyle/>
            <a:p>
              <a:pPr algn="ctr"/>
              <a:r>
                <a:rPr lang="en-US" sz="2000">
                  <a:solidFill>
                    <a:schemeClr val="bg1"/>
                  </a:solidFill>
                  <a:latin typeface="Arial" pitchFamily="34" charset="0"/>
                </a:rPr>
                <a:t>#L1</a:t>
              </a:r>
              <a:endParaRPr lang="en-US" sz="1400">
                <a:solidFill>
                  <a:schemeClr val="bg1"/>
                </a:solidFill>
                <a:latin typeface="Arial" pitchFamily="34" charset="0"/>
              </a:endParaRPr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4140200" y="4876800"/>
            <a:ext cx="1270000" cy="396875"/>
            <a:chOff x="2560" y="2112"/>
            <a:chExt cx="800" cy="250"/>
          </a:xfrm>
        </p:grpSpPr>
        <p:sp>
          <p:nvSpPr>
            <p:cNvPr id="74766" name="Rectangle 14"/>
            <p:cNvSpPr>
              <a:spLocks noChangeArrowheads="1"/>
            </p:cNvSpPr>
            <p:nvPr/>
          </p:nvSpPr>
          <p:spPr bwMode="auto">
            <a:xfrm>
              <a:off x="2560" y="2112"/>
              <a:ext cx="368" cy="2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lIns="82550" tIns="41275" rIns="82550" bIns="41275" anchor="ctr">
              <a:spAutoFit/>
            </a:bodyPr>
            <a:lstStyle/>
            <a:p>
              <a:pPr algn="ctr"/>
              <a:r>
                <a:rPr lang="en-US" sz="2000">
                  <a:solidFill>
                    <a:schemeClr val="bg1"/>
                  </a:solidFill>
                  <a:latin typeface="Arial" pitchFamily="34" charset="0"/>
                </a:rPr>
                <a:t>IP</a:t>
              </a:r>
              <a:endParaRPr lang="en-US" sz="1400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74767" name="Rectangle 15"/>
            <p:cNvSpPr>
              <a:spLocks noChangeArrowheads="1"/>
            </p:cNvSpPr>
            <p:nvPr/>
          </p:nvSpPr>
          <p:spPr bwMode="auto">
            <a:xfrm>
              <a:off x="2928" y="2112"/>
              <a:ext cx="432" cy="25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lIns="82550" tIns="41275" rIns="82550" bIns="41275" anchor="ctr">
              <a:spAutoFit/>
            </a:bodyPr>
            <a:lstStyle/>
            <a:p>
              <a:pPr algn="ctr"/>
              <a:r>
                <a:rPr lang="en-US" sz="2000">
                  <a:solidFill>
                    <a:schemeClr val="bg1"/>
                  </a:solidFill>
                  <a:latin typeface="Arial" pitchFamily="34" charset="0"/>
                </a:rPr>
                <a:t>#L2</a:t>
              </a:r>
              <a:endParaRPr lang="en-US" sz="1400">
                <a:solidFill>
                  <a:schemeClr val="bg1"/>
                </a:solidFill>
                <a:latin typeface="Arial" pitchFamily="34" charset="0"/>
              </a:endParaRPr>
            </a:p>
          </p:txBody>
        </p:sp>
      </p:grp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6096000" y="4876800"/>
            <a:ext cx="1295400" cy="396875"/>
            <a:chOff x="3792" y="2112"/>
            <a:chExt cx="816" cy="250"/>
          </a:xfrm>
        </p:grpSpPr>
        <p:sp>
          <p:nvSpPr>
            <p:cNvPr id="74769" name="Rectangle 17"/>
            <p:cNvSpPr>
              <a:spLocks noChangeArrowheads="1"/>
            </p:cNvSpPr>
            <p:nvPr/>
          </p:nvSpPr>
          <p:spPr bwMode="auto">
            <a:xfrm>
              <a:off x="3792" y="2112"/>
              <a:ext cx="368" cy="2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lIns="82550" tIns="41275" rIns="82550" bIns="41275" anchor="ctr">
              <a:spAutoFit/>
            </a:bodyPr>
            <a:lstStyle/>
            <a:p>
              <a:pPr algn="ctr"/>
              <a:r>
                <a:rPr lang="en-US" sz="2000">
                  <a:solidFill>
                    <a:schemeClr val="bg1"/>
                  </a:solidFill>
                  <a:latin typeface="Arial" pitchFamily="34" charset="0"/>
                </a:rPr>
                <a:t>IP</a:t>
              </a:r>
              <a:endParaRPr lang="en-US" sz="1400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74770" name="Rectangle 18"/>
            <p:cNvSpPr>
              <a:spLocks noChangeArrowheads="1"/>
            </p:cNvSpPr>
            <p:nvPr/>
          </p:nvSpPr>
          <p:spPr bwMode="auto">
            <a:xfrm>
              <a:off x="4176" y="2112"/>
              <a:ext cx="432" cy="25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lIns="82550" tIns="41275" rIns="82550" bIns="41275" anchor="ctr">
              <a:spAutoFit/>
            </a:bodyPr>
            <a:lstStyle/>
            <a:p>
              <a:pPr algn="ctr"/>
              <a:r>
                <a:rPr lang="en-US" sz="2000">
                  <a:solidFill>
                    <a:schemeClr val="bg1"/>
                  </a:solidFill>
                  <a:latin typeface="Arial" pitchFamily="34" charset="0"/>
                </a:rPr>
                <a:t>#L3</a:t>
              </a:r>
              <a:endParaRPr lang="en-US" sz="1400">
                <a:solidFill>
                  <a:schemeClr val="bg1"/>
                </a:solidFill>
                <a:latin typeface="Arial" pitchFamily="34" charset="0"/>
              </a:endParaRPr>
            </a:p>
          </p:txBody>
        </p:sp>
      </p:grpSp>
      <p:sp>
        <p:nvSpPr>
          <p:cNvPr id="74771" name="Rectangle 19"/>
          <p:cNvSpPr>
            <a:spLocks noChangeArrowheads="1"/>
          </p:cNvSpPr>
          <p:nvPr/>
        </p:nvSpPr>
        <p:spPr bwMode="auto">
          <a:xfrm>
            <a:off x="8077200" y="4876800"/>
            <a:ext cx="584200" cy="3968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lIns="82550" tIns="41275" rIns="82550" bIns="41275" anchor="ctr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Arial" pitchFamily="34" charset="0"/>
              </a:rPr>
              <a:t>IP</a:t>
            </a:r>
            <a:endParaRPr lang="en-US" sz="14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74772" name="Text Box 20"/>
          <p:cNvSpPr txBox="1">
            <a:spLocks noChangeArrowheads="1"/>
          </p:cNvSpPr>
          <p:nvPr/>
        </p:nvSpPr>
        <p:spPr bwMode="auto">
          <a:xfrm>
            <a:off x="3502025" y="3498850"/>
            <a:ext cx="6254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Verdana" pitchFamily="34" charset="0"/>
              </a:rPr>
              <a:t>LSR</a:t>
            </a:r>
          </a:p>
        </p:txBody>
      </p:sp>
      <p:sp>
        <p:nvSpPr>
          <p:cNvPr id="74773" name="Text Box 21"/>
          <p:cNvSpPr txBox="1">
            <a:spLocks noChangeArrowheads="1"/>
          </p:cNvSpPr>
          <p:nvPr/>
        </p:nvSpPr>
        <p:spPr bwMode="auto">
          <a:xfrm>
            <a:off x="5343525" y="3536950"/>
            <a:ext cx="6254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Verdana" pitchFamily="34" charset="0"/>
              </a:rPr>
              <a:t>LSR</a:t>
            </a:r>
          </a:p>
        </p:txBody>
      </p:sp>
      <p:sp>
        <p:nvSpPr>
          <p:cNvPr id="74774" name="Text Box 22"/>
          <p:cNvSpPr txBox="1">
            <a:spLocks noChangeArrowheads="1"/>
          </p:cNvSpPr>
          <p:nvPr/>
        </p:nvSpPr>
        <p:spPr bwMode="auto">
          <a:xfrm>
            <a:off x="1406525" y="3676650"/>
            <a:ext cx="6143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Verdana" pitchFamily="34" charset="0"/>
              </a:rPr>
              <a:t>LER</a:t>
            </a:r>
          </a:p>
        </p:txBody>
      </p:sp>
      <p:sp>
        <p:nvSpPr>
          <p:cNvPr id="74775" name="Text Box 23"/>
          <p:cNvSpPr txBox="1">
            <a:spLocks noChangeArrowheads="1"/>
          </p:cNvSpPr>
          <p:nvPr/>
        </p:nvSpPr>
        <p:spPr bwMode="auto">
          <a:xfrm>
            <a:off x="7261225" y="3600450"/>
            <a:ext cx="6143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Verdana" pitchFamily="34" charset="0"/>
              </a:rPr>
              <a:t>LER</a:t>
            </a:r>
          </a:p>
        </p:txBody>
      </p:sp>
      <p:pic>
        <p:nvPicPr>
          <p:cNvPr id="74776" name="Picture 24" descr="RouterATM"/>
          <p:cNvPicPr>
            <a:picLocks noGrp="1" noChangeAspect="1" noChangeArrowheads="1"/>
          </p:cNvPicPr>
          <p:nvPr>
            <p:ph sz="half" idx="2"/>
          </p:nvPr>
        </p:nvPicPr>
        <p:blipFill>
          <a:blip r:embed="rId5" cstate="print"/>
          <a:srcRect/>
          <a:stretch>
            <a:fillRect/>
          </a:stretch>
        </p:blipFill>
        <p:spPr>
          <a:xfrm>
            <a:off x="3937000" y="4256088"/>
            <a:ext cx="865188" cy="665162"/>
          </a:xfrm>
          <a:noFill/>
          <a:ln/>
        </p:spPr>
      </p:pic>
      <p:pic>
        <p:nvPicPr>
          <p:cNvPr id="74777" name="Picture 25" descr="RouterATM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87950" y="3987800"/>
            <a:ext cx="915988" cy="73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78" name="Picture 26" descr="router-generic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19938" y="4032250"/>
            <a:ext cx="925512" cy="65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4779" name="Text Box 27"/>
          <p:cNvSpPr txBox="1">
            <a:spLocks noChangeArrowheads="1"/>
          </p:cNvSpPr>
          <p:nvPr/>
        </p:nvSpPr>
        <p:spPr bwMode="auto">
          <a:xfrm>
            <a:off x="1127125" y="5607050"/>
            <a:ext cx="1066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>
                <a:latin typeface="Verdana" pitchFamily="34" charset="0"/>
              </a:rPr>
              <a:t>IP</a:t>
            </a:r>
          </a:p>
          <a:p>
            <a:pPr algn="ctr"/>
            <a:r>
              <a:rPr lang="en-US">
                <a:latin typeface="Verdana" pitchFamily="34" charset="0"/>
              </a:rPr>
              <a:t>Routing</a:t>
            </a:r>
          </a:p>
        </p:txBody>
      </p:sp>
      <p:sp>
        <p:nvSpPr>
          <p:cNvPr id="74780" name="Text Box 28"/>
          <p:cNvSpPr txBox="1">
            <a:spLocks noChangeArrowheads="1"/>
          </p:cNvSpPr>
          <p:nvPr/>
        </p:nvSpPr>
        <p:spPr bwMode="auto">
          <a:xfrm>
            <a:off x="7134225" y="5721350"/>
            <a:ext cx="1066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>
                <a:latin typeface="Verdana" pitchFamily="34" charset="0"/>
              </a:rPr>
              <a:t>IP</a:t>
            </a:r>
          </a:p>
          <a:p>
            <a:pPr algn="ctr"/>
            <a:r>
              <a:rPr lang="en-US">
                <a:latin typeface="Verdana" pitchFamily="34" charset="0"/>
              </a:rPr>
              <a:t>Routing</a:t>
            </a:r>
          </a:p>
        </p:txBody>
      </p:sp>
      <p:sp>
        <p:nvSpPr>
          <p:cNvPr id="74781" name="Text Box 29"/>
          <p:cNvSpPr txBox="1">
            <a:spLocks noChangeArrowheads="1"/>
          </p:cNvSpPr>
          <p:nvPr/>
        </p:nvSpPr>
        <p:spPr bwMode="auto">
          <a:xfrm>
            <a:off x="3211513" y="5670550"/>
            <a:ext cx="12954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>
                <a:latin typeface="Verdana" pitchFamily="34" charset="0"/>
              </a:rPr>
              <a:t>Label</a:t>
            </a:r>
          </a:p>
          <a:p>
            <a:pPr algn="ctr"/>
            <a:r>
              <a:rPr lang="en-US">
                <a:latin typeface="Verdana" pitchFamily="34" charset="0"/>
              </a:rPr>
              <a:t>Switching</a:t>
            </a:r>
          </a:p>
        </p:txBody>
      </p:sp>
      <p:sp>
        <p:nvSpPr>
          <p:cNvPr id="74782" name="Text Box 30"/>
          <p:cNvSpPr txBox="1">
            <a:spLocks noChangeArrowheads="1"/>
          </p:cNvSpPr>
          <p:nvPr/>
        </p:nvSpPr>
        <p:spPr bwMode="auto">
          <a:xfrm>
            <a:off x="5078413" y="5670550"/>
            <a:ext cx="12954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>
                <a:latin typeface="Verdana" pitchFamily="34" charset="0"/>
              </a:rPr>
              <a:t>Label</a:t>
            </a:r>
          </a:p>
          <a:p>
            <a:pPr algn="ctr"/>
            <a:r>
              <a:rPr lang="en-US">
                <a:latin typeface="Verdana" pitchFamily="34" charset="0"/>
              </a:rPr>
              <a:t>Switching</a:t>
            </a:r>
          </a:p>
        </p:txBody>
      </p:sp>
      <p:sp>
        <p:nvSpPr>
          <p:cNvPr id="74783" name="AutoShape 31"/>
          <p:cNvSpPr>
            <a:spLocks noChangeArrowheads="1"/>
          </p:cNvSpPr>
          <p:nvPr/>
        </p:nvSpPr>
        <p:spPr bwMode="auto">
          <a:xfrm>
            <a:off x="1028700" y="2654300"/>
            <a:ext cx="2197100" cy="673100"/>
          </a:xfrm>
          <a:prstGeom prst="wedgeRoundRectCallout">
            <a:avLst>
              <a:gd name="adj1" fmla="val 5995"/>
              <a:gd name="adj2" fmla="val 34199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>
                <a:latin typeface="Verdana" pitchFamily="34" charset="0"/>
              </a:rPr>
              <a:t>Add label at the ingress LER</a:t>
            </a:r>
          </a:p>
        </p:txBody>
      </p:sp>
      <p:sp>
        <p:nvSpPr>
          <p:cNvPr id="74784" name="AutoShape 32"/>
          <p:cNvSpPr>
            <a:spLocks noChangeArrowheads="1"/>
          </p:cNvSpPr>
          <p:nvPr/>
        </p:nvSpPr>
        <p:spPr bwMode="auto">
          <a:xfrm>
            <a:off x="5791200" y="2590800"/>
            <a:ext cx="2197100" cy="673100"/>
          </a:xfrm>
          <a:prstGeom prst="wedgeRoundRectCallout">
            <a:avLst>
              <a:gd name="adj1" fmla="val 8889"/>
              <a:gd name="adj2" fmla="val 43634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dirty="0">
                <a:latin typeface="Verdana" pitchFamily="34" charset="0"/>
              </a:rPr>
              <a:t>R</a:t>
            </a:r>
            <a:r>
              <a:rPr lang="en-US" dirty="0" smtClean="0">
                <a:latin typeface="Verdana" pitchFamily="34" charset="0"/>
              </a:rPr>
              <a:t>emove </a:t>
            </a:r>
            <a:r>
              <a:rPr lang="en-US" dirty="0">
                <a:latin typeface="Verdana" pitchFamily="34" charset="0"/>
              </a:rPr>
              <a:t>label at the egress 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4200" y="6312932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© Dr. Kingsley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748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00"/>
                                        <p:tgtEl>
                                          <p:spTgt spid="7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61" grpId="0" animBg="1" autoUpdateAnimBg="0"/>
      <p:bldP spid="74771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896143" y="-533400"/>
            <a:ext cx="7793037" cy="1462087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MPLS Operation</a:t>
            </a:r>
          </a:p>
        </p:txBody>
      </p:sp>
      <p:grpSp>
        <p:nvGrpSpPr>
          <p:cNvPr id="127" name="Group 126"/>
          <p:cNvGrpSpPr/>
          <p:nvPr/>
        </p:nvGrpSpPr>
        <p:grpSpPr>
          <a:xfrm>
            <a:off x="228600" y="1524000"/>
            <a:ext cx="8420100" cy="4800600"/>
            <a:chOff x="685800" y="1066800"/>
            <a:chExt cx="8420100" cy="5503863"/>
          </a:xfrm>
        </p:grpSpPr>
        <p:sp>
          <p:nvSpPr>
            <p:cNvPr id="3" name="Rectangle 3"/>
            <p:cNvSpPr txBox="1">
              <a:spLocks noChangeArrowheads="1"/>
            </p:cNvSpPr>
            <p:nvPr/>
          </p:nvSpPr>
          <p:spPr>
            <a:xfrm>
              <a:off x="1066800" y="1447800"/>
              <a:ext cx="7772400" cy="4114800"/>
            </a:xfrm>
            <a:prstGeom prst="rect">
              <a:avLst/>
            </a:prstGeom>
          </p:spPr>
          <p:txBody>
            <a:bodyPr vert="horz">
              <a:normAutofit/>
            </a:bodyPr>
            <a:lstStyle/>
            <a:p>
              <a:pPr marL="548640" marR="0" lvl="1" indent="-27432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2"/>
                </a:buClr>
                <a:buSzPct val="70000"/>
                <a:buFontTx/>
                <a:buNone/>
                <a:tabLst/>
                <a:defRPr/>
              </a:pPr>
              <a:endPara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  <a:p>
              <a:pPr marL="548640" marR="0" lvl="1" indent="-27432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2"/>
                </a:buClr>
                <a:buSzPct val="70000"/>
                <a:buFont typeface="Wingdings"/>
                <a:buChar char=""/>
                <a:tabLst/>
                <a:defRPr/>
              </a:pPr>
              <a:endPara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5"/>
            <p:cNvSpPr>
              <a:spLocks noChangeShapeType="1"/>
            </p:cNvSpPr>
            <p:nvPr/>
          </p:nvSpPr>
          <p:spPr bwMode="auto">
            <a:xfrm>
              <a:off x="7585075" y="3857625"/>
              <a:ext cx="6762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" name="Line 6"/>
            <p:cNvSpPr>
              <a:spLocks noChangeShapeType="1"/>
            </p:cNvSpPr>
            <p:nvPr/>
          </p:nvSpPr>
          <p:spPr bwMode="auto">
            <a:xfrm>
              <a:off x="8261350" y="3179763"/>
              <a:ext cx="0" cy="11858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Line 7"/>
            <p:cNvSpPr>
              <a:spLocks noChangeShapeType="1"/>
            </p:cNvSpPr>
            <p:nvPr/>
          </p:nvSpPr>
          <p:spPr bwMode="auto">
            <a:xfrm>
              <a:off x="8261350" y="4195763"/>
              <a:ext cx="2254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8493125" y="4119563"/>
              <a:ext cx="136525" cy="153987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Line 9"/>
            <p:cNvSpPr>
              <a:spLocks noChangeShapeType="1"/>
            </p:cNvSpPr>
            <p:nvPr/>
          </p:nvSpPr>
          <p:spPr bwMode="auto">
            <a:xfrm>
              <a:off x="8261350" y="3771900"/>
              <a:ext cx="2254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10"/>
            <p:cNvSpPr>
              <a:spLocks noChangeArrowheads="1"/>
            </p:cNvSpPr>
            <p:nvPr/>
          </p:nvSpPr>
          <p:spPr bwMode="auto">
            <a:xfrm>
              <a:off x="8493125" y="3695700"/>
              <a:ext cx="136525" cy="155575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11"/>
            <p:cNvSpPr>
              <a:spLocks noChangeShapeType="1"/>
            </p:cNvSpPr>
            <p:nvPr/>
          </p:nvSpPr>
          <p:spPr bwMode="auto">
            <a:xfrm>
              <a:off x="8261350" y="3349625"/>
              <a:ext cx="2254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8493125" y="3273425"/>
              <a:ext cx="136525" cy="152400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13"/>
            <p:cNvSpPr>
              <a:spLocks noChangeShapeType="1"/>
            </p:cNvSpPr>
            <p:nvPr/>
          </p:nvSpPr>
          <p:spPr bwMode="auto">
            <a:xfrm flipH="1">
              <a:off x="2254250" y="3349625"/>
              <a:ext cx="8270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14"/>
            <p:cNvSpPr>
              <a:spLocks noChangeShapeType="1"/>
            </p:cNvSpPr>
            <p:nvPr/>
          </p:nvSpPr>
          <p:spPr bwMode="auto">
            <a:xfrm>
              <a:off x="2254250" y="2673350"/>
              <a:ext cx="0" cy="11842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15"/>
            <p:cNvSpPr>
              <a:spLocks noChangeShapeType="1"/>
            </p:cNvSpPr>
            <p:nvPr/>
          </p:nvSpPr>
          <p:spPr bwMode="auto">
            <a:xfrm flipH="1">
              <a:off x="2030413" y="3689350"/>
              <a:ext cx="2238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Rectangle 16"/>
            <p:cNvSpPr>
              <a:spLocks noChangeArrowheads="1"/>
            </p:cNvSpPr>
            <p:nvPr/>
          </p:nvSpPr>
          <p:spPr bwMode="auto">
            <a:xfrm>
              <a:off x="1887538" y="3609975"/>
              <a:ext cx="134937" cy="155575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17"/>
            <p:cNvSpPr>
              <a:spLocks noChangeShapeType="1"/>
            </p:cNvSpPr>
            <p:nvPr/>
          </p:nvSpPr>
          <p:spPr bwMode="auto">
            <a:xfrm flipH="1">
              <a:off x="2030413" y="3265488"/>
              <a:ext cx="2238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Rectangle 18"/>
            <p:cNvSpPr>
              <a:spLocks noChangeArrowheads="1"/>
            </p:cNvSpPr>
            <p:nvPr/>
          </p:nvSpPr>
          <p:spPr bwMode="auto">
            <a:xfrm>
              <a:off x="1887538" y="3187700"/>
              <a:ext cx="134937" cy="155575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19"/>
            <p:cNvSpPr>
              <a:spLocks noChangeShapeType="1"/>
            </p:cNvSpPr>
            <p:nvPr/>
          </p:nvSpPr>
          <p:spPr bwMode="auto">
            <a:xfrm flipH="1">
              <a:off x="2030413" y="2841625"/>
              <a:ext cx="2238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Rectangle 20"/>
            <p:cNvSpPr>
              <a:spLocks noChangeArrowheads="1"/>
            </p:cNvSpPr>
            <p:nvPr/>
          </p:nvSpPr>
          <p:spPr bwMode="auto">
            <a:xfrm>
              <a:off x="1887538" y="2763838"/>
              <a:ext cx="134937" cy="155575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2859088" y="2270125"/>
              <a:ext cx="4546601" cy="3254376"/>
              <a:chOff x="2859088" y="2270125"/>
              <a:chExt cx="4546601" cy="3254376"/>
            </a:xfrm>
          </p:grpSpPr>
          <p:grpSp>
            <p:nvGrpSpPr>
              <p:cNvPr id="21" name="Group 22"/>
              <p:cNvGrpSpPr>
                <a:grpSpLocks/>
              </p:cNvGrpSpPr>
              <p:nvPr/>
            </p:nvGrpSpPr>
            <p:grpSpPr bwMode="auto">
              <a:xfrm>
                <a:off x="2892426" y="2309813"/>
                <a:ext cx="4513263" cy="3214688"/>
                <a:chOff x="1342" y="1505"/>
                <a:chExt cx="2843" cy="2025"/>
              </a:xfrm>
            </p:grpSpPr>
            <p:grpSp>
              <p:nvGrpSpPr>
                <p:cNvPr id="41" name="Group 23"/>
                <p:cNvGrpSpPr>
                  <a:grpSpLocks/>
                </p:cNvGrpSpPr>
                <p:nvPr/>
              </p:nvGrpSpPr>
              <p:grpSpPr bwMode="auto">
                <a:xfrm>
                  <a:off x="1342" y="1505"/>
                  <a:ext cx="2843" cy="2025"/>
                  <a:chOff x="1342" y="1505"/>
                  <a:chExt cx="2843" cy="2025"/>
                </a:xfrm>
              </p:grpSpPr>
              <p:sp>
                <p:nvSpPr>
                  <p:cNvPr id="51" name="Oval 24"/>
                  <p:cNvSpPr>
                    <a:spLocks noChangeArrowheads="1"/>
                  </p:cNvSpPr>
                  <p:nvPr/>
                </p:nvSpPr>
                <p:spPr bwMode="auto">
                  <a:xfrm>
                    <a:off x="2314" y="1505"/>
                    <a:ext cx="1239" cy="837"/>
                  </a:xfrm>
                  <a:prstGeom prst="ellipse">
                    <a:avLst/>
                  </a:pr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2" name="Oval 25"/>
                  <p:cNvSpPr>
                    <a:spLocks noChangeArrowheads="1"/>
                  </p:cNvSpPr>
                  <p:nvPr/>
                </p:nvSpPr>
                <p:spPr bwMode="auto">
                  <a:xfrm>
                    <a:off x="1632" y="1728"/>
                    <a:ext cx="948" cy="836"/>
                  </a:xfrm>
                  <a:prstGeom prst="ellipse">
                    <a:avLst/>
                  </a:pr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3" name="Oval 26"/>
                  <p:cNvSpPr>
                    <a:spLocks noChangeArrowheads="1"/>
                  </p:cNvSpPr>
                  <p:nvPr/>
                </p:nvSpPr>
                <p:spPr bwMode="auto">
                  <a:xfrm>
                    <a:off x="1342" y="2231"/>
                    <a:ext cx="641" cy="674"/>
                  </a:xfrm>
                  <a:prstGeom prst="ellipse">
                    <a:avLst/>
                  </a:pr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4" name="Oval 27"/>
                  <p:cNvSpPr>
                    <a:spLocks noChangeArrowheads="1"/>
                  </p:cNvSpPr>
                  <p:nvPr/>
                </p:nvSpPr>
                <p:spPr bwMode="auto">
                  <a:xfrm>
                    <a:off x="1528" y="2532"/>
                    <a:ext cx="968" cy="736"/>
                  </a:xfrm>
                  <a:prstGeom prst="ellipse">
                    <a:avLst/>
                  </a:pr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5" name="Oval 28"/>
                  <p:cNvSpPr>
                    <a:spLocks noChangeArrowheads="1"/>
                  </p:cNvSpPr>
                  <p:nvPr/>
                </p:nvSpPr>
                <p:spPr bwMode="auto">
                  <a:xfrm>
                    <a:off x="2211" y="2652"/>
                    <a:ext cx="1444" cy="878"/>
                  </a:xfrm>
                  <a:prstGeom prst="ellipse">
                    <a:avLst/>
                  </a:pr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" name="Oval 29"/>
                  <p:cNvSpPr>
                    <a:spLocks noChangeArrowheads="1"/>
                  </p:cNvSpPr>
                  <p:nvPr/>
                </p:nvSpPr>
                <p:spPr bwMode="auto">
                  <a:xfrm>
                    <a:off x="3133" y="1748"/>
                    <a:ext cx="922" cy="655"/>
                  </a:xfrm>
                  <a:prstGeom prst="ellipse">
                    <a:avLst/>
                  </a:pr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7" name="Oval 30"/>
                  <p:cNvSpPr>
                    <a:spLocks noChangeArrowheads="1"/>
                  </p:cNvSpPr>
                  <p:nvPr/>
                </p:nvSpPr>
                <p:spPr bwMode="auto">
                  <a:xfrm>
                    <a:off x="3269" y="2170"/>
                    <a:ext cx="916" cy="656"/>
                  </a:xfrm>
                  <a:prstGeom prst="ellipse">
                    <a:avLst/>
                  </a:pr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8" name="Oval 31"/>
                  <p:cNvSpPr>
                    <a:spLocks noChangeArrowheads="1"/>
                  </p:cNvSpPr>
                  <p:nvPr/>
                </p:nvSpPr>
                <p:spPr bwMode="auto">
                  <a:xfrm>
                    <a:off x="3184" y="2310"/>
                    <a:ext cx="914" cy="1080"/>
                  </a:xfrm>
                  <a:prstGeom prst="ellipse">
                    <a:avLst/>
                  </a:pr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9" name="Oval 32"/>
                  <p:cNvSpPr>
                    <a:spLocks noChangeArrowheads="1"/>
                  </p:cNvSpPr>
                  <p:nvPr/>
                </p:nvSpPr>
                <p:spPr bwMode="auto">
                  <a:xfrm>
                    <a:off x="1852" y="1989"/>
                    <a:ext cx="1855" cy="1078"/>
                  </a:xfrm>
                  <a:prstGeom prst="ellipse">
                    <a:avLst/>
                  </a:pr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42" name="Group 33"/>
                <p:cNvGrpSpPr>
                  <a:grpSpLocks/>
                </p:cNvGrpSpPr>
                <p:nvPr/>
              </p:nvGrpSpPr>
              <p:grpSpPr bwMode="auto">
                <a:xfrm>
                  <a:off x="1352" y="1505"/>
                  <a:ext cx="2828" cy="2012"/>
                  <a:chOff x="1352" y="1505"/>
                  <a:chExt cx="2828" cy="2012"/>
                </a:xfrm>
              </p:grpSpPr>
              <p:sp>
                <p:nvSpPr>
                  <p:cNvPr id="43" name="Arc 34"/>
                  <p:cNvSpPr>
                    <a:spLocks/>
                  </p:cNvSpPr>
                  <p:nvPr/>
                </p:nvSpPr>
                <p:spPr bwMode="auto">
                  <a:xfrm>
                    <a:off x="2346" y="1505"/>
                    <a:ext cx="1166" cy="416"/>
                  </a:xfrm>
                  <a:custGeom>
                    <a:avLst/>
                    <a:gdLst>
                      <a:gd name="G0" fmla="+- 20645 0 0"/>
                      <a:gd name="G1" fmla="+- 21600 0 0"/>
                      <a:gd name="G2" fmla="+- 21600 0 0"/>
                      <a:gd name="T0" fmla="*/ 0 w 41050"/>
                      <a:gd name="T1" fmla="*/ 15249 h 21600"/>
                      <a:gd name="T2" fmla="*/ 41050 w 41050"/>
                      <a:gd name="T3" fmla="*/ 14514 h 21600"/>
                      <a:gd name="T4" fmla="*/ 20645 w 4105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1050" h="21600" fill="none" extrusionOk="0">
                        <a:moveTo>
                          <a:pt x="-1" y="15248"/>
                        </a:moveTo>
                        <a:cubicBezTo>
                          <a:pt x="2788" y="6185"/>
                          <a:pt x="11162" y="-1"/>
                          <a:pt x="20645" y="0"/>
                        </a:cubicBezTo>
                        <a:cubicBezTo>
                          <a:pt x="29843" y="0"/>
                          <a:pt x="38032" y="5825"/>
                          <a:pt x="41049" y="14514"/>
                        </a:cubicBezTo>
                      </a:path>
                      <a:path w="41050" h="21600" stroke="0" extrusionOk="0">
                        <a:moveTo>
                          <a:pt x="-1" y="15248"/>
                        </a:moveTo>
                        <a:cubicBezTo>
                          <a:pt x="2788" y="6185"/>
                          <a:pt x="11162" y="-1"/>
                          <a:pt x="20645" y="0"/>
                        </a:cubicBezTo>
                        <a:cubicBezTo>
                          <a:pt x="29843" y="0"/>
                          <a:pt x="38032" y="5825"/>
                          <a:pt x="41049" y="14514"/>
                        </a:cubicBezTo>
                        <a:lnTo>
                          <a:pt x="20645" y="21600"/>
                        </a:lnTo>
                        <a:close/>
                      </a:path>
                    </a:pathLst>
                  </a:custGeom>
                  <a:noFill/>
                  <a:ln w="444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4" name="Arc 35"/>
                  <p:cNvSpPr>
                    <a:spLocks/>
                  </p:cNvSpPr>
                  <p:nvPr/>
                </p:nvSpPr>
                <p:spPr bwMode="auto">
                  <a:xfrm>
                    <a:off x="1642" y="1732"/>
                    <a:ext cx="738" cy="480"/>
                  </a:xfrm>
                  <a:custGeom>
                    <a:avLst/>
                    <a:gdLst>
                      <a:gd name="G0" fmla="+- 21600 0 0"/>
                      <a:gd name="G1" fmla="+- 21600 0 0"/>
                      <a:gd name="G2" fmla="+- 21600 0 0"/>
                      <a:gd name="T0" fmla="*/ 954 w 32321"/>
                      <a:gd name="T1" fmla="*/ 27949 h 27949"/>
                      <a:gd name="T2" fmla="*/ 32321 w 32321"/>
                      <a:gd name="T3" fmla="*/ 2849 h 27949"/>
                      <a:gd name="T4" fmla="*/ 21600 w 32321"/>
                      <a:gd name="T5" fmla="*/ 21600 h 2794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2321" h="27949" fill="none" extrusionOk="0">
                        <a:moveTo>
                          <a:pt x="954" y="27948"/>
                        </a:moveTo>
                        <a:cubicBezTo>
                          <a:pt x="321" y="25891"/>
                          <a:pt x="0" y="23752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25360" y="-1"/>
                          <a:pt x="29056" y="981"/>
                          <a:pt x="32321" y="2848"/>
                        </a:cubicBezTo>
                      </a:path>
                      <a:path w="32321" h="27949" stroke="0" extrusionOk="0">
                        <a:moveTo>
                          <a:pt x="954" y="27948"/>
                        </a:moveTo>
                        <a:cubicBezTo>
                          <a:pt x="321" y="25891"/>
                          <a:pt x="0" y="23752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25360" y="-1"/>
                          <a:pt x="29056" y="981"/>
                          <a:pt x="32321" y="2848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444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5" name="Arc 36"/>
                  <p:cNvSpPr>
                    <a:spLocks/>
                  </p:cNvSpPr>
                  <p:nvPr/>
                </p:nvSpPr>
                <p:spPr bwMode="auto">
                  <a:xfrm>
                    <a:off x="1352" y="2205"/>
                    <a:ext cx="449" cy="688"/>
                  </a:xfrm>
                  <a:custGeom>
                    <a:avLst/>
                    <a:gdLst>
                      <a:gd name="G0" fmla="+- 21600 0 0"/>
                      <a:gd name="G1" fmla="+- 20550 0 0"/>
                      <a:gd name="G2" fmla="+- 21600 0 0"/>
                      <a:gd name="T0" fmla="*/ 8894 w 21600"/>
                      <a:gd name="T1" fmla="*/ 38018 h 38018"/>
                      <a:gd name="T2" fmla="*/ 14946 w 21600"/>
                      <a:gd name="T3" fmla="*/ 0 h 38018"/>
                      <a:gd name="T4" fmla="*/ 21600 w 21600"/>
                      <a:gd name="T5" fmla="*/ 20550 h 380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38018" fill="none" extrusionOk="0">
                        <a:moveTo>
                          <a:pt x="8894" y="38017"/>
                        </a:moveTo>
                        <a:cubicBezTo>
                          <a:pt x="3306" y="33953"/>
                          <a:pt x="0" y="27460"/>
                          <a:pt x="0" y="20550"/>
                        </a:cubicBezTo>
                        <a:cubicBezTo>
                          <a:pt x="-1" y="11184"/>
                          <a:pt x="6035" y="2885"/>
                          <a:pt x="14946" y="0"/>
                        </a:cubicBezTo>
                      </a:path>
                      <a:path w="21600" h="38018" stroke="0" extrusionOk="0">
                        <a:moveTo>
                          <a:pt x="8894" y="38017"/>
                        </a:moveTo>
                        <a:cubicBezTo>
                          <a:pt x="3306" y="33953"/>
                          <a:pt x="0" y="27460"/>
                          <a:pt x="0" y="20550"/>
                        </a:cubicBezTo>
                        <a:cubicBezTo>
                          <a:pt x="-1" y="11184"/>
                          <a:pt x="6035" y="2885"/>
                          <a:pt x="14946" y="0"/>
                        </a:cubicBezTo>
                        <a:lnTo>
                          <a:pt x="21600" y="20550"/>
                        </a:lnTo>
                        <a:close/>
                      </a:path>
                    </a:pathLst>
                  </a:custGeom>
                  <a:noFill/>
                  <a:ln w="444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6" name="Arc 37"/>
                  <p:cNvSpPr>
                    <a:spLocks/>
                  </p:cNvSpPr>
                  <p:nvPr/>
                </p:nvSpPr>
                <p:spPr bwMode="auto">
                  <a:xfrm>
                    <a:off x="1532" y="2892"/>
                    <a:ext cx="743" cy="376"/>
                  </a:xfrm>
                  <a:custGeom>
                    <a:avLst/>
                    <a:gdLst>
                      <a:gd name="G0" fmla="+- 21600 0 0"/>
                      <a:gd name="G1" fmla="+- 0 0 0"/>
                      <a:gd name="G2" fmla="+- 21600 0 0"/>
                      <a:gd name="T0" fmla="*/ 31309 w 31309"/>
                      <a:gd name="T1" fmla="*/ 19295 h 21600"/>
                      <a:gd name="T2" fmla="*/ 0 w 31309"/>
                      <a:gd name="T3" fmla="*/ 0 h 21600"/>
                      <a:gd name="T4" fmla="*/ 21600 w 31309"/>
                      <a:gd name="T5" fmla="*/ 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1309" h="21600" fill="none" extrusionOk="0">
                        <a:moveTo>
                          <a:pt x="31308" y="19294"/>
                        </a:moveTo>
                        <a:cubicBezTo>
                          <a:pt x="28296" y="20810"/>
                          <a:pt x="24971" y="21599"/>
                          <a:pt x="21600" y="21600"/>
                        </a:cubicBezTo>
                        <a:cubicBezTo>
                          <a:pt x="9670" y="21600"/>
                          <a:pt x="0" y="11929"/>
                          <a:pt x="0" y="0"/>
                        </a:cubicBezTo>
                      </a:path>
                      <a:path w="31309" h="21600" stroke="0" extrusionOk="0">
                        <a:moveTo>
                          <a:pt x="31308" y="19294"/>
                        </a:moveTo>
                        <a:cubicBezTo>
                          <a:pt x="28296" y="20810"/>
                          <a:pt x="24971" y="21599"/>
                          <a:pt x="21600" y="21600"/>
                        </a:cubicBezTo>
                        <a:cubicBezTo>
                          <a:pt x="9670" y="21600"/>
                          <a:pt x="0" y="11929"/>
                          <a:pt x="0" y="0"/>
                        </a:cubicBezTo>
                        <a:lnTo>
                          <a:pt x="21600" y="0"/>
                        </a:lnTo>
                        <a:close/>
                      </a:path>
                    </a:pathLst>
                  </a:custGeom>
                  <a:noFill/>
                  <a:ln w="444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7" name="Arc 38"/>
                  <p:cNvSpPr>
                    <a:spLocks/>
                  </p:cNvSpPr>
                  <p:nvPr/>
                </p:nvSpPr>
                <p:spPr bwMode="auto">
                  <a:xfrm>
                    <a:off x="2256" y="3149"/>
                    <a:ext cx="1243" cy="368"/>
                  </a:xfrm>
                  <a:custGeom>
                    <a:avLst/>
                    <a:gdLst>
                      <a:gd name="G0" fmla="+- 21340 0 0"/>
                      <a:gd name="G1" fmla="+- 0 0 0"/>
                      <a:gd name="G2" fmla="+- 21600 0 0"/>
                      <a:gd name="T0" fmla="*/ 39388 w 39388"/>
                      <a:gd name="T1" fmla="*/ 11867 h 21600"/>
                      <a:gd name="T2" fmla="*/ 0 w 39388"/>
                      <a:gd name="T3" fmla="*/ 3341 h 21600"/>
                      <a:gd name="T4" fmla="*/ 21340 w 39388"/>
                      <a:gd name="T5" fmla="*/ 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9388" h="21600" fill="none" extrusionOk="0">
                        <a:moveTo>
                          <a:pt x="39388" y="11867"/>
                        </a:moveTo>
                        <a:cubicBezTo>
                          <a:pt x="35393" y="17942"/>
                          <a:pt x="28610" y="21599"/>
                          <a:pt x="21340" y="21600"/>
                        </a:cubicBezTo>
                        <a:cubicBezTo>
                          <a:pt x="10700" y="21600"/>
                          <a:pt x="1645" y="13852"/>
                          <a:pt x="-1" y="3341"/>
                        </a:cubicBezTo>
                      </a:path>
                      <a:path w="39388" h="21600" stroke="0" extrusionOk="0">
                        <a:moveTo>
                          <a:pt x="39388" y="11867"/>
                        </a:moveTo>
                        <a:cubicBezTo>
                          <a:pt x="35393" y="17942"/>
                          <a:pt x="28610" y="21599"/>
                          <a:pt x="21340" y="21600"/>
                        </a:cubicBezTo>
                        <a:cubicBezTo>
                          <a:pt x="10700" y="21600"/>
                          <a:pt x="1645" y="13852"/>
                          <a:pt x="-1" y="3341"/>
                        </a:cubicBezTo>
                        <a:lnTo>
                          <a:pt x="21340" y="0"/>
                        </a:lnTo>
                        <a:close/>
                      </a:path>
                    </a:pathLst>
                  </a:custGeom>
                  <a:noFill/>
                  <a:ln w="444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8" name="Arc 39"/>
                  <p:cNvSpPr>
                    <a:spLocks/>
                  </p:cNvSpPr>
                  <p:nvPr/>
                </p:nvSpPr>
                <p:spPr bwMode="auto">
                  <a:xfrm>
                    <a:off x="3496" y="1756"/>
                    <a:ext cx="552" cy="484"/>
                  </a:xfrm>
                  <a:custGeom>
                    <a:avLst/>
                    <a:gdLst>
                      <a:gd name="G0" fmla="+- 4428 0 0"/>
                      <a:gd name="G1" fmla="+- 21600 0 0"/>
                      <a:gd name="G2" fmla="+- 21600 0 0"/>
                      <a:gd name="T0" fmla="*/ 0 w 26028"/>
                      <a:gd name="T1" fmla="*/ 459 h 32791"/>
                      <a:gd name="T2" fmla="*/ 22903 w 26028"/>
                      <a:gd name="T3" fmla="*/ 32791 h 32791"/>
                      <a:gd name="T4" fmla="*/ 4428 w 26028"/>
                      <a:gd name="T5" fmla="*/ 21600 h 3279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6028" h="32791" fill="none" extrusionOk="0">
                        <a:moveTo>
                          <a:pt x="-1" y="458"/>
                        </a:moveTo>
                        <a:cubicBezTo>
                          <a:pt x="1456" y="153"/>
                          <a:pt x="2940" y="-1"/>
                          <a:pt x="4428" y="0"/>
                        </a:cubicBezTo>
                        <a:cubicBezTo>
                          <a:pt x="16357" y="0"/>
                          <a:pt x="26028" y="9670"/>
                          <a:pt x="26028" y="21600"/>
                        </a:cubicBezTo>
                        <a:cubicBezTo>
                          <a:pt x="26028" y="25545"/>
                          <a:pt x="24947" y="29416"/>
                          <a:pt x="22902" y="32790"/>
                        </a:cubicBezTo>
                      </a:path>
                      <a:path w="26028" h="32791" stroke="0" extrusionOk="0">
                        <a:moveTo>
                          <a:pt x="-1" y="458"/>
                        </a:moveTo>
                        <a:cubicBezTo>
                          <a:pt x="1456" y="153"/>
                          <a:pt x="2940" y="-1"/>
                          <a:pt x="4428" y="0"/>
                        </a:cubicBezTo>
                        <a:cubicBezTo>
                          <a:pt x="16357" y="0"/>
                          <a:pt x="26028" y="9670"/>
                          <a:pt x="26028" y="21600"/>
                        </a:cubicBezTo>
                        <a:cubicBezTo>
                          <a:pt x="26028" y="25545"/>
                          <a:pt x="24947" y="29416"/>
                          <a:pt x="22902" y="32790"/>
                        </a:cubicBezTo>
                        <a:lnTo>
                          <a:pt x="4428" y="21600"/>
                        </a:lnTo>
                        <a:close/>
                      </a:path>
                    </a:pathLst>
                  </a:custGeom>
                  <a:noFill/>
                  <a:ln w="444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9" name="Arc 40"/>
                  <p:cNvSpPr>
                    <a:spLocks/>
                  </p:cNvSpPr>
                  <p:nvPr/>
                </p:nvSpPr>
                <p:spPr bwMode="auto">
                  <a:xfrm>
                    <a:off x="3664" y="2231"/>
                    <a:ext cx="516" cy="483"/>
                  </a:xfrm>
                  <a:custGeom>
                    <a:avLst/>
                    <a:gdLst>
                      <a:gd name="G0" fmla="+- 0 0 0"/>
                      <a:gd name="G1" fmla="+- 17345 0 0"/>
                      <a:gd name="G2" fmla="+- 21600 0 0"/>
                      <a:gd name="T0" fmla="*/ 12873 w 21600"/>
                      <a:gd name="T1" fmla="*/ 0 h 30100"/>
                      <a:gd name="T2" fmla="*/ 17432 w 21600"/>
                      <a:gd name="T3" fmla="*/ 30100 h 30100"/>
                      <a:gd name="T4" fmla="*/ 0 w 21600"/>
                      <a:gd name="T5" fmla="*/ 17345 h 30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30100" fill="none" extrusionOk="0">
                        <a:moveTo>
                          <a:pt x="12872" y="0"/>
                        </a:moveTo>
                        <a:cubicBezTo>
                          <a:pt x="18363" y="4074"/>
                          <a:pt x="21600" y="10508"/>
                          <a:pt x="21600" y="17345"/>
                        </a:cubicBezTo>
                        <a:cubicBezTo>
                          <a:pt x="21600" y="21931"/>
                          <a:pt x="20140" y="26398"/>
                          <a:pt x="17431" y="30099"/>
                        </a:cubicBezTo>
                      </a:path>
                      <a:path w="21600" h="30100" stroke="0" extrusionOk="0">
                        <a:moveTo>
                          <a:pt x="12872" y="0"/>
                        </a:moveTo>
                        <a:cubicBezTo>
                          <a:pt x="18363" y="4074"/>
                          <a:pt x="21600" y="10508"/>
                          <a:pt x="21600" y="17345"/>
                        </a:cubicBezTo>
                        <a:cubicBezTo>
                          <a:pt x="21600" y="21931"/>
                          <a:pt x="20140" y="26398"/>
                          <a:pt x="17431" y="30099"/>
                        </a:cubicBezTo>
                        <a:lnTo>
                          <a:pt x="0" y="17345"/>
                        </a:lnTo>
                        <a:close/>
                      </a:path>
                    </a:pathLst>
                  </a:custGeom>
                  <a:noFill/>
                  <a:ln w="444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0" name="Arc 41"/>
                  <p:cNvSpPr>
                    <a:spLocks/>
                  </p:cNvSpPr>
                  <p:nvPr/>
                </p:nvSpPr>
                <p:spPr bwMode="auto">
                  <a:xfrm>
                    <a:off x="3474" y="2722"/>
                    <a:ext cx="623" cy="664"/>
                  </a:xfrm>
                  <a:custGeom>
                    <a:avLst/>
                    <a:gdLst>
                      <a:gd name="G0" fmla="+- 6687 0 0"/>
                      <a:gd name="G1" fmla="+- 6665 0 0"/>
                      <a:gd name="G2" fmla="+- 21600 0 0"/>
                      <a:gd name="T0" fmla="*/ 27233 w 28287"/>
                      <a:gd name="T1" fmla="*/ 0 h 28265"/>
                      <a:gd name="T2" fmla="*/ 0 w 28287"/>
                      <a:gd name="T3" fmla="*/ 27204 h 28265"/>
                      <a:gd name="T4" fmla="*/ 6687 w 28287"/>
                      <a:gd name="T5" fmla="*/ 6665 h 2826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8287" h="28265" fill="none" extrusionOk="0">
                        <a:moveTo>
                          <a:pt x="27232" y="0"/>
                        </a:moveTo>
                        <a:cubicBezTo>
                          <a:pt x="27931" y="2152"/>
                          <a:pt x="28287" y="4401"/>
                          <a:pt x="28287" y="6665"/>
                        </a:cubicBezTo>
                        <a:cubicBezTo>
                          <a:pt x="28287" y="18594"/>
                          <a:pt x="18616" y="28265"/>
                          <a:pt x="6687" y="28265"/>
                        </a:cubicBezTo>
                        <a:cubicBezTo>
                          <a:pt x="4416" y="28265"/>
                          <a:pt x="2159" y="27906"/>
                          <a:pt x="0" y="27203"/>
                        </a:cubicBezTo>
                      </a:path>
                      <a:path w="28287" h="28265" stroke="0" extrusionOk="0">
                        <a:moveTo>
                          <a:pt x="27232" y="0"/>
                        </a:moveTo>
                        <a:cubicBezTo>
                          <a:pt x="27931" y="2152"/>
                          <a:pt x="28287" y="4401"/>
                          <a:pt x="28287" y="6665"/>
                        </a:cubicBezTo>
                        <a:cubicBezTo>
                          <a:pt x="28287" y="18594"/>
                          <a:pt x="18616" y="28265"/>
                          <a:pt x="6687" y="28265"/>
                        </a:cubicBezTo>
                        <a:cubicBezTo>
                          <a:pt x="4416" y="28265"/>
                          <a:pt x="2159" y="27906"/>
                          <a:pt x="0" y="27203"/>
                        </a:cubicBezTo>
                        <a:lnTo>
                          <a:pt x="6687" y="6665"/>
                        </a:lnTo>
                        <a:close/>
                      </a:path>
                    </a:pathLst>
                  </a:custGeom>
                  <a:noFill/>
                  <a:ln w="444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22" name="Group 42"/>
              <p:cNvGrpSpPr>
                <a:grpSpLocks/>
              </p:cNvGrpSpPr>
              <p:nvPr/>
            </p:nvGrpSpPr>
            <p:grpSpPr bwMode="auto">
              <a:xfrm rot="21480000">
                <a:off x="2859088" y="2270125"/>
                <a:ext cx="4513263" cy="3214688"/>
                <a:chOff x="1321" y="1480"/>
                <a:chExt cx="2843" cy="2025"/>
              </a:xfrm>
            </p:grpSpPr>
            <p:sp>
              <p:nvSpPr>
                <p:cNvPr id="32" name="Oval 43"/>
                <p:cNvSpPr>
                  <a:spLocks noChangeArrowheads="1"/>
                </p:cNvSpPr>
                <p:nvPr/>
              </p:nvSpPr>
              <p:spPr bwMode="auto">
                <a:xfrm>
                  <a:off x="2294" y="1480"/>
                  <a:ext cx="1239" cy="838"/>
                </a:xfrm>
                <a:prstGeom prst="ellipse">
                  <a:avLst/>
                </a:prstGeom>
                <a:solidFill>
                  <a:schemeClr val="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" name="Oval 44"/>
                <p:cNvSpPr>
                  <a:spLocks noChangeArrowheads="1"/>
                </p:cNvSpPr>
                <p:nvPr/>
              </p:nvSpPr>
              <p:spPr bwMode="auto">
                <a:xfrm>
                  <a:off x="1611" y="1704"/>
                  <a:ext cx="948" cy="836"/>
                </a:xfrm>
                <a:prstGeom prst="ellipse">
                  <a:avLst/>
                </a:prstGeom>
                <a:solidFill>
                  <a:schemeClr val="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" name="Oval 45"/>
                <p:cNvSpPr>
                  <a:spLocks noChangeArrowheads="1"/>
                </p:cNvSpPr>
                <p:nvPr/>
              </p:nvSpPr>
              <p:spPr bwMode="auto">
                <a:xfrm>
                  <a:off x="1321" y="2206"/>
                  <a:ext cx="642" cy="675"/>
                </a:xfrm>
                <a:prstGeom prst="ellipse">
                  <a:avLst/>
                </a:prstGeom>
                <a:solidFill>
                  <a:schemeClr val="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" name="Oval 46"/>
                <p:cNvSpPr>
                  <a:spLocks noChangeArrowheads="1"/>
                </p:cNvSpPr>
                <p:nvPr/>
              </p:nvSpPr>
              <p:spPr bwMode="auto">
                <a:xfrm>
                  <a:off x="1507" y="2508"/>
                  <a:ext cx="968" cy="736"/>
                </a:xfrm>
                <a:prstGeom prst="ellipse">
                  <a:avLst/>
                </a:prstGeom>
                <a:solidFill>
                  <a:schemeClr val="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" name="Oval 47"/>
                <p:cNvSpPr>
                  <a:spLocks noChangeArrowheads="1"/>
                </p:cNvSpPr>
                <p:nvPr/>
              </p:nvSpPr>
              <p:spPr bwMode="auto">
                <a:xfrm>
                  <a:off x="2190" y="2627"/>
                  <a:ext cx="1445" cy="878"/>
                </a:xfrm>
                <a:prstGeom prst="ellipse">
                  <a:avLst/>
                </a:prstGeom>
                <a:solidFill>
                  <a:schemeClr val="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" name="Oval 48"/>
                <p:cNvSpPr>
                  <a:spLocks noChangeArrowheads="1"/>
                </p:cNvSpPr>
                <p:nvPr/>
              </p:nvSpPr>
              <p:spPr bwMode="auto">
                <a:xfrm>
                  <a:off x="3112" y="1724"/>
                  <a:ext cx="923" cy="655"/>
                </a:xfrm>
                <a:prstGeom prst="ellipse">
                  <a:avLst/>
                </a:prstGeom>
                <a:solidFill>
                  <a:schemeClr val="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" name="Oval 49"/>
                <p:cNvSpPr>
                  <a:spLocks noChangeArrowheads="1"/>
                </p:cNvSpPr>
                <p:nvPr/>
              </p:nvSpPr>
              <p:spPr bwMode="auto">
                <a:xfrm>
                  <a:off x="3248" y="2146"/>
                  <a:ext cx="916" cy="656"/>
                </a:xfrm>
                <a:prstGeom prst="ellipse">
                  <a:avLst/>
                </a:prstGeom>
                <a:solidFill>
                  <a:schemeClr val="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" name="Oval 50"/>
                <p:cNvSpPr>
                  <a:spLocks noChangeArrowheads="1"/>
                </p:cNvSpPr>
                <p:nvPr/>
              </p:nvSpPr>
              <p:spPr bwMode="auto">
                <a:xfrm>
                  <a:off x="3164" y="2286"/>
                  <a:ext cx="914" cy="1080"/>
                </a:xfrm>
                <a:prstGeom prst="ellipse">
                  <a:avLst/>
                </a:prstGeom>
                <a:solidFill>
                  <a:schemeClr val="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" name="Oval 51"/>
                <p:cNvSpPr>
                  <a:spLocks noChangeArrowheads="1"/>
                </p:cNvSpPr>
                <p:nvPr/>
              </p:nvSpPr>
              <p:spPr bwMode="auto">
                <a:xfrm>
                  <a:off x="1832" y="1965"/>
                  <a:ext cx="1854" cy="1078"/>
                </a:xfrm>
                <a:prstGeom prst="ellipse">
                  <a:avLst/>
                </a:prstGeom>
                <a:solidFill>
                  <a:schemeClr val="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3" name="Group 52"/>
              <p:cNvGrpSpPr>
                <a:grpSpLocks/>
              </p:cNvGrpSpPr>
              <p:nvPr/>
            </p:nvGrpSpPr>
            <p:grpSpPr bwMode="auto">
              <a:xfrm>
                <a:off x="2876551" y="2270125"/>
                <a:ext cx="4489450" cy="3192463"/>
                <a:chOff x="1332" y="1480"/>
                <a:chExt cx="2828" cy="2011"/>
              </a:xfrm>
            </p:grpSpPr>
            <p:sp>
              <p:nvSpPr>
                <p:cNvPr id="24" name="Arc 53"/>
                <p:cNvSpPr>
                  <a:spLocks/>
                </p:cNvSpPr>
                <p:nvPr/>
              </p:nvSpPr>
              <p:spPr bwMode="auto">
                <a:xfrm>
                  <a:off x="2325" y="1480"/>
                  <a:ext cx="1166" cy="416"/>
                </a:xfrm>
                <a:custGeom>
                  <a:avLst/>
                  <a:gdLst>
                    <a:gd name="G0" fmla="+- 20647 0 0"/>
                    <a:gd name="G1" fmla="+- 21600 0 0"/>
                    <a:gd name="G2" fmla="+- 21600 0 0"/>
                    <a:gd name="T0" fmla="*/ 0 w 41058"/>
                    <a:gd name="T1" fmla="*/ 15256 h 21600"/>
                    <a:gd name="T2" fmla="*/ 41058 w 41058"/>
                    <a:gd name="T3" fmla="*/ 14532 h 21600"/>
                    <a:gd name="T4" fmla="*/ 20647 w 41058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1058" h="21600" fill="none" extrusionOk="0">
                      <a:moveTo>
                        <a:pt x="-1" y="15255"/>
                      </a:moveTo>
                      <a:cubicBezTo>
                        <a:pt x="2785" y="6188"/>
                        <a:pt x="11161" y="-1"/>
                        <a:pt x="20647" y="0"/>
                      </a:cubicBezTo>
                      <a:cubicBezTo>
                        <a:pt x="29852" y="0"/>
                        <a:pt x="38045" y="5833"/>
                        <a:pt x="41057" y="14532"/>
                      </a:cubicBezTo>
                    </a:path>
                    <a:path w="41058" h="21600" stroke="0" extrusionOk="0">
                      <a:moveTo>
                        <a:pt x="-1" y="15255"/>
                      </a:moveTo>
                      <a:cubicBezTo>
                        <a:pt x="2785" y="6188"/>
                        <a:pt x="11161" y="-1"/>
                        <a:pt x="20647" y="0"/>
                      </a:cubicBezTo>
                      <a:cubicBezTo>
                        <a:pt x="29852" y="0"/>
                        <a:pt x="38045" y="5833"/>
                        <a:pt x="41057" y="14532"/>
                      </a:cubicBezTo>
                      <a:lnTo>
                        <a:pt x="20647" y="21600"/>
                      </a:lnTo>
                      <a:close/>
                    </a:path>
                  </a:pathLst>
                </a:custGeom>
                <a:noFill/>
                <a:ln w="44450">
                  <a:solidFill>
                    <a:schemeClr val="accent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Arc 54"/>
                <p:cNvSpPr>
                  <a:spLocks/>
                </p:cNvSpPr>
                <p:nvPr/>
              </p:nvSpPr>
              <p:spPr bwMode="auto">
                <a:xfrm>
                  <a:off x="1621" y="1707"/>
                  <a:ext cx="738" cy="480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936 w 32332"/>
                    <a:gd name="T1" fmla="*/ 27889 h 27889"/>
                    <a:gd name="T2" fmla="*/ 32332 w 32332"/>
                    <a:gd name="T3" fmla="*/ 2855 h 27889"/>
                    <a:gd name="T4" fmla="*/ 21600 w 32332"/>
                    <a:gd name="T5" fmla="*/ 21600 h 278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2332" h="27889" fill="none" extrusionOk="0">
                      <a:moveTo>
                        <a:pt x="935" y="27889"/>
                      </a:moveTo>
                      <a:cubicBezTo>
                        <a:pt x="315" y="25850"/>
                        <a:pt x="0" y="2373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25365" y="-1"/>
                        <a:pt x="29064" y="984"/>
                        <a:pt x="32332" y="2854"/>
                      </a:cubicBezTo>
                    </a:path>
                    <a:path w="32332" h="27889" stroke="0" extrusionOk="0">
                      <a:moveTo>
                        <a:pt x="935" y="27889"/>
                      </a:moveTo>
                      <a:cubicBezTo>
                        <a:pt x="315" y="25850"/>
                        <a:pt x="0" y="2373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25365" y="-1"/>
                        <a:pt x="29064" y="984"/>
                        <a:pt x="32332" y="2854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44450">
                  <a:solidFill>
                    <a:schemeClr val="accent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Arc 55"/>
                <p:cNvSpPr>
                  <a:spLocks/>
                </p:cNvSpPr>
                <p:nvPr/>
              </p:nvSpPr>
              <p:spPr bwMode="auto">
                <a:xfrm>
                  <a:off x="1332" y="2181"/>
                  <a:ext cx="448" cy="688"/>
                </a:xfrm>
                <a:custGeom>
                  <a:avLst/>
                  <a:gdLst>
                    <a:gd name="G0" fmla="+- 21600 0 0"/>
                    <a:gd name="G1" fmla="+- 20561 0 0"/>
                    <a:gd name="G2" fmla="+- 21600 0 0"/>
                    <a:gd name="T0" fmla="*/ 8885 w 21600"/>
                    <a:gd name="T1" fmla="*/ 38022 h 38022"/>
                    <a:gd name="T2" fmla="*/ 14981 w 21600"/>
                    <a:gd name="T3" fmla="*/ 0 h 38022"/>
                    <a:gd name="T4" fmla="*/ 21600 w 21600"/>
                    <a:gd name="T5" fmla="*/ 20561 h 380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38022" fill="none" extrusionOk="0">
                      <a:moveTo>
                        <a:pt x="8884" y="38022"/>
                      </a:moveTo>
                      <a:cubicBezTo>
                        <a:pt x="3302" y="33956"/>
                        <a:pt x="0" y="27467"/>
                        <a:pt x="0" y="20561"/>
                      </a:cubicBezTo>
                      <a:cubicBezTo>
                        <a:pt x="-1" y="11181"/>
                        <a:pt x="6052" y="2874"/>
                        <a:pt x="14981" y="0"/>
                      </a:cubicBezTo>
                    </a:path>
                    <a:path w="21600" h="38022" stroke="0" extrusionOk="0">
                      <a:moveTo>
                        <a:pt x="8884" y="38022"/>
                      </a:moveTo>
                      <a:cubicBezTo>
                        <a:pt x="3302" y="33956"/>
                        <a:pt x="0" y="27467"/>
                        <a:pt x="0" y="20561"/>
                      </a:cubicBezTo>
                      <a:cubicBezTo>
                        <a:pt x="-1" y="11181"/>
                        <a:pt x="6052" y="2874"/>
                        <a:pt x="14981" y="0"/>
                      </a:cubicBezTo>
                      <a:lnTo>
                        <a:pt x="21600" y="20561"/>
                      </a:lnTo>
                      <a:close/>
                    </a:path>
                  </a:pathLst>
                </a:custGeom>
                <a:noFill/>
                <a:ln w="44450">
                  <a:solidFill>
                    <a:schemeClr val="accent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" name="Arc 56"/>
                <p:cNvSpPr>
                  <a:spLocks/>
                </p:cNvSpPr>
                <p:nvPr/>
              </p:nvSpPr>
              <p:spPr bwMode="auto">
                <a:xfrm>
                  <a:off x="1511" y="2868"/>
                  <a:ext cx="745" cy="376"/>
                </a:xfrm>
                <a:custGeom>
                  <a:avLst/>
                  <a:gdLst>
                    <a:gd name="G0" fmla="+- 21600 0 0"/>
                    <a:gd name="G1" fmla="+- 0 0 0"/>
                    <a:gd name="G2" fmla="+- 21600 0 0"/>
                    <a:gd name="T0" fmla="*/ 31357 w 31357"/>
                    <a:gd name="T1" fmla="*/ 19271 h 21600"/>
                    <a:gd name="T2" fmla="*/ 0 w 31357"/>
                    <a:gd name="T3" fmla="*/ 0 h 21600"/>
                    <a:gd name="T4" fmla="*/ 21600 w 31357"/>
                    <a:gd name="T5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357" h="21600" fill="none" extrusionOk="0">
                      <a:moveTo>
                        <a:pt x="31356" y="19270"/>
                      </a:moveTo>
                      <a:cubicBezTo>
                        <a:pt x="28332" y="20802"/>
                        <a:pt x="24990" y="21599"/>
                        <a:pt x="21600" y="21600"/>
                      </a:cubicBezTo>
                      <a:cubicBezTo>
                        <a:pt x="9670" y="21600"/>
                        <a:pt x="0" y="11929"/>
                        <a:pt x="0" y="0"/>
                      </a:cubicBezTo>
                    </a:path>
                    <a:path w="31357" h="21600" stroke="0" extrusionOk="0">
                      <a:moveTo>
                        <a:pt x="31356" y="19270"/>
                      </a:moveTo>
                      <a:cubicBezTo>
                        <a:pt x="28332" y="20802"/>
                        <a:pt x="24990" y="21599"/>
                        <a:pt x="21600" y="21600"/>
                      </a:cubicBezTo>
                      <a:cubicBezTo>
                        <a:pt x="9670" y="21600"/>
                        <a:pt x="0" y="11929"/>
                        <a:pt x="0" y="0"/>
                      </a:cubicBezTo>
                      <a:lnTo>
                        <a:pt x="21600" y="0"/>
                      </a:lnTo>
                      <a:close/>
                    </a:path>
                  </a:pathLst>
                </a:custGeom>
                <a:noFill/>
                <a:ln w="44450">
                  <a:solidFill>
                    <a:schemeClr val="accent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" name="Arc 57"/>
                <p:cNvSpPr>
                  <a:spLocks/>
                </p:cNvSpPr>
                <p:nvPr/>
              </p:nvSpPr>
              <p:spPr bwMode="auto">
                <a:xfrm>
                  <a:off x="2235" y="3124"/>
                  <a:ext cx="1241" cy="367"/>
                </a:xfrm>
                <a:custGeom>
                  <a:avLst/>
                  <a:gdLst>
                    <a:gd name="G0" fmla="+- 21331 0 0"/>
                    <a:gd name="G1" fmla="+- 0 0 0"/>
                    <a:gd name="G2" fmla="+- 21600 0 0"/>
                    <a:gd name="T0" fmla="*/ 39359 w 39359"/>
                    <a:gd name="T1" fmla="*/ 11898 h 21600"/>
                    <a:gd name="T2" fmla="*/ 0 w 39359"/>
                    <a:gd name="T3" fmla="*/ 3399 h 21600"/>
                    <a:gd name="T4" fmla="*/ 21331 w 39359"/>
                    <a:gd name="T5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9359" h="21600" fill="none" extrusionOk="0">
                      <a:moveTo>
                        <a:pt x="39358" y="11897"/>
                      </a:moveTo>
                      <a:cubicBezTo>
                        <a:pt x="35361" y="17955"/>
                        <a:pt x="28588" y="21599"/>
                        <a:pt x="21331" y="21600"/>
                      </a:cubicBezTo>
                      <a:cubicBezTo>
                        <a:pt x="10713" y="21600"/>
                        <a:pt x="1670" y="13883"/>
                        <a:pt x="0" y="3398"/>
                      </a:cubicBezTo>
                    </a:path>
                    <a:path w="39359" h="21600" stroke="0" extrusionOk="0">
                      <a:moveTo>
                        <a:pt x="39358" y="11897"/>
                      </a:moveTo>
                      <a:cubicBezTo>
                        <a:pt x="35361" y="17955"/>
                        <a:pt x="28588" y="21599"/>
                        <a:pt x="21331" y="21600"/>
                      </a:cubicBezTo>
                      <a:cubicBezTo>
                        <a:pt x="10713" y="21600"/>
                        <a:pt x="1670" y="13883"/>
                        <a:pt x="0" y="3398"/>
                      </a:cubicBezTo>
                      <a:lnTo>
                        <a:pt x="21331" y="0"/>
                      </a:lnTo>
                      <a:close/>
                    </a:path>
                  </a:pathLst>
                </a:custGeom>
                <a:noFill/>
                <a:ln w="44450">
                  <a:solidFill>
                    <a:schemeClr val="accent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" name="Arc 58"/>
                <p:cNvSpPr>
                  <a:spLocks/>
                </p:cNvSpPr>
                <p:nvPr/>
              </p:nvSpPr>
              <p:spPr bwMode="auto">
                <a:xfrm>
                  <a:off x="3476" y="1732"/>
                  <a:ext cx="552" cy="484"/>
                </a:xfrm>
                <a:custGeom>
                  <a:avLst/>
                  <a:gdLst>
                    <a:gd name="G0" fmla="+- 4385 0 0"/>
                    <a:gd name="G1" fmla="+- 21600 0 0"/>
                    <a:gd name="G2" fmla="+- 21600 0 0"/>
                    <a:gd name="T0" fmla="*/ 0 w 25985"/>
                    <a:gd name="T1" fmla="*/ 450 h 32791"/>
                    <a:gd name="T2" fmla="*/ 22860 w 25985"/>
                    <a:gd name="T3" fmla="*/ 32791 h 32791"/>
                    <a:gd name="T4" fmla="*/ 4385 w 25985"/>
                    <a:gd name="T5" fmla="*/ 21600 h 327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5985" h="32791" fill="none" extrusionOk="0">
                      <a:moveTo>
                        <a:pt x="-1" y="449"/>
                      </a:moveTo>
                      <a:cubicBezTo>
                        <a:pt x="1442" y="150"/>
                        <a:pt x="2911" y="-1"/>
                        <a:pt x="4385" y="0"/>
                      </a:cubicBezTo>
                      <a:cubicBezTo>
                        <a:pt x="16314" y="0"/>
                        <a:pt x="25985" y="9670"/>
                        <a:pt x="25985" y="21600"/>
                      </a:cubicBezTo>
                      <a:cubicBezTo>
                        <a:pt x="25985" y="25545"/>
                        <a:pt x="24904" y="29416"/>
                        <a:pt x="22859" y="32790"/>
                      </a:cubicBezTo>
                    </a:path>
                    <a:path w="25985" h="32791" stroke="0" extrusionOk="0">
                      <a:moveTo>
                        <a:pt x="-1" y="449"/>
                      </a:moveTo>
                      <a:cubicBezTo>
                        <a:pt x="1442" y="150"/>
                        <a:pt x="2911" y="-1"/>
                        <a:pt x="4385" y="0"/>
                      </a:cubicBezTo>
                      <a:cubicBezTo>
                        <a:pt x="16314" y="0"/>
                        <a:pt x="25985" y="9670"/>
                        <a:pt x="25985" y="21600"/>
                      </a:cubicBezTo>
                      <a:cubicBezTo>
                        <a:pt x="25985" y="25545"/>
                        <a:pt x="24904" y="29416"/>
                        <a:pt x="22859" y="32790"/>
                      </a:cubicBezTo>
                      <a:lnTo>
                        <a:pt x="4385" y="21600"/>
                      </a:lnTo>
                      <a:close/>
                    </a:path>
                  </a:pathLst>
                </a:custGeom>
                <a:noFill/>
                <a:ln w="44450">
                  <a:solidFill>
                    <a:schemeClr val="accent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" name="Arc 59"/>
                <p:cNvSpPr>
                  <a:spLocks/>
                </p:cNvSpPr>
                <p:nvPr/>
              </p:nvSpPr>
              <p:spPr bwMode="auto">
                <a:xfrm>
                  <a:off x="3644" y="2205"/>
                  <a:ext cx="516" cy="483"/>
                </a:xfrm>
                <a:custGeom>
                  <a:avLst/>
                  <a:gdLst>
                    <a:gd name="G0" fmla="+- 0 0 0"/>
                    <a:gd name="G1" fmla="+- 17364 0 0"/>
                    <a:gd name="G2" fmla="+- 21600 0 0"/>
                    <a:gd name="T0" fmla="*/ 12847 w 21600"/>
                    <a:gd name="T1" fmla="*/ 0 h 30119"/>
                    <a:gd name="T2" fmla="*/ 17432 w 21600"/>
                    <a:gd name="T3" fmla="*/ 30119 h 30119"/>
                    <a:gd name="T4" fmla="*/ 0 w 21600"/>
                    <a:gd name="T5" fmla="*/ 17364 h 30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30119" fill="none" extrusionOk="0">
                      <a:moveTo>
                        <a:pt x="12847" y="-1"/>
                      </a:moveTo>
                      <a:cubicBezTo>
                        <a:pt x="18352" y="4073"/>
                        <a:pt x="21600" y="10515"/>
                        <a:pt x="21600" y="17364"/>
                      </a:cubicBezTo>
                      <a:cubicBezTo>
                        <a:pt x="21600" y="21950"/>
                        <a:pt x="20140" y="26417"/>
                        <a:pt x="17431" y="30118"/>
                      </a:cubicBezTo>
                    </a:path>
                    <a:path w="21600" h="30119" stroke="0" extrusionOk="0">
                      <a:moveTo>
                        <a:pt x="12847" y="-1"/>
                      </a:moveTo>
                      <a:cubicBezTo>
                        <a:pt x="18352" y="4073"/>
                        <a:pt x="21600" y="10515"/>
                        <a:pt x="21600" y="17364"/>
                      </a:cubicBezTo>
                      <a:cubicBezTo>
                        <a:pt x="21600" y="21950"/>
                        <a:pt x="20140" y="26417"/>
                        <a:pt x="17431" y="30118"/>
                      </a:cubicBezTo>
                      <a:lnTo>
                        <a:pt x="0" y="17364"/>
                      </a:lnTo>
                      <a:close/>
                    </a:path>
                  </a:pathLst>
                </a:custGeom>
                <a:noFill/>
                <a:ln w="44450">
                  <a:solidFill>
                    <a:schemeClr val="accent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" name="Arc 60"/>
                <p:cNvSpPr>
                  <a:spLocks/>
                </p:cNvSpPr>
                <p:nvPr/>
              </p:nvSpPr>
              <p:spPr bwMode="auto">
                <a:xfrm>
                  <a:off x="3453" y="2698"/>
                  <a:ext cx="623" cy="664"/>
                </a:xfrm>
                <a:custGeom>
                  <a:avLst/>
                  <a:gdLst>
                    <a:gd name="G0" fmla="+- 6687 0 0"/>
                    <a:gd name="G1" fmla="+- 6653 0 0"/>
                    <a:gd name="G2" fmla="+- 21600 0 0"/>
                    <a:gd name="T0" fmla="*/ 27237 w 28287"/>
                    <a:gd name="T1" fmla="*/ 0 h 28253"/>
                    <a:gd name="T2" fmla="*/ 0 w 28287"/>
                    <a:gd name="T3" fmla="*/ 27192 h 28253"/>
                    <a:gd name="T4" fmla="*/ 6687 w 28287"/>
                    <a:gd name="T5" fmla="*/ 6653 h 282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8287" h="28253" fill="none" extrusionOk="0">
                      <a:moveTo>
                        <a:pt x="27236" y="0"/>
                      </a:moveTo>
                      <a:cubicBezTo>
                        <a:pt x="27932" y="2149"/>
                        <a:pt x="28287" y="4394"/>
                        <a:pt x="28287" y="6653"/>
                      </a:cubicBezTo>
                      <a:cubicBezTo>
                        <a:pt x="28287" y="18582"/>
                        <a:pt x="18616" y="28253"/>
                        <a:pt x="6687" y="28253"/>
                      </a:cubicBezTo>
                      <a:cubicBezTo>
                        <a:pt x="4416" y="28253"/>
                        <a:pt x="2159" y="27894"/>
                        <a:pt x="0" y="27191"/>
                      </a:cubicBezTo>
                    </a:path>
                    <a:path w="28287" h="28253" stroke="0" extrusionOk="0">
                      <a:moveTo>
                        <a:pt x="27236" y="0"/>
                      </a:moveTo>
                      <a:cubicBezTo>
                        <a:pt x="27932" y="2149"/>
                        <a:pt x="28287" y="4394"/>
                        <a:pt x="28287" y="6653"/>
                      </a:cubicBezTo>
                      <a:cubicBezTo>
                        <a:pt x="28287" y="18582"/>
                        <a:pt x="18616" y="28253"/>
                        <a:pt x="6687" y="28253"/>
                      </a:cubicBezTo>
                      <a:cubicBezTo>
                        <a:pt x="4416" y="28253"/>
                        <a:pt x="2159" y="27894"/>
                        <a:pt x="0" y="27191"/>
                      </a:cubicBezTo>
                      <a:lnTo>
                        <a:pt x="6687" y="6653"/>
                      </a:lnTo>
                      <a:close/>
                    </a:path>
                  </a:pathLst>
                </a:custGeom>
                <a:noFill/>
                <a:ln w="44450">
                  <a:solidFill>
                    <a:schemeClr val="accent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60" name="Line 61"/>
            <p:cNvSpPr>
              <a:spLocks noChangeShapeType="1"/>
            </p:cNvSpPr>
            <p:nvPr/>
          </p:nvSpPr>
          <p:spPr bwMode="auto">
            <a:xfrm flipV="1">
              <a:off x="4767263" y="3422650"/>
              <a:ext cx="1116012" cy="9080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Line 62"/>
            <p:cNvSpPr>
              <a:spLocks noChangeShapeType="1"/>
            </p:cNvSpPr>
            <p:nvPr/>
          </p:nvSpPr>
          <p:spPr bwMode="auto">
            <a:xfrm flipV="1">
              <a:off x="4595813" y="3422650"/>
              <a:ext cx="1249362" cy="76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Line 63"/>
            <p:cNvSpPr>
              <a:spLocks noChangeShapeType="1"/>
            </p:cNvSpPr>
            <p:nvPr/>
          </p:nvSpPr>
          <p:spPr bwMode="auto">
            <a:xfrm>
              <a:off x="3346450" y="3306763"/>
              <a:ext cx="1193800" cy="1920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Line 64"/>
            <p:cNvSpPr>
              <a:spLocks noChangeShapeType="1"/>
            </p:cNvSpPr>
            <p:nvPr/>
          </p:nvSpPr>
          <p:spPr bwMode="auto">
            <a:xfrm>
              <a:off x="4595813" y="3627438"/>
              <a:ext cx="112712" cy="6413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Line 65"/>
            <p:cNvSpPr>
              <a:spLocks noChangeShapeType="1"/>
            </p:cNvSpPr>
            <p:nvPr/>
          </p:nvSpPr>
          <p:spPr bwMode="auto">
            <a:xfrm flipV="1">
              <a:off x="5959475" y="3370263"/>
              <a:ext cx="0" cy="9604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Line 66"/>
            <p:cNvSpPr>
              <a:spLocks noChangeShapeType="1"/>
            </p:cNvSpPr>
            <p:nvPr/>
          </p:nvSpPr>
          <p:spPr bwMode="auto">
            <a:xfrm>
              <a:off x="5959475" y="3306763"/>
              <a:ext cx="1252538" cy="5762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Line 67"/>
            <p:cNvSpPr>
              <a:spLocks noChangeShapeType="1"/>
            </p:cNvSpPr>
            <p:nvPr/>
          </p:nvSpPr>
          <p:spPr bwMode="auto">
            <a:xfrm>
              <a:off x="5575300" y="2489200"/>
              <a:ext cx="269875" cy="6889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" name="Line 68"/>
            <p:cNvSpPr>
              <a:spLocks noChangeShapeType="1"/>
            </p:cNvSpPr>
            <p:nvPr/>
          </p:nvSpPr>
          <p:spPr bwMode="auto">
            <a:xfrm flipH="1">
              <a:off x="5392738" y="4330700"/>
              <a:ext cx="625475" cy="8366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Line 69"/>
            <p:cNvSpPr>
              <a:spLocks noChangeShapeType="1"/>
            </p:cNvSpPr>
            <p:nvPr/>
          </p:nvSpPr>
          <p:spPr bwMode="auto">
            <a:xfrm>
              <a:off x="3081338" y="4111625"/>
              <a:ext cx="1514475" cy="157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" name="Line 70"/>
            <p:cNvSpPr>
              <a:spLocks noChangeShapeType="1"/>
            </p:cNvSpPr>
            <p:nvPr/>
          </p:nvSpPr>
          <p:spPr bwMode="auto">
            <a:xfrm>
              <a:off x="5972175" y="4219575"/>
              <a:ext cx="1069975" cy="3698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" name="Line 71"/>
            <p:cNvSpPr>
              <a:spLocks noChangeShapeType="1"/>
            </p:cNvSpPr>
            <p:nvPr/>
          </p:nvSpPr>
          <p:spPr bwMode="auto">
            <a:xfrm flipH="1">
              <a:off x="4292600" y="4397375"/>
              <a:ext cx="415925" cy="5826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" name="Line 72"/>
            <p:cNvSpPr>
              <a:spLocks noChangeShapeType="1"/>
            </p:cNvSpPr>
            <p:nvPr/>
          </p:nvSpPr>
          <p:spPr bwMode="auto">
            <a:xfrm flipV="1">
              <a:off x="4708525" y="4330700"/>
              <a:ext cx="1250950" cy="666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" name="Line 73"/>
            <p:cNvSpPr>
              <a:spLocks noChangeShapeType="1"/>
            </p:cNvSpPr>
            <p:nvPr/>
          </p:nvSpPr>
          <p:spPr bwMode="auto">
            <a:xfrm>
              <a:off x="4595813" y="3498850"/>
              <a:ext cx="1249362" cy="7699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3" name="Group 72"/>
            <p:cNvGrpSpPr/>
            <p:nvPr/>
          </p:nvGrpSpPr>
          <p:grpSpPr>
            <a:xfrm>
              <a:off x="1085850" y="1066800"/>
              <a:ext cx="6199188" cy="2366963"/>
              <a:chOff x="1085850" y="1066800"/>
              <a:chExt cx="6199188" cy="2366963"/>
            </a:xfrm>
          </p:grpSpPr>
          <p:sp>
            <p:nvSpPr>
              <p:cNvPr id="74" name="Rectangle 75"/>
              <p:cNvSpPr>
                <a:spLocks noChangeArrowheads="1"/>
              </p:cNvSpPr>
              <p:nvPr/>
            </p:nvSpPr>
            <p:spPr bwMode="auto">
              <a:xfrm>
                <a:off x="1085850" y="1066800"/>
                <a:ext cx="4772868" cy="6844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103548" tIns="51774" rIns="103548" bIns="51774">
                <a:spAutoFit/>
              </a:bodyPr>
              <a:lstStyle/>
              <a:p>
                <a:pPr defTabSz="1028700" eaLnBrk="0" hangingPunct="0"/>
                <a:r>
                  <a:rPr lang="en-US" sz="1600" b="1" dirty="0" smtClean="0">
                    <a:latin typeface="Arial" pitchFamily="34" charset="0"/>
                  </a:rPr>
                  <a:t>1.  </a:t>
                </a:r>
                <a:r>
                  <a:rPr lang="en-US" sz="1600" b="1" dirty="0">
                    <a:latin typeface="Arial" pitchFamily="34" charset="0"/>
                  </a:rPr>
                  <a:t>Routing protocols (e.g. OSPF-TE, IS-IS-TE) </a:t>
                </a:r>
                <a:br>
                  <a:rPr lang="en-US" sz="1600" b="1" dirty="0">
                    <a:latin typeface="Arial" pitchFamily="34" charset="0"/>
                  </a:rPr>
                </a:br>
                <a:r>
                  <a:rPr lang="en-US" sz="1600" b="1" dirty="0">
                    <a:latin typeface="Arial" pitchFamily="34" charset="0"/>
                  </a:rPr>
                  <a:t>exchange reachability to destination </a:t>
                </a:r>
                <a:r>
                  <a:rPr lang="en-US" sz="1600" b="1" dirty="0" smtClean="0">
                    <a:latin typeface="Arial" pitchFamily="34" charset="0"/>
                  </a:rPr>
                  <a:t>networks.</a:t>
                </a:r>
                <a:endParaRPr lang="en-US" sz="1600" b="1" dirty="0">
                  <a:latin typeface="Arial" pitchFamily="34" charset="0"/>
                </a:endParaRPr>
              </a:p>
            </p:txBody>
          </p:sp>
          <p:sp>
            <p:nvSpPr>
              <p:cNvPr id="75" name="Line 76"/>
              <p:cNvSpPr>
                <a:spLocks noChangeShapeType="1"/>
              </p:cNvSpPr>
              <p:nvPr/>
            </p:nvSpPr>
            <p:spPr bwMode="auto">
              <a:xfrm>
                <a:off x="4733925" y="1825625"/>
                <a:ext cx="449263" cy="110172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" name="Line 77"/>
              <p:cNvSpPr>
                <a:spLocks noChangeShapeType="1"/>
              </p:cNvSpPr>
              <p:nvPr/>
            </p:nvSpPr>
            <p:spPr bwMode="auto">
              <a:xfrm>
                <a:off x="3629025" y="2925763"/>
                <a:ext cx="739775" cy="127000"/>
              </a:xfrm>
              <a:prstGeom prst="line">
                <a:avLst/>
              </a:prstGeom>
              <a:noFill/>
              <a:ln w="12700">
                <a:solidFill>
                  <a:schemeClr val="accent2"/>
                </a:solidFill>
                <a:round/>
                <a:headEnd type="stealth" w="med" len="lg"/>
                <a:tailEnd type="stealth" w="med" len="lg"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" name="Line 78"/>
              <p:cNvSpPr>
                <a:spLocks noChangeShapeType="1"/>
              </p:cNvSpPr>
              <p:nvPr/>
            </p:nvSpPr>
            <p:spPr bwMode="auto">
              <a:xfrm flipV="1">
                <a:off x="4879975" y="2987675"/>
                <a:ext cx="739775" cy="65088"/>
              </a:xfrm>
              <a:prstGeom prst="line">
                <a:avLst/>
              </a:prstGeom>
              <a:noFill/>
              <a:ln w="12700">
                <a:solidFill>
                  <a:schemeClr val="accent2"/>
                </a:solidFill>
                <a:round/>
                <a:headEnd type="stealth" w="med" len="lg"/>
                <a:tailEnd type="stealth" w="med" len="lg"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" name="Line 79"/>
              <p:cNvSpPr>
                <a:spLocks noChangeShapeType="1"/>
              </p:cNvSpPr>
              <p:nvPr/>
            </p:nvSpPr>
            <p:spPr bwMode="auto">
              <a:xfrm>
                <a:off x="6459538" y="3011488"/>
                <a:ext cx="825500" cy="422275"/>
              </a:xfrm>
              <a:prstGeom prst="line">
                <a:avLst/>
              </a:prstGeom>
              <a:noFill/>
              <a:ln w="12700">
                <a:solidFill>
                  <a:schemeClr val="accent2"/>
                </a:solidFill>
                <a:round/>
                <a:headEnd type="stealth" w="med" len="lg"/>
                <a:tailEnd type="stealth" w="med" len="lg"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9" name="Group 78"/>
            <p:cNvGrpSpPr/>
            <p:nvPr/>
          </p:nvGrpSpPr>
          <p:grpSpPr>
            <a:xfrm>
              <a:off x="685800" y="1759944"/>
              <a:ext cx="6448425" cy="1843681"/>
              <a:chOff x="685800" y="1759944"/>
              <a:chExt cx="6448425" cy="1843681"/>
            </a:xfrm>
          </p:grpSpPr>
          <p:sp>
            <p:nvSpPr>
              <p:cNvPr id="80" name="Line 81"/>
              <p:cNvSpPr>
                <a:spLocks noChangeShapeType="1"/>
              </p:cNvSpPr>
              <p:nvPr/>
            </p:nvSpPr>
            <p:spPr bwMode="auto">
              <a:xfrm>
                <a:off x="3627438" y="3178175"/>
                <a:ext cx="741363" cy="128588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  <a:headEnd type="stealth" w="med" len="lg"/>
                <a:tailEnd type="stealth" w="med" len="lg"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" name="Line 82"/>
              <p:cNvSpPr>
                <a:spLocks noChangeShapeType="1"/>
              </p:cNvSpPr>
              <p:nvPr/>
            </p:nvSpPr>
            <p:spPr bwMode="auto">
              <a:xfrm flipV="1">
                <a:off x="4879975" y="3243263"/>
                <a:ext cx="738188" cy="6350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  <a:headEnd type="stealth" w="med" len="lg"/>
                <a:tailEnd type="stealth" w="med" len="lg"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" name="Line 83"/>
              <p:cNvSpPr>
                <a:spLocks noChangeShapeType="1"/>
              </p:cNvSpPr>
              <p:nvPr/>
            </p:nvSpPr>
            <p:spPr bwMode="auto">
              <a:xfrm>
                <a:off x="6308725" y="3181350"/>
                <a:ext cx="825500" cy="422275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  <a:headEnd type="stealth" w="med" len="lg"/>
                <a:tailEnd type="stealth" w="med" len="lg"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3" name="Line 84"/>
              <p:cNvSpPr>
                <a:spLocks noChangeShapeType="1"/>
              </p:cNvSpPr>
              <p:nvPr/>
            </p:nvSpPr>
            <p:spPr bwMode="auto">
              <a:xfrm>
                <a:off x="3081338" y="2417763"/>
                <a:ext cx="525463" cy="67945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4" name="Rectangle 85"/>
              <p:cNvSpPr>
                <a:spLocks noChangeArrowheads="1"/>
              </p:cNvSpPr>
              <p:nvPr/>
            </p:nvSpPr>
            <p:spPr bwMode="auto">
              <a:xfrm>
                <a:off x="685800" y="1759944"/>
                <a:ext cx="3817615" cy="9667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lIns="103548" tIns="51774" rIns="103548" bIns="51774">
                <a:spAutoFit/>
              </a:bodyPr>
              <a:lstStyle/>
              <a:p>
                <a:pPr defTabSz="1028700" eaLnBrk="0" hangingPunct="0"/>
                <a:r>
                  <a:rPr lang="en-US" sz="1600" b="1" dirty="0">
                    <a:latin typeface="Arial" pitchFamily="34" charset="0"/>
                  </a:rPr>
                  <a:t>2</a:t>
                </a:r>
                <a:r>
                  <a:rPr lang="en-US" sz="1600" b="1" dirty="0" smtClean="0">
                    <a:latin typeface="Arial" pitchFamily="34" charset="0"/>
                  </a:rPr>
                  <a:t>. Resource Reservation Protocol (RSVP) reserves resources and sets up LSP</a:t>
                </a:r>
                <a:r>
                  <a:rPr lang="en-US" sz="1600" b="1" dirty="0">
                    <a:latin typeface="Arial" pitchFamily="34" charset="0"/>
                  </a:rPr>
                  <a:t> </a:t>
                </a:r>
                <a:r>
                  <a:rPr lang="en-US" sz="1600" b="1" dirty="0" smtClean="0">
                    <a:latin typeface="Arial" pitchFamily="34" charset="0"/>
                  </a:rPr>
                  <a:t>including labels needed.</a:t>
                </a:r>
              </a:p>
            </p:txBody>
          </p:sp>
        </p:grpSp>
        <p:pic>
          <p:nvPicPr>
            <p:cNvPr id="85" name="Picture 86"/>
            <p:cNvPicPr>
              <a:picLocks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130800" y="5065713"/>
              <a:ext cx="612775" cy="401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86" name="Picture 87"/>
            <p:cNvPicPr>
              <a:picLocks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079875" y="4897438"/>
              <a:ext cx="612775" cy="400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87" name="Picture 88"/>
            <p:cNvPicPr>
              <a:picLocks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652713" y="3965575"/>
              <a:ext cx="612775" cy="400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88" name="Picture 89"/>
            <p:cNvPicPr>
              <a:picLocks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954338" y="3203575"/>
              <a:ext cx="611187" cy="400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89" name="Picture 90"/>
            <p:cNvPicPr>
              <a:picLocks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207000" y="2271713"/>
              <a:ext cx="611188" cy="401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90" name="Picture 91"/>
            <p:cNvPicPr>
              <a:picLocks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083425" y="3625850"/>
              <a:ext cx="612775" cy="400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91" name="Picture 92"/>
            <p:cNvPicPr>
              <a:picLocks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858000" y="4471988"/>
              <a:ext cx="612775" cy="401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92" name="Picture 93"/>
            <p:cNvPicPr>
              <a:picLocks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343400" y="3276600"/>
              <a:ext cx="611188" cy="400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93" name="Picture 94"/>
            <p:cNvPicPr>
              <a:picLocks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418013" y="4019550"/>
              <a:ext cx="611187" cy="400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94" name="Picture 95"/>
            <p:cNvPicPr>
              <a:picLocks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637213" y="3048000"/>
              <a:ext cx="611187" cy="400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95" name="Picture 96"/>
            <p:cNvPicPr>
              <a:picLocks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713413" y="4095750"/>
              <a:ext cx="611187" cy="400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pSp>
          <p:nvGrpSpPr>
            <p:cNvPr id="96" name="Group 95"/>
            <p:cNvGrpSpPr/>
            <p:nvPr/>
          </p:nvGrpSpPr>
          <p:grpSpPr>
            <a:xfrm>
              <a:off x="914400" y="3124200"/>
              <a:ext cx="3505200" cy="2967285"/>
              <a:chOff x="914400" y="3124200"/>
              <a:chExt cx="3505200" cy="2967285"/>
            </a:xfrm>
          </p:grpSpPr>
          <p:sp>
            <p:nvSpPr>
              <p:cNvPr id="97" name="Rectangle 98"/>
              <p:cNvSpPr>
                <a:spLocks noChangeArrowheads="1"/>
              </p:cNvSpPr>
              <p:nvPr/>
            </p:nvSpPr>
            <p:spPr bwMode="auto">
              <a:xfrm>
                <a:off x="914400" y="5407025"/>
                <a:ext cx="3433763" cy="6844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103548" tIns="51774" rIns="103548" bIns="51774">
                <a:spAutoFit/>
              </a:bodyPr>
              <a:lstStyle/>
              <a:p>
                <a:pPr defTabSz="1028700" eaLnBrk="0" hangingPunct="0"/>
                <a:r>
                  <a:rPr lang="en-US" sz="1600" b="1" dirty="0">
                    <a:latin typeface="Arial" pitchFamily="34" charset="0"/>
                  </a:rPr>
                  <a:t>3</a:t>
                </a:r>
                <a:r>
                  <a:rPr lang="en-US" sz="1600" b="1" dirty="0" smtClean="0">
                    <a:latin typeface="Arial" pitchFamily="34" charset="0"/>
                  </a:rPr>
                  <a:t>. </a:t>
                </a:r>
                <a:r>
                  <a:rPr lang="en-US" sz="1600" b="1" dirty="0">
                    <a:latin typeface="Arial" pitchFamily="34" charset="0"/>
                  </a:rPr>
                  <a:t>Ingress LER receives packet and </a:t>
                </a:r>
                <a:r>
                  <a:rPr lang="en-US" sz="1600" b="1" dirty="0" smtClean="0">
                    <a:latin typeface="Arial" pitchFamily="34" charset="0"/>
                  </a:rPr>
                  <a:t>labels </a:t>
                </a:r>
                <a:r>
                  <a:rPr lang="en-US" sz="1600" b="1" dirty="0">
                    <a:latin typeface="Arial" pitchFamily="34" charset="0"/>
                  </a:rPr>
                  <a:t>packets</a:t>
                </a:r>
              </a:p>
            </p:txBody>
          </p:sp>
          <p:sp>
            <p:nvSpPr>
              <p:cNvPr id="98" name="Line 99"/>
              <p:cNvSpPr>
                <a:spLocks noChangeShapeType="1"/>
              </p:cNvSpPr>
              <p:nvPr/>
            </p:nvSpPr>
            <p:spPr bwMode="auto">
              <a:xfrm>
                <a:off x="2470150" y="3519488"/>
                <a:ext cx="0" cy="177641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stealth" w="med" len="lg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9" name="Line 100"/>
              <p:cNvSpPr>
                <a:spLocks noChangeShapeType="1"/>
              </p:cNvSpPr>
              <p:nvPr/>
            </p:nvSpPr>
            <p:spPr bwMode="auto">
              <a:xfrm flipH="1">
                <a:off x="2470150" y="3859213"/>
                <a:ext cx="1201738" cy="143668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stealth" w="med" len="lg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0" name="Group 101"/>
              <p:cNvGrpSpPr>
                <a:grpSpLocks/>
              </p:cNvGrpSpPr>
              <p:nvPr/>
            </p:nvGrpSpPr>
            <p:grpSpPr bwMode="auto">
              <a:xfrm>
                <a:off x="2362200" y="3124200"/>
                <a:ext cx="609600" cy="152400"/>
                <a:chOff x="624" y="2928"/>
                <a:chExt cx="384" cy="144"/>
              </a:xfrm>
            </p:grpSpPr>
            <p:sp>
              <p:nvSpPr>
                <p:cNvPr id="106" name="Rectangle 102"/>
                <p:cNvSpPr>
                  <a:spLocks noChangeArrowheads="1"/>
                </p:cNvSpPr>
                <p:nvPr/>
              </p:nvSpPr>
              <p:spPr bwMode="auto">
                <a:xfrm>
                  <a:off x="624" y="2928"/>
                  <a:ext cx="240" cy="144"/>
                </a:xfrm>
                <a:prstGeom prst="rect">
                  <a:avLst/>
                </a:prstGeom>
                <a:solidFill>
                  <a:srgbClr val="80808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" name="Rectangle 103"/>
                <p:cNvSpPr>
                  <a:spLocks noChangeArrowheads="1"/>
                </p:cNvSpPr>
                <p:nvPr/>
              </p:nvSpPr>
              <p:spPr bwMode="auto">
                <a:xfrm>
                  <a:off x="864" y="2928"/>
                  <a:ext cx="144" cy="144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sz="1000"/>
                    <a:t>IP</a:t>
                  </a:r>
                </a:p>
              </p:txBody>
            </p:sp>
          </p:grpSp>
          <p:grpSp>
            <p:nvGrpSpPr>
              <p:cNvPr id="101" name="Group 104"/>
              <p:cNvGrpSpPr>
                <a:grpSpLocks/>
              </p:cNvGrpSpPr>
              <p:nvPr/>
            </p:nvGrpSpPr>
            <p:grpSpPr bwMode="auto">
              <a:xfrm>
                <a:off x="3581400" y="3505200"/>
                <a:ext cx="838200" cy="228600"/>
                <a:chOff x="2256" y="2208"/>
                <a:chExt cx="528" cy="144"/>
              </a:xfrm>
            </p:grpSpPr>
            <p:grpSp>
              <p:nvGrpSpPr>
                <p:cNvPr id="102" name="Group 105"/>
                <p:cNvGrpSpPr>
                  <a:grpSpLocks/>
                </p:cNvGrpSpPr>
                <p:nvPr/>
              </p:nvGrpSpPr>
              <p:grpSpPr bwMode="auto">
                <a:xfrm rot="600000">
                  <a:off x="2256" y="2208"/>
                  <a:ext cx="384" cy="96"/>
                  <a:chOff x="624" y="2928"/>
                  <a:chExt cx="384" cy="144"/>
                </a:xfrm>
              </p:grpSpPr>
              <p:sp>
                <p:nvSpPr>
                  <p:cNvPr id="104" name="Rectangle 106"/>
                  <p:cNvSpPr>
                    <a:spLocks noChangeArrowheads="1"/>
                  </p:cNvSpPr>
                  <p:nvPr/>
                </p:nvSpPr>
                <p:spPr bwMode="auto">
                  <a:xfrm>
                    <a:off x="624" y="2928"/>
                    <a:ext cx="240" cy="144"/>
                  </a:xfrm>
                  <a:prstGeom prst="rect">
                    <a:avLst/>
                  </a:prstGeom>
                  <a:solidFill>
                    <a:srgbClr val="80808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5" name="Rectangle 107"/>
                  <p:cNvSpPr>
                    <a:spLocks noChangeArrowheads="1"/>
                  </p:cNvSpPr>
                  <p:nvPr/>
                </p:nvSpPr>
                <p:spPr bwMode="auto">
                  <a:xfrm>
                    <a:off x="864" y="2928"/>
                    <a:ext cx="144" cy="144"/>
                  </a:xfrm>
                  <a:prstGeom prst="rect">
                    <a:avLst/>
                  </a:prstGeom>
                  <a:solidFill>
                    <a:schemeClr val="hlink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algn="ctr"/>
                    <a:r>
                      <a:rPr lang="en-US" sz="1000"/>
                      <a:t>IP</a:t>
                    </a:r>
                  </a:p>
                </p:txBody>
              </p:sp>
            </p:grpSp>
            <p:sp>
              <p:nvSpPr>
                <p:cNvPr id="103" name="Rectangle 108"/>
                <p:cNvSpPr>
                  <a:spLocks noChangeArrowheads="1"/>
                </p:cNvSpPr>
                <p:nvPr/>
              </p:nvSpPr>
              <p:spPr bwMode="auto">
                <a:xfrm rot="600000">
                  <a:off x="2640" y="2256"/>
                  <a:ext cx="144" cy="96"/>
                </a:xfrm>
                <a:prstGeom prst="rect">
                  <a:avLst/>
                </a:prstGeom>
                <a:solidFill>
                  <a:srgbClr val="FF66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sz="1200" dirty="0"/>
                    <a:t>4</a:t>
                  </a:r>
                </a:p>
              </p:txBody>
            </p:sp>
          </p:grpSp>
        </p:grpSp>
        <p:grpSp>
          <p:nvGrpSpPr>
            <p:cNvPr id="108" name="Group 107"/>
            <p:cNvGrpSpPr/>
            <p:nvPr/>
          </p:nvGrpSpPr>
          <p:grpSpPr>
            <a:xfrm>
              <a:off x="5029200" y="3505200"/>
              <a:ext cx="3006725" cy="3065463"/>
              <a:chOff x="5029200" y="3505200"/>
              <a:chExt cx="3006725" cy="3065463"/>
            </a:xfrm>
          </p:grpSpPr>
          <p:sp>
            <p:nvSpPr>
              <p:cNvPr id="109" name="Rectangle 110"/>
              <p:cNvSpPr>
                <a:spLocks noChangeArrowheads="1"/>
              </p:cNvSpPr>
              <p:nvPr/>
            </p:nvSpPr>
            <p:spPr bwMode="auto">
              <a:xfrm>
                <a:off x="5708650" y="5732463"/>
                <a:ext cx="2327275" cy="838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103548" tIns="51774" rIns="103548" bIns="51774">
                <a:spAutoFit/>
              </a:bodyPr>
              <a:lstStyle/>
              <a:p>
                <a:pPr defTabSz="1028700" eaLnBrk="0" hangingPunct="0">
                  <a:spcBef>
                    <a:spcPct val="50000"/>
                  </a:spcBef>
                </a:pPr>
                <a:r>
                  <a:rPr lang="en-US" sz="1600" b="1" dirty="0" smtClean="0">
                    <a:latin typeface="Arial" pitchFamily="34" charset="0"/>
                  </a:rPr>
                  <a:t>4. </a:t>
                </a:r>
                <a:r>
                  <a:rPr lang="en-US" sz="1600" b="1" dirty="0">
                    <a:latin typeface="Arial" pitchFamily="34" charset="0"/>
                  </a:rPr>
                  <a:t>LSR forwards packets using label swapping</a:t>
                </a:r>
              </a:p>
            </p:txBody>
          </p:sp>
          <p:sp>
            <p:nvSpPr>
              <p:cNvPr id="110" name="Line 111"/>
              <p:cNvSpPr>
                <a:spLocks noChangeShapeType="1"/>
              </p:cNvSpPr>
              <p:nvPr/>
            </p:nvSpPr>
            <p:spPr bwMode="auto">
              <a:xfrm flipH="1" flipV="1">
                <a:off x="6159500" y="3771900"/>
                <a:ext cx="674688" cy="186372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11" name="Group 112"/>
              <p:cNvGrpSpPr>
                <a:grpSpLocks/>
              </p:cNvGrpSpPr>
              <p:nvPr/>
            </p:nvGrpSpPr>
            <p:grpSpPr bwMode="auto">
              <a:xfrm rot="20880000">
                <a:off x="5029200" y="3505200"/>
                <a:ext cx="838200" cy="228600"/>
                <a:chOff x="2256" y="2208"/>
                <a:chExt cx="528" cy="144"/>
              </a:xfrm>
            </p:grpSpPr>
            <p:grpSp>
              <p:nvGrpSpPr>
                <p:cNvPr id="117" name="Group 113"/>
                <p:cNvGrpSpPr>
                  <a:grpSpLocks/>
                </p:cNvGrpSpPr>
                <p:nvPr/>
              </p:nvGrpSpPr>
              <p:grpSpPr bwMode="auto">
                <a:xfrm rot="600000">
                  <a:off x="2256" y="2208"/>
                  <a:ext cx="384" cy="96"/>
                  <a:chOff x="624" y="2928"/>
                  <a:chExt cx="384" cy="144"/>
                </a:xfrm>
              </p:grpSpPr>
              <p:sp>
                <p:nvSpPr>
                  <p:cNvPr id="119" name="Rectangle 114"/>
                  <p:cNvSpPr>
                    <a:spLocks noChangeArrowheads="1"/>
                  </p:cNvSpPr>
                  <p:nvPr/>
                </p:nvSpPr>
                <p:spPr bwMode="auto">
                  <a:xfrm>
                    <a:off x="624" y="2928"/>
                    <a:ext cx="240" cy="144"/>
                  </a:xfrm>
                  <a:prstGeom prst="rect">
                    <a:avLst/>
                  </a:prstGeom>
                  <a:solidFill>
                    <a:srgbClr val="80808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20" name="Rectangle 115"/>
                  <p:cNvSpPr>
                    <a:spLocks noChangeArrowheads="1"/>
                  </p:cNvSpPr>
                  <p:nvPr/>
                </p:nvSpPr>
                <p:spPr bwMode="auto">
                  <a:xfrm>
                    <a:off x="864" y="2928"/>
                    <a:ext cx="144" cy="144"/>
                  </a:xfrm>
                  <a:prstGeom prst="rect">
                    <a:avLst/>
                  </a:prstGeom>
                  <a:solidFill>
                    <a:schemeClr val="hlink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algn="ctr"/>
                    <a:r>
                      <a:rPr lang="en-US" sz="1000"/>
                      <a:t>IP</a:t>
                    </a:r>
                  </a:p>
                </p:txBody>
              </p:sp>
            </p:grpSp>
            <p:sp>
              <p:nvSpPr>
                <p:cNvPr id="118" name="Rectangle 116"/>
                <p:cNvSpPr>
                  <a:spLocks noChangeArrowheads="1"/>
                </p:cNvSpPr>
                <p:nvPr/>
              </p:nvSpPr>
              <p:spPr bwMode="auto">
                <a:xfrm rot="600000">
                  <a:off x="2640" y="2256"/>
                  <a:ext cx="144" cy="96"/>
                </a:xfrm>
                <a:prstGeom prst="rect">
                  <a:avLst/>
                </a:prstGeom>
                <a:solidFill>
                  <a:srgbClr val="FF66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sz="1200" dirty="0"/>
                    <a:t>9</a:t>
                  </a:r>
                </a:p>
              </p:txBody>
            </p:sp>
          </p:grpSp>
          <p:grpSp>
            <p:nvGrpSpPr>
              <p:cNvPr id="112" name="Group 117"/>
              <p:cNvGrpSpPr>
                <a:grpSpLocks/>
              </p:cNvGrpSpPr>
              <p:nvPr/>
            </p:nvGrpSpPr>
            <p:grpSpPr bwMode="auto">
              <a:xfrm rot="900000">
                <a:off x="6172200" y="3657600"/>
                <a:ext cx="838200" cy="228600"/>
                <a:chOff x="2256" y="2208"/>
                <a:chExt cx="528" cy="144"/>
              </a:xfrm>
            </p:grpSpPr>
            <p:grpSp>
              <p:nvGrpSpPr>
                <p:cNvPr id="113" name="Group 118"/>
                <p:cNvGrpSpPr>
                  <a:grpSpLocks/>
                </p:cNvGrpSpPr>
                <p:nvPr/>
              </p:nvGrpSpPr>
              <p:grpSpPr bwMode="auto">
                <a:xfrm rot="600000">
                  <a:off x="2256" y="2208"/>
                  <a:ext cx="384" cy="96"/>
                  <a:chOff x="624" y="2928"/>
                  <a:chExt cx="384" cy="144"/>
                </a:xfrm>
              </p:grpSpPr>
              <p:sp>
                <p:nvSpPr>
                  <p:cNvPr id="115" name="Rectangle 119"/>
                  <p:cNvSpPr>
                    <a:spLocks noChangeArrowheads="1"/>
                  </p:cNvSpPr>
                  <p:nvPr/>
                </p:nvSpPr>
                <p:spPr bwMode="auto">
                  <a:xfrm>
                    <a:off x="624" y="2928"/>
                    <a:ext cx="240" cy="144"/>
                  </a:xfrm>
                  <a:prstGeom prst="rect">
                    <a:avLst/>
                  </a:prstGeom>
                  <a:solidFill>
                    <a:srgbClr val="80808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" name="Rectangle 120"/>
                  <p:cNvSpPr>
                    <a:spLocks noChangeArrowheads="1"/>
                  </p:cNvSpPr>
                  <p:nvPr/>
                </p:nvSpPr>
                <p:spPr bwMode="auto">
                  <a:xfrm>
                    <a:off x="864" y="2928"/>
                    <a:ext cx="144" cy="144"/>
                  </a:xfrm>
                  <a:prstGeom prst="rect">
                    <a:avLst/>
                  </a:prstGeom>
                  <a:solidFill>
                    <a:schemeClr val="hlink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algn="ctr"/>
                    <a:r>
                      <a:rPr lang="en-US" sz="1000"/>
                      <a:t>IP</a:t>
                    </a:r>
                  </a:p>
                </p:txBody>
              </p:sp>
            </p:grpSp>
            <p:sp>
              <p:nvSpPr>
                <p:cNvPr id="114" name="Rectangle 121"/>
                <p:cNvSpPr>
                  <a:spLocks noChangeArrowheads="1"/>
                </p:cNvSpPr>
                <p:nvPr/>
              </p:nvSpPr>
              <p:spPr bwMode="auto">
                <a:xfrm rot="600000">
                  <a:off x="2640" y="2256"/>
                  <a:ext cx="144" cy="96"/>
                </a:xfrm>
                <a:prstGeom prst="rect">
                  <a:avLst/>
                </a:prstGeom>
                <a:solidFill>
                  <a:srgbClr val="FF66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sz="1200" dirty="0" smtClean="0"/>
                    <a:t>12</a:t>
                  </a:r>
                  <a:endParaRPr lang="en-US" sz="1200" dirty="0"/>
                </a:p>
              </p:txBody>
            </p:sp>
          </p:grpSp>
        </p:grpSp>
        <p:grpSp>
          <p:nvGrpSpPr>
            <p:cNvPr id="121" name="Group 120"/>
            <p:cNvGrpSpPr/>
            <p:nvPr/>
          </p:nvGrpSpPr>
          <p:grpSpPr>
            <a:xfrm>
              <a:off x="7086600" y="1130300"/>
              <a:ext cx="2019300" cy="2679700"/>
              <a:chOff x="7086600" y="1130300"/>
              <a:chExt cx="2019300" cy="2679700"/>
            </a:xfrm>
          </p:grpSpPr>
          <p:sp>
            <p:nvSpPr>
              <p:cNvPr id="122" name="Rectangle 123"/>
              <p:cNvSpPr>
                <a:spLocks noChangeArrowheads="1"/>
              </p:cNvSpPr>
              <p:nvPr/>
            </p:nvSpPr>
            <p:spPr bwMode="auto">
              <a:xfrm>
                <a:off x="7086600" y="1130300"/>
                <a:ext cx="2019300" cy="838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103548" tIns="51774" rIns="103548" bIns="51774">
                <a:spAutoFit/>
              </a:bodyPr>
              <a:lstStyle/>
              <a:p>
                <a:pPr defTabSz="1028700" eaLnBrk="0" hangingPunct="0">
                  <a:spcBef>
                    <a:spcPct val="50000"/>
                  </a:spcBef>
                </a:pPr>
                <a:r>
                  <a:rPr lang="en-US" sz="1600" b="1" dirty="0" smtClean="0">
                    <a:latin typeface="Arial" pitchFamily="34" charset="0"/>
                  </a:rPr>
                  <a:t>5. </a:t>
                </a:r>
                <a:r>
                  <a:rPr lang="en-US" sz="1600" b="1" dirty="0">
                    <a:latin typeface="Arial" pitchFamily="34" charset="0"/>
                  </a:rPr>
                  <a:t>LER at egress removes label and delivers packet</a:t>
                </a:r>
              </a:p>
            </p:txBody>
          </p:sp>
          <p:sp>
            <p:nvSpPr>
              <p:cNvPr id="123" name="Line 124"/>
              <p:cNvSpPr>
                <a:spLocks noChangeShapeType="1"/>
              </p:cNvSpPr>
              <p:nvPr/>
            </p:nvSpPr>
            <p:spPr bwMode="auto">
              <a:xfrm flipH="1">
                <a:off x="7585075" y="1993900"/>
                <a:ext cx="301625" cy="14398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24" name="Group 125"/>
              <p:cNvGrpSpPr>
                <a:grpSpLocks/>
              </p:cNvGrpSpPr>
              <p:nvPr/>
            </p:nvGrpSpPr>
            <p:grpSpPr bwMode="auto">
              <a:xfrm>
                <a:off x="7696200" y="3657600"/>
                <a:ext cx="609600" cy="152400"/>
                <a:chOff x="624" y="2928"/>
                <a:chExt cx="384" cy="144"/>
              </a:xfrm>
            </p:grpSpPr>
            <p:sp>
              <p:nvSpPr>
                <p:cNvPr id="125" name="Rectangle 126"/>
                <p:cNvSpPr>
                  <a:spLocks noChangeArrowheads="1"/>
                </p:cNvSpPr>
                <p:nvPr/>
              </p:nvSpPr>
              <p:spPr bwMode="auto">
                <a:xfrm>
                  <a:off x="624" y="2928"/>
                  <a:ext cx="240" cy="144"/>
                </a:xfrm>
                <a:prstGeom prst="rect">
                  <a:avLst/>
                </a:prstGeom>
                <a:solidFill>
                  <a:srgbClr val="80808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6" name="Rectangle 127"/>
                <p:cNvSpPr>
                  <a:spLocks noChangeArrowheads="1"/>
                </p:cNvSpPr>
                <p:nvPr/>
              </p:nvSpPr>
              <p:spPr bwMode="auto">
                <a:xfrm>
                  <a:off x="864" y="2928"/>
                  <a:ext cx="144" cy="144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sz="1000"/>
                    <a:t>IP</a:t>
                  </a:r>
                </a:p>
              </p:txBody>
            </p:sp>
          </p:grpSp>
        </p:grpSp>
      </p:grpSp>
      <p:sp>
        <p:nvSpPr>
          <p:cNvPr id="128" name="TextBox 127"/>
          <p:cNvSpPr txBox="1"/>
          <p:nvPr/>
        </p:nvSpPr>
        <p:spPr>
          <a:xfrm>
            <a:off x="6934200" y="6312932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© Dr. Kingsley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150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209" name="Rectangle 27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>
                <a:solidFill>
                  <a:schemeClr val="accent2"/>
                </a:solidFill>
                <a:latin typeface="Tahoma" pitchFamily="34" charset="0"/>
                <a:ea typeface="宋体" pitchFamily="2" charset="-122"/>
              </a:rPr>
              <a:t>MPLS Example:  Forwarding Packets</a:t>
            </a:r>
          </a:p>
        </p:txBody>
      </p:sp>
      <p:sp>
        <p:nvSpPr>
          <p:cNvPr id="140" name="Line 205"/>
          <p:cNvSpPr>
            <a:spLocks noChangeShapeType="1"/>
          </p:cNvSpPr>
          <p:nvPr/>
        </p:nvSpPr>
        <p:spPr bwMode="auto">
          <a:xfrm>
            <a:off x="6899275" y="5630863"/>
            <a:ext cx="127635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>
            <a:outerShdw dist="1796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141" name="Line 206"/>
          <p:cNvSpPr>
            <a:spLocks noChangeShapeType="1"/>
          </p:cNvSpPr>
          <p:nvPr/>
        </p:nvSpPr>
        <p:spPr bwMode="auto">
          <a:xfrm>
            <a:off x="7499350" y="3767138"/>
            <a:ext cx="127635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>
            <a:outerShdw dist="1796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142" name="Line 207"/>
          <p:cNvSpPr>
            <a:spLocks noChangeShapeType="1"/>
          </p:cNvSpPr>
          <p:nvPr/>
        </p:nvSpPr>
        <p:spPr bwMode="auto">
          <a:xfrm>
            <a:off x="4572000" y="4343400"/>
            <a:ext cx="1952625" cy="1371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>
            <a:outerShdw dist="1796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" name="Line 208"/>
          <p:cNvSpPr>
            <a:spLocks noChangeShapeType="1"/>
          </p:cNvSpPr>
          <p:nvPr/>
        </p:nvSpPr>
        <p:spPr bwMode="auto">
          <a:xfrm flipV="1">
            <a:off x="4722813" y="3767138"/>
            <a:ext cx="2552700" cy="423862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>
            <a:outerShdw dist="1796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144" name="Line 209"/>
          <p:cNvSpPr>
            <a:spLocks noChangeShapeType="1"/>
          </p:cNvSpPr>
          <p:nvPr/>
        </p:nvSpPr>
        <p:spPr bwMode="auto">
          <a:xfrm>
            <a:off x="2209800" y="4191000"/>
            <a:ext cx="2528888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>
            <a:outerShdw dist="1796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145" name="Freeform 80"/>
          <p:cNvSpPr>
            <a:spLocks/>
          </p:cNvSpPr>
          <p:nvPr/>
        </p:nvSpPr>
        <p:spPr bwMode="auto">
          <a:xfrm>
            <a:off x="3368675" y="3090863"/>
            <a:ext cx="2525713" cy="1052512"/>
          </a:xfrm>
          <a:custGeom>
            <a:avLst/>
            <a:gdLst/>
            <a:ahLst/>
            <a:cxnLst>
              <a:cxn ang="0">
                <a:pos x="810" y="663"/>
              </a:cxn>
              <a:cxn ang="0">
                <a:pos x="0" y="0"/>
              </a:cxn>
              <a:cxn ang="0">
                <a:pos x="1759" y="0"/>
              </a:cxn>
              <a:cxn ang="0">
                <a:pos x="840" y="663"/>
              </a:cxn>
            </a:cxnLst>
            <a:rect l="0" t="0" r="r" b="b"/>
            <a:pathLst>
              <a:path w="1759" h="663">
                <a:moveTo>
                  <a:pt x="810" y="663"/>
                </a:moveTo>
                <a:lnTo>
                  <a:pt x="0" y="0"/>
                </a:lnTo>
                <a:lnTo>
                  <a:pt x="1759" y="0"/>
                </a:lnTo>
                <a:lnTo>
                  <a:pt x="840" y="663"/>
                </a:lnTo>
              </a:path>
            </a:pathLst>
          </a:custGeom>
          <a:solidFill>
            <a:schemeClr val="accent2"/>
          </a:solidFill>
          <a:ln w="12700" cap="rnd" cmpd="sng">
            <a:noFill/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6" name="Freeform 81"/>
          <p:cNvSpPr>
            <a:spLocks/>
          </p:cNvSpPr>
          <p:nvPr/>
        </p:nvSpPr>
        <p:spPr bwMode="auto">
          <a:xfrm>
            <a:off x="6092825" y="3090863"/>
            <a:ext cx="2554288" cy="547687"/>
          </a:xfrm>
          <a:custGeom>
            <a:avLst/>
            <a:gdLst/>
            <a:ahLst/>
            <a:cxnLst>
              <a:cxn ang="0">
                <a:pos x="720" y="339"/>
              </a:cxn>
              <a:cxn ang="0">
                <a:pos x="0" y="0"/>
              </a:cxn>
              <a:cxn ang="0">
                <a:pos x="1759" y="0"/>
              </a:cxn>
              <a:cxn ang="0">
                <a:pos x="756" y="345"/>
              </a:cxn>
            </a:cxnLst>
            <a:rect l="0" t="0" r="r" b="b"/>
            <a:pathLst>
              <a:path w="1759" h="345">
                <a:moveTo>
                  <a:pt x="720" y="339"/>
                </a:moveTo>
                <a:lnTo>
                  <a:pt x="0" y="0"/>
                </a:lnTo>
                <a:lnTo>
                  <a:pt x="1759" y="0"/>
                </a:lnTo>
                <a:lnTo>
                  <a:pt x="756" y="345"/>
                </a:lnTo>
              </a:path>
            </a:pathLst>
          </a:custGeom>
          <a:solidFill>
            <a:schemeClr val="accent2"/>
          </a:solidFill>
          <a:ln w="12700" cap="rnd" cmpd="sng">
            <a:noFill/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7" name="Freeform 84"/>
          <p:cNvSpPr>
            <a:spLocks/>
          </p:cNvSpPr>
          <p:nvPr/>
        </p:nvSpPr>
        <p:spPr bwMode="auto">
          <a:xfrm>
            <a:off x="609600" y="3090863"/>
            <a:ext cx="2549525" cy="1033462"/>
          </a:xfrm>
          <a:custGeom>
            <a:avLst/>
            <a:gdLst/>
            <a:ahLst/>
            <a:cxnLst>
              <a:cxn ang="0">
                <a:pos x="1022" y="651"/>
              </a:cxn>
              <a:cxn ang="0">
                <a:pos x="0" y="0"/>
              </a:cxn>
              <a:cxn ang="0">
                <a:pos x="1759" y="0"/>
              </a:cxn>
              <a:cxn ang="0">
                <a:pos x="1046" y="645"/>
              </a:cxn>
            </a:cxnLst>
            <a:rect l="0" t="0" r="r" b="b"/>
            <a:pathLst>
              <a:path w="1759" h="651">
                <a:moveTo>
                  <a:pt x="1022" y="651"/>
                </a:moveTo>
                <a:lnTo>
                  <a:pt x="0" y="0"/>
                </a:lnTo>
                <a:lnTo>
                  <a:pt x="1759" y="0"/>
                </a:lnTo>
                <a:lnTo>
                  <a:pt x="1046" y="645"/>
                </a:lnTo>
              </a:path>
            </a:pathLst>
          </a:custGeom>
          <a:solidFill>
            <a:schemeClr val="accent2"/>
          </a:solidFill>
          <a:ln w="12700" cap="rnd" cmpd="sng">
            <a:noFill/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8" name="Rectangle 85"/>
          <p:cNvSpPr>
            <a:spLocks noChangeArrowheads="1"/>
          </p:cNvSpPr>
          <p:nvPr/>
        </p:nvSpPr>
        <p:spPr bwMode="auto">
          <a:xfrm>
            <a:off x="8001000" y="3449638"/>
            <a:ext cx="727763" cy="308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zh-CN" sz="1400">
                <a:ea typeface="宋体" pitchFamily="2" charset="-122"/>
              </a:rPr>
              <a:t>128.89</a:t>
            </a:r>
          </a:p>
        </p:txBody>
      </p:sp>
      <p:sp>
        <p:nvSpPr>
          <p:cNvPr id="149" name="Rectangle 90"/>
          <p:cNvSpPr>
            <a:spLocks noChangeArrowheads="1"/>
          </p:cNvSpPr>
          <p:nvPr/>
        </p:nvSpPr>
        <p:spPr bwMode="auto">
          <a:xfrm>
            <a:off x="5242142" y="4404936"/>
            <a:ext cx="399148" cy="289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73025" tIns="36512" rIns="73025" bIns="36512">
            <a:spAutoFit/>
          </a:bodyPr>
          <a:lstStyle/>
          <a:p>
            <a:pPr defTabSz="585788"/>
            <a:r>
              <a:rPr lang="en-US" altLang="zh-CN" sz="1400" dirty="0" smtClean="0">
                <a:ea typeface="宋体" pitchFamily="2" charset="-122"/>
              </a:rPr>
              <a:t>1/7</a:t>
            </a:r>
            <a:endParaRPr lang="en-US" altLang="zh-CN" sz="1400" dirty="0">
              <a:ea typeface="宋体" pitchFamily="2" charset="-122"/>
            </a:endParaRPr>
          </a:p>
        </p:txBody>
      </p:sp>
      <p:sp>
        <p:nvSpPr>
          <p:cNvPr id="150" name="Rectangle 91"/>
          <p:cNvSpPr>
            <a:spLocks noChangeArrowheads="1"/>
          </p:cNvSpPr>
          <p:nvPr/>
        </p:nvSpPr>
        <p:spPr bwMode="auto">
          <a:xfrm>
            <a:off x="5219700" y="3768725"/>
            <a:ext cx="444032" cy="289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73025" tIns="36512" rIns="73025" bIns="36512">
            <a:spAutoFit/>
          </a:bodyPr>
          <a:lstStyle/>
          <a:p>
            <a:pPr defTabSz="585788"/>
            <a:r>
              <a:rPr lang="en-US" altLang="zh-CN" sz="1400" dirty="0" smtClean="0">
                <a:ea typeface="宋体" pitchFamily="2" charset="-122"/>
              </a:rPr>
              <a:t>0/9</a:t>
            </a:r>
            <a:endParaRPr lang="en-US" altLang="zh-CN" sz="1400" dirty="0">
              <a:ea typeface="宋体" pitchFamily="2" charset="-122"/>
            </a:endParaRPr>
          </a:p>
        </p:txBody>
      </p:sp>
      <p:sp>
        <p:nvSpPr>
          <p:cNvPr id="151" name="Rectangle 92"/>
          <p:cNvSpPr>
            <a:spLocks noChangeArrowheads="1"/>
          </p:cNvSpPr>
          <p:nvPr/>
        </p:nvSpPr>
        <p:spPr bwMode="auto">
          <a:xfrm>
            <a:off x="2566988" y="3886200"/>
            <a:ext cx="410369" cy="289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73025" tIns="36512" rIns="73025" bIns="36512">
            <a:spAutoFit/>
          </a:bodyPr>
          <a:lstStyle/>
          <a:p>
            <a:pPr defTabSz="585788"/>
            <a:r>
              <a:rPr lang="en-US" altLang="zh-CN" sz="1400" dirty="0" smtClean="0">
                <a:ea typeface="宋体" pitchFamily="2" charset="-122"/>
              </a:rPr>
              <a:t>1/4</a:t>
            </a:r>
            <a:endParaRPr lang="en-US" altLang="zh-CN" sz="1400" dirty="0">
              <a:ea typeface="宋体" pitchFamily="2" charset="-122"/>
            </a:endParaRPr>
          </a:p>
        </p:txBody>
      </p:sp>
      <p:sp>
        <p:nvSpPr>
          <p:cNvPr id="152" name="Rectangle 93"/>
          <p:cNvSpPr>
            <a:spLocks noChangeArrowheads="1"/>
          </p:cNvSpPr>
          <p:nvPr/>
        </p:nvSpPr>
        <p:spPr bwMode="auto">
          <a:xfrm>
            <a:off x="612775" y="1581150"/>
            <a:ext cx="496888" cy="479425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zh-CN" altLang="en-US" sz="1400">
              <a:ea typeface="宋体" pitchFamily="2" charset="-122"/>
            </a:endParaRPr>
          </a:p>
        </p:txBody>
      </p:sp>
      <p:sp>
        <p:nvSpPr>
          <p:cNvPr id="153" name="Rectangle 94"/>
          <p:cNvSpPr>
            <a:spLocks noChangeArrowheads="1"/>
          </p:cNvSpPr>
          <p:nvPr/>
        </p:nvSpPr>
        <p:spPr bwMode="auto">
          <a:xfrm>
            <a:off x="612775" y="2089150"/>
            <a:ext cx="496888" cy="309563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" name="Rectangle 95"/>
          <p:cNvSpPr>
            <a:spLocks noChangeArrowheads="1"/>
          </p:cNvSpPr>
          <p:nvPr/>
        </p:nvSpPr>
        <p:spPr bwMode="auto">
          <a:xfrm>
            <a:off x="612775" y="2427288"/>
            <a:ext cx="496888" cy="309562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5" name="Rectangle 96"/>
          <p:cNvSpPr>
            <a:spLocks noChangeArrowheads="1"/>
          </p:cNvSpPr>
          <p:nvPr/>
        </p:nvSpPr>
        <p:spPr bwMode="auto">
          <a:xfrm>
            <a:off x="612775" y="2765425"/>
            <a:ext cx="496888" cy="31115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6" name="Rectangle 97"/>
          <p:cNvSpPr>
            <a:spLocks noChangeArrowheads="1"/>
          </p:cNvSpPr>
          <p:nvPr/>
        </p:nvSpPr>
        <p:spPr bwMode="auto">
          <a:xfrm>
            <a:off x="1125538" y="1581150"/>
            <a:ext cx="803275" cy="479425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zh-CN" altLang="en-US" sz="1400">
              <a:ea typeface="宋体" pitchFamily="2" charset="-122"/>
            </a:endParaRPr>
          </a:p>
        </p:txBody>
      </p:sp>
      <p:sp>
        <p:nvSpPr>
          <p:cNvPr id="157" name="Rectangle 98"/>
          <p:cNvSpPr>
            <a:spLocks noChangeArrowheads="1"/>
          </p:cNvSpPr>
          <p:nvPr/>
        </p:nvSpPr>
        <p:spPr bwMode="auto">
          <a:xfrm>
            <a:off x="1125538" y="2089150"/>
            <a:ext cx="803275" cy="309563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zh-CN" altLang="en-US" sz="1400">
              <a:ea typeface="宋体" pitchFamily="2" charset="-122"/>
            </a:endParaRPr>
          </a:p>
        </p:txBody>
      </p:sp>
      <p:sp>
        <p:nvSpPr>
          <p:cNvPr id="158" name="Rectangle 99"/>
          <p:cNvSpPr>
            <a:spLocks noChangeArrowheads="1"/>
          </p:cNvSpPr>
          <p:nvPr/>
        </p:nvSpPr>
        <p:spPr bwMode="auto">
          <a:xfrm>
            <a:off x="1125538" y="2427288"/>
            <a:ext cx="803275" cy="309562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zh-CN" altLang="en-US" sz="1400">
              <a:ea typeface="宋体" pitchFamily="2" charset="-122"/>
            </a:endParaRPr>
          </a:p>
        </p:txBody>
      </p:sp>
      <p:sp>
        <p:nvSpPr>
          <p:cNvPr id="159" name="Rectangle 100"/>
          <p:cNvSpPr>
            <a:spLocks noChangeArrowheads="1"/>
          </p:cNvSpPr>
          <p:nvPr/>
        </p:nvSpPr>
        <p:spPr bwMode="auto">
          <a:xfrm>
            <a:off x="1125538" y="2765425"/>
            <a:ext cx="803275" cy="31115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zh-CN" altLang="en-US" sz="1200">
              <a:ea typeface="宋体" pitchFamily="2" charset="-122"/>
            </a:endParaRPr>
          </a:p>
        </p:txBody>
      </p:sp>
      <p:sp>
        <p:nvSpPr>
          <p:cNvPr id="160" name="Rectangle 101"/>
          <p:cNvSpPr>
            <a:spLocks noChangeArrowheads="1"/>
          </p:cNvSpPr>
          <p:nvPr/>
        </p:nvSpPr>
        <p:spPr bwMode="auto">
          <a:xfrm>
            <a:off x="1952625" y="1581150"/>
            <a:ext cx="635000" cy="479425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zh-CN" altLang="en-US" sz="1400">
              <a:ea typeface="宋体" pitchFamily="2" charset="-122"/>
            </a:endParaRPr>
          </a:p>
        </p:txBody>
      </p:sp>
      <p:sp>
        <p:nvSpPr>
          <p:cNvPr id="161" name="Rectangle 102"/>
          <p:cNvSpPr>
            <a:spLocks noChangeArrowheads="1"/>
          </p:cNvSpPr>
          <p:nvPr/>
        </p:nvSpPr>
        <p:spPr bwMode="auto">
          <a:xfrm>
            <a:off x="1952625" y="2089150"/>
            <a:ext cx="635000" cy="309563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zh-CN" altLang="en-US" sz="1400">
              <a:ea typeface="宋体" pitchFamily="2" charset="-122"/>
            </a:endParaRPr>
          </a:p>
        </p:txBody>
      </p:sp>
      <p:sp>
        <p:nvSpPr>
          <p:cNvPr id="162" name="Rectangle 103"/>
          <p:cNvSpPr>
            <a:spLocks noChangeArrowheads="1"/>
          </p:cNvSpPr>
          <p:nvPr/>
        </p:nvSpPr>
        <p:spPr bwMode="auto">
          <a:xfrm>
            <a:off x="1952625" y="2427288"/>
            <a:ext cx="635000" cy="309562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zh-CN" altLang="en-US" sz="1400">
              <a:ea typeface="宋体" pitchFamily="2" charset="-122"/>
            </a:endParaRPr>
          </a:p>
        </p:txBody>
      </p:sp>
      <p:sp>
        <p:nvSpPr>
          <p:cNvPr id="163" name="Rectangle 104"/>
          <p:cNvSpPr>
            <a:spLocks noChangeArrowheads="1"/>
          </p:cNvSpPr>
          <p:nvPr/>
        </p:nvSpPr>
        <p:spPr bwMode="auto">
          <a:xfrm>
            <a:off x="1952625" y="2765425"/>
            <a:ext cx="635000" cy="31115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zh-CN" altLang="en-US" sz="1200">
              <a:ea typeface="宋体" pitchFamily="2" charset="-122"/>
            </a:endParaRPr>
          </a:p>
        </p:txBody>
      </p:sp>
      <p:sp>
        <p:nvSpPr>
          <p:cNvPr id="164" name="Rectangle 105"/>
          <p:cNvSpPr>
            <a:spLocks noChangeArrowheads="1"/>
          </p:cNvSpPr>
          <p:nvPr/>
        </p:nvSpPr>
        <p:spPr bwMode="auto">
          <a:xfrm>
            <a:off x="2606675" y="1581150"/>
            <a:ext cx="533400" cy="479425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zh-CN" altLang="en-US" sz="1400">
              <a:ea typeface="宋体" pitchFamily="2" charset="-122"/>
            </a:endParaRPr>
          </a:p>
        </p:txBody>
      </p:sp>
      <p:sp>
        <p:nvSpPr>
          <p:cNvPr id="165" name="Rectangle 106"/>
          <p:cNvSpPr>
            <a:spLocks noChangeArrowheads="1"/>
          </p:cNvSpPr>
          <p:nvPr/>
        </p:nvSpPr>
        <p:spPr bwMode="auto">
          <a:xfrm>
            <a:off x="2606675" y="2089150"/>
            <a:ext cx="533400" cy="309563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6" name="Rectangle 107"/>
          <p:cNvSpPr>
            <a:spLocks noChangeArrowheads="1"/>
          </p:cNvSpPr>
          <p:nvPr/>
        </p:nvSpPr>
        <p:spPr bwMode="auto">
          <a:xfrm>
            <a:off x="2606675" y="2427288"/>
            <a:ext cx="533400" cy="309562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7" name="Rectangle 108"/>
          <p:cNvSpPr>
            <a:spLocks noChangeArrowheads="1"/>
          </p:cNvSpPr>
          <p:nvPr/>
        </p:nvSpPr>
        <p:spPr bwMode="auto">
          <a:xfrm>
            <a:off x="2606675" y="2765425"/>
            <a:ext cx="533400" cy="31115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8" name="Rectangle 109"/>
          <p:cNvSpPr>
            <a:spLocks noChangeArrowheads="1"/>
          </p:cNvSpPr>
          <p:nvPr/>
        </p:nvSpPr>
        <p:spPr bwMode="auto">
          <a:xfrm>
            <a:off x="7696200" y="3459163"/>
            <a:ext cx="258084" cy="289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73025" tIns="36512" rIns="73025" bIns="36512">
            <a:spAutoFit/>
          </a:bodyPr>
          <a:lstStyle/>
          <a:p>
            <a:pPr defTabSz="585788"/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pic>
        <p:nvPicPr>
          <p:cNvPr id="169" name="Picture 110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6400" y="3959225"/>
            <a:ext cx="727075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0" name="Picture 111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46813" y="5399088"/>
            <a:ext cx="727075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1" name="Picture 112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34200" y="3451225"/>
            <a:ext cx="727075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5" name="Rectangle 126"/>
          <p:cNvSpPr>
            <a:spLocks noChangeArrowheads="1"/>
          </p:cNvSpPr>
          <p:nvPr/>
        </p:nvSpPr>
        <p:spPr bwMode="auto">
          <a:xfrm>
            <a:off x="520700" y="1611313"/>
            <a:ext cx="682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400">
                <a:ea typeface="宋体" pitchFamily="2" charset="-122"/>
              </a:rPr>
              <a:t>In </a:t>
            </a:r>
          </a:p>
          <a:p>
            <a:pPr algn="ctr">
              <a:lnSpc>
                <a:spcPct val="90000"/>
              </a:lnSpc>
            </a:pPr>
            <a:r>
              <a:rPr lang="en-US" altLang="zh-CN" sz="1400">
                <a:ea typeface="宋体" pitchFamily="2" charset="-122"/>
              </a:rPr>
              <a:t>Label</a:t>
            </a:r>
          </a:p>
        </p:txBody>
      </p:sp>
      <p:sp>
        <p:nvSpPr>
          <p:cNvPr id="176" name="Rectangle 127"/>
          <p:cNvSpPr>
            <a:spLocks noChangeArrowheads="1"/>
          </p:cNvSpPr>
          <p:nvPr/>
        </p:nvSpPr>
        <p:spPr bwMode="auto">
          <a:xfrm>
            <a:off x="1111250" y="1611313"/>
            <a:ext cx="8572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400">
                <a:ea typeface="宋体" pitchFamily="2" charset="-122"/>
              </a:rPr>
              <a:t>Address </a:t>
            </a:r>
          </a:p>
          <a:p>
            <a:pPr algn="ctr">
              <a:lnSpc>
                <a:spcPct val="90000"/>
              </a:lnSpc>
            </a:pPr>
            <a:r>
              <a:rPr lang="en-US" altLang="zh-CN" sz="1400">
                <a:ea typeface="宋体" pitchFamily="2" charset="-122"/>
              </a:rPr>
              <a:t>Prefix</a:t>
            </a:r>
          </a:p>
        </p:txBody>
      </p:sp>
      <p:sp>
        <p:nvSpPr>
          <p:cNvPr id="177" name="Rectangle 128"/>
          <p:cNvSpPr>
            <a:spLocks noChangeArrowheads="1"/>
          </p:cNvSpPr>
          <p:nvPr/>
        </p:nvSpPr>
        <p:spPr bwMode="auto">
          <a:xfrm>
            <a:off x="1120775" y="2133600"/>
            <a:ext cx="838200" cy="289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/>
            <a:r>
              <a:rPr lang="en-US" altLang="zh-CN" sz="1400">
                <a:ea typeface="宋体" pitchFamily="2" charset="-122"/>
              </a:rPr>
              <a:t>128.89</a:t>
            </a:r>
          </a:p>
        </p:txBody>
      </p:sp>
      <p:sp>
        <p:nvSpPr>
          <p:cNvPr id="178" name="Rectangle 129"/>
          <p:cNvSpPr>
            <a:spLocks noChangeArrowheads="1"/>
          </p:cNvSpPr>
          <p:nvPr/>
        </p:nvSpPr>
        <p:spPr bwMode="auto">
          <a:xfrm>
            <a:off x="1120775" y="2438400"/>
            <a:ext cx="838200" cy="289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/>
            <a:r>
              <a:rPr lang="en-US" altLang="zh-CN" sz="1400">
                <a:ea typeface="宋体" pitchFamily="2" charset="-122"/>
              </a:rPr>
              <a:t>171.69</a:t>
            </a:r>
          </a:p>
        </p:txBody>
      </p:sp>
      <p:sp>
        <p:nvSpPr>
          <p:cNvPr id="179" name="Rectangle 130"/>
          <p:cNvSpPr>
            <a:spLocks noChangeArrowheads="1"/>
          </p:cNvSpPr>
          <p:nvPr/>
        </p:nvSpPr>
        <p:spPr bwMode="auto">
          <a:xfrm>
            <a:off x="2003425" y="2133600"/>
            <a:ext cx="533400" cy="289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/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180" name="Rectangle 131"/>
          <p:cNvSpPr>
            <a:spLocks noChangeArrowheads="1"/>
          </p:cNvSpPr>
          <p:nvPr/>
        </p:nvSpPr>
        <p:spPr bwMode="auto">
          <a:xfrm>
            <a:off x="2003425" y="2438400"/>
            <a:ext cx="533400" cy="289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/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181" name="Rectangle 132"/>
          <p:cNvSpPr>
            <a:spLocks noChangeArrowheads="1"/>
          </p:cNvSpPr>
          <p:nvPr/>
        </p:nvSpPr>
        <p:spPr bwMode="auto">
          <a:xfrm>
            <a:off x="1835150" y="1609725"/>
            <a:ext cx="904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400">
                <a:ea typeface="宋体" pitchFamily="2" charset="-122"/>
              </a:rPr>
              <a:t>Out</a:t>
            </a:r>
          </a:p>
          <a:p>
            <a:pPr algn="ctr">
              <a:lnSpc>
                <a:spcPct val="90000"/>
              </a:lnSpc>
            </a:pPr>
            <a:r>
              <a:rPr lang="en-US" altLang="zh-CN" sz="1400">
                <a:ea typeface="宋体" pitchFamily="2" charset="-122"/>
              </a:rPr>
              <a:t>I’face</a:t>
            </a:r>
          </a:p>
        </p:txBody>
      </p:sp>
      <p:sp>
        <p:nvSpPr>
          <p:cNvPr id="182" name="Rectangle 133"/>
          <p:cNvSpPr>
            <a:spLocks noChangeArrowheads="1"/>
          </p:cNvSpPr>
          <p:nvPr/>
        </p:nvSpPr>
        <p:spPr bwMode="auto">
          <a:xfrm>
            <a:off x="2587625" y="1622425"/>
            <a:ext cx="582613" cy="40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200">
                <a:ea typeface="宋体" pitchFamily="2" charset="-122"/>
              </a:rPr>
              <a:t>Out</a:t>
            </a:r>
            <a:br>
              <a:rPr lang="en-US" altLang="zh-CN" sz="1200">
                <a:ea typeface="宋体" pitchFamily="2" charset="-122"/>
              </a:rPr>
            </a:br>
            <a:r>
              <a:rPr lang="en-US" altLang="zh-CN" sz="1200">
                <a:ea typeface="宋体" pitchFamily="2" charset="-122"/>
              </a:rPr>
              <a:t>Label</a:t>
            </a:r>
          </a:p>
        </p:txBody>
      </p:sp>
      <p:sp>
        <p:nvSpPr>
          <p:cNvPr id="183" name="Rectangle 134"/>
          <p:cNvSpPr>
            <a:spLocks noChangeArrowheads="1"/>
          </p:cNvSpPr>
          <p:nvPr/>
        </p:nvSpPr>
        <p:spPr bwMode="auto">
          <a:xfrm>
            <a:off x="3355975" y="1581150"/>
            <a:ext cx="496888" cy="479425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zh-CN" altLang="en-US" sz="1400">
              <a:ea typeface="宋体" pitchFamily="2" charset="-122"/>
            </a:endParaRPr>
          </a:p>
        </p:txBody>
      </p:sp>
      <p:sp>
        <p:nvSpPr>
          <p:cNvPr id="184" name="Rectangle 135"/>
          <p:cNvSpPr>
            <a:spLocks noChangeArrowheads="1"/>
          </p:cNvSpPr>
          <p:nvPr/>
        </p:nvSpPr>
        <p:spPr bwMode="auto">
          <a:xfrm>
            <a:off x="3355975" y="2089150"/>
            <a:ext cx="496888" cy="309563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5" name="Rectangle 136"/>
          <p:cNvSpPr>
            <a:spLocks noChangeArrowheads="1"/>
          </p:cNvSpPr>
          <p:nvPr/>
        </p:nvSpPr>
        <p:spPr bwMode="auto">
          <a:xfrm>
            <a:off x="3355975" y="2427288"/>
            <a:ext cx="496888" cy="309562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6" name="Rectangle 137"/>
          <p:cNvSpPr>
            <a:spLocks noChangeArrowheads="1"/>
          </p:cNvSpPr>
          <p:nvPr/>
        </p:nvSpPr>
        <p:spPr bwMode="auto">
          <a:xfrm>
            <a:off x="3355975" y="2765425"/>
            <a:ext cx="496888" cy="31115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7" name="Rectangle 138"/>
          <p:cNvSpPr>
            <a:spLocks noChangeArrowheads="1"/>
          </p:cNvSpPr>
          <p:nvPr/>
        </p:nvSpPr>
        <p:spPr bwMode="auto">
          <a:xfrm>
            <a:off x="3868738" y="1581150"/>
            <a:ext cx="803275" cy="479425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zh-CN" altLang="en-US" sz="1400">
              <a:ea typeface="宋体" pitchFamily="2" charset="-122"/>
            </a:endParaRPr>
          </a:p>
        </p:txBody>
      </p:sp>
      <p:sp>
        <p:nvSpPr>
          <p:cNvPr id="188" name="Rectangle 139"/>
          <p:cNvSpPr>
            <a:spLocks noChangeArrowheads="1"/>
          </p:cNvSpPr>
          <p:nvPr/>
        </p:nvSpPr>
        <p:spPr bwMode="auto">
          <a:xfrm>
            <a:off x="3868738" y="2089150"/>
            <a:ext cx="803275" cy="309563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zh-CN" altLang="en-US" sz="1400">
              <a:ea typeface="宋体" pitchFamily="2" charset="-122"/>
            </a:endParaRPr>
          </a:p>
        </p:txBody>
      </p:sp>
      <p:sp>
        <p:nvSpPr>
          <p:cNvPr id="189" name="Rectangle 140"/>
          <p:cNvSpPr>
            <a:spLocks noChangeArrowheads="1"/>
          </p:cNvSpPr>
          <p:nvPr/>
        </p:nvSpPr>
        <p:spPr bwMode="auto">
          <a:xfrm>
            <a:off x="3868738" y="2427288"/>
            <a:ext cx="803275" cy="309562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zh-CN" altLang="en-US" sz="1400">
              <a:ea typeface="宋体" pitchFamily="2" charset="-122"/>
            </a:endParaRPr>
          </a:p>
        </p:txBody>
      </p:sp>
      <p:sp>
        <p:nvSpPr>
          <p:cNvPr id="190" name="Rectangle 141"/>
          <p:cNvSpPr>
            <a:spLocks noChangeArrowheads="1"/>
          </p:cNvSpPr>
          <p:nvPr/>
        </p:nvSpPr>
        <p:spPr bwMode="auto">
          <a:xfrm>
            <a:off x="3868738" y="2765425"/>
            <a:ext cx="803275" cy="31115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zh-CN" altLang="en-US" sz="1200">
              <a:ea typeface="宋体" pitchFamily="2" charset="-122"/>
            </a:endParaRPr>
          </a:p>
        </p:txBody>
      </p:sp>
      <p:sp>
        <p:nvSpPr>
          <p:cNvPr id="191" name="Rectangle 142"/>
          <p:cNvSpPr>
            <a:spLocks noChangeArrowheads="1"/>
          </p:cNvSpPr>
          <p:nvPr/>
        </p:nvSpPr>
        <p:spPr bwMode="auto">
          <a:xfrm>
            <a:off x="4695825" y="1581150"/>
            <a:ext cx="635000" cy="479425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zh-CN" altLang="en-US" sz="1400">
              <a:ea typeface="宋体" pitchFamily="2" charset="-122"/>
            </a:endParaRPr>
          </a:p>
        </p:txBody>
      </p:sp>
      <p:sp>
        <p:nvSpPr>
          <p:cNvPr id="192" name="Rectangle 143"/>
          <p:cNvSpPr>
            <a:spLocks noChangeArrowheads="1"/>
          </p:cNvSpPr>
          <p:nvPr/>
        </p:nvSpPr>
        <p:spPr bwMode="auto">
          <a:xfrm>
            <a:off x="4695825" y="2089150"/>
            <a:ext cx="635000" cy="309563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zh-CN" altLang="en-US" sz="1400">
              <a:ea typeface="宋体" pitchFamily="2" charset="-122"/>
            </a:endParaRPr>
          </a:p>
        </p:txBody>
      </p:sp>
      <p:sp>
        <p:nvSpPr>
          <p:cNvPr id="193" name="Rectangle 144"/>
          <p:cNvSpPr>
            <a:spLocks noChangeArrowheads="1"/>
          </p:cNvSpPr>
          <p:nvPr/>
        </p:nvSpPr>
        <p:spPr bwMode="auto">
          <a:xfrm>
            <a:off x="4695825" y="2427288"/>
            <a:ext cx="635000" cy="309562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zh-CN" altLang="en-US" sz="1400">
              <a:ea typeface="宋体" pitchFamily="2" charset="-122"/>
            </a:endParaRPr>
          </a:p>
        </p:txBody>
      </p:sp>
      <p:sp>
        <p:nvSpPr>
          <p:cNvPr id="194" name="Rectangle 145"/>
          <p:cNvSpPr>
            <a:spLocks noChangeArrowheads="1"/>
          </p:cNvSpPr>
          <p:nvPr/>
        </p:nvSpPr>
        <p:spPr bwMode="auto">
          <a:xfrm>
            <a:off x="4695825" y="2765425"/>
            <a:ext cx="635000" cy="31115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zh-CN" altLang="en-US" sz="1200">
              <a:ea typeface="宋体" pitchFamily="2" charset="-122"/>
            </a:endParaRPr>
          </a:p>
        </p:txBody>
      </p:sp>
      <p:sp>
        <p:nvSpPr>
          <p:cNvPr id="195" name="Rectangle 146"/>
          <p:cNvSpPr>
            <a:spLocks noChangeArrowheads="1"/>
          </p:cNvSpPr>
          <p:nvPr/>
        </p:nvSpPr>
        <p:spPr bwMode="auto">
          <a:xfrm>
            <a:off x="5349875" y="1581150"/>
            <a:ext cx="533400" cy="479425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zh-CN" altLang="en-US" sz="1400">
              <a:ea typeface="宋体" pitchFamily="2" charset="-122"/>
            </a:endParaRPr>
          </a:p>
        </p:txBody>
      </p:sp>
      <p:sp>
        <p:nvSpPr>
          <p:cNvPr id="196" name="Rectangle 147"/>
          <p:cNvSpPr>
            <a:spLocks noChangeArrowheads="1"/>
          </p:cNvSpPr>
          <p:nvPr/>
        </p:nvSpPr>
        <p:spPr bwMode="auto">
          <a:xfrm>
            <a:off x="5349875" y="2089150"/>
            <a:ext cx="533400" cy="309563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7" name="Rectangle 148"/>
          <p:cNvSpPr>
            <a:spLocks noChangeArrowheads="1"/>
          </p:cNvSpPr>
          <p:nvPr/>
        </p:nvSpPr>
        <p:spPr bwMode="auto">
          <a:xfrm>
            <a:off x="5349875" y="2427288"/>
            <a:ext cx="533400" cy="309562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8" name="Rectangle 149"/>
          <p:cNvSpPr>
            <a:spLocks noChangeArrowheads="1"/>
          </p:cNvSpPr>
          <p:nvPr/>
        </p:nvSpPr>
        <p:spPr bwMode="auto">
          <a:xfrm>
            <a:off x="5349875" y="2765425"/>
            <a:ext cx="533400" cy="31115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9" name="Rectangle 150"/>
          <p:cNvSpPr>
            <a:spLocks noChangeArrowheads="1"/>
          </p:cNvSpPr>
          <p:nvPr/>
        </p:nvSpPr>
        <p:spPr bwMode="auto">
          <a:xfrm>
            <a:off x="3263900" y="1611313"/>
            <a:ext cx="682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400">
                <a:ea typeface="宋体" pitchFamily="2" charset="-122"/>
              </a:rPr>
              <a:t>In </a:t>
            </a:r>
          </a:p>
          <a:p>
            <a:pPr algn="ctr">
              <a:lnSpc>
                <a:spcPct val="90000"/>
              </a:lnSpc>
            </a:pPr>
            <a:r>
              <a:rPr lang="en-US" altLang="zh-CN" sz="1400">
                <a:ea typeface="宋体" pitchFamily="2" charset="-122"/>
              </a:rPr>
              <a:t>Label</a:t>
            </a:r>
          </a:p>
        </p:txBody>
      </p:sp>
      <p:sp>
        <p:nvSpPr>
          <p:cNvPr id="200" name="Rectangle 151"/>
          <p:cNvSpPr>
            <a:spLocks noChangeArrowheads="1"/>
          </p:cNvSpPr>
          <p:nvPr/>
        </p:nvSpPr>
        <p:spPr bwMode="auto">
          <a:xfrm>
            <a:off x="3854450" y="1611313"/>
            <a:ext cx="8572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400">
                <a:ea typeface="宋体" pitchFamily="2" charset="-122"/>
              </a:rPr>
              <a:t>Address </a:t>
            </a:r>
          </a:p>
          <a:p>
            <a:pPr algn="ctr">
              <a:lnSpc>
                <a:spcPct val="90000"/>
              </a:lnSpc>
            </a:pPr>
            <a:r>
              <a:rPr lang="en-US" altLang="zh-CN" sz="1400">
                <a:ea typeface="宋体" pitchFamily="2" charset="-122"/>
              </a:rPr>
              <a:t>Prefix</a:t>
            </a:r>
          </a:p>
        </p:txBody>
      </p:sp>
      <p:sp>
        <p:nvSpPr>
          <p:cNvPr id="201" name="Rectangle 152"/>
          <p:cNvSpPr>
            <a:spLocks noChangeArrowheads="1"/>
          </p:cNvSpPr>
          <p:nvPr/>
        </p:nvSpPr>
        <p:spPr bwMode="auto">
          <a:xfrm>
            <a:off x="3863975" y="2133600"/>
            <a:ext cx="838200" cy="289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/>
            <a:r>
              <a:rPr lang="en-US" altLang="zh-CN" sz="1400">
                <a:ea typeface="宋体" pitchFamily="2" charset="-122"/>
              </a:rPr>
              <a:t>128.89</a:t>
            </a:r>
          </a:p>
        </p:txBody>
      </p:sp>
      <p:sp>
        <p:nvSpPr>
          <p:cNvPr id="202" name="Rectangle 153"/>
          <p:cNvSpPr>
            <a:spLocks noChangeArrowheads="1"/>
          </p:cNvSpPr>
          <p:nvPr/>
        </p:nvSpPr>
        <p:spPr bwMode="auto">
          <a:xfrm>
            <a:off x="3863975" y="2438400"/>
            <a:ext cx="838200" cy="289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/>
            <a:r>
              <a:rPr lang="en-US" altLang="zh-CN" sz="1400">
                <a:ea typeface="宋体" pitchFamily="2" charset="-122"/>
              </a:rPr>
              <a:t>171.69</a:t>
            </a:r>
          </a:p>
        </p:txBody>
      </p:sp>
      <p:sp>
        <p:nvSpPr>
          <p:cNvPr id="203" name="Rectangle 154"/>
          <p:cNvSpPr>
            <a:spLocks noChangeArrowheads="1"/>
          </p:cNvSpPr>
          <p:nvPr/>
        </p:nvSpPr>
        <p:spPr bwMode="auto">
          <a:xfrm>
            <a:off x="4746625" y="2133600"/>
            <a:ext cx="533400" cy="289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/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204" name="Rectangle 155"/>
          <p:cNvSpPr>
            <a:spLocks noChangeArrowheads="1"/>
          </p:cNvSpPr>
          <p:nvPr/>
        </p:nvSpPr>
        <p:spPr bwMode="auto">
          <a:xfrm>
            <a:off x="4746625" y="2438400"/>
            <a:ext cx="533400" cy="289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/>
            <a:r>
              <a:rPr lang="en-US" altLang="zh-CN" sz="1400">
                <a:ea typeface="宋体" pitchFamily="2" charset="-122"/>
              </a:rPr>
              <a:t>1</a:t>
            </a:r>
          </a:p>
        </p:txBody>
      </p:sp>
      <p:sp>
        <p:nvSpPr>
          <p:cNvPr id="205" name="Rectangle 156"/>
          <p:cNvSpPr>
            <a:spLocks noChangeArrowheads="1"/>
          </p:cNvSpPr>
          <p:nvPr/>
        </p:nvSpPr>
        <p:spPr bwMode="auto">
          <a:xfrm>
            <a:off x="4578350" y="1609725"/>
            <a:ext cx="904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400">
                <a:ea typeface="宋体" pitchFamily="2" charset="-122"/>
              </a:rPr>
              <a:t>Out</a:t>
            </a:r>
          </a:p>
          <a:p>
            <a:pPr algn="ctr">
              <a:lnSpc>
                <a:spcPct val="90000"/>
              </a:lnSpc>
            </a:pPr>
            <a:r>
              <a:rPr lang="en-US" altLang="zh-CN" sz="1400">
                <a:ea typeface="宋体" pitchFamily="2" charset="-122"/>
              </a:rPr>
              <a:t>I’face</a:t>
            </a:r>
          </a:p>
        </p:txBody>
      </p:sp>
      <p:sp>
        <p:nvSpPr>
          <p:cNvPr id="206" name="Rectangle 157"/>
          <p:cNvSpPr>
            <a:spLocks noChangeArrowheads="1"/>
          </p:cNvSpPr>
          <p:nvPr/>
        </p:nvSpPr>
        <p:spPr bwMode="auto">
          <a:xfrm>
            <a:off x="5330825" y="1622425"/>
            <a:ext cx="582613" cy="40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200">
                <a:ea typeface="宋体" pitchFamily="2" charset="-122"/>
              </a:rPr>
              <a:t>Out</a:t>
            </a:r>
            <a:br>
              <a:rPr lang="en-US" altLang="zh-CN" sz="1200">
                <a:ea typeface="宋体" pitchFamily="2" charset="-122"/>
              </a:rPr>
            </a:br>
            <a:r>
              <a:rPr lang="en-US" altLang="zh-CN" sz="1200">
                <a:ea typeface="宋体" pitchFamily="2" charset="-122"/>
              </a:rPr>
              <a:t>Label</a:t>
            </a:r>
          </a:p>
        </p:txBody>
      </p:sp>
      <p:sp>
        <p:nvSpPr>
          <p:cNvPr id="207" name="Rectangle 158"/>
          <p:cNvSpPr>
            <a:spLocks noChangeArrowheads="1"/>
          </p:cNvSpPr>
          <p:nvPr/>
        </p:nvSpPr>
        <p:spPr bwMode="auto">
          <a:xfrm>
            <a:off x="6099175" y="1581150"/>
            <a:ext cx="496888" cy="479425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zh-CN" altLang="en-US" sz="1400">
              <a:ea typeface="宋体" pitchFamily="2" charset="-122"/>
            </a:endParaRPr>
          </a:p>
        </p:txBody>
      </p:sp>
      <p:sp>
        <p:nvSpPr>
          <p:cNvPr id="208" name="Rectangle 159"/>
          <p:cNvSpPr>
            <a:spLocks noChangeArrowheads="1"/>
          </p:cNvSpPr>
          <p:nvPr/>
        </p:nvSpPr>
        <p:spPr bwMode="auto">
          <a:xfrm>
            <a:off x="6099175" y="2089150"/>
            <a:ext cx="496888" cy="309563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9" name="Rectangle 160"/>
          <p:cNvSpPr>
            <a:spLocks noChangeArrowheads="1"/>
          </p:cNvSpPr>
          <p:nvPr/>
        </p:nvSpPr>
        <p:spPr bwMode="auto">
          <a:xfrm>
            <a:off x="6099175" y="2427288"/>
            <a:ext cx="496888" cy="309562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" name="Rectangle 161"/>
          <p:cNvSpPr>
            <a:spLocks noChangeArrowheads="1"/>
          </p:cNvSpPr>
          <p:nvPr/>
        </p:nvSpPr>
        <p:spPr bwMode="auto">
          <a:xfrm>
            <a:off x="6099175" y="2765425"/>
            <a:ext cx="496888" cy="31115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1" name="Rectangle 162"/>
          <p:cNvSpPr>
            <a:spLocks noChangeArrowheads="1"/>
          </p:cNvSpPr>
          <p:nvPr/>
        </p:nvSpPr>
        <p:spPr bwMode="auto">
          <a:xfrm>
            <a:off x="6611938" y="1581150"/>
            <a:ext cx="803275" cy="479425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zh-CN" altLang="en-US" sz="1400">
              <a:ea typeface="宋体" pitchFamily="2" charset="-122"/>
            </a:endParaRPr>
          </a:p>
        </p:txBody>
      </p:sp>
      <p:sp>
        <p:nvSpPr>
          <p:cNvPr id="212" name="Rectangle 163"/>
          <p:cNvSpPr>
            <a:spLocks noChangeArrowheads="1"/>
          </p:cNvSpPr>
          <p:nvPr/>
        </p:nvSpPr>
        <p:spPr bwMode="auto">
          <a:xfrm>
            <a:off x="6611938" y="2089150"/>
            <a:ext cx="803275" cy="309563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zh-CN" altLang="en-US" sz="1400">
              <a:ea typeface="宋体" pitchFamily="2" charset="-122"/>
            </a:endParaRPr>
          </a:p>
        </p:txBody>
      </p:sp>
      <p:sp>
        <p:nvSpPr>
          <p:cNvPr id="213" name="Rectangle 164"/>
          <p:cNvSpPr>
            <a:spLocks noChangeArrowheads="1"/>
          </p:cNvSpPr>
          <p:nvPr/>
        </p:nvSpPr>
        <p:spPr bwMode="auto">
          <a:xfrm>
            <a:off x="6611938" y="2427288"/>
            <a:ext cx="803275" cy="309562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zh-CN" altLang="en-US" sz="1400">
              <a:ea typeface="宋体" pitchFamily="2" charset="-122"/>
            </a:endParaRPr>
          </a:p>
        </p:txBody>
      </p:sp>
      <p:sp>
        <p:nvSpPr>
          <p:cNvPr id="214" name="Rectangle 165"/>
          <p:cNvSpPr>
            <a:spLocks noChangeArrowheads="1"/>
          </p:cNvSpPr>
          <p:nvPr/>
        </p:nvSpPr>
        <p:spPr bwMode="auto">
          <a:xfrm>
            <a:off x="6611938" y="2765425"/>
            <a:ext cx="803275" cy="31115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zh-CN" altLang="en-US" sz="1200">
              <a:ea typeface="宋体" pitchFamily="2" charset="-122"/>
            </a:endParaRPr>
          </a:p>
        </p:txBody>
      </p:sp>
      <p:sp>
        <p:nvSpPr>
          <p:cNvPr id="215" name="Rectangle 166"/>
          <p:cNvSpPr>
            <a:spLocks noChangeArrowheads="1"/>
          </p:cNvSpPr>
          <p:nvPr/>
        </p:nvSpPr>
        <p:spPr bwMode="auto">
          <a:xfrm>
            <a:off x="7439025" y="1581150"/>
            <a:ext cx="635000" cy="479425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zh-CN" altLang="en-US" sz="1400">
              <a:ea typeface="宋体" pitchFamily="2" charset="-122"/>
            </a:endParaRPr>
          </a:p>
        </p:txBody>
      </p:sp>
      <p:sp>
        <p:nvSpPr>
          <p:cNvPr id="216" name="Rectangle 167"/>
          <p:cNvSpPr>
            <a:spLocks noChangeArrowheads="1"/>
          </p:cNvSpPr>
          <p:nvPr/>
        </p:nvSpPr>
        <p:spPr bwMode="auto">
          <a:xfrm>
            <a:off x="7439025" y="2089150"/>
            <a:ext cx="635000" cy="309563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zh-CN" altLang="en-US" sz="1400">
              <a:ea typeface="宋体" pitchFamily="2" charset="-122"/>
            </a:endParaRPr>
          </a:p>
        </p:txBody>
      </p:sp>
      <p:sp>
        <p:nvSpPr>
          <p:cNvPr id="217" name="Rectangle 168"/>
          <p:cNvSpPr>
            <a:spLocks noChangeArrowheads="1"/>
          </p:cNvSpPr>
          <p:nvPr/>
        </p:nvSpPr>
        <p:spPr bwMode="auto">
          <a:xfrm>
            <a:off x="7439025" y="2427288"/>
            <a:ext cx="635000" cy="309562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zh-CN" altLang="en-US" sz="1400">
              <a:ea typeface="宋体" pitchFamily="2" charset="-122"/>
            </a:endParaRPr>
          </a:p>
        </p:txBody>
      </p:sp>
      <p:sp>
        <p:nvSpPr>
          <p:cNvPr id="218" name="Rectangle 169"/>
          <p:cNvSpPr>
            <a:spLocks noChangeArrowheads="1"/>
          </p:cNvSpPr>
          <p:nvPr/>
        </p:nvSpPr>
        <p:spPr bwMode="auto">
          <a:xfrm>
            <a:off x="7439025" y="2765425"/>
            <a:ext cx="635000" cy="31115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zh-CN" altLang="en-US" sz="1200">
              <a:ea typeface="宋体" pitchFamily="2" charset="-122"/>
            </a:endParaRPr>
          </a:p>
        </p:txBody>
      </p:sp>
      <p:sp>
        <p:nvSpPr>
          <p:cNvPr id="219" name="Rectangle 170"/>
          <p:cNvSpPr>
            <a:spLocks noChangeArrowheads="1"/>
          </p:cNvSpPr>
          <p:nvPr/>
        </p:nvSpPr>
        <p:spPr bwMode="auto">
          <a:xfrm>
            <a:off x="8093075" y="1581150"/>
            <a:ext cx="533400" cy="479425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zh-CN" altLang="en-US" sz="1400">
              <a:ea typeface="宋体" pitchFamily="2" charset="-122"/>
            </a:endParaRPr>
          </a:p>
        </p:txBody>
      </p:sp>
      <p:sp>
        <p:nvSpPr>
          <p:cNvPr id="220" name="Rectangle 171"/>
          <p:cNvSpPr>
            <a:spLocks noChangeArrowheads="1"/>
          </p:cNvSpPr>
          <p:nvPr/>
        </p:nvSpPr>
        <p:spPr bwMode="auto">
          <a:xfrm>
            <a:off x="8093075" y="2089150"/>
            <a:ext cx="533400" cy="309563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1" name="Rectangle 172"/>
          <p:cNvSpPr>
            <a:spLocks noChangeArrowheads="1"/>
          </p:cNvSpPr>
          <p:nvPr/>
        </p:nvSpPr>
        <p:spPr bwMode="auto">
          <a:xfrm>
            <a:off x="8093075" y="2427288"/>
            <a:ext cx="533400" cy="309562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2" name="Rectangle 173"/>
          <p:cNvSpPr>
            <a:spLocks noChangeArrowheads="1"/>
          </p:cNvSpPr>
          <p:nvPr/>
        </p:nvSpPr>
        <p:spPr bwMode="auto">
          <a:xfrm>
            <a:off x="8093075" y="2765425"/>
            <a:ext cx="533400" cy="31115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3" name="Rectangle 174"/>
          <p:cNvSpPr>
            <a:spLocks noChangeArrowheads="1"/>
          </p:cNvSpPr>
          <p:nvPr/>
        </p:nvSpPr>
        <p:spPr bwMode="auto">
          <a:xfrm>
            <a:off x="6007100" y="1611313"/>
            <a:ext cx="682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400">
                <a:ea typeface="宋体" pitchFamily="2" charset="-122"/>
              </a:rPr>
              <a:t>In </a:t>
            </a:r>
          </a:p>
          <a:p>
            <a:pPr algn="ctr">
              <a:lnSpc>
                <a:spcPct val="90000"/>
              </a:lnSpc>
            </a:pPr>
            <a:r>
              <a:rPr lang="en-US" altLang="zh-CN" sz="1400">
                <a:ea typeface="宋体" pitchFamily="2" charset="-122"/>
              </a:rPr>
              <a:t>Label</a:t>
            </a:r>
          </a:p>
        </p:txBody>
      </p:sp>
      <p:sp>
        <p:nvSpPr>
          <p:cNvPr id="224" name="Rectangle 175"/>
          <p:cNvSpPr>
            <a:spLocks noChangeArrowheads="1"/>
          </p:cNvSpPr>
          <p:nvPr/>
        </p:nvSpPr>
        <p:spPr bwMode="auto">
          <a:xfrm>
            <a:off x="6597650" y="1611313"/>
            <a:ext cx="8572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400">
                <a:ea typeface="宋体" pitchFamily="2" charset="-122"/>
              </a:rPr>
              <a:t>Address </a:t>
            </a:r>
          </a:p>
          <a:p>
            <a:pPr algn="ctr">
              <a:lnSpc>
                <a:spcPct val="90000"/>
              </a:lnSpc>
            </a:pPr>
            <a:r>
              <a:rPr lang="en-US" altLang="zh-CN" sz="1400">
                <a:ea typeface="宋体" pitchFamily="2" charset="-122"/>
              </a:rPr>
              <a:t>Prefix</a:t>
            </a:r>
          </a:p>
        </p:txBody>
      </p:sp>
      <p:sp>
        <p:nvSpPr>
          <p:cNvPr id="225" name="Rectangle 176"/>
          <p:cNvSpPr>
            <a:spLocks noChangeArrowheads="1"/>
          </p:cNvSpPr>
          <p:nvPr/>
        </p:nvSpPr>
        <p:spPr bwMode="auto">
          <a:xfrm>
            <a:off x="6607175" y="2133600"/>
            <a:ext cx="838200" cy="289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/>
            <a:r>
              <a:rPr lang="en-US" altLang="zh-CN" sz="1400">
                <a:ea typeface="宋体" pitchFamily="2" charset="-122"/>
              </a:rPr>
              <a:t>128.89</a:t>
            </a:r>
          </a:p>
        </p:txBody>
      </p:sp>
      <p:sp>
        <p:nvSpPr>
          <p:cNvPr id="226" name="Rectangle 177"/>
          <p:cNvSpPr>
            <a:spLocks noChangeArrowheads="1"/>
          </p:cNvSpPr>
          <p:nvPr/>
        </p:nvSpPr>
        <p:spPr bwMode="auto">
          <a:xfrm>
            <a:off x="7489825" y="2133600"/>
            <a:ext cx="533400" cy="289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/>
            <a:r>
              <a:rPr lang="en-US" altLang="zh-CN" sz="1400">
                <a:ea typeface="宋体" pitchFamily="2" charset="-122"/>
              </a:rPr>
              <a:t>0</a:t>
            </a:r>
          </a:p>
        </p:txBody>
      </p:sp>
      <p:sp>
        <p:nvSpPr>
          <p:cNvPr id="227" name="Rectangle 178"/>
          <p:cNvSpPr>
            <a:spLocks noChangeArrowheads="1"/>
          </p:cNvSpPr>
          <p:nvPr/>
        </p:nvSpPr>
        <p:spPr bwMode="auto">
          <a:xfrm>
            <a:off x="7321550" y="1609725"/>
            <a:ext cx="904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400">
                <a:ea typeface="宋体" pitchFamily="2" charset="-122"/>
              </a:rPr>
              <a:t>Out</a:t>
            </a:r>
          </a:p>
          <a:p>
            <a:pPr algn="ctr">
              <a:lnSpc>
                <a:spcPct val="90000"/>
              </a:lnSpc>
            </a:pPr>
            <a:r>
              <a:rPr lang="en-US" altLang="zh-CN" sz="1400">
                <a:ea typeface="宋体" pitchFamily="2" charset="-122"/>
              </a:rPr>
              <a:t>I’face</a:t>
            </a:r>
          </a:p>
        </p:txBody>
      </p:sp>
      <p:sp>
        <p:nvSpPr>
          <p:cNvPr id="228" name="Rectangle 179"/>
          <p:cNvSpPr>
            <a:spLocks noChangeArrowheads="1"/>
          </p:cNvSpPr>
          <p:nvPr/>
        </p:nvSpPr>
        <p:spPr bwMode="auto">
          <a:xfrm>
            <a:off x="8074025" y="1622425"/>
            <a:ext cx="582613" cy="40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200">
                <a:ea typeface="宋体" pitchFamily="2" charset="-122"/>
              </a:rPr>
              <a:t>Out</a:t>
            </a:r>
            <a:br>
              <a:rPr lang="en-US" altLang="zh-CN" sz="1200">
                <a:ea typeface="宋体" pitchFamily="2" charset="-122"/>
              </a:rPr>
            </a:br>
            <a:r>
              <a:rPr lang="en-US" altLang="zh-CN" sz="1200">
                <a:ea typeface="宋体" pitchFamily="2" charset="-122"/>
              </a:rPr>
              <a:t>Label</a:t>
            </a:r>
          </a:p>
        </p:txBody>
      </p:sp>
      <p:sp>
        <p:nvSpPr>
          <p:cNvPr id="229" name="Rectangle 180"/>
          <p:cNvSpPr>
            <a:spLocks noChangeArrowheads="1"/>
          </p:cNvSpPr>
          <p:nvPr/>
        </p:nvSpPr>
        <p:spPr bwMode="auto">
          <a:xfrm>
            <a:off x="8077200" y="2133600"/>
            <a:ext cx="533400" cy="289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/>
            <a:r>
              <a:rPr lang="en-US" altLang="zh-CN" sz="1400">
                <a:ea typeface="宋体" pitchFamily="2" charset="-122"/>
              </a:rPr>
              <a:t>-</a:t>
            </a:r>
          </a:p>
        </p:txBody>
      </p:sp>
      <p:sp>
        <p:nvSpPr>
          <p:cNvPr id="230" name="Rectangle 181"/>
          <p:cNvSpPr>
            <a:spLocks noChangeArrowheads="1"/>
          </p:cNvSpPr>
          <p:nvPr/>
        </p:nvSpPr>
        <p:spPr bwMode="auto">
          <a:xfrm>
            <a:off x="6080125" y="2133600"/>
            <a:ext cx="533400" cy="289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/>
            <a:r>
              <a:rPr lang="en-US" altLang="zh-CN" sz="1400">
                <a:ea typeface="宋体" pitchFamily="2" charset="-122"/>
              </a:rPr>
              <a:t>9</a:t>
            </a:r>
          </a:p>
        </p:txBody>
      </p:sp>
      <p:sp>
        <p:nvSpPr>
          <p:cNvPr id="231" name="Rectangle 182"/>
          <p:cNvSpPr>
            <a:spLocks noChangeArrowheads="1"/>
          </p:cNvSpPr>
          <p:nvPr/>
        </p:nvSpPr>
        <p:spPr bwMode="auto">
          <a:xfrm>
            <a:off x="8077200" y="2765425"/>
            <a:ext cx="558800" cy="3111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zh-CN" altLang="en-US" sz="1200">
              <a:ea typeface="宋体" pitchFamily="2" charset="-122"/>
            </a:endParaRPr>
          </a:p>
        </p:txBody>
      </p:sp>
      <p:sp>
        <p:nvSpPr>
          <p:cNvPr id="232" name="Rectangle 183"/>
          <p:cNvSpPr>
            <a:spLocks noChangeArrowheads="1"/>
          </p:cNvSpPr>
          <p:nvPr/>
        </p:nvSpPr>
        <p:spPr bwMode="auto">
          <a:xfrm>
            <a:off x="1125538" y="2743200"/>
            <a:ext cx="803275" cy="3111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zh-CN" sz="1200" dirty="0">
                <a:ea typeface="宋体" pitchFamily="2" charset="-122"/>
              </a:rPr>
              <a:t>…</a:t>
            </a:r>
          </a:p>
        </p:txBody>
      </p:sp>
      <p:sp>
        <p:nvSpPr>
          <p:cNvPr id="233" name="Rectangle 184"/>
          <p:cNvSpPr>
            <a:spLocks noChangeArrowheads="1"/>
          </p:cNvSpPr>
          <p:nvPr/>
        </p:nvSpPr>
        <p:spPr bwMode="auto">
          <a:xfrm>
            <a:off x="1949450" y="2743200"/>
            <a:ext cx="641350" cy="3111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zh-CN" sz="1200">
                <a:ea typeface="宋体" pitchFamily="2" charset="-122"/>
              </a:rPr>
              <a:t>…</a:t>
            </a:r>
          </a:p>
        </p:txBody>
      </p:sp>
      <p:sp>
        <p:nvSpPr>
          <p:cNvPr id="234" name="Rectangle 185"/>
          <p:cNvSpPr>
            <a:spLocks noChangeArrowheads="1"/>
          </p:cNvSpPr>
          <p:nvPr/>
        </p:nvSpPr>
        <p:spPr bwMode="auto">
          <a:xfrm>
            <a:off x="3886200" y="2743200"/>
            <a:ext cx="803275" cy="3111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zh-CN" sz="1200">
                <a:ea typeface="宋体" pitchFamily="2" charset="-122"/>
              </a:rPr>
              <a:t>…</a:t>
            </a:r>
          </a:p>
        </p:txBody>
      </p:sp>
      <p:sp>
        <p:nvSpPr>
          <p:cNvPr id="235" name="Rectangle 186"/>
          <p:cNvSpPr>
            <a:spLocks noChangeArrowheads="1"/>
          </p:cNvSpPr>
          <p:nvPr/>
        </p:nvSpPr>
        <p:spPr bwMode="auto">
          <a:xfrm>
            <a:off x="4686300" y="2743200"/>
            <a:ext cx="660400" cy="3111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zh-CN" sz="1200">
                <a:ea typeface="宋体" pitchFamily="2" charset="-122"/>
              </a:rPr>
              <a:t>…</a:t>
            </a:r>
          </a:p>
        </p:txBody>
      </p:sp>
      <p:sp>
        <p:nvSpPr>
          <p:cNvPr id="236" name="Rectangle 187"/>
          <p:cNvSpPr>
            <a:spLocks noChangeArrowheads="1"/>
          </p:cNvSpPr>
          <p:nvPr/>
        </p:nvSpPr>
        <p:spPr bwMode="auto">
          <a:xfrm>
            <a:off x="6600825" y="2743200"/>
            <a:ext cx="822325" cy="3111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zh-CN" sz="1200">
                <a:ea typeface="宋体" pitchFamily="2" charset="-122"/>
              </a:rPr>
              <a:t>…</a:t>
            </a:r>
          </a:p>
        </p:txBody>
      </p:sp>
      <p:sp>
        <p:nvSpPr>
          <p:cNvPr id="237" name="Rectangle 188"/>
          <p:cNvSpPr>
            <a:spLocks noChangeArrowheads="1"/>
          </p:cNvSpPr>
          <p:nvPr/>
        </p:nvSpPr>
        <p:spPr bwMode="auto">
          <a:xfrm>
            <a:off x="7419975" y="2743200"/>
            <a:ext cx="679450" cy="3111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zh-CN" sz="1200">
                <a:ea typeface="宋体" pitchFamily="2" charset="-122"/>
              </a:rPr>
              <a:t>…</a:t>
            </a:r>
          </a:p>
        </p:txBody>
      </p:sp>
      <p:sp>
        <p:nvSpPr>
          <p:cNvPr id="238" name="Rectangle 189"/>
          <p:cNvSpPr>
            <a:spLocks noChangeArrowheads="1"/>
          </p:cNvSpPr>
          <p:nvPr/>
        </p:nvSpPr>
        <p:spPr bwMode="auto">
          <a:xfrm>
            <a:off x="6105525" y="2743200"/>
            <a:ext cx="498475" cy="3111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zh-CN" sz="1200">
                <a:ea typeface="宋体" pitchFamily="2" charset="-122"/>
              </a:rPr>
              <a:t>…</a:t>
            </a:r>
          </a:p>
        </p:txBody>
      </p:sp>
      <p:sp>
        <p:nvSpPr>
          <p:cNvPr id="239" name="Rectangle 190"/>
          <p:cNvSpPr>
            <a:spLocks noChangeArrowheads="1"/>
          </p:cNvSpPr>
          <p:nvPr/>
        </p:nvSpPr>
        <p:spPr bwMode="auto">
          <a:xfrm>
            <a:off x="8086725" y="2743200"/>
            <a:ext cx="536575" cy="3111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zh-CN" sz="1200">
                <a:ea typeface="宋体" pitchFamily="2" charset="-122"/>
              </a:rPr>
              <a:t>…</a:t>
            </a:r>
          </a:p>
        </p:txBody>
      </p:sp>
      <p:sp>
        <p:nvSpPr>
          <p:cNvPr id="240" name="Rectangle 191"/>
          <p:cNvSpPr>
            <a:spLocks noChangeArrowheads="1"/>
          </p:cNvSpPr>
          <p:nvPr/>
        </p:nvSpPr>
        <p:spPr bwMode="auto">
          <a:xfrm>
            <a:off x="628650" y="2743200"/>
            <a:ext cx="498475" cy="3111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zh-CN" sz="1200">
                <a:ea typeface="宋体" pitchFamily="2" charset="-122"/>
              </a:rPr>
              <a:t>…</a:t>
            </a:r>
          </a:p>
        </p:txBody>
      </p:sp>
      <p:sp>
        <p:nvSpPr>
          <p:cNvPr id="241" name="Rectangle 192"/>
          <p:cNvSpPr>
            <a:spLocks noChangeArrowheads="1"/>
          </p:cNvSpPr>
          <p:nvPr/>
        </p:nvSpPr>
        <p:spPr bwMode="auto">
          <a:xfrm>
            <a:off x="2609850" y="2743200"/>
            <a:ext cx="536575" cy="3111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zh-CN" sz="1200">
                <a:ea typeface="宋体" pitchFamily="2" charset="-122"/>
              </a:rPr>
              <a:t>…</a:t>
            </a:r>
          </a:p>
        </p:txBody>
      </p:sp>
      <p:sp>
        <p:nvSpPr>
          <p:cNvPr id="242" name="Rectangle 193"/>
          <p:cNvSpPr>
            <a:spLocks noChangeArrowheads="1"/>
          </p:cNvSpPr>
          <p:nvPr/>
        </p:nvSpPr>
        <p:spPr bwMode="auto">
          <a:xfrm>
            <a:off x="3352800" y="2743200"/>
            <a:ext cx="498475" cy="3111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zh-CN" sz="1200">
                <a:ea typeface="宋体" pitchFamily="2" charset="-122"/>
              </a:rPr>
              <a:t>…</a:t>
            </a:r>
          </a:p>
        </p:txBody>
      </p:sp>
      <p:sp>
        <p:nvSpPr>
          <p:cNvPr id="243" name="Rectangle 194"/>
          <p:cNvSpPr>
            <a:spLocks noChangeArrowheads="1"/>
          </p:cNvSpPr>
          <p:nvPr/>
        </p:nvSpPr>
        <p:spPr bwMode="auto">
          <a:xfrm>
            <a:off x="5334000" y="2743200"/>
            <a:ext cx="536575" cy="3111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zh-CN" sz="1200">
                <a:ea typeface="宋体" pitchFamily="2" charset="-122"/>
              </a:rPr>
              <a:t>…</a:t>
            </a:r>
          </a:p>
        </p:txBody>
      </p:sp>
      <p:sp>
        <p:nvSpPr>
          <p:cNvPr id="244" name="Rectangle 195"/>
          <p:cNvSpPr>
            <a:spLocks noChangeArrowheads="1"/>
          </p:cNvSpPr>
          <p:nvPr/>
        </p:nvSpPr>
        <p:spPr bwMode="auto">
          <a:xfrm>
            <a:off x="5356225" y="2133600"/>
            <a:ext cx="533400" cy="289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/>
            <a:r>
              <a:rPr lang="en-US" altLang="zh-CN" sz="1400">
                <a:ea typeface="宋体" pitchFamily="2" charset="-122"/>
              </a:rPr>
              <a:t>9</a:t>
            </a:r>
          </a:p>
        </p:txBody>
      </p:sp>
      <p:sp>
        <p:nvSpPr>
          <p:cNvPr id="245" name="Rectangle 196"/>
          <p:cNvSpPr>
            <a:spLocks noChangeArrowheads="1"/>
          </p:cNvSpPr>
          <p:nvPr/>
        </p:nvSpPr>
        <p:spPr bwMode="auto">
          <a:xfrm>
            <a:off x="5346700" y="2438400"/>
            <a:ext cx="533400" cy="289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/>
            <a:r>
              <a:rPr lang="en-US" altLang="zh-CN" sz="1400">
                <a:ea typeface="宋体" pitchFamily="2" charset="-122"/>
              </a:rPr>
              <a:t>7</a:t>
            </a:r>
          </a:p>
        </p:txBody>
      </p:sp>
      <p:sp>
        <p:nvSpPr>
          <p:cNvPr id="246" name="Rectangle 197"/>
          <p:cNvSpPr>
            <a:spLocks noChangeArrowheads="1"/>
          </p:cNvSpPr>
          <p:nvPr/>
        </p:nvSpPr>
        <p:spPr bwMode="auto">
          <a:xfrm>
            <a:off x="3346450" y="2133600"/>
            <a:ext cx="533400" cy="289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/>
            <a:r>
              <a:rPr lang="en-US" altLang="zh-CN" sz="1400">
                <a:ea typeface="宋体" pitchFamily="2" charset="-122"/>
              </a:rPr>
              <a:t>4</a:t>
            </a:r>
          </a:p>
        </p:txBody>
      </p:sp>
      <p:sp>
        <p:nvSpPr>
          <p:cNvPr id="247" name="Rectangle 198"/>
          <p:cNvSpPr>
            <a:spLocks noChangeArrowheads="1"/>
          </p:cNvSpPr>
          <p:nvPr/>
        </p:nvSpPr>
        <p:spPr bwMode="auto">
          <a:xfrm>
            <a:off x="3336925" y="2438400"/>
            <a:ext cx="533400" cy="289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/>
            <a:r>
              <a:rPr lang="en-US" altLang="zh-CN" sz="1400">
                <a:ea typeface="宋体" pitchFamily="2" charset="-122"/>
              </a:rPr>
              <a:t>5</a:t>
            </a:r>
          </a:p>
        </p:txBody>
      </p:sp>
      <p:sp>
        <p:nvSpPr>
          <p:cNvPr id="248" name="Rectangle 199"/>
          <p:cNvSpPr>
            <a:spLocks noChangeArrowheads="1"/>
          </p:cNvSpPr>
          <p:nvPr/>
        </p:nvSpPr>
        <p:spPr bwMode="auto">
          <a:xfrm>
            <a:off x="2613025" y="2133600"/>
            <a:ext cx="533400" cy="289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/>
            <a:r>
              <a:rPr lang="en-US" altLang="zh-CN" sz="1400">
                <a:ea typeface="宋体" pitchFamily="2" charset="-122"/>
              </a:rPr>
              <a:t>4</a:t>
            </a:r>
          </a:p>
        </p:txBody>
      </p:sp>
      <p:sp>
        <p:nvSpPr>
          <p:cNvPr id="249" name="Rectangle 200"/>
          <p:cNvSpPr>
            <a:spLocks noChangeArrowheads="1"/>
          </p:cNvSpPr>
          <p:nvPr/>
        </p:nvSpPr>
        <p:spPr bwMode="auto">
          <a:xfrm>
            <a:off x="2603500" y="2438400"/>
            <a:ext cx="533400" cy="289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/>
            <a:r>
              <a:rPr lang="en-US" altLang="zh-CN" sz="1400">
                <a:ea typeface="宋体" pitchFamily="2" charset="-122"/>
              </a:rPr>
              <a:t>5</a:t>
            </a:r>
          </a:p>
        </p:txBody>
      </p:sp>
      <p:sp>
        <p:nvSpPr>
          <p:cNvPr id="250" name="Rectangle 201"/>
          <p:cNvSpPr>
            <a:spLocks noChangeArrowheads="1"/>
          </p:cNvSpPr>
          <p:nvPr/>
        </p:nvSpPr>
        <p:spPr bwMode="auto">
          <a:xfrm>
            <a:off x="603250" y="2133600"/>
            <a:ext cx="533400" cy="289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/>
            <a:r>
              <a:rPr lang="en-US" altLang="zh-CN" sz="1400">
                <a:ea typeface="宋体" pitchFamily="2" charset="-122"/>
              </a:rPr>
              <a:t>-</a:t>
            </a:r>
          </a:p>
        </p:txBody>
      </p:sp>
      <p:sp>
        <p:nvSpPr>
          <p:cNvPr id="251" name="Rectangle 202"/>
          <p:cNvSpPr>
            <a:spLocks noChangeArrowheads="1"/>
          </p:cNvSpPr>
          <p:nvPr/>
        </p:nvSpPr>
        <p:spPr bwMode="auto">
          <a:xfrm>
            <a:off x="593725" y="2438400"/>
            <a:ext cx="533400" cy="289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/>
            <a:r>
              <a:rPr lang="en-US" altLang="zh-CN" sz="1400">
                <a:ea typeface="宋体" pitchFamily="2" charset="-122"/>
              </a:rPr>
              <a:t>-</a:t>
            </a:r>
          </a:p>
        </p:txBody>
      </p:sp>
      <p:sp>
        <p:nvSpPr>
          <p:cNvPr id="253" name="Rectangle 204"/>
          <p:cNvSpPr>
            <a:spLocks noChangeArrowheads="1"/>
          </p:cNvSpPr>
          <p:nvPr/>
        </p:nvSpPr>
        <p:spPr bwMode="auto">
          <a:xfrm>
            <a:off x="6934200" y="5715000"/>
            <a:ext cx="641201" cy="289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73025" tIns="36512" rIns="73025" bIns="36512">
            <a:spAutoFit/>
          </a:bodyPr>
          <a:lstStyle/>
          <a:p>
            <a:pPr defTabSz="585788"/>
            <a:r>
              <a:rPr lang="en-US" altLang="zh-CN" sz="1400">
                <a:ea typeface="宋体" pitchFamily="2" charset="-122"/>
              </a:rPr>
              <a:t>171.69</a:t>
            </a:r>
          </a:p>
        </p:txBody>
      </p:sp>
      <p:pic>
        <p:nvPicPr>
          <p:cNvPr id="117" name="Picture 112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67993" y="4033838"/>
            <a:ext cx="727075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8" name="Rectangle 92"/>
          <p:cNvSpPr>
            <a:spLocks noChangeArrowheads="1"/>
          </p:cNvSpPr>
          <p:nvPr/>
        </p:nvSpPr>
        <p:spPr bwMode="auto">
          <a:xfrm>
            <a:off x="2590800" y="4260346"/>
            <a:ext cx="403957" cy="289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73025" tIns="36512" rIns="73025" bIns="36512">
            <a:spAutoFit/>
          </a:bodyPr>
          <a:lstStyle/>
          <a:p>
            <a:pPr defTabSz="585788"/>
            <a:r>
              <a:rPr lang="en-US" altLang="zh-CN" sz="1400" dirty="0" smtClean="0">
                <a:ea typeface="宋体" pitchFamily="2" charset="-122"/>
              </a:rPr>
              <a:t>1/5</a:t>
            </a:r>
            <a:endParaRPr lang="en-US" altLang="zh-CN" sz="1400" dirty="0">
              <a:ea typeface="宋体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11722" y="4694117"/>
            <a:ext cx="3104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Note : Label Stacking</a:t>
            </a:r>
            <a:endParaRPr lang="en-US" dirty="0"/>
          </a:p>
        </p:txBody>
      </p:sp>
      <p:grpSp>
        <p:nvGrpSpPr>
          <p:cNvPr id="120" name="Group 4"/>
          <p:cNvGrpSpPr>
            <a:grpSpLocks/>
          </p:cNvGrpSpPr>
          <p:nvPr/>
        </p:nvGrpSpPr>
        <p:grpSpPr bwMode="auto">
          <a:xfrm>
            <a:off x="265112" y="5288091"/>
            <a:ext cx="5337175" cy="716090"/>
            <a:chOff x="720" y="2304"/>
            <a:chExt cx="4464" cy="432"/>
          </a:xfrm>
        </p:grpSpPr>
        <p:sp>
          <p:nvSpPr>
            <p:cNvPr id="121" name="Rectangle 5"/>
            <p:cNvSpPr>
              <a:spLocks noChangeArrowheads="1"/>
            </p:cNvSpPr>
            <p:nvPr/>
          </p:nvSpPr>
          <p:spPr bwMode="auto">
            <a:xfrm>
              <a:off x="720" y="2304"/>
              <a:ext cx="2112" cy="432"/>
            </a:xfrm>
            <a:prstGeom prst="rect">
              <a:avLst/>
            </a:prstGeom>
            <a:solidFill>
              <a:srgbClr val="FFE8D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>
                  <a:solidFill>
                    <a:srgbClr val="001428"/>
                  </a:solidFill>
                  <a:latin typeface="Times New Roman" pitchFamily="18" charset="0"/>
                </a:rPr>
                <a:t>Label</a:t>
              </a:r>
              <a:br>
                <a:rPr lang="en-US" sz="1600">
                  <a:solidFill>
                    <a:srgbClr val="001428"/>
                  </a:solidFill>
                  <a:latin typeface="Times New Roman" pitchFamily="18" charset="0"/>
                </a:rPr>
              </a:br>
              <a:r>
                <a:rPr lang="en-US" sz="1600">
                  <a:solidFill>
                    <a:srgbClr val="001428"/>
                  </a:solidFill>
                  <a:latin typeface="Times New Roman" pitchFamily="18" charset="0"/>
                </a:rPr>
                <a:t>(20 bits)</a:t>
              </a:r>
            </a:p>
          </p:txBody>
        </p:sp>
        <p:sp>
          <p:nvSpPr>
            <p:cNvPr id="122" name="Rectangle 6"/>
            <p:cNvSpPr>
              <a:spLocks noChangeArrowheads="1"/>
            </p:cNvSpPr>
            <p:nvPr/>
          </p:nvSpPr>
          <p:spPr bwMode="auto">
            <a:xfrm>
              <a:off x="2832" y="2304"/>
              <a:ext cx="816" cy="432"/>
            </a:xfrm>
            <a:prstGeom prst="rect">
              <a:avLst/>
            </a:prstGeom>
            <a:solidFill>
              <a:srgbClr val="C9C6E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>
                  <a:solidFill>
                    <a:srgbClr val="001428"/>
                  </a:solidFill>
                  <a:latin typeface="Times New Roman" pitchFamily="18" charset="0"/>
                </a:rPr>
                <a:t>Exp</a:t>
              </a:r>
              <a:br>
                <a:rPr lang="en-US" sz="1600">
                  <a:solidFill>
                    <a:srgbClr val="001428"/>
                  </a:solidFill>
                  <a:latin typeface="Times New Roman" pitchFamily="18" charset="0"/>
                </a:rPr>
              </a:br>
              <a:r>
                <a:rPr lang="en-US" sz="1600">
                  <a:solidFill>
                    <a:srgbClr val="001428"/>
                  </a:solidFill>
                  <a:latin typeface="Times New Roman" pitchFamily="18" charset="0"/>
                </a:rPr>
                <a:t>(3 bits)</a:t>
              </a:r>
            </a:p>
          </p:txBody>
        </p:sp>
        <p:sp>
          <p:nvSpPr>
            <p:cNvPr id="123" name="Rectangle 7"/>
            <p:cNvSpPr>
              <a:spLocks noChangeArrowheads="1"/>
            </p:cNvSpPr>
            <p:nvPr/>
          </p:nvSpPr>
          <p:spPr bwMode="auto">
            <a:xfrm>
              <a:off x="3648" y="2304"/>
              <a:ext cx="480" cy="432"/>
            </a:xfrm>
            <a:prstGeom prst="rect">
              <a:avLst/>
            </a:prstGeom>
            <a:solidFill>
              <a:srgbClr val="FAB4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dirty="0">
                  <a:solidFill>
                    <a:srgbClr val="001428"/>
                  </a:solidFill>
                  <a:latin typeface="Times New Roman" pitchFamily="18" charset="0"/>
                </a:rPr>
                <a:t>S</a:t>
              </a:r>
            </a:p>
            <a:p>
              <a:pPr algn="ctr"/>
              <a:r>
                <a:rPr lang="en-US" sz="1600" dirty="0">
                  <a:solidFill>
                    <a:srgbClr val="001428"/>
                  </a:solidFill>
                  <a:latin typeface="Times New Roman" pitchFamily="18" charset="0"/>
                </a:rPr>
                <a:t>(1 bit)</a:t>
              </a:r>
            </a:p>
          </p:txBody>
        </p:sp>
        <p:sp>
          <p:nvSpPr>
            <p:cNvPr id="124" name="Rectangle 8"/>
            <p:cNvSpPr>
              <a:spLocks noChangeArrowheads="1"/>
            </p:cNvSpPr>
            <p:nvPr/>
          </p:nvSpPr>
          <p:spPr bwMode="auto">
            <a:xfrm>
              <a:off x="4128" y="2304"/>
              <a:ext cx="1056" cy="432"/>
            </a:xfrm>
            <a:prstGeom prst="rect">
              <a:avLst/>
            </a:prstGeom>
            <a:solidFill>
              <a:srgbClr val="F5F39B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dirty="0">
                  <a:solidFill>
                    <a:srgbClr val="001428"/>
                  </a:solidFill>
                  <a:latin typeface="Times New Roman" pitchFamily="18" charset="0"/>
                </a:rPr>
                <a:t>TTL</a:t>
              </a:r>
            </a:p>
            <a:p>
              <a:pPr algn="ctr"/>
              <a:r>
                <a:rPr lang="en-US" sz="1600" dirty="0">
                  <a:solidFill>
                    <a:srgbClr val="001428"/>
                  </a:solidFill>
                  <a:latin typeface="Times New Roman" pitchFamily="18" charset="0"/>
                </a:rPr>
                <a:t>(</a:t>
              </a:r>
              <a:r>
                <a:rPr lang="en-US" sz="1600" dirty="0" smtClean="0">
                  <a:solidFill>
                    <a:srgbClr val="001428"/>
                  </a:solidFill>
                  <a:latin typeface="Times New Roman" pitchFamily="18" charset="0"/>
                </a:rPr>
                <a:t>8 bits</a:t>
              </a:r>
              <a:r>
                <a:rPr lang="en-US" sz="1600" dirty="0">
                  <a:solidFill>
                    <a:srgbClr val="001428"/>
                  </a:solidFill>
                  <a:latin typeface="Times New Roman" pitchFamily="18" charset="0"/>
                </a:rPr>
                <a:t>)</a:t>
              </a:r>
            </a:p>
          </p:txBody>
        </p:sp>
      </p:grpSp>
      <p:sp>
        <p:nvSpPr>
          <p:cNvPr id="125" name="TextBox 124"/>
          <p:cNvSpPr txBox="1"/>
          <p:nvPr/>
        </p:nvSpPr>
        <p:spPr>
          <a:xfrm>
            <a:off x="6934200" y="6312932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© Dr. Kingsley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56101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E9409-FBE0-4944-B89E-B74A2E9E4FDC}" type="slidenum">
              <a:rPr lang="en-US"/>
              <a:pPr/>
              <a:t>32</a:t>
            </a:fld>
            <a:endParaRPr lang="en-US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Label Stacking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A packet may carry multiple labels, organized as a last-in-first-out </a:t>
            </a:r>
            <a:r>
              <a:rPr lang="en-US" sz="2400" dirty="0" smtClean="0"/>
              <a:t>stack.</a:t>
            </a: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/>
              <a:t>A label may be added to/removed from the stack at any </a:t>
            </a:r>
            <a:r>
              <a:rPr lang="en-US" sz="2400" dirty="0" smtClean="0"/>
              <a:t>LSR.</a:t>
            </a: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/>
              <a:t>Processing always done on the top label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Allow the aggregation of LSPs into a single LSP for a portion of the route, creating a tunnel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At the beginning of the tunnel, the LSR assigns the same label to packets from different LSPs by pushing the label onto each packet’s stack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At the end of the tunnel, the LSR pops the top label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34200" y="6312932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© Dr. Kingsley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553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>
                <a:solidFill>
                  <a:schemeClr val="accent2"/>
                </a:solidFill>
              </a:rPr>
              <a:t>Packet Forwarding (Again)</a:t>
            </a:r>
            <a:endParaRPr lang="en-US" sz="3600" dirty="0">
              <a:solidFill>
                <a:schemeClr val="accent2"/>
              </a:solidFill>
            </a:endParaRPr>
          </a:p>
        </p:txBody>
      </p:sp>
      <p:pic>
        <p:nvPicPr>
          <p:cNvPr id="88067" name="Picture 3" descr="router-generic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752600" y="2438400"/>
            <a:ext cx="795338" cy="538163"/>
          </a:xfrm>
          <a:noFill/>
          <a:ln/>
        </p:spPr>
      </p:pic>
      <p:sp>
        <p:nvSpPr>
          <p:cNvPr id="88069" name="Line 5"/>
          <p:cNvSpPr>
            <a:spLocks noChangeShapeType="1"/>
          </p:cNvSpPr>
          <p:nvPr/>
        </p:nvSpPr>
        <p:spPr bwMode="auto">
          <a:xfrm flipV="1">
            <a:off x="5762625" y="2654300"/>
            <a:ext cx="1384300" cy="127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82550" tIns="41275" rIns="82550" bIns="41275" anchor="ctr">
            <a:spAutoFit/>
          </a:bodyPr>
          <a:lstStyle/>
          <a:p>
            <a:endParaRPr lang="en-US"/>
          </a:p>
        </p:txBody>
      </p:sp>
      <p:sp>
        <p:nvSpPr>
          <p:cNvPr id="88070" name="Line 6"/>
          <p:cNvSpPr>
            <a:spLocks noChangeShapeType="1"/>
          </p:cNvSpPr>
          <p:nvPr/>
        </p:nvSpPr>
        <p:spPr bwMode="auto">
          <a:xfrm>
            <a:off x="2590800" y="2667000"/>
            <a:ext cx="1066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82550" tIns="41275" rIns="82550" bIns="41275" anchor="ctr">
            <a:spAutoFit/>
          </a:bodyPr>
          <a:lstStyle/>
          <a:p>
            <a:endParaRPr lang="en-US"/>
          </a:p>
        </p:txBody>
      </p:sp>
      <p:sp>
        <p:nvSpPr>
          <p:cNvPr id="88071" name="Line 7"/>
          <p:cNvSpPr>
            <a:spLocks noChangeShapeType="1"/>
          </p:cNvSpPr>
          <p:nvPr/>
        </p:nvSpPr>
        <p:spPr bwMode="auto">
          <a:xfrm flipV="1">
            <a:off x="4124325" y="2654300"/>
            <a:ext cx="977900" cy="127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82550" tIns="41275" rIns="82550" bIns="41275" anchor="ctr">
            <a:spAutoFit/>
          </a:bodyPr>
          <a:lstStyle/>
          <a:p>
            <a:endParaRPr lang="en-US"/>
          </a:p>
        </p:txBody>
      </p:sp>
      <p:sp>
        <p:nvSpPr>
          <p:cNvPr id="88072" name="Line 8"/>
          <p:cNvSpPr>
            <a:spLocks noChangeShapeType="1"/>
          </p:cNvSpPr>
          <p:nvPr/>
        </p:nvSpPr>
        <p:spPr bwMode="auto">
          <a:xfrm>
            <a:off x="8048625" y="2667000"/>
            <a:ext cx="990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82550" tIns="41275" rIns="82550" bIns="41275" anchor="ctr">
            <a:spAutoFit/>
          </a:bodyPr>
          <a:lstStyle/>
          <a:p>
            <a:endParaRPr lang="en-US"/>
          </a:p>
        </p:txBody>
      </p:sp>
      <p:sp>
        <p:nvSpPr>
          <p:cNvPr id="88073" name="Line 9"/>
          <p:cNvSpPr>
            <a:spLocks noChangeShapeType="1"/>
          </p:cNvSpPr>
          <p:nvPr/>
        </p:nvSpPr>
        <p:spPr bwMode="auto">
          <a:xfrm>
            <a:off x="352425" y="2667000"/>
            <a:ext cx="838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82550" tIns="41275" rIns="82550" bIns="41275" anchor="ctr">
            <a:spAutoFit/>
          </a:bodyPr>
          <a:lstStyle/>
          <a:p>
            <a:endParaRPr lang="en-US"/>
          </a:p>
        </p:txBody>
      </p:sp>
      <p:sp>
        <p:nvSpPr>
          <p:cNvPr id="88074" name="Rectangle 10"/>
          <p:cNvSpPr>
            <a:spLocks noChangeArrowheads="1"/>
          </p:cNvSpPr>
          <p:nvPr/>
        </p:nvSpPr>
        <p:spPr bwMode="auto">
          <a:xfrm>
            <a:off x="203200" y="3162300"/>
            <a:ext cx="584200" cy="3968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lIns="82550" tIns="41275" rIns="82550" bIns="41275" anchor="ctr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Arial" pitchFamily="34" charset="0"/>
              </a:rPr>
              <a:t>IP1</a:t>
            </a:r>
            <a:endParaRPr lang="en-US" sz="14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88075" name="Rectangle 11"/>
          <p:cNvSpPr>
            <a:spLocks noChangeArrowheads="1"/>
          </p:cNvSpPr>
          <p:nvPr/>
        </p:nvSpPr>
        <p:spPr bwMode="auto">
          <a:xfrm>
            <a:off x="214313" y="3821113"/>
            <a:ext cx="584200" cy="3968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lIns="82550" tIns="41275" rIns="82550" bIns="41275" anchor="ctr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Arial" pitchFamily="34" charset="0"/>
              </a:rPr>
              <a:t>IP2</a:t>
            </a:r>
            <a:endParaRPr lang="en-US" sz="14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88076" name="Rectangle 12"/>
          <p:cNvSpPr>
            <a:spLocks noChangeArrowheads="1"/>
          </p:cNvSpPr>
          <p:nvPr/>
        </p:nvSpPr>
        <p:spPr bwMode="auto">
          <a:xfrm>
            <a:off x="8140700" y="3225800"/>
            <a:ext cx="584200" cy="3968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lIns="82550" tIns="41275" rIns="82550" bIns="41275" anchor="ctr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Arial" pitchFamily="34" charset="0"/>
              </a:rPr>
              <a:t>IP1</a:t>
            </a:r>
            <a:endParaRPr lang="en-US" sz="14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88077" name="Rectangle 13"/>
          <p:cNvSpPr>
            <a:spLocks noChangeArrowheads="1"/>
          </p:cNvSpPr>
          <p:nvPr/>
        </p:nvSpPr>
        <p:spPr bwMode="auto">
          <a:xfrm>
            <a:off x="8153400" y="3784600"/>
            <a:ext cx="584200" cy="3968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lIns="82550" tIns="41275" rIns="82550" bIns="41275" anchor="ctr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Arial" pitchFamily="34" charset="0"/>
              </a:rPr>
              <a:t>IP2</a:t>
            </a:r>
            <a:endParaRPr lang="en-US" sz="14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88078" name="Text Box 14"/>
          <p:cNvSpPr txBox="1">
            <a:spLocks noChangeArrowheads="1"/>
          </p:cNvSpPr>
          <p:nvPr/>
        </p:nvSpPr>
        <p:spPr bwMode="auto">
          <a:xfrm>
            <a:off x="5346700" y="1968500"/>
            <a:ext cx="6223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550" tIns="41275" rIns="82550" bIns="41275">
            <a:spAutoFit/>
          </a:bodyPr>
          <a:lstStyle/>
          <a:p>
            <a:r>
              <a:rPr lang="en-US" b="1">
                <a:latin typeface="Arial" pitchFamily="34" charset="0"/>
              </a:rPr>
              <a:t>LSR</a:t>
            </a:r>
          </a:p>
        </p:txBody>
      </p:sp>
      <p:sp>
        <p:nvSpPr>
          <p:cNvPr id="88079" name="Text Box 15"/>
          <p:cNvSpPr txBox="1">
            <a:spLocks noChangeArrowheads="1"/>
          </p:cNvSpPr>
          <p:nvPr/>
        </p:nvSpPr>
        <p:spPr bwMode="auto">
          <a:xfrm>
            <a:off x="3314700" y="1905000"/>
            <a:ext cx="6223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550" tIns="41275" rIns="82550" bIns="41275">
            <a:spAutoFit/>
          </a:bodyPr>
          <a:lstStyle/>
          <a:p>
            <a:r>
              <a:rPr lang="en-US" b="1">
                <a:latin typeface="Arial" pitchFamily="34" charset="0"/>
              </a:rPr>
              <a:t>LSR</a:t>
            </a:r>
          </a:p>
        </p:txBody>
      </p:sp>
      <p:sp>
        <p:nvSpPr>
          <p:cNvPr id="88080" name="Text Box 16"/>
          <p:cNvSpPr txBox="1">
            <a:spLocks noChangeArrowheads="1"/>
          </p:cNvSpPr>
          <p:nvPr/>
        </p:nvSpPr>
        <p:spPr bwMode="auto">
          <a:xfrm>
            <a:off x="1676400" y="1828800"/>
            <a:ext cx="6223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550" tIns="41275" rIns="82550" bIns="41275">
            <a:spAutoFit/>
          </a:bodyPr>
          <a:lstStyle/>
          <a:p>
            <a:r>
              <a:rPr lang="en-US" b="1">
                <a:latin typeface="Arial" pitchFamily="34" charset="0"/>
              </a:rPr>
              <a:t>LER</a:t>
            </a:r>
          </a:p>
        </p:txBody>
      </p:sp>
      <p:sp>
        <p:nvSpPr>
          <p:cNvPr id="88081" name="Text Box 17"/>
          <p:cNvSpPr txBox="1">
            <a:spLocks noChangeArrowheads="1"/>
          </p:cNvSpPr>
          <p:nvPr/>
        </p:nvSpPr>
        <p:spPr bwMode="auto">
          <a:xfrm>
            <a:off x="7200900" y="1828800"/>
            <a:ext cx="6223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550" tIns="41275" rIns="82550" bIns="41275">
            <a:spAutoFit/>
          </a:bodyPr>
          <a:lstStyle/>
          <a:p>
            <a:r>
              <a:rPr lang="en-US" b="1">
                <a:latin typeface="Arial" pitchFamily="34" charset="0"/>
              </a:rPr>
              <a:t>LER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955800" y="3222625"/>
            <a:ext cx="1346200" cy="892175"/>
            <a:chOff x="1208" y="1694"/>
            <a:chExt cx="848" cy="562"/>
          </a:xfrm>
        </p:grpSpPr>
        <p:grpSp>
          <p:nvGrpSpPr>
            <p:cNvPr id="3" name="Group 19"/>
            <p:cNvGrpSpPr>
              <a:grpSpLocks/>
            </p:cNvGrpSpPr>
            <p:nvPr/>
          </p:nvGrpSpPr>
          <p:grpSpPr bwMode="auto">
            <a:xfrm>
              <a:off x="1208" y="1694"/>
              <a:ext cx="848" cy="250"/>
              <a:chOff x="1208" y="1680"/>
              <a:chExt cx="848" cy="250"/>
            </a:xfrm>
          </p:grpSpPr>
          <p:sp>
            <p:nvSpPr>
              <p:cNvPr id="88084" name="Rectangle 20"/>
              <p:cNvSpPr>
                <a:spLocks noChangeArrowheads="1"/>
              </p:cNvSpPr>
              <p:nvPr/>
            </p:nvSpPr>
            <p:spPr bwMode="auto">
              <a:xfrm>
                <a:off x="1208" y="1680"/>
                <a:ext cx="368" cy="25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</p:spPr>
            <p:txBody>
              <a:bodyPr lIns="82550" tIns="41275" rIns="82550" bIns="41275" anchor="ctr">
                <a:spAutoFit/>
              </a:bodyPr>
              <a:lstStyle/>
              <a:p>
                <a:pPr algn="ctr"/>
                <a:r>
                  <a:rPr lang="en-US" sz="2000">
                    <a:solidFill>
                      <a:schemeClr val="bg1"/>
                    </a:solidFill>
                    <a:latin typeface="Arial" pitchFamily="34" charset="0"/>
                  </a:rPr>
                  <a:t>IP1</a:t>
                </a:r>
                <a:endParaRPr lang="en-US" sz="1400">
                  <a:solidFill>
                    <a:schemeClr val="bg1"/>
                  </a:solidFill>
                  <a:latin typeface="Arial" pitchFamily="34" charset="0"/>
                </a:endParaRPr>
              </a:p>
            </p:txBody>
          </p:sp>
          <p:sp>
            <p:nvSpPr>
              <p:cNvPr id="88085" name="Rectangle 21"/>
              <p:cNvSpPr>
                <a:spLocks noChangeArrowheads="1"/>
              </p:cNvSpPr>
              <p:nvPr/>
            </p:nvSpPr>
            <p:spPr bwMode="auto">
              <a:xfrm>
                <a:off x="1576" y="1680"/>
                <a:ext cx="480" cy="250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</p:spPr>
            <p:txBody>
              <a:bodyPr lIns="82550" tIns="41275" rIns="82550" bIns="41275" anchor="ctr">
                <a:spAutoFit/>
              </a:bodyPr>
              <a:lstStyle/>
              <a:p>
                <a:pPr algn="ctr"/>
                <a:r>
                  <a:rPr lang="en-US" sz="2000">
                    <a:solidFill>
                      <a:schemeClr val="bg1"/>
                    </a:solidFill>
                    <a:latin typeface="Arial" pitchFamily="34" charset="0"/>
                  </a:rPr>
                  <a:t>#L1</a:t>
                </a:r>
                <a:endParaRPr lang="en-US" sz="1400">
                  <a:solidFill>
                    <a:schemeClr val="bg1"/>
                  </a:solidFill>
                  <a:latin typeface="Arial" pitchFamily="34" charset="0"/>
                </a:endParaRPr>
              </a:p>
            </p:txBody>
          </p:sp>
        </p:grpSp>
        <p:grpSp>
          <p:nvGrpSpPr>
            <p:cNvPr id="4" name="Group 22"/>
            <p:cNvGrpSpPr>
              <a:grpSpLocks/>
            </p:cNvGrpSpPr>
            <p:nvPr/>
          </p:nvGrpSpPr>
          <p:grpSpPr bwMode="auto">
            <a:xfrm>
              <a:off x="1208" y="2006"/>
              <a:ext cx="848" cy="250"/>
              <a:chOff x="1208" y="1680"/>
              <a:chExt cx="848" cy="250"/>
            </a:xfrm>
          </p:grpSpPr>
          <p:sp>
            <p:nvSpPr>
              <p:cNvPr id="88087" name="Rectangle 23"/>
              <p:cNvSpPr>
                <a:spLocks noChangeArrowheads="1"/>
              </p:cNvSpPr>
              <p:nvPr/>
            </p:nvSpPr>
            <p:spPr bwMode="auto">
              <a:xfrm>
                <a:off x="1208" y="1680"/>
                <a:ext cx="368" cy="25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</p:spPr>
            <p:txBody>
              <a:bodyPr lIns="82550" tIns="41275" rIns="82550" bIns="41275" anchor="ctr">
                <a:spAutoFit/>
              </a:bodyPr>
              <a:lstStyle/>
              <a:p>
                <a:pPr algn="ctr"/>
                <a:r>
                  <a:rPr lang="en-US" sz="2000">
                    <a:solidFill>
                      <a:schemeClr val="bg1"/>
                    </a:solidFill>
                    <a:latin typeface="Arial" pitchFamily="34" charset="0"/>
                  </a:rPr>
                  <a:t>IP2</a:t>
                </a:r>
                <a:endParaRPr lang="en-US" sz="1400">
                  <a:solidFill>
                    <a:schemeClr val="bg1"/>
                  </a:solidFill>
                  <a:latin typeface="Arial" pitchFamily="34" charset="0"/>
                </a:endParaRPr>
              </a:p>
            </p:txBody>
          </p:sp>
          <p:sp>
            <p:nvSpPr>
              <p:cNvPr id="88088" name="Rectangle 24"/>
              <p:cNvSpPr>
                <a:spLocks noChangeArrowheads="1"/>
              </p:cNvSpPr>
              <p:nvPr/>
            </p:nvSpPr>
            <p:spPr bwMode="auto">
              <a:xfrm>
                <a:off x="1576" y="1680"/>
                <a:ext cx="480" cy="250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</p:spPr>
            <p:txBody>
              <a:bodyPr lIns="82550" tIns="41275" rIns="82550" bIns="41275" anchor="ctr">
                <a:spAutoFit/>
              </a:bodyPr>
              <a:lstStyle/>
              <a:p>
                <a:pPr algn="ctr"/>
                <a:r>
                  <a:rPr lang="en-US" sz="2000">
                    <a:solidFill>
                      <a:schemeClr val="bg1"/>
                    </a:solidFill>
                    <a:latin typeface="Arial" pitchFamily="34" charset="0"/>
                  </a:rPr>
                  <a:t>#L1</a:t>
                </a:r>
                <a:endParaRPr lang="en-US" sz="1400">
                  <a:solidFill>
                    <a:schemeClr val="bg1"/>
                  </a:solidFill>
                  <a:latin typeface="Arial" pitchFamily="34" charset="0"/>
                </a:endParaRPr>
              </a:p>
            </p:txBody>
          </p:sp>
        </p:grpSp>
      </p:grp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4010025" y="3222625"/>
            <a:ext cx="1346200" cy="892175"/>
            <a:chOff x="2502" y="1694"/>
            <a:chExt cx="848" cy="562"/>
          </a:xfrm>
        </p:grpSpPr>
        <p:grpSp>
          <p:nvGrpSpPr>
            <p:cNvPr id="6" name="Group 26"/>
            <p:cNvGrpSpPr>
              <a:grpSpLocks/>
            </p:cNvGrpSpPr>
            <p:nvPr/>
          </p:nvGrpSpPr>
          <p:grpSpPr bwMode="auto">
            <a:xfrm>
              <a:off x="2502" y="1694"/>
              <a:ext cx="848" cy="250"/>
              <a:chOff x="1208" y="1680"/>
              <a:chExt cx="848" cy="250"/>
            </a:xfrm>
          </p:grpSpPr>
          <p:sp>
            <p:nvSpPr>
              <p:cNvPr id="88091" name="Rectangle 27"/>
              <p:cNvSpPr>
                <a:spLocks noChangeArrowheads="1"/>
              </p:cNvSpPr>
              <p:nvPr/>
            </p:nvSpPr>
            <p:spPr bwMode="auto">
              <a:xfrm>
                <a:off x="1208" y="1680"/>
                <a:ext cx="368" cy="25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</p:spPr>
            <p:txBody>
              <a:bodyPr lIns="82550" tIns="41275" rIns="82550" bIns="41275" anchor="ctr">
                <a:spAutoFit/>
              </a:bodyPr>
              <a:lstStyle/>
              <a:p>
                <a:pPr algn="ctr"/>
                <a:r>
                  <a:rPr lang="en-US" sz="2000">
                    <a:solidFill>
                      <a:schemeClr val="bg1"/>
                    </a:solidFill>
                    <a:latin typeface="Arial" pitchFamily="34" charset="0"/>
                  </a:rPr>
                  <a:t>IP1</a:t>
                </a:r>
                <a:endParaRPr lang="en-US" sz="1400">
                  <a:solidFill>
                    <a:schemeClr val="bg1"/>
                  </a:solidFill>
                  <a:latin typeface="Arial" pitchFamily="34" charset="0"/>
                </a:endParaRPr>
              </a:p>
            </p:txBody>
          </p:sp>
          <p:sp>
            <p:nvSpPr>
              <p:cNvPr id="88092" name="Rectangle 28"/>
              <p:cNvSpPr>
                <a:spLocks noChangeArrowheads="1"/>
              </p:cNvSpPr>
              <p:nvPr/>
            </p:nvSpPr>
            <p:spPr bwMode="auto">
              <a:xfrm>
                <a:off x="1576" y="1680"/>
                <a:ext cx="480" cy="250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</p:spPr>
            <p:txBody>
              <a:bodyPr lIns="82550" tIns="41275" rIns="82550" bIns="41275" anchor="ctr">
                <a:spAutoFit/>
              </a:bodyPr>
              <a:lstStyle/>
              <a:p>
                <a:pPr algn="ctr"/>
                <a:r>
                  <a:rPr lang="en-US" sz="2000">
                    <a:solidFill>
                      <a:schemeClr val="bg1"/>
                    </a:solidFill>
                    <a:latin typeface="Arial" pitchFamily="34" charset="0"/>
                  </a:rPr>
                  <a:t>#L2</a:t>
                </a:r>
                <a:endParaRPr lang="en-US" sz="1400">
                  <a:solidFill>
                    <a:schemeClr val="bg1"/>
                  </a:solidFill>
                  <a:latin typeface="Arial" pitchFamily="34" charset="0"/>
                </a:endParaRPr>
              </a:p>
            </p:txBody>
          </p:sp>
        </p:grpSp>
        <p:grpSp>
          <p:nvGrpSpPr>
            <p:cNvPr id="7" name="Group 29"/>
            <p:cNvGrpSpPr>
              <a:grpSpLocks/>
            </p:cNvGrpSpPr>
            <p:nvPr/>
          </p:nvGrpSpPr>
          <p:grpSpPr bwMode="auto">
            <a:xfrm>
              <a:off x="2502" y="2006"/>
              <a:ext cx="848" cy="250"/>
              <a:chOff x="1208" y="1680"/>
              <a:chExt cx="848" cy="250"/>
            </a:xfrm>
          </p:grpSpPr>
          <p:sp>
            <p:nvSpPr>
              <p:cNvPr id="88094" name="Rectangle 30"/>
              <p:cNvSpPr>
                <a:spLocks noChangeArrowheads="1"/>
              </p:cNvSpPr>
              <p:nvPr/>
            </p:nvSpPr>
            <p:spPr bwMode="auto">
              <a:xfrm>
                <a:off x="1208" y="1680"/>
                <a:ext cx="368" cy="25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</p:spPr>
            <p:txBody>
              <a:bodyPr lIns="82550" tIns="41275" rIns="82550" bIns="41275" anchor="ctr">
                <a:spAutoFit/>
              </a:bodyPr>
              <a:lstStyle/>
              <a:p>
                <a:pPr algn="ctr"/>
                <a:r>
                  <a:rPr lang="en-US" sz="2000">
                    <a:solidFill>
                      <a:schemeClr val="bg1"/>
                    </a:solidFill>
                    <a:latin typeface="Arial" pitchFamily="34" charset="0"/>
                  </a:rPr>
                  <a:t>IP2</a:t>
                </a:r>
                <a:endParaRPr lang="en-US" sz="1400">
                  <a:solidFill>
                    <a:schemeClr val="bg1"/>
                  </a:solidFill>
                  <a:latin typeface="Arial" pitchFamily="34" charset="0"/>
                </a:endParaRPr>
              </a:p>
            </p:txBody>
          </p:sp>
          <p:sp>
            <p:nvSpPr>
              <p:cNvPr id="88095" name="Rectangle 31"/>
              <p:cNvSpPr>
                <a:spLocks noChangeArrowheads="1"/>
              </p:cNvSpPr>
              <p:nvPr/>
            </p:nvSpPr>
            <p:spPr bwMode="auto">
              <a:xfrm>
                <a:off x="1576" y="1680"/>
                <a:ext cx="480" cy="250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</p:spPr>
            <p:txBody>
              <a:bodyPr lIns="82550" tIns="41275" rIns="82550" bIns="41275" anchor="ctr">
                <a:spAutoFit/>
              </a:bodyPr>
              <a:lstStyle/>
              <a:p>
                <a:pPr algn="ctr"/>
                <a:r>
                  <a:rPr lang="en-US" sz="2000">
                    <a:solidFill>
                      <a:schemeClr val="bg1"/>
                    </a:solidFill>
                    <a:latin typeface="Arial" pitchFamily="34" charset="0"/>
                  </a:rPr>
                  <a:t>#L2</a:t>
                </a:r>
                <a:endParaRPr lang="en-US" sz="1400">
                  <a:solidFill>
                    <a:schemeClr val="bg1"/>
                  </a:solidFill>
                  <a:latin typeface="Arial" pitchFamily="34" charset="0"/>
                </a:endParaRPr>
              </a:p>
            </p:txBody>
          </p:sp>
        </p:grpSp>
      </p:grpSp>
      <p:grpSp>
        <p:nvGrpSpPr>
          <p:cNvPr id="8" name="Group 32"/>
          <p:cNvGrpSpPr>
            <a:grpSpLocks/>
          </p:cNvGrpSpPr>
          <p:nvPr/>
        </p:nvGrpSpPr>
        <p:grpSpPr bwMode="auto">
          <a:xfrm>
            <a:off x="5854700" y="3222625"/>
            <a:ext cx="1346200" cy="892175"/>
            <a:chOff x="3664" y="1694"/>
            <a:chExt cx="848" cy="562"/>
          </a:xfrm>
        </p:grpSpPr>
        <p:grpSp>
          <p:nvGrpSpPr>
            <p:cNvPr id="9" name="Group 33"/>
            <p:cNvGrpSpPr>
              <a:grpSpLocks/>
            </p:cNvGrpSpPr>
            <p:nvPr/>
          </p:nvGrpSpPr>
          <p:grpSpPr bwMode="auto">
            <a:xfrm>
              <a:off x="3664" y="1694"/>
              <a:ext cx="848" cy="250"/>
              <a:chOff x="1208" y="1680"/>
              <a:chExt cx="848" cy="250"/>
            </a:xfrm>
          </p:grpSpPr>
          <p:sp>
            <p:nvSpPr>
              <p:cNvPr id="88098" name="Rectangle 34"/>
              <p:cNvSpPr>
                <a:spLocks noChangeArrowheads="1"/>
              </p:cNvSpPr>
              <p:nvPr/>
            </p:nvSpPr>
            <p:spPr bwMode="auto">
              <a:xfrm>
                <a:off x="1208" y="1680"/>
                <a:ext cx="368" cy="25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</p:spPr>
            <p:txBody>
              <a:bodyPr lIns="82550" tIns="41275" rIns="82550" bIns="41275" anchor="ctr">
                <a:spAutoFit/>
              </a:bodyPr>
              <a:lstStyle/>
              <a:p>
                <a:pPr algn="ctr"/>
                <a:r>
                  <a:rPr lang="en-US" sz="2000">
                    <a:solidFill>
                      <a:schemeClr val="bg1"/>
                    </a:solidFill>
                    <a:latin typeface="Arial" pitchFamily="34" charset="0"/>
                  </a:rPr>
                  <a:t>IP1</a:t>
                </a:r>
                <a:endParaRPr lang="en-US" sz="1400">
                  <a:solidFill>
                    <a:schemeClr val="bg1"/>
                  </a:solidFill>
                  <a:latin typeface="Arial" pitchFamily="34" charset="0"/>
                </a:endParaRPr>
              </a:p>
            </p:txBody>
          </p:sp>
          <p:sp>
            <p:nvSpPr>
              <p:cNvPr id="88099" name="Rectangle 35"/>
              <p:cNvSpPr>
                <a:spLocks noChangeArrowheads="1"/>
              </p:cNvSpPr>
              <p:nvPr/>
            </p:nvSpPr>
            <p:spPr bwMode="auto">
              <a:xfrm>
                <a:off x="1576" y="1680"/>
                <a:ext cx="480" cy="250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</p:spPr>
            <p:txBody>
              <a:bodyPr lIns="82550" tIns="41275" rIns="82550" bIns="41275" anchor="ctr">
                <a:spAutoFit/>
              </a:bodyPr>
              <a:lstStyle/>
              <a:p>
                <a:pPr algn="ctr"/>
                <a:r>
                  <a:rPr lang="en-US" sz="2000">
                    <a:solidFill>
                      <a:schemeClr val="bg1"/>
                    </a:solidFill>
                    <a:latin typeface="Arial" pitchFamily="34" charset="0"/>
                  </a:rPr>
                  <a:t>#L3</a:t>
                </a:r>
                <a:endParaRPr lang="en-US" sz="1400">
                  <a:solidFill>
                    <a:schemeClr val="bg1"/>
                  </a:solidFill>
                  <a:latin typeface="Arial" pitchFamily="34" charset="0"/>
                </a:endParaRPr>
              </a:p>
            </p:txBody>
          </p:sp>
        </p:grpSp>
        <p:grpSp>
          <p:nvGrpSpPr>
            <p:cNvPr id="10" name="Group 36"/>
            <p:cNvGrpSpPr>
              <a:grpSpLocks/>
            </p:cNvGrpSpPr>
            <p:nvPr/>
          </p:nvGrpSpPr>
          <p:grpSpPr bwMode="auto">
            <a:xfrm>
              <a:off x="3664" y="2006"/>
              <a:ext cx="848" cy="250"/>
              <a:chOff x="1208" y="1680"/>
              <a:chExt cx="848" cy="250"/>
            </a:xfrm>
          </p:grpSpPr>
          <p:sp>
            <p:nvSpPr>
              <p:cNvPr id="88101" name="Rectangle 37"/>
              <p:cNvSpPr>
                <a:spLocks noChangeArrowheads="1"/>
              </p:cNvSpPr>
              <p:nvPr/>
            </p:nvSpPr>
            <p:spPr bwMode="auto">
              <a:xfrm>
                <a:off x="1208" y="1680"/>
                <a:ext cx="368" cy="25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</p:spPr>
            <p:txBody>
              <a:bodyPr lIns="82550" tIns="41275" rIns="82550" bIns="41275" anchor="ctr">
                <a:spAutoFit/>
              </a:bodyPr>
              <a:lstStyle/>
              <a:p>
                <a:pPr algn="ctr"/>
                <a:r>
                  <a:rPr lang="en-US" sz="2000">
                    <a:solidFill>
                      <a:schemeClr val="bg1"/>
                    </a:solidFill>
                    <a:latin typeface="Arial" pitchFamily="34" charset="0"/>
                  </a:rPr>
                  <a:t>IP2</a:t>
                </a:r>
                <a:endParaRPr lang="en-US" sz="1400">
                  <a:solidFill>
                    <a:schemeClr val="bg1"/>
                  </a:solidFill>
                  <a:latin typeface="Arial" pitchFamily="34" charset="0"/>
                </a:endParaRPr>
              </a:p>
            </p:txBody>
          </p:sp>
          <p:sp>
            <p:nvSpPr>
              <p:cNvPr id="88102" name="Rectangle 38"/>
              <p:cNvSpPr>
                <a:spLocks noChangeArrowheads="1"/>
              </p:cNvSpPr>
              <p:nvPr/>
            </p:nvSpPr>
            <p:spPr bwMode="auto">
              <a:xfrm>
                <a:off x="1576" y="1680"/>
                <a:ext cx="480" cy="250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</p:spPr>
            <p:txBody>
              <a:bodyPr lIns="82550" tIns="41275" rIns="82550" bIns="41275" anchor="ctr">
                <a:spAutoFit/>
              </a:bodyPr>
              <a:lstStyle/>
              <a:p>
                <a:pPr algn="ctr"/>
                <a:r>
                  <a:rPr lang="en-US" sz="2000">
                    <a:solidFill>
                      <a:schemeClr val="bg1"/>
                    </a:solidFill>
                    <a:latin typeface="Arial" pitchFamily="34" charset="0"/>
                  </a:rPr>
                  <a:t>#L3</a:t>
                </a:r>
                <a:endParaRPr lang="en-US" sz="1400">
                  <a:solidFill>
                    <a:schemeClr val="bg1"/>
                  </a:solidFill>
                  <a:latin typeface="Arial" pitchFamily="34" charset="0"/>
                </a:endParaRPr>
              </a:p>
            </p:txBody>
          </p:sp>
        </p:grpSp>
      </p:grpSp>
      <p:pic>
        <p:nvPicPr>
          <p:cNvPr id="88103" name="Picture 39" descr="RouterATM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3657600" y="2438400"/>
            <a:ext cx="777875" cy="511175"/>
          </a:xfrm>
          <a:noFill/>
          <a:ln/>
        </p:spPr>
      </p:pic>
      <p:pic>
        <p:nvPicPr>
          <p:cNvPr id="88104" name="Picture 40" descr="RouterATM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13350" y="2387600"/>
            <a:ext cx="823913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8105" name="Picture 41" descr="router-generic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5338" y="2343150"/>
            <a:ext cx="841375" cy="59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8106" name="Line 42"/>
          <p:cNvSpPr>
            <a:spLocks noChangeShapeType="1"/>
          </p:cNvSpPr>
          <p:nvPr/>
        </p:nvSpPr>
        <p:spPr bwMode="auto">
          <a:xfrm>
            <a:off x="860425" y="3378200"/>
            <a:ext cx="838200" cy="0"/>
          </a:xfrm>
          <a:prstGeom prst="line">
            <a:avLst/>
          </a:prstGeom>
          <a:noFill/>
          <a:ln w="57150">
            <a:solidFill>
              <a:srgbClr val="FFCC00"/>
            </a:solidFill>
            <a:round/>
            <a:headEnd/>
            <a:tailEnd type="triangle" w="med" len="med"/>
          </a:ln>
          <a:effectLst/>
        </p:spPr>
        <p:txBody>
          <a:bodyPr lIns="82550" tIns="41275" rIns="82550" bIns="41275" anchor="ctr">
            <a:spAutoFit/>
          </a:bodyPr>
          <a:lstStyle/>
          <a:p>
            <a:endParaRPr lang="en-US"/>
          </a:p>
        </p:txBody>
      </p:sp>
      <p:sp>
        <p:nvSpPr>
          <p:cNvPr id="88107" name="Line 43"/>
          <p:cNvSpPr>
            <a:spLocks noChangeShapeType="1"/>
          </p:cNvSpPr>
          <p:nvPr/>
        </p:nvSpPr>
        <p:spPr bwMode="auto">
          <a:xfrm>
            <a:off x="911225" y="3987800"/>
            <a:ext cx="838200" cy="0"/>
          </a:xfrm>
          <a:prstGeom prst="line">
            <a:avLst/>
          </a:prstGeom>
          <a:noFill/>
          <a:ln w="57150">
            <a:solidFill>
              <a:srgbClr val="FFCC00"/>
            </a:solidFill>
            <a:round/>
            <a:headEnd/>
            <a:tailEnd type="triangle" w="med" len="med"/>
          </a:ln>
          <a:effectLst/>
        </p:spPr>
        <p:txBody>
          <a:bodyPr lIns="82550" tIns="41275" rIns="82550" bIns="41275" anchor="ctr">
            <a:spAutoFit/>
          </a:bodyPr>
          <a:lstStyle/>
          <a:p>
            <a:endParaRPr lang="en-US"/>
          </a:p>
        </p:txBody>
      </p:sp>
      <p:sp>
        <p:nvSpPr>
          <p:cNvPr id="88108" name="Line 44"/>
          <p:cNvSpPr>
            <a:spLocks noChangeShapeType="1"/>
          </p:cNvSpPr>
          <p:nvPr/>
        </p:nvSpPr>
        <p:spPr bwMode="auto">
          <a:xfrm>
            <a:off x="7388225" y="3416300"/>
            <a:ext cx="838200" cy="0"/>
          </a:xfrm>
          <a:prstGeom prst="line">
            <a:avLst/>
          </a:prstGeom>
          <a:noFill/>
          <a:ln w="57150">
            <a:solidFill>
              <a:srgbClr val="FFCC00"/>
            </a:solidFill>
            <a:round/>
            <a:headEnd/>
            <a:tailEnd type="triangle" w="med" len="med"/>
          </a:ln>
          <a:effectLst/>
        </p:spPr>
        <p:txBody>
          <a:bodyPr lIns="82550" tIns="41275" rIns="82550" bIns="41275" anchor="ctr">
            <a:spAutoFit/>
          </a:bodyPr>
          <a:lstStyle/>
          <a:p>
            <a:endParaRPr lang="en-US"/>
          </a:p>
        </p:txBody>
      </p:sp>
      <p:sp>
        <p:nvSpPr>
          <p:cNvPr id="88109" name="Line 45"/>
          <p:cNvSpPr>
            <a:spLocks noChangeShapeType="1"/>
          </p:cNvSpPr>
          <p:nvPr/>
        </p:nvSpPr>
        <p:spPr bwMode="auto">
          <a:xfrm>
            <a:off x="7324725" y="3975100"/>
            <a:ext cx="838200" cy="0"/>
          </a:xfrm>
          <a:prstGeom prst="line">
            <a:avLst/>
          </a:prstGeom>
          <a:noFill/>
          <a:ln w="57150">
            <a:solidFill>
              <a:srgbClr val="FFCC00"/>
            </a:solidFill>
            <a:round/>
            <a:headEnd/>
            <a:tailEnd type="triangle" w="med" len="med"/>
          </a:ln>
          <a:effectLst/>
        </p:spPr>
        <p:txBody>
          <a:bodyPr lIns="82550" tIns="41275" rIns="82550" bIns="41275" anchor="ctr">
            <a:spAutoFit/>
          </a:bodyPr>
          <a:lstStyle/>
          <a:p>
            <a:endParaRPr lang="en-US"/>
          </a:p>
        </p:txBody>
      </p:sp>
      <p:sp>
        <p:nvSpPr>
          <p:cNvPr id="88110" name="Rectangle 46"/>
          <p:cNvSpPr>
            <a:spLocks noChangeArrowheads="1"/>
          </p:cNvSpPr>
          <p:nvPr/>
        </p:nvSpPr>
        <p:spPr bwMode="auto">
          <a:xfrm>
            <a:off x="269875" y="4349750"/>
            <a:ext cx="584200" cy="396875"/>
          </a:xfrm>
          <a:prstGeom prst="rect">
            <a:avLst/>
          </a:prstGeom>
          <a:solidFill>
            <a:srgbClr val="FF9900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lIns="82550" tIns="41275" rIns="82550" bIns="41275" anchor="ctr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Arial" pitchFamily="34" charset="0"/>
              </a:rPr>
              <a:t>IP3</a:t>
            </a:r>
            <a:endParaRPr lang="en-US" sz="14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88111" name="Rectangle 47"/>
          <p:cNvSpPr>
            <a:spLocks noChangeArrowheads="1"/>
          </p:cNvSpPr>
          <p:nvPr/>
        </p:nvSpPr>
        <p:spPr bwMode="auto">
          <a:xfrm>
            <a:off x="279400" y="4864100"/>
            <a:ext cx="584200" cy="396875"/>
          </a:xfrm>
          <a:prstGeom prst="rect">
            <a:avLst/>
          </a:prstGeom>
          <a:solidFill>
            <a:srgbClr val="FF9900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lIns="82550" tIns="41275" rIns="82550" bIns="41275" anchor="ctr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Arial" pitchFamily="34" charset="0"/>
              </a:rPr>
              <a:t>IP4</a:t>
            </a:r>
            <a:endParaRPr lang="en-US" sz="14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88112" name="Rectangle 48"/>
          <p:cNvSpPr>
            <a:spLocks noChangeArrowheads="1"/>
          </p:cNvSpPr>
          <p:nvPr/>
        </p:nvSpPr>
        <p:spPr bwMode="auto">
          <a:xfrm>
            <a:off x="8178800" y="4356100"/>
            <a:ext cx="584200" cy="396875"/>
          </a:xfrm>
          <a:prstGeom prst="rect">
            <a:avLst/>
          </a:prstGeom>
          <a:solidFill>
            <a:srgbClr val="FF9900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lIns="82550" tIns="41275" rIns="82550" bIns="41275" anchor="ctr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Arial" pitchFamily="34" charset="0"/>
              </a:rPr>
              <a:t>IP3</a:t>
            </a:r>
            <a:endParaRPr lang="en-US" sz="14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88113" name="Rectangle 49"/>
          <p:cNvSpPr>
            <a:spLocks noChangeArrowheads="1"/>
          </p:cNvSpPr>
          <p:nvPr/>
        </p:nvSpPr>
        <p:spPr bwMode="auto">
          <a:xfrm>
            <a:off x="8191500" y="4914900"/>
            <a:ext cx="584200" cy="396875"/>
          </a:xfrm>
          <a:prstGeom prst="rect">
            <a:avLst/>
          </a:prstGeom>
          <a:solidFill>
            <a:srgbClr val="FF9900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lIns="82550" tIns="41275" rIns="82550" bIns="41275" anchor="ctr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Arial" pitchFamily="34" charset="0"/>
              </a:rPr>
              <a:t>IP4</a:t>
            </a:r>
            <a:endParaRPr lang="en-US" sz="14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88114" name="Rectangle 50"/>
          <p:cNvSpPr>
            <a:spLocks noChangeArrowheads="1"/>
          </p:cNvSpPr>
          <p:nvPr/>
        </p:nvSpPr>
        <p:spPr bwMode="auto">
          <a:xfrm>
            <a:off x="1993900" y="4357688"/>
            <a:ext cx="584200" cy="387350"/>
          </a:xfrm>
          <a:prstGeom prst="rect">
            <a:avLst/>
          </a:prstGeom>
          <a:solidFill>
            <a:srgbClr val="FF9900"/>
          </a:solidFill>
          <a:ln w="9525">
            <a:noFill/>
            <a:miter lim="800000"/>
            <a:headEnd/>
            <a:tailEnd/>
          </a:ln>
          <a:effectLst/>
        </p:spPr>
        <p:txBody>
          <a:bodyPr lIns="82550" tIns="41275" rIns="82550" bIns="41275" anchor="ctr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Arial" pitchFamily="34" charset="0"/>
              </a:rPr>
              <a:t>IP3</a:t>
            </a:r>
            <a:endParaRPr lang="en-US" sz="14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88115" name="Rectangle 51"/>
          <p:cNvSpPr>
            <a:spLocks noChangeArrowheads="1"/>
          </p:cNvSpPr>
          <p:nvPr/>
        </p:nvSpPr>
        <p:spPr bwMode="auto">
          <a:xfrm>
            <a:off x="2578100" y="4352925"/>
            <a:ext cx="762000" cy="396875"/>
          </a:xfrm>
          <a:prstGeom prst="rect">
            <a:avLst/>
          </a:prstGeom>
          <a:solidFill>
            <a:schemeClr val="folHlink"/>
          </a:solidFill>
          <a:ln w="9525">
            <a:solidFill>
              <a:srgbClr val="FF9900"/>
            </a:solidFill>
            <a:miter lim="800000"/>
            <a:headEnd/>
            <a:tailEnd/>
          </a:ln>
          <a:effectLst/>
        </p:spPr>
        <p:txBody>
          <a:bodyPr lIns="82550" tIns="41275" rIns="82550" bIns="41275" anchor="ctr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Arial" pitchFamily="34" charset="0"/>
              </a:rPr>
              <a:t>#L4</a:t>
            </a:r>
            <a:endParaRPr lang="en-US" sz="14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88116" name="Rectangle 52"/>
          <p:cNvSpPr>
            <a:spLocks noChangeArrowheads="1"/>
          </p:cNvSpPr>
          <p:nvPr/>
        </p:nvSpPr>
        <p:spPr bwMode="auto">
          <a:xfrm>
            <a:off x="1993900" y="4848225"/>
            <a:ext cx="584200" cy="396875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2550" tIns="41275" rIns="82550" bIns="41275" anchor="ctr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Arial" pitchFamily="34" charset="0"/>
              </a:rPr>
              <a:t>IP4</a:t>
            </a:r>
            <a:endParaRPr lang="en-US" sz="14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88117" name="Rectangle 53"/>
          <p:cNvSpPr>
            <a:spLocks noChangeArrowheads="1"/>
          </p:cNvSpPr>
          <p:nvPr/>
        </p:nvSpPr>
        <p:spPr bwMode="auto">
          <a:xfrm>
            <a:off x="2578100" y="4848225"/>
            <a:ext cx="762000" cy="396875"/>
          </a:xfrm>
          <a:prstGeom prst="rect">
            <a:avLst/>
          </a:prstGeom>
          <a:solidFill>
            <a:schemeClr val="folHlink"/>
          </a:solidFill>
          <a:ln w="9525">
            <a:solidFill>
              <a:srgbClr val="FF9900"/>
            </a:solidFill>
            <a:miter lim="800000"/>
            <a:headEnd/>
            <a:tailEnd/>
          </a:ln>
          <a:effectLst/>
        </p:spPr>
        <p:txBody>
          <a:bodyPr lIns="82550" tIns="41275" rIns="82550" bIns="41275" anchor="ctr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Arial" pitchFamily="34" charset="0"/>
              </a:rPr>
              <a:t>#L4</a:t>
            </a:r>
            <a:endParaRPr lang="en-US" sz="14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88118" name="Rectangle 54"/>
          <p:cNvSpPr>
            <a:spLocks noChangeArrowheads="1"/>
          </p:cNvSpPr>
          <p:nvPr/>
        </p:nvSpPr>
        <p:spPr bwMode="auto">
          <a:xfrm>
            <a:off x="4048125" y="4352925"/>
            <a:ext cx="584200" cy="396875"/>
          </a:xfrm>
          <a:prstGeom prst="rect">
            <a:avLst/>
          </a:prstGeom>
          <a:solidFill>
            <a:srgbClr val="FF9900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lIns="82550" tIns="41275" rIns="82550" bIns="41275" anchor="ctr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Arial" pitchFamily="34" charset="0"/>
              </a:rPr>
              <a:t>IP3</a:t>
            </a:r>
            <a:endParaRPr lang="en-US" sz="14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88119" name="Rectangle 55"/>
          <p:cNvSpPr>
            <a:spLocks noChangeArrowheads="1"/>
          </p:cNvSpPr>
          <p:nvPr/>
        </p:nvSpPr>
        <p:spPr bwMode="auto">
          <a:xfrm>
            <a:off x="4632325" y="4352925"/>
            <a:ext cx="762000" cy="3968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lIns="82550" tIns="41275" rIns="82550" bIns="41275" anchor="ctr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Arial" pitchFamily="34" charset="0"/>
              </a:rPr>
              <a:t>#L5</a:t>
            </a:r>
            <a:endParaRPr lang="en-US" sz="14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88120" name="Rectangle 56"/>
          <p:cNvSpPr>
            <a:spLocks noChangeArrowheads="1"/>
          </p:cNvSpPr>
          <p:nvPr/>
        </p:nvSpPr>
        <p:spPr bwMode="auto">
          <a:xfrm>
            <a:off x="4048125" y="4848225"/>
            <a:ext cx="584200" cy="396875"/>
          </a:xfrm>
          <a:prstGeom prst="rect">
            <a:avLst/>
          </a:prstGeom>
          <a:solidFill>
            <a:srgbClr val="FF9900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lIns="82550" tIns="41275" rIns="82550" bIns="41275" anchor="ctr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Arial" pitchFamily="34" charset="0"/>
              </a:rPr>
              <a:t>IP4</a:t>
            </a:r>
            <a:endParaRPr lang="en-US" sz="14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88121" name="Rectangle 57"/>
          <p:cNvSpPr>
            <a:spLocks noChangeArrowheads="1"/>
          </p:cNvSpPr>
          <p:nvPr/>
        </p:nvSpPr>
        <p:spPr bwMode="auto">
          <a:xfrm>
            <a:off x="4632325" y="4848225"/>
            <a:ext cx="762000" cy="3968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lIns="82550" tIns="41275" rIns="82550" bIns="41275" anchor="ctr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Arial" pitchFamily="34" charset="0"/>
              </a:rPr>
              <a:t>#L5</a:t>
            </a:r>
            <a:endParaRPr lang="en-US" sz="14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88122" name="Rectangle 58"/>
          <p:cNvSpPr>
            <a:spLocks noChangeArrowheads="1"/>
          </p:cNvSpPr>
          <p:nvPr/>
        </p:nvSpPr>
        <p:spPr bwMode="auto">
          <a:xfrm>
            <a:off x="5892800" y="4352925"/>
            <a:ext cx="584200" cy="396875"/>
          </a:xfrm>
          <a:prstGeom prst="rect">
            <a:avLst/>
          </a:prstGeom>
          <a:solidFill>
            <a:srgbClr val="FF9900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lIns="82550" tIns="41275" rIns="82550" bIns="41275" anchor="ctr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Arial" pitchFamily="34" charset="0"/>
              </a:rPr>
              <a:t>IP3</a:t>
            </a:r>
            <a:endParaRPr lang="en-US" sz="14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88123" name="Rectangle 59"/>
          <p:cNvSpPr>
            <a:spLocks noChangeArrowheads="1"/>
          </p:cNvSpPr>
          <p:nvPr/>
        </p:nvSpPr>
        <p:spPr bwMode="auto">
          <a:xfrm>
            <a:off x="6477000" y="4352925"/>
            <a:ext cx="762000" cy="3968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lIns="82550" tIns="41275" rIns="82550" bIns="41275" anchor="ctr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Arial" pitchFamily="34" charset="0"/>
              </a:rPr>
              <a:t>#L6</a:t>
            </a:r>
            <a:endParaRPr lang="en-US" sz="14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88124" name="Rectangle 60"/>
          <p:cNvSpPr>
            <a:spLocks noChangeArrowheads="1"/>
          </p:cNvSpPr>
          <p:nvPr/>
        </p:nvSpPr>
        <p:spPr bwMode="auto">
          <a:xfrm>
            <a:off x="5892800" y="4848225"/>
            <a:ext cx="584200" cy="396875"/>
          </a:xfrm>
          <a:prstGeom prst="rect">
            <a:avLst/>
          </a:prstGeom>
          <a:solidFill>
            <a:srgbClr val="FF9900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lIns="82550" tIns="41275" rIns="82550" bIns="41275" anchor="ctr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Arial" pitchFamily="34" charset="0"/>
              </a:rPr>
              <a:t>IP4</a:t>
            </a:r>
            <a:endParaRPr lang="en-US" sz="14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88125" name="Rectangle 61"/>
          <p:cNvSpPr>
            <a:spLocks noChangeArrowheads="1"/>
          </p:cNvSpPr>
          <p:nvPr/>
        </p:nvSpPr>
        <p:spPr bwMode="auto">
          <a:xfrm>
            <a:off x="6477000" y="4848225"/>
            <a:ext cx="762000" cy="3968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lIns="82550" tIns="41275" rIns="82550" bIns="41275" anchor="ctr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Arial" pitchFamily="34" charset="0"/>
              </a:rPr>
              <a:t>#L6</a:t>
            </a:r>
            <a:endParaRPr lang="en-US" sz="14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88126" name="Line 62"/>
          <p:cNvSpPr>
            <a:spLocks noChangeShapeType="1"/>
          </p:cNvSpPr>
          <p:nvPr/>
        </p:nvSpPr>
        <p:spPr bwMode="auto">
          <a:xfrm>
            <a:off x="912813" y="4567238"/>
            <a:ext cx="838200" cy="0"/>
          </a:xfrm>
          <a:prstGeom prst="line">
            <a:avLst/>
          </a:prstGeom>
          <a:noFill/>
          <a:ln w="57150">
            <a:solidFill>
              <a:srgbClr val="FFCC00"/>
            </a:solidFill>
            <a:round/>
            <a:headEnd/>
            <a:tailEnd type="triangle" w="med" len="med"/>
          </a:ln>
          <a:effectLst/>
        </p:spPr>
        <p:txBody>
          <a:bodyPr lIns="82550" tIns="41275" rIns="82550" bIns="41275" anchor="ctr">
            <a:spAutoFit/>
          </a:bodyPr>
          <a:lstStyle/>
          <a:p>
            <a:endParaRPr lang="en-US"/>
          </a:p>
        </p:txBody>
      </p:sp>
      <p:sp>
        <p:nvSpPr>
          <p:cNvPr id="88127" name="Line 63"/>
          <p:cNvSpPr>
            <a:spLocks noChangeShapeType="1"/>
          </p:cNvSpPr>
          <p:nvPr/>
        </p:nvSpPr>
        <p:spPr bwMode="auto">
          <a:xfrm>
            <a:off x="949325" y="5080000"/>
            <a:ext cx="838200" cy="0"/>
          </a:xfrm>
          <a:prstGeom prst="line">
            <a:avLst/>
          </a:prstGeom>
          <a:noFill/>
          <a:ln w="57150">
            <a:solidFill>
              <a:srgbClr val="FFCC00"/>
            </a:solidFill>
            <a:round/>
            <a:headEnd/>
            <a:tailEnd type="triangle" w="med" len="med"/>
          </a:ln>
          <a:effectLst/>
        </p:spPr>
        <p:txBody>
          <a:bodyPr lIns="82550" tIns="41275" rIns="82550" bIns="41275" anchor="ctr">
            <a:spAutoFit/>
          </a:bodyPr>
          <a:lstStyle/>
          <a:p>
            <a:endParaRPr lang="en-US"/>
          </a:p>
        </p:txBody>
      </p:sp>
      <p:sp>
        <p:nvSpPr>
          <p:cNvPr id="88128" name="Line 64"/>
          <p:cNvSpPr>
            <a:spLocks noChangeShapeType="1"/>
          </p:cNvSpPr>
          <p:nvPr/>
        </p:nvSpPr>
        <p:spPr bwMode="auto">
          <a:xfrm>
            <a:off x="7426325" y="4546600"/>
            <a:ext cx="838200" cy="0"/>
          </a:xfrm>
          <a:prstGeom prst="line">
            <a:avLst/>
          </a:prstGeom>
          <a:noFill/>
          <a:ln w="57150">
            <a:solidFill>
              <a:srgbClr val="FFCC00"/>
            </a:solidFill>
            <a:round/>
            <a:headEnd/>
            <a:tailEnd type="triangle" w="med" len="med"/>
          </a:ln>
          <a:effectLst/>
        </p:spPr>
        <p:txBody>
          <a:bodyPr lIns="82550" tIns="41275" rIns="82550" bIns="41275" anchor="ctr">
            <a:spAutoFit/>
          </a:bodyPr>
          <a:lstStyle/>
          <a:p>
            <a:endParaRPr lang="en-US"/>
          </a:p>
        </p:txBody>
      </p:sp>
      <p:sp>
        <p:nvSpPr>
          <p:cNvPr id="88129" name="Line 65"/>
          <p:cNvSpPr>
            <a:spLocks noChangeShapeType="1"/>
          </p:cNvSpPr>
          <p:nvPr/>
        </p:nvSpPr>
        <p:spPr bwMode="auto">
          <a:xfrm>
            <a:off x="7362825" y="5105400"/>
            <a:ext cx="838200" cy="0"/>
          </a:xfrm>
          <a:prstGeom prst="line">
            <a:avLst/>
          </a:prstGeom>
          <a:noFill/>
          <a:ln w="57150">
            <a:solidFill>
              <a:srgbClr val="FFCC00"/>
            </a:solidFill>
            <a:round/>
            <a:headEnd/>
            <a:tailEnd type="triangle" w="med" len="med"/>
          </a:ln>
          <a:effectLst/>
        </p:spPr>
        <p:txBody>
          <a:bodyPr lIns="82550" tIns="41275" rIns="82550" bIns="41275" anchor="ctr">
            <a:spAutoFit/>
          </a:bodyPr>
          <a:lstStyle/>
          <a:p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6934200" y="6312932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© Dr. Kingsley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312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accent2"/>
                </a:solidFill>
              </a:rPr>
              <a:t>Ethernet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503920" cy="4495800"/>
          </a:xfrm>
        </p:spPr>
        <p:txBody>
          <a:bodyPr>
            <a:normAutofit/>
          </a:bodyPr>
          <a:lstStyle/>
          <a:p>
            <a:r>
              <a:rPr lang="en-US" sz="2800" dirty="0"/>
              <a:t>Ethernet started as a local-area network (LAN) using a coaxial cable. </a:t>
            </a:r>
            <a:endParaRPr lang="en-US" sz="2800" dirty="0" smtClean="0"/>
          </a:p>
          <a:p>
            <a:r>
              <a:rPr lang="en-US" sz="2800" dirty="0" smtClean="0"/>
              <a:t>Today</a:t>
            </a:r>
            <a:r>
              <a:rPr lang="en-US" sz="2800" dirty="0"/>
              <a:t>, it </a:t>
            </a:r>
            <a:r>
              <a:rPr lang="en-US" sz="2800" dirty="0" smtClean="0"/>
              <a:t>is carried </a:t>
            </a:r>
            <a:r>
              <a:rPr lang="en-US" sz="2800" dirty="0"/>
              <a:t>over all communication physical media including twisted pair, wireless, </a:t>
            </a:r>
            <a:r>
              <a:rPr lang="en-US" sz="2800" dirty="0" smtClean="0"/>
              <a:t>and fiber </a:t>
            </a:r>
            <a:r>
              <a:rPr lang="en-US" sz="2800" dirty="0"/>
              <a:t>optic cables. </a:t>
            </a:r>
            <a:endParaRPr lang="en-US" sz="2800" dirty="0" smtClean="0"/>
          </a:p>
          <a:p>
            <a:r>
              <a:rPr lang="en-US" sz="2800" dirty="0" smtClean="0"/>
              <a:t>It </a:t>
            </a:r>
            <a:r>
              <a:rPr lang="en-US" sz="2800" dirty="0"/>
              <a:t>offers a wide range of data rates: 10 Mb/s, 100 Mb/s, 1 Gb/s</a:t>
            </a:r>
            <a:r>
              <a:rPr lang="en-US" sz="2800" dirty="0" smtClean="0"/>
              <a:t>, and </a:t>
            </a:r>
            <a:r>
              <a:rPr lang="en-US" sz="2800" dirty="0"/>
              <a:t>10 Gb/s. </a:t>
            </a:r>
            <a:endParaRPr lang="en-US" sz="2800" dirty="0" smtClean="0"/>
          </a:p>
          <a:p>
            <a:r>
              <a:rPr lang="en-US" sz="2800" dirty="0" smtClean="0"/>
              <a:t>Ethernet </a:t>
            </a:r>
            <a:r>
              <a:rPr lang="en-US" sz="2800" dirty="0"/>
              <a:t>spans the data link and physical layers.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543800" y="6459379"/>
            <a:ext cx="13548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© Dr. Scott Kingsley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106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Carrier Ethernet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988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848600" cy="4114800"/>
          </a:xfrm>
        </p:spPr>
        <p:txBody>
          <a:bodyPr>
            <a:normAutofit/>
          </a:bodyPr>
          <a:lstStyle/>
          <a:p>
            <a:pPr marL="231775" indent="-231775">
              <a:lnSpc>
                <a:spcPct val="80000"/>
              </a:lnSpc>
              <a:tabLst>
                <a:tab pos="231775" algn="l"/>
              </a:tabLst>
            </a:pPr>
            <a:r>
              <a:rPr lang="en-US" sz="1800" dirty="0"/>
              <a:t>What is Carrier Ethernet?</a:t>
            </a:r>
          </a:p>
          <a:p>
            <a:pPr marL="231775" indent="-231775">
              <a:lnSpc>
                <a:spcPct val="80000"/>
              </a:lnSpc>
              <a:tabLst>
                <a:tab pos="231775" algn="l"/>
              </a:tabLst>
            </a:pPr>
            <a:r>
              <a:rPr lang="en-US" sz="1800" dirty="0"/>
              <a:t>Carrier Ethernet Terminology</a:t>
            </a:r>
          </a:p>
          <a:p>
            <a:pPr marL="682625" lvl="1" indent="-225425">
              <a:lnSpc>
                <a:spcPct val="80000"/>
              </a:lnSpc>
              <a:tabLst>
                <a:tab pos="231775" algn="l"/>
              </a:tabLst>
            </a:pPr>
            <a:r>
              <a:rPr lang="en-US" sz="1600" dirty="0"/>
              <a:t>The UNI, NNI, MEN.</a:t>
            </a:r>
          </a:p>
          <a:p>
            <a:pPr marL="682625" lvl="1" indent="-225425">
              <a:lnSpc>
                <a:spcPct val="80000"/>
              </a:lnSpc>
              <a:tabLst>
                <a:tab pos="231775" algn="l"/>
              </a:tabLst>
            </a:pPr>
            <a:r>
              <a:rPr lang="en-US" sz="1600" dirty="0"/>
              <a:t>Ethernet Virtual Connections (EVCs)</a:t>
            </a:r>
          </a:p>
          <a:p>
            <a:pPr marL="231775" indent="-231775">
              <a:lnSpc>
                <a:spcPct val="80000"/>
              </a:lnSpc>
              <a:tabLst>
                <a:tab pos="231775" algn="l"/>
              </a:tabLst>
            </a:pPr>
            <a:r>
              <a:rPr lang="en-US" sz="1800" dirty="0"/>
              <a:t>EVCs and Services </a:t>
            </a:r>
          </a:p>
          <a:p>
            <a:pPr marL="231775" indent="-231775">
              <a:lnSpc>
                <a:spcPct val="80000"/>
              </a:lnSpc>
              <a:tabLst>
                <a:tab pos="231775" algn="l"/>
              </a:tabLst>
            </a:pPr>
            <a:r>
              <a:rPr lang="en-US" sz="1800" dirty="0"/>
              <a:t>E-Line Services</a:t>
            </a:r>
          </a:p>
          <a:p>
            <a:pPr marL="682625" lvl="1" indent="-225425">
              <a:lnSpc>
                <a:spcPct val="80000"/>
              </a:lnSpc>
              <a:tabLst>
                <a:tab pos="231775" algn="l"/>
              </a:tabLst>
            </a:pPr>
            <a:r>
              <a:rPr lang="en-US" sz="1600" dirty="0"/>
              <a:t>Ethernet Private Line</a:t>
            </a:r>
          </a:p>
          <a:p>
            <a:pPr marL="682625" lvl="1" indent="-225425">
              <a:lnSpc>
                <a:spcPct val="80000"/>
              </a:lnSpc>
              <a:tabLst>
                <a:tab pos="231775" algn="l"/>
              </a:tabLst>
            </a:pPr>
            <a:r>
              <a:rPr lang="en-US" sz="1600" dirty="0"/>
              <a:t>Ethernet Virtual Private Line</a:t>
            </a:r>
          </a:p>
          <a:p>
            <a:pPr marL="231775" indent="-231775">
              <a:lnSpc>
                <a:spcPct val="80000"/>
              </a:lnSpc>
              <a:tabLst>
                <a:tab pos="231775" algn="l"/>
              </a:tabLst>
            </a:pPr>
            <a:r>
              <a:rPr lang="en-US" sz="1800" dirty="0"/>
              <a:t>E-LAN Services</a:t>
            </a:r>
          </a:p>
          <a:p>
            <a:pPr marL="682625" lvl="1" indent="-225425">
              <a:lnSpc>
                <a:spcPct val="80000"/>
              </a:lnSpc>
              <a:tabLst>
                <a:tab pos="231775" algn="l"/>
              </a:tabLst>
            </a:pPr>
            <a:r>
              <a:rPr lang="en-US" sz="1600" dirty="0"/>
              <a:t>Multipoint Services</a:t>
            </a:r>
          </a:p>
          <a:p>
            <a:pPr marL="231775" indent="-231775">
              <a:lnSpc>
                <a:spcPct val="80000"/>
              </a:lnSpc>
              <a:tabLst>
                <a:tab pos="231775" algn="l"/>
              </a:tabLst>
            </a:pPr>
            <a:r>
              <a:rPr lang="en-US" sz="1800" dirty="0"/>
              <a:t>E-Tree Services</a:t>
            </a:r>
          </a:p>
          <a:p>
            <a:pPr marL="231775" indent="-231775">
              <a:lnSpc>
                <a:spcPct val="80000"/>
              </a:lnSpc>
              <a:tabLst>
                <a:tab pos="231775" algn="l"/>
              </a:tabLst>
            </a:pPr>
            <a:r>
              <a:rPr lang="en-US" sz="1800" dirty="0"/>
              <a:t>Service Attributes</a:t>
            </a:r>
          </a:p>
          <a:p>
            <a:pPr marL="682625" lvl="1" indent="-225425">
              <a:lnSpc>
                <a:spcPct val="80000"/>
              </a:lnSpc>
              <a:tabLst>
                <a:tab pos="231775" algn="l"/>
              </a:tabLst>
            </a:pPr>
            <a:r>
              <a:rPr lang="en-US" sz="1600" dirty="0"/>
              <a:t>Service Parameters</a:t>
            </a:r>
          </a:p>
          <a:p>
            <a:pPr marL="682625" lvl="1" indent="-225425">
              <a:lnSpc>
                <a:spcPct val="80000"/>
              </a:lnSpc>
              <a:tabLst>
                <a:tab pos="231775" algn="l"/>
              </a:tabLst>
            </a:pPr>
            <a:r>
              <a:rPr lang="en-US" sz="1600" dirty="0"/>
              <a:t>Bandwidth Profiles</a:t>
            </a:r>
          </a:p>
          <a:p>
            <a:pPr marL="682625" lvl="1" indent="-225425">
              <a:lnSpc>
                <a:spcPct val="80000"/>
              </a:lnSpc>
              <a:tabLst>
                <a:tab pos="231775" algn="l"/>
              </a:tabLst>
            </a:pPr>
            <a:r>
              <a:rPr lang="en-US" sz="1600" dirty="0"/>
              <a:t>Traffic </a:t>
            </a:r>
            <a:r>
              <a:rPr lang="en-US" sz="1600" dirty="0" smtClean="0"/>
              <a:t>Management</a:t>
            </a:r>
            <a:endParaRPr lang="en-US" sz="1600" dirty="0"/>
          </a:p>
        </p:txBody>
      </p:sp>
      <p:sp>
        <p:nvSpPr>
          <p:cNvPr id="988164" name="Text Box 4"/>
          <p:cNvSpPr txBox="1">
            <a:spLocks noChangeArrowheads="1"/>
          </p:cNvSpPr>
          <p:nvPr/>
        </p:nvSpPr>
        <p:spPr bwMode="auto">
          <a:xfrm>
            <a:off x="3733800" y="6491288"/>
            <a:ext cx="152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hlink"/>
                    </a:gs>
                    <a:gs pos="100000">
                      <a:schemeClr val="hlink">
                        <a:gamma/>
                        <a:tint val="0"/>
                        <a:invGamma/>
                        <a:alpha val="0"/>
                      </a:schemeClr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b="1">
                <a:solidFill>
                  <a:schemeClr val="bg1"/>
                </a:solidFill>
              </a:rPr>
              <a:t>March 2007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01599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Carrier Ethernet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988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848600" cy="4114800"/>
          </a:xfrm>
        </p:spPr>
        <p:txBody>
          <a:bodyPr>
            <a:normAutofit/>
          </a:bodyPr>
          <a:lstStyle/>
          <a:p>
            <a:pPr marL="231775" indent="-231775">
              <a:lnSpc>
                <a:spcPct val="80000"/>
              </a:lnSpc>
              <a:tabLst>
                <a:tab pos="231775" algn="l"/>
              </a:tabLst>
            </a:pPr>
            <a:r>
              <a:rPr lang="en-US" sz="1800" dirty="0"/>
              <a:t>What is Carrier Ethernet?</a:t>
            </a:r>
          </a:p>
          <a:p>
            <a:pPr marL="231775" indent="-231775">
              <a:lnSpc>
                <a:spcPct val="80000"/>
              </a:lnSpc>
              <a:tabLst>
                <a:tab pos="231775" algn="l"/>
              </a:tabLst>
            </a:pPr>
            <a:r>
              <a:rPr lang="en-US" sz="1800" dirty="0"/>
              <a:t>Carrier Ethernet Terminology</a:t>
            </a:r>
          </a:p>
          <a:p>
            <a:pPr marL="682625" lvl="1" indent="-225425">
              <a:lnSpc>
                <a:spcPct val="80000"/>
              </a:lnSpc>
              <a:tabLst>
                <a:tab pos="231775" algn="l"/>
              </a:tabLst>
            </a:pPr>
            <a:r>
              <a:rPr lang="en-US" sz="1600" dirty="0"/>
              <a:t>The UNI, NNI, MEN.</a:t>
            </a:r>
          </a:p>
          <a:p>
            <a:pPr marL="682625" lvl="1" indent="-225425">
              <a:lnSpc>
                <a:spcPct val="80000"/>
              </a:lnSpc>
              <a:tabLst>
                <a:tab pos="231775" algn="l"/>
              </a:tabLst>
            </a:pPr>
            <a:r>
              <a:rPr lang="en-US" sz="1600" dirty="0"/>
              <a:t>Ethernet Virtual Connections (EVCs)</a:t>
            </a:r>
          </a:p>
          <a:p>
            <a:pPr marL="231775" indent="-231775">
              <a:lnSpc>
                <a:spcPct val="80000"/>
              </a:lnSpc>
              <a:tabLst>
                <a:tab pos="231775" algn="l"/>
              </a:tabLst>
            </a:pPr>
            <a:r>
              <a:rPr lang="en-US" sz="1800" dirty="0"/>
              <a:t>EVCs and Services </a:t>
            </a:r>
          </a:p>
          <a:p>
            <a:pPr marL="231775" indent="-231775">
              <a:lnSpc>
                <a:spcPct val="80000"/>
              </a:lnSpc>
              <a:tabLst>
                <a:tab pos="231775" algn="l"/>
              </a:tabLst>
            </a:pPr>
            <a:r>
              <a:rPr lang="en-US" sz="1800" dirty="0"/>
              <a:t>E-Line Services</a:t>
            </a:r>
          </a:p>
          <a:p>
            <a:pPr marL="682625" lvl="1" indent="-225425">
              <a:lnSpc>
                <a:spcPct val="80000"/>
              </a:lnSpc>
              <a:tabLst>
                <a:tab pos="231775" algn="l"/>
              </a:tabLst>
            </a:pPr>
            <a:r>
              <a:rPr lang="en-US" sz="1600" dirty="0"/>
              <a:t>Ethernet Private Line</a:t>
            </a:r>
          </a:p>
          <a:p>
            <a:pPr marL="682625" lvl="1" indent="-225425">
              <a:lnSpc>
                <a:spcPct val="80000"/>
              </a:lnSpc>
              <a:tabLst>
                <a:tab pos="231775" algn="l"/>
              </a:tabLst>
            </a:pPr>
            <a:r>
              <a:rPr lang="en-US" sz="1600" dirty="0"/>
              <a:t>Ethernet Virtual Private Line</a:t>
            </a:r>
          </a:p>
          <a:p>
            <a:pPr marL="231775" indent="-231775">
              <a:lnSpc>
                <a:spcPct val="80000"/>
              </a:lnSpc>
              <a:tabLst>
                <a:tab pos="231775" algn="l"/>
              </a:tabLst>
            </a:pPr>
            <a:r>
              <a:rPr lang="en-US" sz="1800" dirty="0"/>
              <a:t>E-LAN Services</a:t>
            </a:r>
          </a:p>
          <a:p>
            <a:pPr marL="682625" lvl="1" indent="-225425">
              <a:lnSpc>
                <a:spcPct val="80000"/>
              </a:lnSpc>
              <a:tabLst>
                <a:tab pos="231775" algn="l"/>
              </a:tabLst>
            </a:pPr>
            <a:r>
              <a:rPr lang="en-US" sz="1600" dirty="0"/>
              <a:t>Multipoint Services</a:t>
            </a:r>
          </a:p>
          <a:p>
            <a:pPr marL="231775" indent="-231775">
              <a:lnSpc>
                <a:spcPct val="80000"/>
              </a:lnSpc>
              <a:tabLst>
                <a:tab pos="231775" algn="l"/>
              </a:tabLst>
            </a:pPr>
            <a:r>
              <a:rPr lang="en-US" sz="1800" dirty="0"/>
              <a:t>E-Tree Services</a:t>
            </a:r>
          </a:p>
          <a:p>
            <a:pPr marL="231775" indent="-231775">
              <a:lnSpc>
                <a:spcPct val="80000"/>
              </a:lnSpc>
              <a:tabLst>
                <a:tab pos="231775" algn="l"/>
              </a:tabLst>
            </a:pPr>
            <a:r>
              <a:rPr lang="en-US" sz="1800" dirty="0"/>
              <a:t>Service Attributes</a:t>
            </a:r>
          </a:p>
          <a:p>
            <a:pPr marL="682625" lvl="1" indent="-225425">
              <a:lnSpc>
                <a:spcPct val="80000"/>
              </a:lnSpc>
              <a:tabLst>
                <a:tab pos="231775" algn="l"/>
              </a:tabLst>
            </a:pPr>
            <a:r>
              <a:rPr lang="en-US" sz="1600" dirty="0"/>
              <a:t>Service Parameters</a:t>
            </a:r>
          </a:p>
          <a:p>
            <a:pPr marL="682625" lvl="1" indent="-225425">
              <a:lnSpc>
                <a:spcPct val="80000"/>
              </a:lnSpc>
              <a:tabLst>
                <a:tab pos="231775" algn="l"/>
              </a:tabLst>
            </a:pPr>
            <a:r>
              <a:rPr lang="en-US" sz="1600" dirty="0"/>
              <a:t>Bandwidth Profiles</a:t>
            </a:r>
          </a:p>
          <a:p>
            <a:pPr marL="682625" lvl="1" indent="-225425">
              <a:lnSpc>
                <a:spcPct val="80000"/>
              </a:lnSpc>
              <a:tabLst>
                <a:tab pos="231775" algn="l"/>
              </a:tabLst>
            </a:pPr>
            <a:r>
              <a:rPr lang="en-US" sz="1600" dirty="0"/>
              <a:t>Traffic </a:t>
            </a:r>
            <a:r>
              <a:rPr lang="en-US" sz="1600" dirty="0" smtClean="0"/>
              <a:t>Management</a:t>
            </a:r>
            <a:endParaRPr lang="en-US" sz="1600" dirty="0"/>
          </a:p>
        </p:txBody>
      </p:sp>
      <p:sp>
        <p:nvSpPr>
          <p:cNvPr id="988164" name="Text Box 4"/>
          <p:cNvSpPr txBox="1">
            <a:spLocks noChangeArrowheads="1"/>
          </p:cNvSpPr>
          <p:nvPr/>
        </p:nvSpPr>
        <p:spPr bwMode="auto">
          <a:xfrm>
            <a:off x="3733800" y="6491288"/>
            <a:ext cx="152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hlink"/>
                    </a:gs>
                    <a:gs pos="100000">
                      <a:schemeClr val="hlink">
                        <a:gamma/>
                        <a:tint val="0"/>
                        <a:invGamma/>
                        <a:alpha val="0"/>
                      </a:schemeClr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b="1">
                <a:solidFill>
                  <a:schemeClr val="bg1"/>
                </a:solidFill>
              </a:rPr>
              <a:t>March 2007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98465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Carrier Ethernet Scope and Reach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988164" name="Text Box 4"/>
          <p:cNvSpPr txBox="1">
            <a:spLocks noChangeArrowheads="1"/>
          </p:cNvSpPr>
          <p:nvPr/>
        </p:nvSpPr>
        <p:spPr bwMode="auto">
          <a:xfrm>
            <a:off x="3733800" y="6491288"/>
            <a:ext cx="152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hlink"/>
                    </a:gs>
                    <a:gs pos="100000">
                      <a:schemeClr val="hlink">
                        <a:gamma/>
                        <a:tint val="0"/>
                        <a:invGamma/>
                        <a:alpha val="0"/>
                      </a:schemeClr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b="1">
                <a:solidFill>
                  <a:schemeClr val="bg1"/>
                </a:solidFill>
              </a:rPr>
              <a:t>March 2007</a:t>
            </a:r>
          </a:p>
        </p:txBody>
      </p:sp>
      <p:grpSp>
        <p:nvGrpSpPr>
          <p:cNvPr id="2" name="Group 5"/>
          <p:cNvGrpSpPr/>
          <p:nvPr/>
        </p:nvGrpSpPr>
        <p:grpSpPr>
          <a:xfrm>
            <a:off x="273050" y="1676400"/>
            <a:ext cx="8642350" cy="4694238"/>
            <a:chOff x="273050" y="762000"/>
            <a:chExt cx="8642350" cy="5608638"/>
          </a:xfrm>
        </p:grpSpPr>
        <p:sp>
          <p:nvSpPr>
            <p:cNvPr id="7" name="Line 2"/>
            <p:cNvSpPr>
              <a:spLocks noChangeShapeType="1"/>
            </p:cNvSpPr>
            <p:nvPr/>
          </p:nvSpPr>
          <p:spPr bwMode="auto">
            <a:xfrm flipH="1">
              <a:off x="1676400" y="4267200"/>
              <a:ext cx="2514600" cy="0"/>
            </a:xfrm>
            <a:prstGeom prst="line">
              <a:avLst/>
            </a:prstGeom>
            <a:noFill/>
            <a:ln w="38100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3"/>
            <p:cNvSpPr>
              <a:spLocks noChangeShapeType="1"/>
            </p:cNvSpPr>
            <p:nvPr/>
          </p:nvSpPr>
          <p:spPr bwMode="auto">
            <a:xfrm flipH="1">
              <a:off x="1219200" y="3779838"/>
              <a:ext cx="2743200" cy="0"/>
            </a:xfrm>
            <a:prstGeom prst="line">
              <a:avLst/>
            </a:prstGeom>
            <a:noFill/>
            <a:ln w="38100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4"/>
            <p:cNvSpPr>
              <a:spLocks noChangeShapeType="1"/>
            </p:cNvSpPr>
            <p:nvPr/>
          </p:nvSpPr>
          <p:spPr bwMode="auto">
            <a:xfrm flipH="1" flipV="1">
              <a:off x="5105400" y="4267200"/>
              <a:ext cx="1143000" cy="685800"/>
            </a:xfrm>
            <a:prstGeom prst="line">
              <a:avLst/>
            </a:prstGeom>
            <a:noFill/>
            <a:ln w="38100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10" name="Picture 5" descr="cloud - access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0" y="4267200"/>
              <a:ext cx="3200400" cy="18780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Line 6"/>
            <p:cNvSpPr>
              <a:spLocks noChangeShapeType="1"/>
            </p:cNvSpPr>
            <p:nvPr/>
          </p:nvSpPr>
          <p:spPr bwMode="auto">
            <a:xfrm flipH="1">
              <a:off x="2971800" y="4419600"/>
              <a:ext cx="1295400" cy="990600"/>
            </a:xfrm>
            <a:prstGeom prst="line">
              <a:avLst/>
            </a:prstGeom>
            <a:noFill/>
            <a:ln w="38100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12" name="Picture 7" descr="cloud - access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0" y="4648200"/>
              <a:ext cx="2286000" cy="13414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Rectangle 9"/>
            <p:cNvSpPr>
              <a:spLocks noChangeArrowheads="1"/>
            </p:cNvSpPr>
            <p:nvPr/>
          </p:nvSpPr>
          <p:spPr bwMode="auto">
            <a:xfrm>
              <a:off x="304800" y="762000"/>
              <a:ext cx="86106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b="1"/>
                <a:t>Bringing vastly extended scalability for business and residential users</a:t>
              </a:r>
            </a:p>
          </p:txBody>
        </p:sp>
        <p:grpSp>
          <p:nvGrpSpPr>
            <p:cNvPr id="3" name="Group 10"/>
            <p:cNvGrpSpPr>
              <a:grpSpLocks/>
            </p:cNvGrpSpPr>
            <p:nvPr/>
          </p:nvGrpSpPr>
          <p:grpSpPr bwMode="auto">
            <a:xfrm>
              <a:off x="7467600" y="1049338"/>
              <a:ext cx="1257300" cy="1127125"/>
              <a:chOff x="3936" y="1536"/>
              <a:chExt cx="864" cy="762"/>
            </a:xfrm>
          </p:grpSpPr>
          <p:pic>
            <p:nvPicPr>
              <p:cNvPr id="90" name="Picture 11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36" y="1536"/>
                <a:ext cx="864" cy="7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sp>
            <p:nvSpPr>
              <p:cNvPr id="91" name="Text Box 12"/>
              <p:cNvSpPr txBox="1">
                <a:spLocks noChangeArrowheads="1"/>
              </p:cNvSpPr>
              <p:nvPr/>
            </p:nvSpPr>
            <p:spPr bwMode="auto">
              <a:xfrm>
                <a:off x="4032" y="1776"/>
                <a:ext cx="72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1000" b="1">
                    <a:latin typeface="Tahoma" pitchFamily="34" charset="0"/>
                  </a:rPr>
                  <a:t>Wireless Backhaul</a:t>
                </a:r>
              </a:p>
            </p:txBody>
          </p:sp>
        </p:grp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 flipH="1">
              <a:off x="4953000" y="1789113"/>
              <a:ext cx="2844800" cy="1487487"/>
            </a:xfrm>
            <a:prstGeom prst="line">
              <a:avLst/>
            </a:prstGeom>
            <a:noFill/>
            <a:ln w="28575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H="1">
              <a:off x="5486400" y="3276600"/>
              <a:ext cx="762000" cy="533400"/>
            </a:xfrm>
            <a:prstGeom prst="line">
              <a:avLst/>
            </a:prstGeom>
            <a:noFill/>
            <a:ln w="38100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 flipH="1" flipV="1">
              <a:off x="5029200" y="3276600"/>
              <a:ext cx="1219200" cy="0"/>
            </a:xfrm>
            <a:prstGeom prst="line">
              <a:avLst/>
            </a:prstGeom>
            <a:noFill/>
            <a:ln w="28575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6"/>
            <p:cNvSpPr>
              <a:spLocks noChangeShapeType="1"/>
            </p:cNvSpPr>
            <p:nvPr/>
          </p:nvSpPr>
          <p:spPr bwMode="auto">
            <a:xfrm flipH="1" flipV="1">
              <a:off x="3200400" y="1752600"/>
              <a:ext cx="304800" cy="838200"/>
            </a:xfrm>
            <a:prstGeom prst="line">
              <a:avLst/>
            </a:prstGeom>
            <a:noFill/>
            <a:ln w="38100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 flipH="1">
              <a:off x="4495800" y="1814513"/>
              <a:ext cx="1828800" cy="1233487"/>
            </a:xfrm>
            <a:prstGeom prst="line">
              <a:avLst/>
            </a:prstGeom>
            <a:noFill/>
            <a:ln w="28575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4648200" y="1757363"/>
              <a:ext cx="2362200" cy="1504950"/>
            </a:xfrm>
            <a:custGeom>
              <a:avLst/>
              <a:gdLst>
                <a:gd name="T0" fmla="*/ 1362 w 1362"/>
                <a:gd name="T1" fmla="*/ 0 h 948"/>
                <a:gd name="T2" fmla="*/ 0 w 1362"/>
                <a:gd name="T3" fmla="*/ 948 h 9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62" h="948">
                  <a:moveTo>
                    <a:pt x="1362" y="0"/>
                  </a:moveTo>
                  <a:lnTo>
                    <a:pt x="0" y="948"/>
                  </a:lnTo>
                </a:path>
              </a:pathLst>
            </a:custGeom>
            <a:noFill/>
            <a:ln w="28575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4038600" y="1700213"/>
              <a:ext cx="1028700" cy="1119187"/>
            </a:xfrm>
            <a:custGeom>
              <a:avLst/>
              <a:gdLst>
                <a:gd name="T0" fmla="*/ 552 w 552"/>
                <a:gd name="T1" fmla="*/ 0 h 648"/>
                <a:gd name="T2" fmla="*/ 0 w 552"/>
                <a:gd name="T3" fmla="*/ 648 h 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52" h="648">
                  <a:moveTo>
                    <a:pt x="552" y="0"/>
                  </a:moveTo>
                  <a:lnTo>
                    <a:pt x="0" y="648"/>
                  </a:lnTo>
                </a:path>
              </a:pathLst>
            </a:custGeom>
            <a:noFill/>
            <a:ln w="28575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8200" y="1585913"/>
              <a:ext cx="1752600" cy="990600"/>
            </a:xfrm>
            <a:custGeom>
              <a:avLst/>
              <a:gdLst>
                <a:gd name="T0" fmla="*/ 0 w 954"/>
                <a:gd name="T1" fmla="*/ 0 h 624"/>
                <a:gd name="T2" fmla="*/ 954 w 954"/>
                <a:gd name="T3" fmla="*/ 624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54" h="624">
                  <a:moveTo>
                    <a:pt x="0" y="0"/>
                  </a:moveTo>
                  <a:lnTo>
                    <a:pt x="954" y="624"/>
                  </a:lnTo>
                </a:path>
              </a:pathLst>
            </a:custGeom>
            <a:noFill/>
            <a:ln w="38100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21"/>
            <p:cNvSpPr>
              <a:spLocks noChangeShapeType="1"/>
            </p:cNvSpPr>
            <p:nvPr/>
          </p:nvSpPr>
          <p:spPr bwMode="auto">
            <a:xfrm>
              <a:off x="2486025" y="1724025"/>
              <a:ext cx="498475" cy="0"/>
            </a:xfrm>
            <a:prstGeom prst="line">
              <a:avLst/>
            </a:prstGeom>
            <a:noFill/>
            <a:ln w="28575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Box 22"/>
            <p:cNvSpPr txBox="1">
              <a:spLocks noChangeArrowheads="1"/>
            </p:cNvSpPr>
            <p:nvPr/>
          </p:nvSpPr>
          <p:spPr bwMode="auto">
            <a:xfrm>
              <a:off x="6477000" y="1057275"/>
              <a:ext cx="941388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C5C5C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1000" b="1">
                  <a:latin typeface="Tahoma" pitchFamily="34" charset="0"/>
                </a:rPr>
                <a:t>Voice Gateway</a:t>
              </a:r>
            </a:p>
          </p:txBody>
        </p:sp>
        <p:sp>
          <p:nvSpPr>
            <p:cNvPr id="25" name="Text Box 23"/>
            <p:cNvSpPr txBox="1">
              <a:spLocks noChangeArrowheads="1"/>
            </p:cNvSpPr>
            <p:nvPr/>
          </p:nvSpPr>
          <p:spPr bwMode="auto">
            <a:xfrm>
              <a:off x="5724525" y="1057275"/>
              <a:ext cx="1071563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C5C5C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1000" b="1">
                  <a:latin typeface="Tahoma" pitchFamily="34" charset="0"/>
                </a:rPr>
                <a:t>Voice/Video</a:t>
              </a:r>
            </a:p>
            <a:p>
              <a:pPr algn="ctr"/>
              <a:r>
                <a:rPr lang="en-US" sz="1000" b="1">
                  <a:latin typeface="Tahoma" pitchFamily="34" charset="0"/>
                </a:rPr>
                <a:t>Telephony</a:t>
              </a:r>
            </a:p>
          </p:txBody>
        </p:sp>
        <p:sp>
          <p:nvSpPr>
            <p:cNvPr id="26" name="Text Box 24"/>
            <p:cNvSpPr txBox="1">
              <a:spLocks noChangeArrowheads="1"/>
            </p:cNvSpPr>
            <p:nvPr/>
          </p:nvSpPr>
          <p:spPr bwMode="auto">
            <a:xfrm>
              <a:off x="2620963" y="1019175"/>
              <a:ext cx="12192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C5C5C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1000" b="1">
                  <a:latin typeface="Tahoma" pitchFamily="34" charset="0"/>
                </a:rPr>
                <a:t>HD TV</a:t>
              </a:r>
            </a:p>
            <a:p>
              <a:pPr algn="ctr"/>
              <a:r>
                <a:rPr lang="en-US" sz="1000" b="1">
                  <a:latin typeface="Tahoma" pitchFamily="34" charset="0"/>
                </a:rPr>
                <a:t>TVoD, VoD</a:t>
              </a:r>
            </a:p>
          </p:txBody>
        </p:sp>
        <p:sp>
          <p:nvSpPr>
            <p:cNvPr id="27" name="Line 25"/>
            <p:cNvSpPr>
              <a:spLocks noChangeShapeType="1"/>
            </p:cNvSpPr>
            <p:nvPr/>
          </p:nvSpPr>
          <p:spPr bwMode="auto">
            <a:xfrm>
              <a:off x="3430588" y="1738313"/>
              <a:ext cx="350837" cy="0"/>
            </a:xfrm>
            <a:prstGeom prst="line">
              <a:avLst/>
            </a:prstGeom>
            <a:noFill/>
            <a:ln w="28575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Box 26"/>
            <p:cNvSpPr txBox="1">
              <a:spLocks noChangeArrowheads="1"/>
            </p:cNvSpPr>
            <p:nvPr/>
          </p:nvSpPr>
          <p:spPr bwMode="auto">
            <a:xfrm>
              <a:off x="4267200" y="1041400"/>
              <a:ext cx="14478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C5C5C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1000" b="1">
                  <a:latin typeface="Tahoma" pitchFamily="34" charset="0"/>
                </a:rPr>
                <a:t>Gaming, Business</a:t>
              </a:r>
            </a:p>
            <a:p>
              <a:pPr algn="ctr"/>
              <a:r>
                <a:rPr lang="en-US" sz="1000" b="1">
                  <a:latin typeface="Tahoma" pitchFamily="34" charset="0"/>
                </a:rPr>
                <a:t>Backup, ERP</a:t>
              </a:r>
            </a:p>
          </p:txBody>
        </p:sp>
        <p:sp>
          <p:nvSpPr>
            <p:cNvPr id="29" name="Rectangle 27"/>
            <p:cNvSpPr>
              <a:spLocks noChangeArrowheads="1"/>
            </p:cNvSpPr>
            <p:nvPr/>
          </p:nvSpPr>
          <p:spPr bwMode="auto">
            <a:xfrm>
              <a:off x="2133600" y="1057275"/>
              <a:ext cx="2057400" cy="1143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Rectangle 28"/>
            <p:cNvSpPr>
              <a:spLocks noChangeArrowheads="1"/>
            </p:cNvSpPr>
            <p:nvPr/>
          </p:nvSpPr>
          <p:spPr bwMode="auto">
            <a:xfrm>
              <a:off x="4267200" y="1057275"/>
              <a:ext cx="1371600" cy="11525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Rectangle 29"/>
            <p:cNvSpPr>
              <a:spLocks noChangeArrowheads="1"/>
            </p:cNvSpPr>
            <p:nvPr/>
          </p:nvSpPr>
          <p:spPr bwMode="auto">
            <a:xfrm>
              <a:off x="5715000" y="1057275"/>
              <a:ext cx="1600200" cy="11477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Rectangle 30"/>
            <p:cNvSpPr>
              <a:spLocks noChangeArrowheads="1"/>
            </p:cNvSpPr>
            <p:nvPr/>
          </p:nvSpPr>
          <p:spPr bwMode="auto">
            <a:xfrm>
              <a:off x="273050" y="1057275"/>
              <a:ext cx="1752600" cy="1143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Rectangle 31"/>
            <p:cNvSpPr>
              <a:spLocks noChangeArrowheads="1"/>
            </p:cNvSpPr>
            <p:nvPr/>
          </p:nvSpPr>
          <p:spPr bwMode="auto">
            <a:xfrm>
              <a:off x="6861175" y="4565650"/>
              <a:ext cx="758825" cy="463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200" b="1"/>
                <a:t>Residential</a:t>
              </a:r>
            </a:p>
            <a:p>
              <a:pPr algn="ctr" eaLnBrk="0" hangingPunct="0"/>
              <a:r>
                <a:rPr lang="en-US" sz="1200" b="1"/>
                <a:t>Triple-Play</a:t>
              </a:r>
            </a:p>
          </p:txBody>
        </p:sp>
        <p:sp>
          <p:nvSpPr>
            <p:cNvPr id="34" name="Text Box 32"/>
            <p:cNvSpPr txBox="1">
              <a:spLocks noChangeArrowheads="1"/>
            </p:cNvSpPr>
            <p:nvPr/>
          </p:nvSpPr>
          <p:spPr bwMode="auto">
            <a:xfrm>
              <a:off x="7188200" y="3810000"/>
              <a:ext cx="1498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1200" b="1"/>
                <a:t>Broadband</a:t>
              </a:r>
            </a:p>
            <a:p>
              <a:pPr algn="ctr"/>
              <a:r>
                <a:rPr lang="en-US" sz="1200" b="1"/>
                <a:t>mobile data/video</a:t>
              </a:r>
            </a:p>
          </p:txBody>
        </p:sp>
        <p:pic>
          <p:nvPicPr>
            <p:cNvPr id="35" name="Picture 33" descr="Internet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000" y="1133475"/>
              <a:ext cx="1066800" cy="9175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34" descr="Satellite Dish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3600" y="1285875"/>
              <a:ext cx="506413" cy="609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 Box 35"/>
            <p:cNvSpPr txBox="1">
              <a:spLocks noChangeArrowheads="1"/>
            </p:cNvSpPr>
            <p:nvPr/>
          </p:nvSpPr>
          <p:spPr bwMode="auto">
            <a:xfrm>
              <a:off x="2209800" y="1863725"/>
              <a:ext cx="5334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C5C5C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800">
                  <a:latin typeface="Tahoma" pitchFamily="34" charset="0"/>
                </a:rPr>
                <a:t>Video</a:t>
              </a:r>
            </a:p>
            <a:p>
              <a:pPr algn="ctr"/>
              <a:r>
                <a:rPr lang="en-US" sz="800">
                  <a:latin typeface="Tahoma" pitchFamily="34" charset="0"/>
                </a:rPr>
                <a:t>Source</a:t>
              </a:r>
            </a:p>
          </p:txBody>
        </p:sp>
        <p:pic>
          <p:nvPicPr>
            <p:cNvPr id="38" name="Picture 36" descr="Satellite Dish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81400" y="1241425"/>
              <a:ext cx="506413" cy="609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" name="Text Box 37"/>
            <p:cNvSpPr txBox="1">
              <a:spLocks noChangeArrowheads="1"/>
            </p:cNvSpPr>
            <p:nvPr/>
          </p:nvSpPr>
          <p:spPr bwMode="auto">
            <a:xfrm>
              <a:off x="3657600" y="1819275"/>
              <a:ext cx="5334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C5C5C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800">
                  <a:latin typeface="Tahoma" pitchFamily="34" charset="0"/>
                </a:rPr>
                <a:t>Video</a:t>
              </a:r>
            </a:p>
            <a:p>
              <a:pPr algn="ctr"/>
              <a:r>
                <a:rPr lang="en-US" sz="800">
                  <a:latin typeface="Tahoma" pitchFamily="34" charset="0"/>
                </a:rPr>
                <a:t>Source</a:t>
              </a:r>
            </a:p>
          </p:txBody>
        </p:sp>
        <p:pic>
          <p:nvPicPr>
            <p:cNvPr id="40" name="Picture 38" descr="Servers A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5600" y="1362075"/>
              <a:ext cx="622300" cy="76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39" descr="Servers A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8200" y="1362075"/>
              <a:ext cx="622300" cy="76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40" descr="Servers A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67400" y="1362075"/>
              <a:ext cx="622300" cy="76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41" descr="Voice Gateway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3200" y="1690688"/>
              <a:ext cx="685800" cy="4159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4" name="Rectangle 42"/>
            <p:cNvSpPr>
              <a:spLocks noChangeArrowheads="1"/>
            </p:cNvSpPr>
            <p:nvPr/>
          </p:nvSpPr>
          <p:spPr bwMode="auto">
            <a:xfrm>
              <a:off x="7391400" y="1068388"/>
              <a:ext cx="1447800" cy="11414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45" name="Picture 43" descr="Large Enterprise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5000" y="3276600"/>
              <a:ext cx="660400" cy="990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Picture 44" descr="Large Enterprise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0" y="4038600"/>
              <a:ext cx="660400" cy="990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45" descr="Large Enterprise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3810000"/>
              <a:ext cx="660400" cy="990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8" name="Text Box 46"/>
            <p:cNvSpPr txBox="1">
              <a:spLocks noChangeArrowheads="1"/>
            </p:cNvSpPr>
            <p:nvPr/>
          </p:nvSpPr>
          <p:spPr bwMode="auto">
            <a:xfrm>
              <a:off x="914400" y="4572000"/>
              <a:ext cx="123983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sz="1200" b="1"/>
                <a:t>Small/Medium Business</a:t>
              </a:r>
            </a:p>
          </p:txBody>
        </p:sp>
        <p:pic>
          <p:nvPicPr>
            <p:cNvPr id="49" name="Picture 47" descr="Small Enterprise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8800" y="5334000"/>
              <a:ext cx="506413" cy="609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48" descr="Small Enterprise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1800" y="5410200"/>
              <a:ext cx="506413" cy="609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Picture 49" descr="Residential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70800" y="5257800"/>
              <a:ext cx="406400" cy="3397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50" descr="set top box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4800" y="5029200"/>
              <a:ext cx="758825" cy="482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" name="Picture 51" descr="Desktop PC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0" y="5181600"/>
              <a:ext cx="576263" cy="685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4" name="Picture 52" descr="LandLinePhone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0" y="5715000"/>
              <a:ext cx="685800" cy="44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" name="Picture 53" descr="Residential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8800" y="5257800"/>
              <a:ext cx="406400" cy="3397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" name="Picture 54" descr="Residential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0800" y="5181600"/>
              <a:ext cx="406400" cy="3397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7" name="Picture 55" descr="Residential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64400" y="5257800"/>
              <a:ext cx="406400" cy="3397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Picture 56" descr="Residential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7000" y="5562600"/>
              <a:ext cx="406400" cy="3397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Picture 57" descr="house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9800" y="5334000"/>
              <a:ext cx="504825" cy="4778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Picture 58" descr="house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0" y="5410200"/>
              <a:ext cx="504825" cy="4778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" name="Picture 59" descr="house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1800" y="5105400"/>
              <a:ext cx="504825" cy="4778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2" name="Text Box 60"/>
            <p:cNvSpPr txBox="1">
              <a:spLocks noChangeArrowheads="1"/>
            </p:cNvSpPr>
            <p:nvPr/>
          </p:nvSpPr>
          <p:spPr bwMode="auto">
            <a:xfrm>
              <a:off x="1219200" y="1171575"/>
              <a:ext cx="8382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C5C5C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1000" b="1">
                  <a:latin typeface="Tahoma" pitchFamily="34" charset="0"/>
                </a:rPr>
                <a:t>Internet</a:t>
              </a:r>
            </a:p>
          </p:txBody>
        </p:sp>
        <p:sp>
          <p:nvSpPr>
            <p:cNvPr id="63" name="Text Box 61"/>
            <p:cNvSpPr txBox="1">
              <a:spLocks noChangeArrowheads="1"/>
            </p:cNvSpPr>
            <p:nvPr/>
          </p:nvSpPr>
          <p:spPr bwMode="auto">
            <a:xfrm>
              <a:off x="4724400" y="6096000"/>
              <a:ext cx="2590800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200" b="1"/>
                <a:t>FTTx and DSLAM , Cable Modem</a:t>
              </a:r>
            </a:p>
          </p:txBody>
        </p:sp>
        <p:grpSp>
          <p:nvGrpSpPr>
            <p:cNvPr id="4" name="Group 62"/>
            <p:cNvGrpSpPr>
              <a:grpSpLocks/>
            </p:cNvGrpSpPr>
            <p:nvPr/>
          </p:nvGrpSpPr>
          <p:grpSpPr bwMode="auto">
            <a:xfrm>
              <a:off x="6089650" y="2520950"/>
              <a:ext cx="2312988" cy="1365250"/>
              <a:chOff x="4124" y="1636"/>
              <a:chExt cx="1457" cy="860"/>
            </a:xfrm>
          </p:grpSpPr>
          <p:grpSp>
            <p:nvGrpSpPr>
              <p:cNvPr id="5" name="Group 63"/>
              <p:cNvGrpSpPr>
                <a:grpSpLocks/>
              </p:cNvGrpSpPr>
              <p:nvPr/>
            </p:nvGrpSpPr>
            <p:grpSpPr bwMode="auto">
              <a:xfrm rot="-1476510">
                <a:off x="4848" y="1920"/>
                <a:ext cx="288" cy="288"/>
                <a:chOff x="3888" y="2112"/>
                <a:chExt cx="288" cy="288"/>
              </a:xfrm>
            </p:grpSpPr>
            <p:sp>
              <p:nvSpPr>
                <p:cNvPr id="87" name="Arc 64"/>
                <p:cNvSpPr>
                  <a:spLocks/>
                </p:cNvSpPr>
                <p:nvPr/>
              </p:nvSpPr>
              <p:spPr bwMode="auto">
                <a:xfrm flipH="1">
                  <a:off x="3888" y="2112"/>
                  <a:ext cx="288" cy="288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accent1"/>
                  </a:solidFill>
                  <a:round/>
                  <a:headEnd/>
                  <a:tailEnd/>
                </a:ln>
                <a:effectLst>
                  <a:prstShdw prst="shdw17" dist="17961" dir="2700000">
                    <a:schemeClr val="accent1">
                      <a:gamma/>
                      <a:shade val="60000"/>
                      <a:invGamma/>
                    </a:schemeClr>
                  </a:prst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88" name="Arc 65"/>
                <p:cNvSpPr>
                  <a:spLocks/>
                </p:cNvSpPr>
                <p:nvPr/>
              </p:nvSpPr>
              <p:spPr bwMode="auto">
                <a:xfrm flipH="1">
                  <a:off x="3984" y="2208"/>
                  <a:ext cx="192" cy="192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accent1"/>
                  </a:solidFill>
                  <a:round/>
                  <a:headEnd/>
                  <a:tailEnd/>
                </a:ln>
                <a:effectLst>
                  <a:prstShdw prst="shdw17" dist="17961" dir="2700000">
                    <a:schemeClr val="accent1">
                      <a:gamma/>
                      <a:shade val="60000"/>
                      <a:invGamma/>
                    </a:schemeClr>
                  </a:prst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89" name="Arc 66"/>
                <p:cNvSpPr>
                  <a:spLocks/>
                </p:cNvSpPr>
                <p:nvPr/>
              </p:nvSpPr>
              <p:spPr bwMode="auto">
                <a:xfrm flipH="1">
                  <a:off x="4080" y="2304"/>
                  <a:ext cx="96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accent1"/>
                  </a:solidFill>
                  <a:round/>
                  <a:headEnd/>
                  <a:tailEnd/>
                </a:ln>
                <a:effectLst>
                  <a:prstShdw prst="shdw17" dist="17961" dir="2700000">
                    <a:schemeClr val="accent1">
                      <a:gamma/>
                      <a:shade val="60000"/>
                      <a:invGamma/>
                    </a:schemeClr>
                  </a:prst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6" name="Group 67"/>
              <p:cNvGrpSpPr>
                <a:grpSpLocks/>
              </p:cNvGrpSpPr>
              <p:nvPr/>
            </p:nvGrpSpPr>
            <p:grpSpPr bwMode="auto">
              <a:xfrm rot="3885782" flipH="1">
                <a:off x="4364" y="1780"/>
                <a:ext cx="288" cy="288"/>
                <a:chOff x="3888" y="2112"/>
                <a:chExt cx="288" cy="288"/>
              </a:xfrm>
            </p:grpSpPr>
            <p:sp>
              <p:nvSpPr>
                <p:cNvPr id="84" name="Arc 68"/>
                <p:cNvSpPr>
                  <a:spLocks/>
                </p:cNvSpPr>
                <p:nvPr/>
              </p:nvSpPr>
              <p:spPr bwMode="auto">
                <a:xfrm flipH="1">
                  <a:off x="3888" y="2112"/>
                  <a:ext cx="288" cy="288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accent1"/>
                  </a:solidFill>
                  <a:round/>
                  <a:headEnd/>
                  <a:tailEnd/>
                </a:ln>
                <a:effectLst>
                  <a:prstShdw prst="shdw17" dist="17961" dir="2700000">
                    <a:schemeClr val="accent1">
                      <a:gamma/>
                      <a:shade val="60000"/>
                      <a:invGamma/>
                    </a:schemeClr>
                  </a:prst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85" name="Arc 69"/>
                <p:cNvSpPr>
                  <a:spLocks/>
                </p:cNvSpPr>
                <p:nvPr/>
              </p:nvSpPr>
              <p:spPr bwMode="auto">
                <a:xfrm flipH="1">
                  <a:off x="3984" y="2208"/>
                  <a:ext cx="192" cy="192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accent1"/>
                  </a:solidFill>
                  <a:round/>
                  <a:headEnd/>
                  <a:tailEnd/>
                </a:ln>
                <a:effectLst>
                  <a:prstShdw prst="shdw17" dist="17961" dir="2700000">
                    <a:schemeClr val="accent1">
                      <a:gamma/>
                      <a:shade val="60000"/>
                      <a:invGamma/>
                    </a:schemeClr>
                  </a:prst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86" name="Arc 70"/>
                <p:cNvSpPr>
                  <a:spLocks/>
                </p:cNvSpPr>
                <p:nvPr/>
              </p:nvSpPr>
              <p:spPr bwMode="auto">
                <a:xfrm flipH="1">
                  <a:off x="4080" y="2304"/>
                  <a:ext cx="96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accent1"/>
                  </a:solidFill>
                  <a:round/>
                  <a:headEnd/>
                  <a:tailEnd/>
                </a:ln>
                <a:effectLst>
                  <a:prstShdw prst="shdw17" dist="17961" dir="2700000">
                    <a:schemeClr val="accent1">
                      <a:gamma/>
                      <a:shade val="60000"/>
                      <a:invGamma/>
                    </a:schemeClr>
                  </a:prst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</p:grpSp>
          <p:pic>
            <p:nvPicPr>
              <p:cNvPr id="74" name="Picture 71" descr="Tower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24" y="1636"/>
                <a:ext cx="277" cy="67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14" name="Group 72"/>
              <p:cNvGrpSpPr>
                <a:grpSpLocks/>
              </p:cNvGrpSpPr>
              <p:nvPr/>
            </p:nvGrpSpPr>
            <p:grpSpPr bwMode="auto">
              <a:xfrm>
                <a:off x="5136" y="1824"/>
                <a:ext cx="445" cy="672"/>
                <a:chOff x="5280" y="2400"/>
                <a:chExt cx="445" cy="672"/>
              </a:xfrm>
            </p:grpSpPr>
            <p:pic>
              <p:nvPicPr>
                <p:cNvPr id="81" name="Picture 73" descr="Cell Phone"/>
                <p:cNvPicPr>
                  <a:picLocks noChangeAspect="1" noChangeArrowheads="1"/>
                </p:cNvPicPr>
                <p:nvPr/>
              </p:nvPicPr>
              <p:blipFill>
                <a:blip r:embed="rId1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280" y="2400"/>
                  <a:ext cx="253" cy="48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2" name="Picture 74" descr="Cell Phone"/>
                <p:cNvPicPr>
                  <a:picLocks noChangeAspect="1" noChangeArrowheads="1"/>
                </p:cNvPicPr>
                <p:nvPr/>
              </p:nvPicPr>
              <p:blipFill>
                <a:blip r:embed="rId1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376" y="2496"/>
                  <a:ext cx="253" cy="48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3" name="Picture 75" descr="Cell Phone"/>
                <p:cNvPicPr>
                  <a:picLocks noChangeAspect="1" noChangeArrowheads="1"/>
                </p:cNvPicPr>
                <p:nvPr/>
              </p:nvPicPr>
              <p:blipFill>
                <a:blip r:embed="rId1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472" y="2592"/>
                  <a:ext cx="253" cy="48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76" name="Line 76"/>
              <p:cNvSpPr>
                <a:spLocks noChangeShapeType="1"/>
              </p:cNvSpPr>
              <p:nvPr/>
            </p:nvSpPr>
            <p:spPr bwMode="auto">
              <a:xfrm rot="1003389">
                <a:off x="4340" y="187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7" name="Line 77"/>
              <p:cNvSpPr>
                <a:spLocks noChangeShapeType="1"/>
              </p:cNvSpPr>
              <p:nvPr/>
            </p:nvSpPr>
            <p:spPr bwMode="auto">
              <a:xfrm rot="1003389">
                <a:off x="4524" y="1932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8" name="Line 78"/>
              <p:cNvSpPr>
                <a:spLocks noChangeShapeType="1"/>
              </p:cNvSpPr>
              <p:nvPr/>
            </p:nvSpPr>
            <p:spPr bwMode="auto">
              <a:xfrm rot="1003389">
                <a:off x="4708" y="1987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9" name="Line 79"/>
              <p:cNvSpPr>
                <a:spLocks noChangeShapeType="1"/>
              </p:cNvSpPr>
              <p:nvPr/>
            </p:nvSpPr>
            <p:spPr bwMode="auto">
              <a:xfrm rot="1003389">
                <a:off x="4892" y="2042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80" name="Line 80"/>
              <p:cNvSpPr>
                <a:spLocks noChangeShapeType="1"/>
              </p:cNvSpPr>
              <p:nvPr/>
            </p:nvSpPr>
            <p:spPr bwMode="auto">
              <a:xfrm rot="1003389">
                <a:off x="5076" y="2097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pic>
          <p:nvPicPr>
            <p:cNvPr id="65" name="Picture 81" descr="globalnational"/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7800" y="2144713"/>
              <a:ext cx="3200400" cy="18176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6" name="Picture 82" descr="cloud - metro"/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38400" y="2743200"/>
              <a:ext cx="3048000" cy="17065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" name="Picture 83" descr="cloud - access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000" y="3048000"/>
              <a:ext cx="3200400" cy="18780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8" name="WordArt 84"/>
            <p:cNvSpPr>
              <a:spLocks noChangeArrowheads="1" noChangeShapeType="1" noTextEdit="1"/>
            </p:cNvSpPr>
            <p:nvPr/>
          </p:nvSpPr>
          <p:spPr bwMode="auto">
            <a:xfrm>
              <a:off x="3276600" y="2667000"/>
              <a:ext cx="2895600" cy="2286000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spcFirstLastPara="1" wrap="none" fromWordArt="1">
              <a:prstTxWarp prst="textArchDown">
                <a:avLst>
                  <a:gd name="adj" fmla="val 0"/>
                </a:avLst>
              </a:prstTxWarp>
            </a:bodyPr>
            <a:lstStyle/>
            <a:p>
              <a:pPr algn="ctr"/>
              <a:r>
                <a:rPr lang="en-US" sz="14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Verdana"/>
                  <a:ea typeface="Verdana"/>
                  <a:cs typeface="Verdana"/>
                </a:rPr>
                <a:t>        COPPER, FIBER, COAX and WIRELESS</a:t>
              </a:r>
            </a:p>
          </p:txBody>
        </p:sp>
        <p:sp>
          <p:nvSpPr>
            <p:cNvPr id="69" name="Text Box 85"/>
            <p:cNvSpPr txBox="1">
              <a:spLocks noChangeArrowheads="1"/>
            </p:cNvSpPr>
            <p:nvPr/>
          </p:nvSpPr>
          <p:spPr bwMode="auto">
            <a:xfrm>
              <a:off x="1981200" y="3810000"/>
              <a:ext cx="121443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200" b="1"/>
                <a:t>E-Line and</a:t>
              </a:r>
            </a:p>
            <a:p>
              <a:r>
                <a:rPr lang="en-US" sz="1200" b="1"/>
                <a:t>E-LAN service</a:t>
              </a:r>
            </a:p>
          </p:txBody>
        </p:sp>
        <p:pic>
          <p:nvPicPr>
            <p:cNvPr id="70" name="Picture 86" descr="TV-Monitor"/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48600" y="4648200"/>
              <a:ext cx="820738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" name="Picture 87" descr="Laptop"/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15200" y="5446713"/>
              <a:ext cx="685800" cy="6492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2" name="Slide Number Placeholder 9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96224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Metro Ethernet Forum (MEF)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988164" name="Text Box 4"/>
          <p:cNvSpPr txBox="1">
            <a:spLocks noChangeArrowheads="1"/>
          </p:cNvSpPr>
          <p:nvPr/>
        </p:nvSpPr>
        <p:spPr bwMode="auto">
          <a:xfrm>
            <a:off x="3733800" y="6491288"/>
            <a:ext cx="152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hlink"/>
                    </a:gs>
                    <a:gs pos="100000">
                      <a:schemeClr val="hlink">
                        <a:gamma/>
                        <a:tint val="0"/>
                        <a:invGamma/>
                        <a:alpha val="0"/>
                      </a:schemeClr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b="1">
                <a:solidFill>
                  <a:schemeClr val="bg1"/>
                </a:solidFill>
              </a:rPr>
              <a:t>March 2007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304800" y="1600200"/>
            <a:ext cx="8503920" cy="4572000"/>
          </a:xfrm>
        </p:spPr>
        <p:txBody>
          <a:bodyPr>
            <a:normAutofit fontScale="92500" lnSpcReduction="20000"/>
          </a:bodyPr>
          <a:lstStyle/>
          <a:p>
            <a:pPr marL="533400" indent="-533400">
              <a:lnSpc>
                <a:spcPct val="90000"/>
              </a:lnSpc>
            </a:pPr>
            <a:r>
              <a:rPr lang="en-GB" dirty="0" smtClean="0"/>
              <a:t>“The MEF, as the defining body for Carrier Ethernet is a global industry alliance comprising more than 175 organizations including telecommunications service providers, cable </a:t>
            </a:r>
            <a:r>
              <a:rPr lang="en-GB" dirty="0" err="1" smtClean="0"/>
              <a:t>MSOs</a:t>
            </a:r>
            <a:r>
              <a:rPr lang="en-GB" dirty="0" smtClean="0"/>
              <a:t>, network equipment/software manufacturers, semiconductors vendors and testing organizations. </a:t>
            </a:r>
          </a:p>
          <a:p>
            <a:pPr marL="533400" indent="-533400">
              <a:lnSpc>
                <a:spcPct val="90000"/>
              </a:lnSpc>
            </a:pPr>
            <a:r>
              <a:rPr lang="en-GB" dirty="0" smtClean="0"/>
              <a:t>The </a:t>
            </a:r>
            <a:r>
              <a:rPr lang="en-GB" dirty="0" err="1" smtClean="0"/>
              <a:t>MEF’s</a:t>
            </a:r>
            <a:r>
              <a:rPr lang="en-GB" dirty="0" smtClean="0"/>
              <a:t> mission is to accelerate the worldwide adoption of Carrier-class Ethernet networks and services. </a:t>
            </a:r>
          </a:p>
          <a:p>
            <a:pPr marL="533400" indent="-533400">
              <a:lnSpc>
                <a:spcPct val="90000"/>
              </a:lnSpc>
            </a:pPr>
            <a:r>
              <a:rPr lang="en-GB" dirty="0" smtClean="0"/>
              <a:t>The MEF develops Carrier Ethernet technical specifications and implementation agreements to promote interoperability and deployment of Carrier Ethernet worldwide.”</a:t>
            </a:r>
          </a:p>
          <a:p>
            <a:pPr marL="533400" indent="-533400">
              <a:lnSpc>
                <a:spcPct val="90000"/>
              </a:lnSpc>
            </a:pPr>
            <a:r>
              <a:rPr lang="en-US" sz="2800" dirty="0" smtClean="0">
                <a:solidFill>
                  <a:srgbClr val="000066"/>
                </a:solidFill>
                <a:hlinkClick r:id="rId2"/>
              </a:rPr>
              <a:t>http://metroethernetforum.org/index.php</a:t>
            </a:r>
            <a:endParaRPr lang="en-US" sz="2800" dirty="0" smtClean="0">
              <a:solidFill>
                <a:srgbClr val="000066"/>
              </a:solidFill>
            </a:endParaRPr>
          </a:p>
          <a:p>
            <a:pPr marL="533400" indent="-533400">
              <a:lnSpc>
                <a:spcPct val="90000"/>
              </a:lnSpc>
            </a:pPr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78136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312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MEF Carrier Ethernet Terminology</a:t>
            </a:r>
          </a:p>
        </p:txBody>
      </p:sp>
      <p:sp>
        <p:nvSpPr>
          <p:cNvPr id="994313" name="Rectangle 9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7391400" cy="2971800"/>
          </a:xfrm>
          <a:noFill/>
          <a:ln/>
        </p:spPr>
        <p:txBody>
          <a:bodyPr>
            <a:normAutofit/>
          </a:bodyPr>
          <a:lstStyle/>
          <a:p>
            <a:pPr marL="231775" indent="-231775"/>
            <a:r>
              <a:rPr lang="en-US" sz="2400" dirty="0"/>
              <a:t>The User Network Interface (UNI)</a:t>
            </a:r>
          </a:p>
          <a:p>
            <a:pPr marL="566738" lvl="1" indent="-219075"/>
            <a:r>
              <a:rPr lang="en-US" sz="1800" dirty="0"/>
              <a:t>The UNI is the physical interface or port  that is the demarcation between the customer and the service provider/Cable Operator/Carrier/MSO</a:t>
            </a:r>
          </a:p>
          <a:p>
            <a:pPr marL="566738" lvl="1" indent="-219075"/>
            <a:r>
              <a:rPr lang="en-US" sz="1800" dirty="0"/>
              <a:t>The UNI is always provided by the Service Provider</a:t>
            </a:r>
          </a:p>
          <a:p>
            <a:pPr marL="566738" lvl="1" indent="-219075"/>
            <a:r>
              <a:rPr lang="en-US" sz="1800" dirty="0"/>
              <a:t>The UNI in a Carrier Ethernet Network is a physical Ethernet Interface at operating speeds 10Mbs, 100Mbps, 1Gbps or 10Gbps</a:t>
            </a:r>
          </a:p>
        </p:txBody>
      </p:sp>
      <p:grpSp>
        <p:nvGrpSpPr>
          <p:cNvPr id="2" name="Group 17"/>
          <p:cNvGrpSpPr/>
          <p:nvPr/>
        </p:nvGrpSpPr>
        <p:grpSpPr>
          <a:xfrm>
            <a:off x="762000" y="3810000"/>
            <a:ext cx="7543800" cy="2590800"/>
            <a:chOff x="762000" y="3657600"/>
            <a:chExt cx="7543800" cy="2590800"/>
          </a:xfrm>
        </p:grpSpPr>
        <p:pic>
          <p:nvPicPr>
            <p:cNvPr id="994306" name="Picture 2" descr="cloud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4200" y="3657600"/>
              <a:ext cx="4114800" cy="1893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94307" name="Line 3"/>
            <p:cNvSpPr>
              <a:spLocks noChangeShapeType="1"/>
            </p:cNvSpPr>
            <p:nvPr/>
          </p:nvSpPr>
          <p:spPr bwMode="auto">
            <a:xfrm>
              <a:off x="4267200" y="4648200"/>
              <a:ext cx="2133600" cy="0"/>
            </a:xfrm>
            <a:prstGeom prst="line">
              <a:avLst/>
            </a:prstGeom>
            <a:noFill/>
            <a:ln w="38100" cap="rnd">
              <a:solidFill>
                <a:srgbClr val="5F5F5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4308" name="Text Box 4"/>
            <p:cNvSpPr txBox="1">
              <a:spLocks noChangeArrowheads="1"/>
            </p:cNvSpPr>
            <p:nvPr/>
          </p:nvSpPr>
          <p:spPr bwMode="auto">
            <a:xfrm>
              <a:off x="4495800" y="4191000"/>
              <a:ext cx="1450975" cy="384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lnSpc>
                  <a:spcPct val="80000"/>
                </a:lnSpc>
              </a:pPr>
              <a:r>
                <a:rPr lang="en-US" sz="1200" b="1"/>
                <a:t>Carrier Ethernet Network</a:t>
              </a:r>
            </a:p>
          </p:txBody>
        </p:sp>
        <p:sp>
          <p:nvSpPr>
            <p:cNvPr id="994309" name="Rectangle 5"/>
            <p:cNvSpPr>
              <a:spLocks noChangeArrowheads="1"/>
            </p:cNvSpPr>
            <p:nvPr/>
          </p:nvSpPr>
          <p:spPr bwMode="auto">
            <a:xfrm>
              <a:off x="3200400" y="4792663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UNI</a:t>
              </a:r>
            </a:p>
          </p:txBody>
        </p:sp>
        <p:pic>
          <p:nvPicPr>
            <p:cNvPr id="994310" name="Picture 6" descr="Switch 1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76600" y="4259263"/>
              <a:ext cx="1371600" cy="9223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94311" name="Picture 7" descr="dertified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4183063"/>
              <a:ext cx="334963" cy="609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94314" name="Picture 10" descr="dertified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600" y="5638800"/>
              <a:ext cx="333375" cy="609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94315" name="Text Box 11"/>
            <p:cNvSpPr txBox="1">
              <a:spLocks noChangeArrowheads="1"/>
            </p:cNvSpPr>
            <p:nvPr/>
          </p:nvSpPr>
          <p:spPr bwMode="auto">
            <a:xfrm>
              <a:off x="762000" y="5867400"/>
              <a:ext cx="7543800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10000"/>
                </a:spcBef>
              </a:pPr>
              <a:r>
                <a:rPr lang="en-US" sz="1200" b="1"/>
                <a:t>CE</a:t>
              </a:r>
              <a:r>
                <a:rPr lang="en-US" sz="1200"/>
                <a:t>: Customer Equipment, </a:t>
              </a:r>
              <a:r>
                <a:rPr lang="en-US" sz="1200" b="1"/>
                <a:t>UNI:</a:t>
              </a:r>
              <a:r>
                <a:rPr lang="en-US" sz="1200"/>
                <a:t> User Network Interface.            MEF certified Carrier Ethernet products </a:t>
              </a:r>
            </a:p>
          </p:txBody>
        </p:sp>
        <p:grpSp>
          <p:nvGrpSpPr>
            <p:cNvPr id="3" name="Group 12"/>
            <p:cNvGrpSpPr>
              <a:grpSpLocks/>
            </p:cNvGrpSpPr>
            <p:nvPr/>
          </p:nvGrpSpPr>
          <p:grpSpPr bwMode="auto">
            <a:xfrm rot="-16200000">
              <a:off x="2819400" y="4038600"/>
              <a:ext cx="76200" cy="1295400"/>
              <a:chOff x="3408" y="1728"/>
              <a:chExt cx="95" cy="1968"/>
            </a:xfrm>
          </p:grpSpPr>
          <p:sp>
            <p:nvSpPr>
              <p:cNvPr id="994317" name="Rectangle 13"/>
              <p:cNvSpPr>
                <a:spLocks noChangeArrowheads="1"/>
              </p:cNvSpPr>
              <p:nvPr/>
            </p:nvSpPr>
            <p:spPr bwMode="auto">
              <a:xfrm rot="16200000" flipV="1">
                <a:off x="2448" y="2688"/>
                <a:ext cx="1968" cy="48"/>
              </a:xfrm>
              <a:prstGeom prst="rect">
                <a:avLst/>
              </a:prstGeom>
              <a:gradFill rotWithShape="1">
                <a:gsLst>
                  <a:gs pos="0">
                    <a:srgbClr val="B2B2B2"/>
                  </a:gs>
                  <a:gs pos="50000">
                    <a:srgbClr val="FFCCFF"/>
                  </a:gs>
                  <a:gs pos="100000">
                    <a:srgbClr val="B2B2B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94318" name="Rectangle 14"/>
              <p:cNvSpPr>
                <a:spLocks noChangeArrowheads="1"/>
              </p:cNvSpPr>
              <p:nvPr/>
            </p:nvSpPr>
            <p:spPr bwMode="auto">
              <a:xfrm rot="-5400000">
                <a:off x="2496" y="2688"/>
                <a:ext cx="1968" cy="47"/>
              </a:xfrm>
              <a:prstGeom prst="rect">
                <a:avLst/>
              </a:prstGeom>
              <a:gradFill rotWithShape="1">
                <a:gsLst>
                  <a:gs pos="0">
                    <a:srgbClr val="B2B2B2"/>
                  </a:gs>
                  <a:gs pos="100000">
                    <a:srgbClr val="777777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pic>
          <p:nvPicPr>
            <p:cNvPr id="994319" name="Picture 15" descr="Small Enterprise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2838" y="4029075"/>
              <a:ext cx="831850" cy="1000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94320" name="Picture 16" descr="Remote DSLAM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0038" y="4410075"/>
              <a:ext cx="792162" cy="5095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94321" name="Rectangle 17"/>
            <p:cNvSpPr>
              <a:spLocks noChangeArrowheads="1"/>
            </p:cNvSpPr>
            <p:nvPr/>
          </p:nvSpPr>
          <p:spPr bwMode="auto">
            <a:xfrm>
              <a:off x="1722438" y="4867275"/>
              <a:ext cx="304800" cy="142875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CE</a:t>
              </a:r>
            </a:p>
          </p:txBody>
        </p:sp>
      </p:grp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10553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MEF Carrier Ethernet Terminology</a:t>
            </a:r>
          </a:p>
        </p:txBody>
      </p:sp>
      <p:sp>
        <p:nvSpPr>
          <p:cNvPr id="996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828800"/>
            <a:ext cx="8001000" cy="4038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Ethernet Virtual Connection (EVC)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Service container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Connects two or more subscriber sites (UNI’s)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An association of two or more UNIs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Prevents data transfer between sites that are not part of the same EVC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Two types of EVCs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Point-to-Point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Multipoint-to-Multipoint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Can </a:t>
            </a:r>
            <a:r>
              <a:rPr lang="en-US" dirty="0"/>
              <a:t>be bundled or multiplexed on the same </a:t>
            </a:r>
            <a:r>
              <a:rPr lang="en-US" dirty="0" smtClean="0"/>
              <a:t>UNI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2083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40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accent2"/>
                </a:solidFill>
              </a:rPr>
              <a:t>Carrier Ethernet: Two Service Types Using EVCs</a:t>
            </a:r>
          </a:p>
        </p:txBody>
      </p:sp>
      <p:sp>
        <p:nvSpPr>
          <p:cNvPr id="998404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447800"/>
            <a:ext cx="5867400" cy="4419600"/>
          </a:xfrm>
          <a:noFill/>
          <a:ln/>
        </p:spPr>
        <p:txBody>
          <a:bodyPr/>
          <a:lstStyle/>
          <a:p>
            <a:pPr marL="231775" indent="-231775"/>
            <a:r>
              <a:rPr lang="en-US" dirty="0"/>
              <a:t>E-Line</a:t>
            </a:r>
            <a:r>
              <a:rPr lang="en-US" sz="2000" dirty="0"/>
              <a:t> Service used to create</a:t>
            </a:r>
          </a:p>
          <a:p>
            <a:pPr marL="566738" lvl="1" indent="-219075"/>
            <a:r>
              <a:rPr lang="en-US" sz="2000" dirty="0"/>
              <a:t>Ethernet Private Lines</a:t>
            </a:r>
          </a:p>
          <a:p>
            <a:pPr marL="566738" lvl="1" indent="-219075"/>
            <a:r>
              <a:rPr lang="en-US" sz="2000" dirty="0"/>
              <a:t>Virtual Private Lines</a:t>
            </a:r>
          </a:p>
          <a:p>
            <a:pPr marL="566738" lvl="1" indent="-219075"/>
            <a:r>
              <a:rPr lang="en-US" sz="2000" dirty="0"/>
              <a:t>Ethernet Internet Access</a:t>
            </a:r>
          </a:p>
          <a:p>
            <a:pPr marL="566738" lvl="1" indent="-219075"/>
            <a:endParaRPr lang="en-US" sz="2000" dirty="0"/>
          </a:p>
          <a:p>
            <a:pPr marL="566738" lvl="1" indent="-219075"/>
            <a:endParaRPr lang="en-US" sz="2000" dirty="0"/>
          </a:p>
          <a:p>
            <a:pPr marL="231775" indent="-231775"/>
            <a:r>
              <a:rPr lang="en-US" dirty="0"/>
              <a:t>E-LAN </a:t>
            </a:r>
            <a:r>
              <a:rPr lang="en-US" sz="2000" dirty="0"/>
              <a:t>Service used to create</a:t>
            </a:r>
          </a:p>
          <a:p>
            <a:pPr marL="566738" lvl="1" indent="-219075"/>
            <a:r>
              <a:rPr lang="en-US" sz="2000" dirty="0"/>
              <a:t>Multipoint L2 VPNs</a:t>
            </a:r>
          </a:p>
          <a:p>
            <a:pPr marL="566738" lvl="1" indent="-219075"/>
            <a:r>
              <a:rPr lang="en-US" sz="2000" dirty="0"/>
              <a:t>Transparent LAN Service</a:t>
            </a:r>
          </a:p>
          <a:p>
            <a:pPr marL="566738" lvl="1" indent="-219075"/>
            <a:r>
              <a:rPr lang="en-US" sz="2000" dirty="0"/>
              <a:t>Foundation for IPTV and </a:t>
            </a:r>
            <a:br>
              <a:rPr lang="en-US" sz="2000" dirty="0"/>
            </a:br>
            <a:r>
              <a:rPr lang="en-US" sz="2000" dirty="0"/>
              <a:t>Multicast networks etc.</a:t>
            </a:r>
          </a:p>
        </p:txBody>
      </p:sp>
      <p:sp>
        <p:nvSpPr>
          <p:cNvPr id="998405" name="Text Box 5"/>
          <p:cNvSpPr txBox="1">
            <a:spLocks noChangeArrowheads="1"/>
          </p:cNvSpPr>
          <p:nvPr/>
        </p:nvSpPr>
        <p:spPr bwMode="auto">
          <a:xfrm>
            <a:off x="5791200" y="2819400"/>
            <a:ext cx="1981200" cy="304800"/>
          </a:xfrm>
          <a:prstGeom prst="rect">
            <a:avLst/>
          </a:prstGeom>
          <a:gradFill rotWithShape="1">
            <a:gsLst>
              <a:gs pos="0">
                <a:srgbClr val="99CCFF"/>
              </a:gs>
              <a:gs pos="100000">
                <a:srgbClr val="99CCFF">
                  <a:gamma/>
                  <a:tint val="0"/>
                  <a:invGamma/>
                  <a:alpha val="25999"/>
                </a:srgbClr>
              </a:gs>
            </a:gsLst>
            <a:lin ang="0" scaled="1"/>
          </a:gradFill>
          <a:ln w="9525" algn="ctr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lnSpc>
                <a:spcPct val="80000"/>
              </a:lnSpc>
            </a:pPr>
            <a:r>
              <a:rPr lang="en-US" sz="1400" b="1"/>
              <a:t>E-Line Service type</a:t>
            </a:r>
          </a:p>
        </p:txBody>
      </p:sp>
      <p:grpSp>
        <p:nvGrpSpPr>
          <p:cNvPr id="2" name="Group 66"/>
          <p:cNvGrpSpPr/>
          <p:nvPr/>
        </p:nvGrpSpPr>
        <p:grpSpPr>
          <a:xfrm>
            <a:off x="4648200" y="1456635"/>
            <a:ext cx="4267200" cy="1286565"/>
            <a:chOff x="3886200" y="1219200"/>
            <a:chExt cx="5029200" cy="1479550"/>
          </a:xfrm>
        </p:grpSpPr>
        <p:sp>
          <p:nvSpPr>
            <p:cNvPr id="998407" name="Line 7"/>
            <p:cNvSpPr>
              <a:spLocks noChangeShapeType="1"/>
            </p:cNvSpPr>
            <p:nvPr/>
          </p:nvSpPr>
          <p:spPr bwMode="auto">
            <a:xfrm>
              <a:off x="7086600" y="2057400"/>
              <a:ext cx="1066800" cy="6350"/>
            </a:xfrm>
            <a:prstGeom prst="line">
              <a:avLst/>
            </a:prstGeom>
            <a:noFill/>
            <a:ln w="38100">
              <a:solidFill>
                <a:srgbClr val="5F5F5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998408" name="Picture 8" descr="cloud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0" y="1219200"/>
              <a:ext cx="2590800" cy="14795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98409" name="Line 9"/>
            <p:cNvSpPr>
              <a:spLocks noChangeShapeType="1"/>
            </p:cNvSpPr>
            <p:nvPr/>
          </p:nvSpPr>
          <p:spPr bwMode="auto">
            <a:xfrm>
              <a:off x="4648200" y="2063750"/>
              <a:ext cx="685800" cy="0"/>
            </a:xfrm>
            <a:prstGeom prst="line">
              <a:avLst/>
            </a:prstGeom>
            <a:noFill/>
            <a:ln w="38100">
              <a:solidFill>
                <a:srgbClr val="5F5F5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8410" name="Line 10"/>
            <p:cNvSpPr>
              <a:spLocks noChangeShapeType="1"/>
            </p:cNvSpPr>
            <p:nvPr/>
          </p:nvSpPr>
          <p:spPr bwMode="auto">
            <a:xfrm flipV="1">
              <a:off x="5410200" y="2057400"/>
              <a:ext cx="1676400" cy="6350"/>
            </a:xfrm>
            <a:prstGeom prst="line">
              <a:avLst/>
            </a:prstGeom>
            <a:noFill/>
            <a:ln w="38100" cap="rnd">
              <a:solidFill>
                <a:srgbClr val="5F5F5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998411" name="Picture 11" descr="Router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29200" y="1825625"/>
              <a:ext cx="914400" cy="5905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98412" name="Picture 12" descr="Small Enterprise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6200" y="1597025"/>
              <a:ext cx="577850" cy="6953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98413" name="Picture 13" descr="Medium Enterprise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3400" y="1520825"/>
              <a:ext cx="762000" cy="7127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98414" name="Picture 14" descr="Router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1800" y="1828800"/>
              <a:ext cx="914400" cy="5905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98415" name="Text Box 15"/>
            <p:cNvSpPr txBox="1">
              <a:spLocks noChangeArrowheads="1"/>
            </p:cNvSpPr>
            <p:nvPr/>
          </p:nvSpPr>
          <p:spPr bwMode="auto">
            <a:xfrm>
              <a:off x="5562600" y="1600200"/>
              <a:ext cx="1460500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200"/>
                <a:t>Point-to-Point EVC</a:t>
              </a:r>
            </a:p>
          </p:txBody>
        </p:sp>
        <p:pic>
          <p:nvPicPr>
            <p:cNvPr id="998417" name="Picture 17" descr="dertified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1524000"/>
              <a:ext cx="339725" cy="619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98418" name="Picture 18" descr="Remote DSLAM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1000" y="1901825"/>
              <a:ext cx="533400" cy="342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98421" name="Rectangle 21"/>
            <p:cNvSpPr>
              <a:spLocks noChangeArrowheads="1"/>
            </p:cNvSpPr>
            <p:nvPr/>
          </p:nvSpPr>
          <p:spPr bwMode="auto">
            <a:xfrm>
              <a:off x="4343400" y="2282825"/>
              <a:ext cx="304800" cy="142875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CE</a:t>
              </a:r>
            </a:p>
          </p:txBody>
        </p:sp>
        <p:sp>
          <p:nvSpPr>
            <p:cNvPr id="998422" name="Rectangle 22"/>
            <p:cNvSpPr>
              <a:spLocks noChangeArrowheads="1"/>
            </p:cNvSpPr>
            <p:nvPr/>
          </p:nvSpPr>
          <p:spPr bwMode="auto">
            <a:xfrm>
              <a:off x="4724400" y="1825625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UNI</a:t>
              </a:r>
            </a:p>
          </p:txBody>
        </p:sp>
        <p:sp>
          <p:nvSpPr>
            <p:cNvPr id="998423" name="Rectangle 23"/>
            <p:cNvSpPr>
              <a:spLocks noChangeArrowheads="1"/>
            </p:cNvSpPr>
            <p:nvPr/>
          </p:nvSpPr>
          <p:spPr bwMode="auto">
            <a:xfrm>
              <a:off x="7391400" y="1828800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UNI</a:t>
              </a:r>
            </a:p>
          </p:txBody>
        </p:sp>
        <p:sp>
          <p:nvSpPr>
            <p:cNvPr id="998424" name="Rectangle 24"/>
            <p:cNvSpPr>
              <a:spLocks noChangeArrowheads="1"/>
            </p:cNvSpPr>
            <p:nvPr/>
          </p:nvSpPr>
          <p:spPr bwMode="auto">
            <a:xfrm>
              <a:off x="8153400" y="2206625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CE</a:t>
              </a:r>
            </a:p>
          </p:txBody>
        </p:sp>
        <p:pic>
          <p:nvPicPr>
            <p:cNvPr id="998425" name="Picture 25" descr="Remote DSLAM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4800" y="1835150"/>
              <a:ext cx="533400" cy="342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98450" name="Picture 50" descr="dertified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99075" y="1520825"/>
              <a:ext cx="334963" cy="609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" name="Group 68"/>
          <p:cNvGrpSpPr/>
          <p:nvPr/>
        </p:nvGrpSpPr>
        <p:grpSpPr>
          <a:xfrm>
            <a:off x="1828800" y="6096000"/>
            <a:ext cx="7162800" cy="609600"/>
            <a:chOff x="1828800" y="5715000"/>
            <a:chExt cx="7162800" cy="609600"/>
          </a:xfrm>
        </p:grpSpPr>
        <p:pic>
          <p:nvPicPr>
            <p:cNvPr id="998419" name="Picture 19" descr="dertified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8800" y="5715000"/>
              <a:ext cx="333375" cy="609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98420" name="Text Box 20"/>
            <p:cNvSpPr txBox="1">
              <a:spLocks noChangeArrowheads="1"/>
            </p:cNvSpPr>
            <p:nvPr/>
          </p:nvSpPr>
          <p:spPr bwMode="auto">
            <a:xfrm>
              <a:off x="4953000" y="6049963"/>
              <a:ext cx="4038600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10000"/>
                </a:spcBef>
              </a:pPr>
              <a:r>
                <a:rPr lang="en-US" sz="1200" b="1"/>
                <a:t>UNI:</a:t>
              </a:r>
              <a:r>
                <a:rPr lang="en-US" sz="1200"/>
                <a:t> User Network Interface, </a:t>
              </a:r>
              <a:r>
                <a:rPr lang="en-US" sz="1200" b="1"/>
                <a:t>CE:</a:t>
              </a:r>
              <a:r>
                <a:rPr lang="en-US" sz="1200"/>
                <a:t> Customer Equipment</a:t>
              </a:r>
            </a:p>
          </p:txBody>
        </p:sp>
        <p:sp>
          <p:nvSpPr>
            <p:cNvPr id="998451" name="Rectangle 51"/>
            <p:cNvSpPr>
              <a:spLocks noChangeArrowheads="1"/>
            </p:cNvSpPr>
            <p:nvPr/>
          </p:nvSpPr>
          <p:spPr bwMode="auto">
            <a:xfrm>
              <a:off x="2133600" y="6049963"/>
              <a:ext cx="2971800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10000"/>
                </a:spcBef>
              </a:pPr>
              <a:r>
                <a:rPr lang="en-US" sz="1200"/>
                <a:t>MEF certified Carrier Ethernet products</a:t>
              </a:r>
            </a:p>
          </p:txBody>
        </p:sp>
      </p:grpSp>
      <p:grpSp>
        <p:nvGrpSpPr>
          <p:cNvPr id="4" name="Group 67"/>
          <p:cNvGrpSpPr/>
          <p:nvPr/>
        </p:nvGrpSpPr>
        <p:grpSpPr>
          <a:xfrm>
            <a:off x="4724400" y="3429000"/>
            <a:ext cx="3733800" cy="2514600"/>
            <a:chOff x="4724400" y="3505200"/>
            <a:chExt cx="3733800" cy="2514600"/>
          </a:xfrm>
        </p:grpSpPr>
        <p:sp>
          <p:nvSpPr>
            <p:cNvPr id="998402" name="Line 2"/>
            <p:cNvSpPr>
              <a:spLocks noChangeShapeType="1"/>
            </p:cNvSpPr>
            <p:nvPr/>
          </p:nvSpPr>
          <p:spPr bwMode="auto">
            <a:xfrm>
              <a:off x="7467600" y="5410200"/>
              <a:ext cx="457200" cy="304800"/>
            </a:xfrm>
            <a:prstGeom prst="line">
              <a:avLst/>
            </a:prstGeom>
            <a:noFill/>
            <a:ln w="38100">
              <a:solidFill>
                <a:srgbClr val="5F5F5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666666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998426" name="Picture 26" descr="cloud2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10200" y="4191000"/>
              <a:ext cx="2362200" cy="13493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98427" name="Line 27"/>
            <p:cNvSpPr>
              <a:spLocks noChangeShapeType="1"/>
            </p:cNvSpPr>
            <p:nvPr/>
          </p:nvSpPr>
          <p:spPr bwMode="auto">
            <a:xfrm flipV="1">
              <a:off x="5943600" y="4419600"/>
              <a:ext cx="685800" cy="304800"/>
            </a:xfrm>
            <a:prstGeom prst="line">
              <a:avLst/>
            </a:prstGeom>
            <a:noFill/>
            <a:ln w="28575" cap="rnd">
              <a:solidFill>
                <a:srgbClr val="5F5F5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8428" name="Line 28"/>
            <p:cNvSpPr>
              <a:spLocks noChangeShapeType="1"/>
            </p:cNvSpPr>
            <p:nvPr/>
          </p:nvSpPr>
          <p:spPr bwMode="auto">
            <a:xfrm>
              <a:off x="6705600" y="4419600"/>
              <a:ext cx="304800" cy="914400"/>
            </a:xfrm>
            <a:prstGeom prst="line">
              <a:avLst/>
            </a:prstGeom>
            <a:noFill/>
            <a:ln w="28575" cap="rnd">
              <a:solidFill>
                <a:srgbClr val="5F5F5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8429" name="Line 29"/>
            <p:cNvSpPr>
              <a:spLocks noChangeShapeType="1"/>
            </p:cNvSpPr>
            <p:nvPr/>
          </p:nvSpPr>
          <p:spPr bwMode="auto">
            <a:xfrm flipH="1">
              <a:off x="6019800" y="4495800"/>
              <a:ext cx="538163" cy="762000"/>
            </a:xfrm>
            <a:prstGeom prst="line">
              <a:avLst/>
            </a:prstGeom>
            <a:noFill/>
            <a:ln w="28575" cap="rnd">
              <a:solidFill>
                <a:srgbClr val="5F5F5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8430" name="Line 30"/>
            <p:cNvSpPr>
              <a:spLocks noChangeShapeType="1"/>
            </p:cNvSpPr>
            <p:nvPr/>
          </p:nvSpPr>
          <p:spPr bwMode="auto">
            <a:xfrm>
              <a:off x="5943600" y="4724400"/>
              <a:ext cx="1447800" cy="76200"/>
            </a:xfrm>
            <a:prstGeom prst="line">
              <a:avLst/>
            </a:prstGeom>
            <a:noFill/>
            <a:ln w="28575" cap="rnd">
              <a:solidFill>
                <a:srgbClr val="5F5F5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8431" name="Line 31"/>
            <p:cNvSpPr>
              <a:spLocks noChangeShapeType="1"/>
            </p:cNvSpPr>
            <p:nvPr/>
          </p:nvSpPr>
          <p:spPr bwMode="auto">
            <a:xfrm>
              <a:off x="6096000" y="5181600"/>
              <a:ext cx="914400" cy="152400"/>
            </a:xfrm>
            <a:prstGeom prst="line">
              <a:avLst/>
            </a:prstGeom>
            <a:noFill/>
            <a:ln w="28575" cap="rnd">
              <a:solidFill>
                <a:srgbClr val="5F5F5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8432" name="Line 32"/>
            <p:cNvSpPr>
              <a:spLocks noChangeShapeType="1"/>
            </p:cNvSpPr>
            <p:nvPr/>
          </p:nvSpPr>
          <p:spPr bwMode="auto">
            <a:xfrm flipV="1">
              <a:off x="5486400" y="5257800"/>
              <a:ext cx="457200" cy="152400"/>
            </a:xfrm>
            <a:prstGeom prst="line">
              <a:avLst/>
            </a:prstGeom>
            <a:noFill/>
            <a:ln w="38100">
              <a:solidFill>
                <a:srgbClr val="5F5F5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666666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8433" name="Text Box 33"/>
            <p:cNvSpPr txBox="1">
              <a:spLocks noChangeArrowheads="1"/>
            </p:cNvSpPr>
            <p:nvPr/>
          </p:nvSpPr>
          <p:spPr bwMode="auto">
            <a:xfrm>
              <a:off x="5334000" y="5715000"/>
              <a:ext cx="2382838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400"/>
                <a:t>Multipoint-to-Multipoint EVC</a:t>
              </a:r>
            </a:p>
          </p:txBody>
        </p:sp>
        <p:sp>
          <p:nvSpPr>
            <p:cNvPr id="998434" name="Line 34"/>
            <p:cNvSpPr>
              <a:spLocks noChangeShapeType="1"/>
            </p:cNvSpPr>
            <p:nvPr/>
          </p:nvSpPr>
          <p:spPr bwMode="auto">
            <a:xfrm flipV="1">
              <a:off x="6248400" y="5029200"/>
              <a:ext cx="533400" cy="685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998435" name="Picture 35" descr="Medium Enterprise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800" y="5181600"/>
              <a:ext cx="685800" cy="641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98436" name="Picture 36" descr="ServiceProvider Central Office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4400" y="3810000"/>
              <a:ext cx="990600" cy="5953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98437" name="Picture 37" descr="University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7000" y="3505200"/>
              <a:ext cx="914400" cy="6445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98438" name="Picture 38" descr="bildin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3050" y="5181600"/>
              <a:ext cx="565150" cy="723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98439" name="Picture 39" descr="Router2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24600" y="4267200"/>
              <a:ext cx="685800" cy="4429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98440" name="Line 40"/>
            <p:cNvSpPr>
              <a:spLocks noChangeShapeType="1"/>
            </p:cNvSpPr>
            <p:nvPr/>
          </p:nvSpPr>
          <p:spPr bwMode="auto">
            <a:xfrm>
              <a:off x="5943600" y="4724400"/>
              <a:ext cx="1066800" cy="609600"/>
            </a:xfrm>
            <a:prstGeom prst="line">
              <a:avLst/>
            </a:prstGeom>
            <a:noFill/>
            <a:ln w="28575" cap="rnd">
              <a:solidFill>
                <a:srgbClr val="5F5F5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8441" name="Line 41"/>
            <p:cNvSpPr>
              <a:spLocks noChangeShapeType="1"/>
            </p:cNvSpPr>
            <p:nvPr/>
          </p:nvSpPr>
          <p:spPr bwMode="auto">
            <a:xfrm flipH="1">
              <a:off x="7010400" y="4800600"/>
              <a:ext cx="457200" cy="533400"/>
            </a:xfrm>
            <a:prstGeom prst="line">
              <a:avLst/>
            </a:prstGeom>
            <a:noFill/>
            <a:ln w="28575" cap="rnd">
              <a:solidFill>
                <a:srgbClr val="5F5F5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8442" name="Line 42"/>
            <p:cNvSpPr>
              <a:spLocks noChangeShapeType="1"/>
            </p:cNvSpPr>
            <p:nvPr/>
          </p:nvSpPr>
          <p:spPr bwMode="auto">
            <a:xfrm>
              <a:off x="5257800" y="4343400"/>
              <a:ext cx="381000" cy="228600"/>
            </a:xfrm>
            <a:prstGeom prst="line">
              <a:avLst/>
            </a:prstGeom>
            <a:noFill/>
            <a:ln w="38100">
              <a:solidFill>
                <a:srgbClr val="5F5F5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666666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998443" name="Picture 43" descr="Remote DSLAM"/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48600" y="5649913"/>
              <a:ext cx="457200" cy="2936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98445" name="Line 45"/>
            <p:cNvSpPr>
              <a:spLocks noChangeShapeType="1"/>
            </p:cNvSpPr>
            <p:nvPr/>
          </p:nvSpPr>
          <p:spPr bwMode="auto">
            <a:xfrm flipV="1">
              <a:off x="6629400" y="3886200"/>
              <a:ext cx="0" cy="381000"/>
            </a:xfrm>
            <a:prstGeom prst="line">
              <a:avLst/>
            </a:prstGeom>
            <a:noFill/>
            <a:ln w="38100">
              <a:solidFill>
                <a:srgbClr val="5F5F5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666666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998446" name="Picture 46" descr="Remote DSLAM"/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29200" y="4191000"/>
              <a:ext cx="457200" cy="2936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98447" name="Picture 47" descr="Remote DSLAM"/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0800" y="3733800"/>
              <a:ext cx="457200" cy="2936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98448" name="Rectangle 48"/>
            <p:cNvSpPr>
              <a:spLocks noChangeArrowheads="1"/>
            </p:cNvSpPr>
            <p:nvPr/>
          </p:nvSpPr>
          <p:spPr bwMode="auto">
            <a:xfrm>
              <a:off x="6096000" y="3733800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CE</a:t>
              </a:r>
            </a:p>
          </p:txBody>
        </p:sp>
        <p:sp>
          <p:nvSpPr>
            <p:cNvPr id="998449" name="Rectangle 49"/>
            <p:cNvSpPr>
              <a:spLocks noChangeArrowheads="1"/>
            </p:cNvSpPr>
            <p:nvPr/>
          </p:nvSpPr>
          <p:spPr bwMode="auto">
            <a:xfrm>
              <a:off x="6096000" y="4114800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UNI</a:t>
              </a:r>
            </a:p>
          </p:txBody>
        </p:sp>
        <p:pic>
          <p:nvPicPr>
            <p:cNvPr id="998452" name="Picture 52" descr="dertified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1800" y="4267200"/>
              <a:ext cx="207963" cy="38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98453" name="Line 53"/>
            <p:cNvSpPr>
              <a:spLocks noChangeShapeType="1"/>
            </p:cNvSpPr>
            <p:nvPr/>
          </p:nvSpPr>
          <p:spPr bwMode="auto">
            <a:xfrm flipH="1">
              <a:off x="6096000" y="4800600"/>
              <a:ext cx="1371600" cy="304800"/>
            </a:xfrm>
            <a:prstGeom prst="line">
              <a:avLst/>
            </a:prstGeom>
            <a:noFill/>
            <a:ln w="28575" cap="rnd">
              <a:solidFill>
                <a:srgbClr val="5F5F5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998454" name="Picture 54" descr="Large Enterprise"/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4800" y="3886200"/>
              <a:ext cx="508000" cy="76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98455" name="Line 55"/>
            <p:cNvSpPr>
              <a:spLocks noChangeShapeType="1"/>
            </p:cNvSpPr>
            <p:nvPr/>
          </p:nvSpPr>
          <p:spPr bwMode="auto">
            <a:xfrm flipV="1">
              <a:off x="7543800" y="4495800"/>
              <a:ext cx="381000" cy="152400"/>
            </a:xfrm>
            <a:prstGeom prst="line">
              <a:avLst/>
            </a:prstGeom>
            <a:noFill/>
            <a:ln w="38100">
              <a:solidFill>
                <a:srgbClr val="5F5F5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666666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998456" name="Picture 56" descr="Remote DSLAM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200" y="4343400"/>
              <a:ext cx="533400" cy="342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98457" name="Rectangle 57"/>
            <p:cNvSpPr>
              <a:spLocks noChangeArrowheads="1"/>
            </p:cNvSpPr>
            <p:nvPr/>
          </p:nvSpPr>
          <p:spPr bwMode="auto">
            <a:xfrm>
              <a:off x="7696200" y="5867400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CE</a:t>
              </a:r>
            </a:p>
          </p:txBody>
        </p:sp>
        <p:pic>
          <p:nvPicPr>
            <p:cNvPr id="998458" name="Picture 58" descr="Router2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62600" y="4495800"/>
              <a:ext cx="685800" cy="4429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98459" name="Picture 59" descr="dertified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9800" y="4495800"/>
              <a:ext cx="207963" cy="38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98460" name="Picture 60" descr="Router2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8800" y="4953000"/>
              <a:ext cx="685800" cy="4429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98461" name="Picture 61" descr="Router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0" y="5105400"/>
              <a:ext cx="762000" cy="492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98462" name="Picture 62" descr="dertified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0" y="4953000"/>
              <a:ext cx="207963" cy="38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98463" name="Picture 63" descr="dertified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91400" y="5105400"/>
              <a:ext cx="207963" cy="38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98464" name="Picture 64" descr="Router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4495800"/>
              <a:ext cx="762000" cy="492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rnd" algn="ctr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998465" name="Picture 65" descr="dertified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0" y="4495800"/>
              <a:ext cx="207963" cy="38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98466" name="Rectangle 66"/>
            <p:cNvSpPr>
              <a:spLocks noChangeArrowheads="1"/>
            </p:cNvSpPr>
            <p:nvPr/>
          </p:nvSpPr>
          <p:spPr bwMode="auto">
            <a:xfrm>
              <a:off x="7315200" y="5562600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UNI</a:t>
              </a:r>
            </a:p>
          </p:txBody>
        </p:sp>
      </p:grpSp>
      <p:sp>
        <p:nvSpPr>
          <p:cNvPr id="70" name="Text Box 6"/>
          <p:cNvSpPr txBox="1">
            <a:spLocks noChangeArrowheads="1"/>
          </p:cNvSpPr>
          <p:nvPr/>
        </p:nvSpPr>
        <p:spPr bwMode="auto">
          <a:xfrm>
            <a:off x="5867400" y="5943600"/>
            <a:ext cx="1905000" cy="304800"/>
          </a:xfrm>
          <a:prstGeom prst="rect">
            <a:avLst/>
          </a:prstGeom>
          <a:gradFill rotWithShape="1">
            <a:gsLst>
              <a:gs pos="0">
                <a:srgbClr val="99CCFF"/>
              </a:gs>
              <a:gs pos="100000">
                <a:srgbClr val="99CCFF">
                  <a:gamma/>
                  <a:tint val="0"/>
                  <a:invGamma/>
                  <a:alpha val="25999"/>
                </a:srgbClr>
              </a:gs>
            </a:gsLst>
            <a:lin ang="0" scaled="1"/>
          </a:gradFill>
          <a:ln w="9525" algn="ctr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lnSpc>
                <a:spcPct val="80000"/>
              </a:lnSpc>
            </a:pPr>
            <a:r>
              <a:rPr lang="en-US" sz="1400" b="1" dirty="0"/>
              <a:t>E-LAN Service type</a:t>
            </a:r>
          </a:p>
        </p:txBody>
      </p:sp>
      <p:sp>
        <p:nvSpPr>
          <p:cNvPr id="68" name="Slide Number Placeholder 6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665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Services Using E-Line Service Type</a:t>
            </a:r>
          </a:p>
        </p:txBody>
      </p:sp>
      <p:sp>
        <p:nvSpPr>
          <p:cNvPr id="100147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82000" cy="2819400"/>
          </a:xfrm>
          <a:noFill/>
          <a:ln/>
        </p:spPr>
        <p:txBody>
          <a:bodyPr/>
          <a:lstStyle/>
          <a:p>
            <a:pPr marL="347663" indent="-347663"/>
            <a:r>
              <a:rPr lang="en-US" dirty="0"/>
              <a:t>Ethernet Private Line (EPL)</a:t>
            </a:r>
          </a:p>
          <a:p>
            <a:pPr marL="682625" lvl="1" indent="-217488"/>
            <a:r>
              <a:rPr lang="en-US" dirty="0"/>
              <a:t>Replaces a TDM Private line</a:t>
            </a:r>
          </a:p>
          <a:p>
            <a:pPr marL="682625" lvl="1" indent="-217488"/>
            <a:r>
              <a:rPr lang="en-US" dirty="0"/>
              <a:t>Dedicated UNIs for Point-to-Point connections</a:t>
            </a:r>
          </a:p>
          <a:p>
            <a:pPr marL="682625" lvl="1" indent="-217488"/>
            <a:r>
              <a:rPr lang="en-US" dirty="0"/>
              <a:t>Single Ethernet Virtual Connection (EVC) per UNI</a:t>
            </a:r>
          </a:p>
          <a:p>
            <a:pPr marL="682625" lvl="1" indent="-217488"/>
            <a:r>
              <a:rPr lang="en-US" dirty="0"/>
              <a:t>The most popular Ethernet service due to its simplicity</a:t>
            </a:r>
          </a:p>
        </p:txBody>
      </p:sp>
      <p:sp>
        <p:nvSpPr>
          <p:cNvPr id="1001503" name="Rectangle 31"/>
          <p:cNvSpPr>
            <a:spLocks noChangeArrowheads="1"/>
          </p:cNvSpPr>
          <p:nvPr/>
        </p:nvSpPr>
        <p:spPr bwMode="auto">
          <a:xfrm>
            <a:off x="5410200" y="5867400"/>
            <a:ext cx="304800" cy="152400"/>
          </a:xfrm>
          <a:prstGeom prst="rect">
            <a:avLst/>
          </a:prstGeom>
          <a:gradFill rotWithShape="0">
            <a:gsLst>
              <a:gs pos="0">
                <a:srgbClr val="66CCFF">
                  <a:gamma/>
                  <a:shade val="46275"/>
                  <a:invGamma/>
                </a:srgbClr>
              </a:gs>
              <a:gs pos="50000">
                <a:srgbClr val="66CCFF"/>
              </a:gs>
              <a:gs pos="100000">
                <a:srgbClr val="66CCFF">
                  <a:gamma/>
                  <a:shade val="46275"/>
                  <a:invGamma/>
                </a:srgbClr>
              </a:gs>
            </a:gsLst>
            <a:lin ang="18900000" scaled="1"/>
          </a:gradFill>
          <a:ln>
            <a:noFill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1000">
                <a:latin typeface="Verdana" pitchFamily="34" charset="0"/>
              </a:rPr>
              <a:t>CE</a:t>
            </a:r>
          </a:p>
        </p:txBody>
      </p:sp>
      <p:grpSp>
        <p:nvGrpSpPr>
          <p:cNvPr id="2" name="Group 40"/>
          <p:cNvGrpSpPr/>
          <p:nvPr/>
        </p:nvGrpSpPr>
        <p:grpSpPr>
          <a:xfrm>
            <a:off x="1752600" y="3717925"/>
            <a:ext cx="5257800" cy="2530475"/>
            <a:chOff x="1752600" y="3429000"/>
            <a:chExt cx="5257800" cy="2530475"/>
          </a:xfrm>
        </p:grpSpPr>
        <p:sp>
          <p:nvSpPr>
            <p:cNvPr id="1001474" name="Line 2"/>
            <p:cNvSpPr>
              <a:spLocks noChangeShapeType="1"/>
            </p:cNvSpPr>
            <p:nvPr/>
          </p:nvSpPr>
          <p:spPr bwMode="auto">
            <a:xfrm flipV="1">
              <a:off x="2362200" y="4800600"/>
              <a:ext cx="838200" cy="0"/>
            </a:xfrm>
            <a:prstGeom prst="line">
              <a:avLst/>
            </a:prstGeom>
            <a:noFill/>
            <a:ln w="38100">
              <a:solidFill>
                <a:srgbClr val="5F5F5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666666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1477" name="Line 5"/>
            <p:cNvSpPr>
              <a:spLocks noChangeShapeType="1"/>
            </p:cNvSpPr>
            <p:nvPr/>
          </p:nvSpPr>
          <p:spPr bwMode="auto">
            <a:xfrm>
              <a:off x="5867400" y="5562600"/>
              <a:ext cx="914400" cy="0"/>
            </a:xfrm>
            <a:prstGeom prst="line">
              <a:avLst/>
            </a:prstGeom>
            <a:noFill/>
            <a:ln w="38100">
              <a:solidFill>
                <a:srgbClr val="5F5F5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1001478" name="Picture 6" descr="ServiceProvider Central Office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7800" y="5318125"/>
              <a:ext cx="1066800" cy="641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1479" name="Picture 7" descr="bildin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6400" y="3429000"/>
              <a:ext cx="833438" cy="1066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1480" name="Picture 8" descr="Servers A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9713" y="3733800"/>
              <a:ext cx="560387" cy="685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1481" name="Line 9"/>
            <p:cNvSpPr>
              <a:spLocks noChangeShapeType="1"/>
            </p:cNvSpPr>
            <p:nvPr/>
          </p:nvSpPr>
          <p:spPr bwMode="auto">
            <a:xfrm>
              <a:off x="4876800" y="5318125"/>
              <a:ext cx="762000" cy="381000"/>
            </a:xfrm>
            <a:prstGeom prst="line">
              <a:avLst/>
            </a:prstGeom>
            <a:noFill/>
            <a:ln w="38100">
              <a:solidFill>
                <a:srgbClr val="5F5F5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666666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1001482" name="Picture 10" descr="cloud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000" y="4114800"/>
              <a:ext cx="2362200" cy="13493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1483" name="Line 11"/>
            <p:cNvSpPr>
              <a:spLocks noChangeShapeType="1"/>
            </p:cNvSpPr>
            <p:nvPr/>
          </p:nvSpPr>
          <p:spPr bwMode="auto">
            <a:xfrm flipV="1">
              <a:off x="3200400" y="4419600"/>
              <a:ext cx="1600200" cy="304800"/>
            </a:xfrm>
            <a:prstGeom prst="line">
              <a:avLst/>
            </a:prstGeom>
            <a:noFill/>
            <a:ln w="28575" cap="rnd">
              <a:solidFill>
                <a:srgbClr val="5F5F5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1484" name="Line 12"/>
            <p:cNvSpPr>
              <a:spLocks noChangeShapeType="1"/>
            </p:cNvSpPr>
            <p:nvPr/>
          </p:nvSpPr>
          <p:spPr bwMode="auto">
            <a:xfrm flipV="1">
              <a:off x="2438400" y="4953000"/>
              <a:ext cx="838200" cy="0"/>
            </a:xfrm>
            <a:prstGeom prst="line">
              <a:avLst/>
            </a:prstGeom>
            <a:noFill/>
            <a:ln w="38100">
              <a:solidFill>
                <a:srgbClr val="5F5F5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666666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1485" name="Text Box 13"/>
            <p:cNvSpPr txBox="1">
              <a:spLocks noChangeArrowheads="1"/>
            </p:cNvSpPr>
            <p:nvPr/>
          </p:nvSpPr>
          <p:spPr bwMode="auto">
            <a:xfrm>
              <a:off x="3276600" y="5638800"/>
              <a:ext cx="1600200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sz="1200"/>
                <a:t>Point-to-Point EVC</a:t>
              </a:r>
            </a:p>
          </p:txBody>
        </p:sp>
        <p:sp>
          <p:nvSpPr>
            <p:cNvPr id="1001486" name="Line 14"/>
            <p:cNvSpPr>
              <a:spLocks noChangeShapeType="1"/>
            </p:cNvSpPr>
            <p:nvPr/>
          </p:nvSpPr>
          <p:spPr bwMode="auto">
            <a:xfrm flipV="1">
              <a:off x="3962400" y="5181600"/>
              <a:ext cx="304800" cy="457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1001487" name="Picture 15" descr="Medium Enterprise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2600" y="4343400"/>
              <a:ext cx="685800" cy="641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1488" name="Line 16"/>
            <p:cNvSpPr>
              <a:spLocks noChangeShapeType="1"/>
            </p:cNvSpPr>
            <p:nvPr/>
          </p:nvSpPr>
          <p:spPr bwMode="auto">
            <a:xfrm>
              <a:off x="3352800" y="5105400"/>
              <a:ext cx="1524000" cy="152400"/>
            </a:xfrm>
            <a:prstGeom prst="line">
              <a:avLst/>
            </a:prstGeom>
            <a:noFill/>
            <a:ln w="28575" cap="rnd">
              <a:solidFill>
                <a:srgbClr val="5F5F5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1001489" name="Picture 17" descr="Remote DSLAM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4000" y="5562600"/>
              <a:ext cx="457200" cy="2936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1490" name="Text Box 18"/>
            <p:cNvSpPr txBox="1">
              <a:spLocks noChangeArrowheads="1"/>
            </p:cNvSpPr>
            <p:nvPr/>
          </p:nvSpPr>
          <p:spPr bwMode="auto">
            <a:xfrm>
              <a:off x="4191000" y="4724400"/>
              <a:ext cx="12192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lnSpc>
                  <a:spcPct val="80000"/>
                </a:lnSpc>
              </a:pPr>
              <a:r>
                <a:rPr lang="en-US" sz="1000" dirty="0"/>
                <a:t>Carrier Ethernet Network</a:t>
              </a:r>
            </a:p>
          </p:txBody>
        </p:sp>
        <p:pic>
          <p:nvPicPr>
            <p:cNvPr id="1001491" name="Picture 19" descr="Remote DSLAM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7400" y="4679950"/>
              <a:ext cx="457200" cy="2936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1492" name="Rectangle 20"/>
            <p:cNvSpPr>
              <a:spLocks noChangeArrowheads="1"/>
            </p:cNvSpPr>
            <p:nvPr/>
          </p:nvSpPr>
          <p:spPr bwMode="auto">
            <a:xfrm>
              <a:off x="2057400" y="4984750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CE</a:t>
              </a:r>
            </a:p>
          </p:txBody>
        </p:sp>
        <p:sp>
          <p:nvSpPr>
            <p:cNvPr id="1001493" name="Rectangle 21"/>
            <p:cNvSpPr>
              <a:spLocks noChangeArrowheads="1"/>
            </p:cNvSpPr>
            <p:nvPr/>
          </p:nvSpPr>
          <p:spPr bwMode="auto">
            <a:xfrm>
              <a:off x="2667000" y="5029200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UNI</a:t>
              </a:r>
            </a:p>
          </p:txBody>
        </p:sp>
        <p:sp>
          <p:nvSpPr>
            <p:cNvPr id="1001494" name="Line 22"/>
            <p:cNvSpPr>
              <a:spLocks noChangeShapeType="1"/>
            </p:cNvSpPr>
            <p:nvPr/>
          </p:nvSpPr>
          <p:spPr bwMode="auto">
            <a:xfrm flipV="1">
              <a:off x="4876800" y="4191000"/>
              <a:ext cx="381000" cy="152400"/>
            </a:xfrm>
            <a:prstGeom prst="line">
              <a:avLst/>
            </a:prstGeom>
            <a:noFill/>
            <a:ln w="38100">
              <a:solidFill>
                <a:srgbClr val="5F5F5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666666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1001495" name="Picture 23" descr="Remote DSLAM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05400" y="4038600"/>
              <a:ext cx="533400" cy="342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1496" name="Rectangle 24"/>
            <p:cNvSpPr>
              <a:spLocks noChangeArrowheads="1"/>
            </p:cNvSpPr>
            <p:nvPr/>
          </p:nvSpPr>
          <p:spPr bwMode="auto">
            <a:xfrm>
              <a:off x="5410200" y="4587875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CE</a:t>
              </a:r>
            </a:p>
          </p:txBody>
        </p:sp>
        <p:pic>
          <p:nvPicPr>
            <p:cNvPr id="1001497" name="Picture 25" descr="Router2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5600" y="4800600"/>
              <a:ext cx="685800" cy="4429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1498" name="Picture 26" descr="Router2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95800" y="5057775"/>
              <a:ext cx="762000" cy="492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1499" name="Picture 27" descr="dertified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29200" y="5057775"/>
              <a:ext cx="207963" cy="38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1500" name="Picture 28" descr="Router2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3400" y="4191000"/>
              <a:ext cx="762000" cy="492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rnd" algn="ctr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001501" name="Picture 29" descr="dertified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800" y="4191000"/>
              <a:ext cx="207963" cy="38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1502" name="Rectangle 30"/>
            <p:cNvSpPr>
              <a:spLocks noChangeArrowheads="1"/>
            </p:cNvSpPr>
            <p:nvPr/>
          </p:nvSpPr>
          <p:spPr bwMode="auto">
            <a:xfrm>
              <a:off x="5105400" y="4419600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UNI</a:t>
              </a:r>
            </a:p>
          </p:txBody>
        </p:sp>
        <p:sp>
          <p:nvSpPr>
            <p:cNvPr id="1001504" name="Rectangle 32"/>
            <p:cNvSpPr>
              <a:spLocks noChangeArrowheads="1"/>
            </p:cNvSpPr>
            <p:nvPr/>
          </p:nvSpPr>
          <p:spPr bwMode="auto">
            <a:xfrm>
              <a:off x="4953000" y="5546725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UNI</a:t>
              </a:r>
            </a:p>
          </p:txBody>
        </p:sp>
        <p:sp>
          <p:nvSpPr>
            <p:cNvPr id="1001505" name="Line 33"/>
            <p:cNvSpPr>
              <a:spLocks noChangeShapeType="1"/>
            </p:cNvSpPr>
            <p:nvPr/>
          </p:nvSpPr>
          <p:spPr bwMode="auto">
            <a:xfrm flipV="1">
              <a:off x="3962400" y="4572000"/>
              <a:ext cx="228600" cy="1066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1506" name="Text Box 34"/>
            <p:cNvSpPr txBox="1">
              <a:spLocks noChangeArrowheads="1"/>
            </p:cNvSpPr>
            <p:nvPr/>
          </p:nvSpPr>
          <p:spPr bwMode="auto">
            <a:xfrm>
              <a:off x="5715000" y="4953000"/>
              <a:ext cx="5334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sz="1200"/>
                <a:t>ISP</a:t>
              </a:r>
            </a:p>
            <a:p>
              <a:pPr algn="ctr" eaLnBrk="0" hangingPunct="0"/>
              <a:r>
                <a:rPr lang="en-US" sz="1200"/>
                <a:t>POP</a:t>
              </a:r>
            </a:p>
          </p:txBody>
        </p:sp>
        <p:pic>
          <p:nvPicPr>
            <p:cNvPr id="1001507" name="Picture 35" descr="Router2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5600" y="4572000"/>
              <a:ext cx="685800" cy="4429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1508" name="Picture 36" descr="dertified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2800" y="4495800"/>
              <a:ext cx="207963" cy="38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1509" name="Rectangle 37"/>
            <p:cNvSpPr>
              <a:spLocks noChangeArrowheads="1"/>
            </p:cNvSpPr>
            <p:nvPr/>
          </p:nvSpPr>
          <p:spPr bwMode="auto">
            <a:xfrm>
              <a:off x="2667000" y="4724400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UNI</a:t>
              </a:r>
            </a:p>
          </p:txBody>
        </p:sp>
        <p:sp>
          <p:nvSpPr>
            <p:cNvPr id="1001510" name="Text Box 38"/>
            <p:cNvSpPr txBox="1">
              <a:spLocks noChangeArrowheads="1"/>
            </p:cNvSpPr>
            <p:nvPr/>
          </p:nvSpPr>
          <p:spPr bwMode="auto">
            <a:xfrm>
              <a:off x="4267200" y="3581400"/>
              <a:ext cx="1600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sz="1200"/>
                <a:t>Storage Service Provider</a:t>
              </a:r>
            </a:p>
          </p:txBody>
        </p:sp>
        <p:pic>
          <p:nvPicPr>
            <p:cNvPr id="1001511" name="Picture 39" descr="Internet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24600" y="5257800"/>
              <a:ext cx="685800" cy="5905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1512" name="Text Box 40"/>
            <p:cNvSpPr txBox="1">
              <a:spLocks noChangeArrowheads="1"/>
            </p:cNvSpPr>
            <p:nvPr/>
          </p:nvSpPr>
          <p:spPr bwMode="auto">
            <a:xfrm>
              <a:off x="6096000" y="4983163"/>
              <a:ext cx="914400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 eaLnBrk="0" hangingPunct="0"/>
              <a:r>
                <a:rPr lang="en-US" sz="1200"/>
                <a:t>Internet</a:t>
              </a:r>
            </a:p>
          </p:txBody>
        </p:sp>
      </p:grpSp>
      <p:sp>
        <p:nvSpPr>
          <p:cNvPr id="42" name="Slide Number Placeholder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23887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9" name="Rectangle 1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Services Using E-Line Service Type</a:t>
            </a:r>
          </a:p>
        </p:txBody>
      </p:sp>
      <p:sp>
        <p:nvSpPr>
          <p:cNvPr id="1003540" name="Rectangle 20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8229600" cy="2667000"/>
          </a:xfrm>
        </p:spPr>
        <p:txBody>
          <a:bodyPr/>
          <a:lstStyle/>
          <a:p>
            <a:r>
              <a:rPr lang="en-US" dirty="0"/>
              <a:t>Ethernet Virtual Private Line (EVPL)</a:t>
            </a:r>
          </a:p>
          <a:p>
            <a:pPr lvl="1"/>
            <a:r>
              <a:rPr lang="en-US" dirty="0"/>
              <a:t>Replaces Frame Relay or ATM services</a:t>
            </a:r>
          </a:p>
          <a:p>
            <a:pPr lvl="1"/>
            <a:r>
              <a:rPr lang="en-US" dirty="0"/>
              <a:t>Supports Service Multiplexed UNI </a:t>
            </a:r>
            <a:br>
              <a:rPr lang="en-US" dirty="0"/>
            </a:br>
            <a:r>
              <a:rPr lang="en-US" dirty="0"/>
              <a:t>(i.e. multiple EVCs per UNI)</a:t>
            </a:r>
          </a:p>
          <a:p>
            <a:pPr lvl="1"/>
            <a:r>
              <a:rPr lang="en-US" dirty="0"/>
              <a:t>Allows single physical connection (UNI) to customer premise equipment for multiple virtual connections</a:t>
            </a:r>
          </a:p>
        </p:txBody>
      </p:sp>
      <p:grpSp>
        <p:nvGrpSpPr>
          <p:cNvPr id="2" name="Group 64"/>
          <p:cNvGrpSpPr/>
          <p:nvPr/>
        </p:nvGrpSpPr>
        <p:grpSpPr>
          <a:xfrm>
            <a:off x="304800" y="3825875"/>
            <a:ext cx="8078788" cy="2574925"/>
            <a:chOff x="304800" y="3673475"/>
            <a:chExt cx="8078788" cy="2574925"/>
          </a:xfrm>
        </p:grpSpPr>
        <p:sp>
          <p:nvSpPr>
            <p:cNvPr id="1003522" name="Line 2"/>
            <p:cNvSpPr>
              <a:spLocks noChangeShapeType="1"/>
            </p:cNvSpPr>
            <p:nvPr/>
          </p:nvSpPr>
          <p:spPr bwMode="auto">
            <a:xfrm flipH="1">
              <a:off x="3048000" y="5029200"/>
              <a:ext cx="609600" cy="685800"/>
            </a:xfrm>
            <a:prstGeom prst="line">
              <a:avLst/>
            </a:prstGeom>
            <a:noFill/>
            <a:ln w="38100">
              <a:solidFill>
                <a:srgbClr val="5F5F5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666666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3523" name="Line 3"/>
            <p:cNvSpPr>
              <a:spLocks noChangeShapeType="1"/>
            </p:cNvSpPr>
            <p:nvPr/>
          </p:nvSpPr>
          <p:spPr bwMode="auto">
            <a:xfrm>
              <a:off x="2514600" y="4648200"/>
              <a:ext cx="1066800" cy="304800"/>
            </a:xfrm>
            <a:prstGeom prst="line">
              <a:avLst/>
            </a:prstGeom>
            <a:noFill/>
            <a:ln w="38100">
              <a:solidFill>
                <a:srgbClr val="5F5F5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666666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1003524" name="Picture 4" descr="cloud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5200" y="4343400"/>
              <a:ext cx="2362200" cy="13493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3525" name="Line 5"/>
            <p:cNvSpPr>
              <a:spLocks noChangeShapeType="1"/>
            </p:cNvSpPr>
            <p:nvPr/>
          </p:nvSpPr>
          <p:spPr bwMode="auto">
            <a:xfrm flipV="1">
              <a:off x="3657600" y="4572000"/>
              <a:ext cx="1600200" cy="304800"/>
            </a:xfrm>
            <a:prstGeom prst="line">
              <a:avLst/>
            </a:prstGeom>
            <a:noFill/>
            <a:ln w="28575" cap="rnd">
              <a:solidFill>
                <a:srgbClr val="5F5F5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3526" name="Line 6"/>
            <p:cNvSpPr>
              <a:spLocks noChangeShapeType="1"/>
            </p:cNvSpPr>
            <p:nvPr/>
          </p:nvSpPr>
          <p:spPr bwMode="auto">
            <a:xfrm>
              <a:off x="3810000" y="5181600"/>
              <a:ext cx="1524000" cy="228600"/>
            </a:xfrm>
            <a:prstGeom prst="line">
              <a:avLst/>
            </a:prstGeom>
            <a:noFill/>
            <a:ln w="28575" cap="rnd">
              <a:solidFill>
                <a:srgbClr val="5F5F5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1003527" name="Picture 7" descr="Router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2800" y="4800600"/>
              <a:ext cx="685800" cy="4429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3528" name="Picture 8" descr="Router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2800" y="4724400"/>
              <a:ext cx="685800" cy="4429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3529" name="Picture 9" descr="dertified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0000" y="4648200"/>
              <a:ext cx="207963" cy="38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3530" name="Rectangle 10"/>
            <p:cNvSpPr>
              <a:spLocks noChangeArrowheads="1"/>
            </p:cNvSpPr>
            <p:nvPr/>
          </p:nvSpPr>
          <p:spPr bwMode="auto">
            <a:xfrm>
              <a:off x="3124200" y="4648200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UNI</a:t>
              </a:r>
            </a:p>
          </p:txBody>
        </p:sp>
        <p:grpSp>
          <p:nvGrpSpPr>
            <p:cNvPr id="3" name="Group 11"/>
            <p:cNvGrpSpPr>
              <a:grpSpLocks/>
            </p:cNvGrpSpPr>
            <p:nvPr/>
          </p:nvGrpSpPr>
          <p:grpSpPr bwMode="auto">
            <a:xfrm>
              <a:off x="6578600" y="5456238"/>
              <a:ext cx="990600" cy="152400"/>
              <a:chOff x="4944" y="3648"/>
              <a:chExt cx="624" cy="96"/>
            </a:xfrm>
          </p:grpSpPr>
          <p:sp>
            <p:nvSpPr>
              <p:cNvPr id="1003532" name="Line 12"/>
              <p:cNvSpPr>
                <a:spLocks noChangeShapeType="1"/>
              </p:cNvSpPr>
              <p:nvPr/>
            </p:nvSpPr>
            <p:spPr bwMode="auto">
              <a:xfrm flipH="1">
                <a:off x="4944" y="3648"/>
                <a:ext cx="624" cy="0"/>
              </a:xfrm>
              <a:prstGeom prst="line">
                <a:avLst/>
              </a:prstGeom>
              <a:noFill/>
              <a:ln w="381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3533" name="Line 13"/>
              <p:cNvSpPr>
                <a:spLocks noChangeShapeType="1"/>
              </p:cNvSpPr>
              <p:nvPr/>
            </p:nvSpPr>
            <p:spPr bwMode="auto">
              <a:xfrm flipH="1">
                <a:off x="4944" y="3744"/>
                <a:ext cx="624" cy="0"/>
              </a:xfrm>
              <a:prstGeom prst="line">
                <a:avLst/>
              </a:prstGeom>
              <a:noFill/>
              <a:ln w="381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3534" name="Line 14"/>
              <p:cNvSpPr>
                <a:spLocks noChangeShapeType="1"/>
              </p:cNvSpPr>
              <p:nvPr/>
            </p:nvSpPr>
            <p:spPr bwMode="auto">
              <a:xfrm flipH="1">
                <a:off x="4944" y="3696"/>
                <a:ext cx="624" cy="0"/>
              </a:xfrm>
              <a:prstGeom prst="line">
                <a:avLst/>
              </a:prstGeom>
              <a:noFill/>
              <a:ln w="381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6172200" y="4191000"/>
              <a:ext cx="990600" cy="152400"/>
              <a:chOff x="4944" y="3648"/>
              <a:chExt cx="624" cy="96"/>
            </a:xfrm>
          </p:grpSpPr>
          <p:sp>
            <p:nvSpPr>
              <p:cNvPr id="1003536" name="Line 16"/>
              <p:cNvSpPr>
                <a:spLocks noChangeShapeType="1"/>
              </p:cNvSpPr>
              <p:nvPr/>
            </p:nvSpPr>
            <p:spPr bwMode="auto">
              <a:xfrm flipH="1">
                <a:off x="4944" y="3648"/>
                <a:ext cx="624" cy="0"/>
              </a:xfrm>
              <a:prstGeom prst="line">
                <a:avLst/>
              </a:prstGeom>
              <a:noFill/>
              <a:ln w="381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3537" name="Line 17"/>
              <p:cNvSpPr>
                <a:spLocks noChangeShapeType="1"/>
              </p:cNvSpPr>
              <p:nvPr/>
            </p:nvSpPr>
            <p:spPr bwMode="auto">
              <a:xfrm flipH="1">
                <a:off x="4944" y="3744"/>
                <a:ext cx="624" cy="0"/>
              </a:xfrm>
              <a:prstGeom prst="line">
                <a:avLst/>
              </a:prstGeom>
              <a:noFill/>
              <a:ln w="381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3538" name="Line 18"/>
              <p:cNvSpPr>
                <a:spLocks noChangeShapeType="1"/>
              </p:cNvSpPr>
              <p:nvPr/>
            </p:nvSpPr>
            <p:spPr bwMode="auto">
              <a:xfrm flipH="1">
                <a:off x="4944" y="3696"/>
                <a:ext cx="624" cy="0"/>
              </a:xfrm>
              <a:prstGeom prst="line">
                <a:avLst/>
              </a:prstGeom>
              <a:noFill/>
              <a:ln w="381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003541" name="Picture 21" descr="store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53100" y="3810000"/>
              <a:ext cx="533400" cy="6397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3542" name="Line 22"/>
            <p:cNvSpPr>
              <a:spLocks noChangeShapeType="1"/>
            </p:cNvSpPr>
            <p:nvPr/>
          </p:nvSpPr>
          <p:spPr bwMode="auto">
            <a:xfrm>
              <a:off x="5486400" y="5454650"/>
              <a:ext cx="914400" cy="228600"/>
            </a:xfrm>
            <a:prstGeom prst="line">
              <a:avLst/>
            </a:prstGeom>
            <a:noFill/>
            <a:ln w="38100">
              <a:solidFill>
                <a:srgbClr val="5F5F5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666666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1003543" name="Picture 23" descr="Medium Enterprise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5200" y="5133975"/>
              <a:ext cx="736600" cy="6889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3544" name="Picture 24" descr="Remote DSLAM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43600" y="5486400"/>
              <a:ext cx="457200" cy="2936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3545" name="Text Box 25"/>
            <p:cNvSpPr txBox="1">
              <a:spLocks noChangeArrowheads="1"/>
            </p:cNvSpPr>
            <p:nvPr/>
          </p:nvSpPr>
          <p:spPr bwMode="auto">
            <a:xfrm>
              <a:off x="4038600" y="4876800"/>
              <a:ext cx="1828800" cy="214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lnSpc>
                  <a:spcPct val="80000"/>
                </a:lnSpc>
              </a:pPr>
              <a:r>
                <a:rPr lang="en-US" sz="1000"/>
                <a:t>Carrier Ethernet Network</a:t>
              </a:r>
            </a:p>
          </p:txBody>
        </p:sp>
        <p:sp>
          <p:nvSpPr>
            <p:cNvPr id="1003546" name="Line 26"/>
            <p:cNvSpPr>
              <a:spLocks noChangeShapeType="1"/>
            </p:cNvSpPr>
            <p:nvPr/>
          </p:nvSpPr>
          <p:spPr bwMode="auto">
            <a:xfrm flipV="1">
              <a:off x="5334000" y="4343400"/>
              <a:ext cx="381000" cy="152400"/>
            </a:xfrm>
            <a:prstGeom prst="line">
              <a:avLst/>
            </a:prstGeom>
            <a:noFill/>
            <a:ln w="38100">
              <a:solidFill>
                <a:srgbClr val="5F5F5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666666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1003547" name="Picture 27" descr="Remote DSLAM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6400" y="4191000"/>
              <a:ext cx="533400" cy="342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3548" name="Rectangle 28"/>
            <p:cNvSpPr>
              <a:spLocks noChangeArrowheads="1"/>
            </p:cNvSpPr>
            <p:nvPr/>
          </p:nvSpPr>
          <p:spPr bwMode="auto">
            <a:xfrm>
              <a:off x="5867400" y="4572000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CE</a:t>
              </a:r>
            </a:p>
          </p:txBody>
        </p:sp>
        <p:pic>
          <p:nvPicPr>
            <p:cNvPr id="1003549" name="Picture 29" descr="Router2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05400" y="5149850"/>
              <a:ext cx="762000" cy="492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3550" name="Picture 30" descr="dertified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8800" y="5149850"/>
              <a:ext cx="207963" cy="38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3551" name="Picture 31" descr="Router2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600" y="4343400"/>
              <a:ext cx="762000" cy="492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rnd" algn="ctr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003552" name="Picture 32" descr="dertified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4000" y="4343400"/>
              <a:ext cx="207963" cy="38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3553" name="Rectangle 33"/>
            <p:cNvSpPr>
              <a:spLocks noChangeArrowheads="1"/>
            </p:cNvSpPr>
            <p:nvPr/>
          </p:nvSpPr>
          <p:spPr bwMode="auto">
            <a:xfrm>
              <a:off x="5486400" y="4648200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UNI</a:t>
              </a:r>
            </a:p>
          </p:txBody>
        </p:sp>
        <p:sp>
          <p:nvSpPr>
            <p:cNvPr id="1003554" name="Rectangle 34"/>
            <p:cNvSpPr>
              <a:spLocks noChangeArrowheads="1"/>
            </p:cNvSpPr>
            <p:nvPr/>
          </p:nvSpPr>
          <p:spPr bwMode="auto">
            <a:xfrm>
              <a:off x="6019800" y="5791200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CE</a:t>
              </a:r>
            </a:p>
          </p:txBody>
        </p:sp>
        <p:sp>
          <p:nvSpPr>
            <p:cNvPr id="1003555" name="Rectangle 35"/>
            <p:cNvSpPr>
              <a:spLocks noChangeArrowheads="1"/>
            </p:cNvSpPr>
            <p:nvPr/>
          </p:nvSpPr>
          <p:spPr bwMode="auto">
            <a:xfrm>
              <a:off x="5562600" y="5638800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UNI</a:t>
              </a:r>
            </a:p>
          </p:txBody>
        </p:sp>
        <p:grpSp>
          <p:nvGrpSpPr>
            <p:cNvPr id="5" name="Group 36"/>
            <p:cNvGrpSpPr>
              <a:grpSpLocks/>
            </p:cNvGrpSpPr>
            <p:nvPr/>
          </p:nvGrpSpPr>
          <p:grpSpPr bwMode="auto">
            <a:xfrm>
              <a:off x="6426200" y="3673475"/>
              <a:ext cx="1347788" cy="1279525"/>
              <a:chOff x="3648" y="2208"/>
              <a:chExt cx="849" cy="806"/>
            </a:xfrm>
          </p:grpSpPr>
          <p:grpSp>
            <p:nvGrpSpPr>
              <p:cNvPr id="6" name="Group 37"/>
              <p:cNvGrpSpPr>
                <a:grpSpLocks/>
              </p:cNvGrpSpPr>
              <p:nvPr/>
            </p:nvGrpSpPr>
            <p:grpSpPr bwMode="auto">
              <a:xfrm>
                <a:off x="3792" y="2208"/>
                <a:ext cx="705" cy="720"/>
                <a:chOff x="4158" y="2515"/>
                <a:chExt cx="705" cy="720"/>
              </a:xfrm>
            </p:grpSpPr>
            <p:pic>
              <p:nvPicPr>
                <p:cNvPr id="1003558" name="Picture 38" descr="Flat screen"/>
                <p:cNvPicPr>
                  <a:picLocks noChangeAspect="1" noChangeArrowheads="1"/>
                </p:cNvPicPr>
                <p:nvPr/>
              </p:nvPicPr>
              <p:blipFill>
                <a:blip r:embed="rId10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158" y="2515"/>
                  <a:ext cx="705" cy="72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03559" name="Picture 39" descr="pic"/>
                <p:cNvPicPr>
                  <a:picLocks noChangeAspect="1" noChangeArrowheads="1"/>
                </p:cNvPicPr>
                <p:nvPr/>
              </p:nvPicPr>
              <p:blipFill>
                <a:blip r:embed="rId1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320" y="2544"/>
                  <a:ext cx="422" cy="56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1003560" name="Picture 40" descr="Desktop"/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48" y="2400"/>
                <a:ext cx="266" cy="31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03561" name="Picture 41" descr="Laptop"/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44" y="2448"/>
                <a:ext cx="417" cy="3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03562" name="Picture 42" descr="Office Phone"/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32" y="2736"/>
                <a:ext cx="432" cy="2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7" name="Group 43"/>
            <p:cNvGrpSpPr>
              <a:grpSpLocks/>
            </p:cNvGrpSpPr>
            <p:nvPr/>
          </p:nvGrpSpPr>
          <p:grpSpPr bwMode="auto">
            <a:xfrm>
              <a:off x="7035800" y="4968875"/>
              <a:ext cx="1347788" cy="1279525"/>
              <a:chOff x="3648" y="2208"/>
              <a:chExt cx="849" cy="806"/>
            </a:xfrm>
          </p:grpSpPr>
          <p:grpSp>
            <p:nvGrpSpPr>
              <p:cNvPr id="8" name="Group 44"/>
              <p:cNvGrpSpPr>
                <a:grpSpLocks/>
              </p:cNvGrpSpPr>
              <p:nvPr/>
            </p:nvGrpSpPr>
            <p:grpSpPr bwMode="auto">
              <a:xfrm>
                <a:off x="3792" y="2208"/>
                <a:ext cx="705" cy="720"/>
                <a:chOff x="4158" y="2515"/>
                <a:chExt cx="705" cy="720"/>
              </a:xfrm>
            </p:grpSpPr>
            <p:pic>
              <p:nvPicPr>
                <p:cNvPr id="1003565" name="Picture 45" descr="Flat screen"/>
                <p:cNvPicPr>
                  <a:picLocks noChangeAspect="1" noChangeArrowheads="1"/>
                </p:cNvPicPr>
                <p:nvPr/>
              </p:nvPicPr>
              <p:blipFill>
                <a:blip r:embed="rId10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158" y="2515"/>
                  <a:ext cx="705" cy="72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03566" name="Picture 46" descr="pic"/>
                <p:cNvPicPr>
                  <a:picLocks noChangeAspect="1" noChangeArrowheads="1"/>
                </p:cNvPicPr>
                <p:nvPr/>
              </p:nvPicPr>
              <p:blipFill>
                <a:blip r:embed="rId1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320" y="2544"/>
                  <a:ext cx="422" cy="56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1003567" name="Picture 47" descr="Desktop"/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48" y="2400"/>
                <a:ext cx="266" cy="31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03568" name="Picture 48" descr="Laptop"/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44" y="2448"/>
                <a:ext cx="417" cy="3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03569" name="Picture 49" descr="Office Phone"/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32" y="2736"/>
                <a:ext cx="432" cy="2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003570" name="Line 50"/>
            <p:cNvSpPr>
              <a:spLocks noChangeShapeType="1"/>
            </p:cNvSpPr>
            <p:nvPr/>
          </p:nvSpPr>
          <p:spPr bwMode="auto">
            <a:xfrm>
              <a:off x="1905000" y="5105400"/>
              <a:ext cx="1752600" cy="0"/>
            </a:xfrm>
            <a:prstGeom prst="line">
              <a:avLst/>
            </a:prstGeom>
            <a:noFill/>
            <a:ln w="38100">
              <a:solidFill>
                <a:srgbClr val="5F5F5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3571" name="Text Box 51"/>
            <p:cNvSpPr txBox="1">
              <a:spLocks noChangeArrowheads="1"/>
            </p:cNvSpPr>
            <p:nvPr/>
          </p:nvSpPr>
          <p:spPr bwMode="auto">
            <a:xfrm>
              <a:off x="3886200" y="5791200"/>
              <a:ext cx="1600200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sz="1200"/>
                <a:t>Point-to-Point EVC</a:t>
              </a:r>
            </a:p>
          </p:txBody>
        </p:sp>
        <p:sp>
          <p:nvSpPr>
            <p:cNvPr id="1003572" name="Line 52"/>
            <p:cNvSpPr>
              <a:spLocks noChangeShapeType="1"/>
            </p:cNvSpPr>
            <p:nvPr/>
          </p:nvSpPr>
          <p:spPr bwMode="auto">
            <a:xfrm flipV="1">
              <a:off x="4343400" y="5364163"/>
              <a:ext cx="304800" cy="457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3573" name="Line 53"/>
            <p:cNvSpPr>
              <a:spLocks noChangeShapeType="1"/>
            </p:cNvSpPr>
            <p:nvPr/>
          </p:nvSpPr>
          <p:spPr bwMode="auto">
            <a:xfrm>
              <a:off x="1447800" y="4648200"/>
              <a:ext cx="914400" cy="0"/>
            </a:xfrm>
            <a:prstGeom prst="line">
              <a:avLst/>
            </a:prstGeom>
            <a:noFill/>
            <a:ln w="6350">
              <a:solidFill>
                <a:srgbClr val="5F5F5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3574" name="Rectangle 54"/>
            <p:cNvSpPr>
              <a:spLocks noChangeArrowheads="1"/>
            </p:cNvSpPr>
            <p:nvPr/>
          </p:nvSpPr>
          <p:spPr bwMode="auto">
            <a:xfrm>
              <a:off x="2057400" y="5181600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CE</a:t>
              </a:r>
            </a:p>
          </p:txBody>
        </p:sp>
        <p:sp>
          <p:nvSpPr>
            <p:cNvPr id="1003575" name="Line 55"/>
            <p:cNvSpPr>
              <a:spLocks noChangeShapeType="1"/>
            </p:cNvSpPr>
            <p:nvPr/>
          </p:nvSpPr>
          <p:spPr bwMode="auto">
            <a:xfrm flipV="1">
              <a:off x="4343400" y="4754563"/>
              <a:ext cx="228600" cy="1066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3576" name="Text Box 56"/>
            <p:cNvSpPr txBox="1">
              <a:spLocks noChangeArrowheads="1"/>
            </p:cNvSpPr>
            <p:nvPr/>
          </p:nvSpPr>
          <p:spPr bwMode="auto">
            <a:xfrm>
              <a:off x="2590800" y="4114800"/>
              <a:ext cx="5334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sz="1200"/>
                <a:t>ISP</a:t>
              </a:r>
            </a:p>
            <a:p>
              <a:pPr algn="ctr" eaLnBrk="0" hangingPunct="0"/>
              <a:r>
                <a:rPr lang="en-US" sz="1200"/>
                <a:t>POP</a:t>
              </a:r>
            </a:p>
          </p:txBody>
        </p:sp>
        <p:pic>
          <p:nvPicPr>
            <p:cNvPr id="1003577" name="Picture 57" descr="Internet"/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600" y="4343400"/>
              <a:ext cx="685800" cy="5905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3578" name="Text Box 58"/>
            <p:cNvSpPr txBox="1">
              <a:spLocks noChangeArrowheads="1"/>
            </p:cNvSpPr>
            <p:nvPr/>
          </p:nvSpPr>
          <p:spPr bwMode="auto">
            <a:xfrm>
              <a:off x="304800" y="4648200"/>
              <a:ext cx="762000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 eaLnBrk="0" hangingPunct="0"/>
              <a:r>
                <a:rPr lang="en-US" sz="1200"/>
                <a:t>Internet</a:t>
              </a:r>
            </a:p>
          </p:txBody>
        </p:sp>
        <p:pic>
          <p:nvPicPr>
            <p:cNvPr id="1003579" name="Picture 59" descr="Medium Enterprise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1600" y="4953000"/>
              <a:ext cx="685800" cy="641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3580" name="Picture 60" descr="ServiceProvider Central Office"/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8800" y="4343400"/>
              <a:ext cx="1066800" cy="641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3581" name="Text Box 61"/>
            <p:cNvSpPr txBox="1">
              <a:spLocks noChangeArrowheads="1"/>
            </p:cNvSpPr>
            <p:nvPr/>
          </p:nvSpPr>
          <p:spPr bwMode="auto">
            <a:xfrm>
              <a:off x="3200400" y="4084638"/>
              <a:ext cx="1143000" cy="6397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sz="1200"/>
                <a:t>Service Multiplexed Ethernet UNI</a:t>
              </a:r>
            </a:p>
          </p:txBody>
        </p:sp>
        <p:pic>
          <p:nvPicPr>
            <p:cNvPr id="1003582" name="Picture 62" descr="Remote DSLAM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5600" y="5638800"/>
              <a:ext cx="457200" cy="2936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3583" name="Rectangle 63"/>
            <p:cNvSpPr>
              <a:spLocks noChangeArrowheads="1"/>
            </p:cNvSpPr>
            <p:nvPr/>
          </p:nvSpPr>
          <p:spPr bwMode="auto">
            <a:xfrm>
              <a:off x="2971800" y="5791200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CE</a:t>
              </a:r>
            </a:p>
          </p:txBody>
        </p:sp>
        <p:pic>
          <p:nvPicPr>
            <p:cNvPr id="1003584" name="Picture 64" descr="Large Enterprise"/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38400" y="5334000"/>
              <a:ext cx="579438" cy="868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6" name="Slide Number Placeholder 6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7340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5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081963" cy="685800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Services Using E-LAN Service Type</a:t>
            </a:r>
          </a:p>
        </p:txBody>
      </p:sp>
      <p:sp>
        <p:nvSpPr>
          <p:cNvPr id="1004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752600"/>
            <a:ext cx="7467600" cy="1905000"/>
          </a:xfrm>
        </p:spPr>
        <p:txBody>
          <a:bodyPr>
            <a:normAutofit lnSpcReduction="10000"/>
          </a:bodyPr>
          <a:lstStyle/>
          <a:p>
            <a:pPr>
              <a:spcBef>
                <a:spcPct val="15000"/>
              </a:spcBef>
            </a:pPr>
            <a:r>
              <a:rPr lang="en-US" dirty="0"/>
              <a:t>Ethernet Private LAN and Ethernet Virtual Private LAN Services</a:t>
            </a:r>
            <a:endParaRPr lang="en-US" sz="2000" dirty="0"/>
          </a:p>
          <a:p>
            <a:pPr lvl="1">
              <a:spcBef>
                <a:spcPct val="15000"/>
              </a:spcBef>
            </a:pPr>
            <a:r>
              <a:rPr lang="en-US" dirty="0"/>
              <a:t>Supports dedicated or service-multiplexed UNIs </a:t>
            </a:r>
          </a:p>
          <a:p>
            <a:pPr lvl="1">
              <a:spcBef>
                <a:spcPct val="15000"/>
              </a:spcBef>
            </a:pPr>
            <a:r>
              <a:rPr lang="en-US" dirty="0"/>
              <a:t>Supports transparent LAN services and multipoint Layer 2 VPNs</a:t>
            </a:r>
          </a:p>
        </p:txBody>
      </p:sp>
      <p:grpSp>
        <p:nvGrpSpPr>
          <p:cNvPr id="2" name="Group 39"/>
          <p:cNvGrpSpPr/>
          <p:nvPr/>
        </p:nvGrpSpPr>
        <p:grpSpPr>
          <a:xfrm>
            <a:off x="1960563" y="3733800"/>
            <a:ext cx="5126037" cy="2438400"/>
            <a:chOff x="1960563" y="3352800"/>
            <a:chExt cx="5126037" cy="2438400"/>
          </a:xfrm>
        </p:grpSpPr>
        <p:pic>
          <p:nvPicPr>
            <p:cNvPr id="1004548" name="Picture 4" descr="Large Enterprise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0563" y="3962400"/>
              <a:ext cx="731837" cy="10969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4549" name="Text Box 5"/>
            <p:cNvSpPr txBox="1">
              <a:spLocks noChangeArrowheads="1"/>
            </p:cNvSpPr>
            <p:nvPr/>
          </p:nvSpPr>
          <p:spPr bwMode="auto">
            <a:xfrm>
              <a:off x="2870200" y="3916363"/>
              <a:ext cx="990600" cy="822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sz="1200"/>
                <a:t>Service Multiplexed Ethernet UNI</a:t>
              </a:r>
            </a:p>
          </p:txBody>
        </p:sp>
        <p:sp>
          <p:nvSpPr>
            <p:cNvPr id="1004550" name="Line 6"/>
            <p:cNvSpPr>
              <a:spLocks noChangeShapeType="1"/>
            </p:cNvSpPr>
            <p:nvPr/>
          </p:nvSpPr>
          <p:spPr bwMode="auto">
            <a:xfrm>
              <a:off x="5257800" y="5257800"/>
              <a:ext cx="1143000" cy="0"/>
            </a:xfrm>
            <a:prstGeom prst="line">
              <a:avLst/>
            </a:prstGeom>
            <a:noFill/>
            <a:ln w="38100">
              <a:solidFill>
                <a:srgbClr val="5F5F5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666666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1004551" name="Picture 7" descr="cloud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2800" y="4114800"/>
              <a:ext cx="2362200" cy="13493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4552" name="Line 8"/>
            <p:cNvSpPr>
              <a:spLocks noChangeShapeType="1"/>
            </p:cNvSpPr>
            <p:nvPr/>
          </p:nvSpPr>
          <p:spPr bwMode="auto">
            <a:xfrm flipV="1">
              <a:off x="4165600" y="4373563"/>
              <a:ext cx="838200" cy="304800"/>
            </a:xfrm>
            <a:prstGeom prst="line">
              <a:avLst/>
            </a:prstGeom>
            <a:noFill/>
            <a:ln w="28575" cap="rnd">
              <a:solidFill>
                <a:srgbClr val="5F5F5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4553" name="Line 9"/>
            <p:cNvSpPr>
              <a:spLocks noChangeShapeType="1"/>
            </p:cNvSpPr>
            <p:nvPr/>
          </p:nvSpPr>
          <p:spPr bwMode="auto">
            <a:xfrm>
              <a:off x="2743200" y="4876800"/>
              <a:ext cx="685800" cy="0"/>
            </a:xfrm>
            <a:prstGeom prst="line">
              <a:avLst/>
            </a:prstGeom>
            <a:noFill/>
            <a:ln w="38100">
              <a:solidFill>
                <a:srgbClr val="5F5F5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666666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4554" name="Text Box 10"/>
            <p:cNvSpPr txBox="1">
              <a:spLocks noChangeArrowheads="1"/>
            </p:cNvSpPr>
            <p:nvPr/>
          </p:nvSpPr>
          <p:spPr bwMode="auto">
            <a:xfrm>
              <a:off x="3022600" y="5516563"/>
              <a:ext cx="1905000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sz="1200"/>
                <a:t>Point-to-Multipoint EVC</a:t>
              </a:r>
            </a:p>
          </p:txBody>
        </p:sp>
        <p:sp>
          <p:nvSpPr>
            <p:cNvPr id="1004555" name="Line 11"/>
            <p:cNvSpPr>
              <a:spLocks noChangeShapeType="1"/>
            </p:cNvSpPr>
            <p:nvPr/>
          </p:nvSpPr>
          <p:spPr bwMode="auto">
            <a:xfrm flipV="1">
              <a:off x="4165600" y="5135563"/>
              <a:ext cx="533400" cy="457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4556" name="Line 12"/>
            <p:cNvSpPr>
              <a:spLocks noChangeShapeType="1"/>
            </p:cNvSpPr>
            <p:nvPr/>
          </p:nvSpPr>
          <p:spPr bwMode="auto">
            <a:xfrm>
              <a:off x="4165600" y="4983163"/>
              <a:ext cx="914400" cy="228600"/>
            </a:xfrm>
            <a:prstGeom prst="line">
              <a:avLst/>
            </a:prstGeom>
            <a:noFill/>
            <a:ln w="28575" cap="rnd">
              <a:solidFill>
                <a:srgbClr val="5F5F5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4557" name="Text Box 13"/>
            <p:cNvSpPr txBox="1">
              <a:spLocks noChangeArrowheads="1"/>
            </p:cNvSpPr>
            <p:nvPr/>
          </p:nvSpPr>
          <p:spPr bwMode="auto">
            <a:xfrm>
              <a:off x="4394200" y="4602163"/>
              <a:ext cx="990600" cy="458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lnSpc>
                  <a:spcPct val="80000"/>
                </a:lnSpc>
              </a:pPr>
              <a:r>
                <a:rPr lang="en-US" sz="1000"/>
                <a:t>Carrier Ethernet Network</a:t>
              </a:r>
            </a:p>
          </p:txBody>
        </p:sp>
        <p:pic>
          <p:nvPicPr>
            <p:cNvPr id="1004558" name="Picture 14" descr="Remote DSLAM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13000" y="4722813"/>
              <a:ext cx="457200" cy="2936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4559" name="Rectangle 15"/>
            <p:cNvSpPr>
              <a:spLocks noChangeArrowheads="1"/>
            </p:cNvSpPr>
            <p:nvPr/>
          </p:nvSpPr>
          <p:spPr bwMode="auto">
            <a:xfrm>
              <a:off x="2413000" y="5027613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CE</a:t>
              </a:r>
            </a:p>
          </p:txBody>
        </p:sp>
        <p:sp>
          <p:nvSpPr>
            <p:cNvPr id="1004560" name="Rectangle 16"/>
            <p:cNvSpPr>
              <a:spLocks noChangeArrowheads="1"/>
            </p:cNvSpPr>
            <p:nvPr/>
          </p:nvSpPr>
          <p:spPr bwMode="auto">
            <a:xfrm>
              <a:off x="3048000" y="4876800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UNI</a:t>
              </a:r>
            </a:p>
          </p:txBody>
        </p:sp>
        <p:sp>
          <p:nvSpPr>
            <p:cNvPr id="1004561" name="Line 17"/>
            <p:cNvSpPr>
              <a:spLocks noChangeShapeType="1"/>
            </p:cNvSpPr>
            <p:nvPr/>
          </p:nvSpPr>
          <p:spPr bwMode="auto">
            <a:xfrm flipV="1">
              <a:off x="5080000" y="4144963"/>
              <a:ext cx="381000" cy="152400"/>
            </a:xfrm>
            <a:prstGeom prst="line">
              <a:avLst/>
            </a:prstGeom>
            <a:noFill/>
            <a:ln w="38100">
              <a:solidFill>
                <a:srgbClr val="5F5F5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666666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1004562" name="Picture 18" descr="Remote DSLAM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2400" y="3992563"/>
              <a:ext cx="533400" cy="342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4563" name="Picture 19" descr="Router2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75000" y="4678363"/>
              <a:ext cx="685800" cy="4429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4564" name="Picture 20" descr="Router2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51400" y="4951413"/>
              <a:ext cx="762000" cy="492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4565" name="Picture 21" descr="dertified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79800" y="4602163"/>
              <a:ext cx="207963" cy="38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4566" name="Picture 22" descr="dertified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4800" y="4951413"/>
              <a:ext cx="207963" cy="38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4567" name="Picture 23" descr="Router2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46600" y="4144963"/>
              <a:ext cx="762000" cy="492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rnd" algn="ctr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004568" name="Picture 24" descr="dertified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0000" y="4144963"/>
              <a:ext cx="207963" cy="38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4569" name="Rectangle 25"/>
            <p:cNvSpPr>
              <a:spLocks noChangeArrowheads="1"/>
            </p:cNvSpPr>
            <p:nvPr/>
          </p:nvSpPr>
          <p:spPr bwMode="auto">
            <a:xfrm>
              <a:off x="4800600" y="4038600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UNI</a:t>
              </a:r>
            </a:p>
          </p:txBody>
        </p:sp>
        <p:sp>
          <p:nvSpPr>
            <p:cNvPr id="1004570" name="Rectangle 26"/>
            <p:cNvSpPr>
              <a:spLocks noChangeArrowheads="1"/>
            </p:cNvSpPr>
            <p:nvPr/>
          </p:nvSpPr>
          <p:spPr bwMode="auto">
            <a:xfrm>
              <a:off x="5562600" y="5029200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UNI</a:t>
              </a:r>
            </a:p>
          </p:txBody>
        </p:sp>
        <p:sp>
          <p:nvSpPr>
            <p:cNvPr id="1004571" name="Line 27"/>
            <p:cNvSpPr>
              <a:spLocks noChangeShapeType="1"/>
            </p:cNvSpPr>
            <p:nvPr/>
          </p:nvSpPr>
          <p:spPr bwMode="auto">
            <a:xfrm flipV="1">
              <a:off x="4165600" y="4678363"/>
              <a:ext cx="228600" cy="914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4572" name="Line 28"/>
            <p:cNvSpPr>
              <a:spLocks noChangeShapeType="1"/>
            </p:cNvSpPr>
            <p:nvPr/>
          </p:nvSpPr>
          <p:spPr bwMode="auto">
            <a:xfrm flipV="1">
              <a:off x="4165600" y="4525963"/>
              <a:ext cx="25400" cy="533400"/>
            </a:xfrm>
            <a:prstGeom prst="line">
              <a:avLst/>
            </a:prstGeom>
            <a:noFill/>
            <a:ln w="28575" cap="rnd">
              <a:solidFill>
                <a:srgbClr val="5F5F5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4573" name="Line 29"/>
            <p:cNvSpPr>
              <a:spLocks noChangeShapeType="1"/>
            </p:cNvSpPr>
            <p:nvPr/>
          </p:nvSpPr>
          <p:spPr bwMode="auto">
            <a:xfrm flipV="1">
              <a:off x="3479800" y="4906963"/>
              <a:ext cx="685800" cy="0"/>
            </a:xfrm>
            <a:prstGeom prst="line">
              <a:avLst/>
            </a:prstGeom>
            <a:noFill/>
            <a:ln w="28575" cap="rnd">
              <a:solidFill>
                <a:srgbClr val="5F5F5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4574" name="Line 30"/>
            <p:cNvSpPr>
              <a:spLocks noChangeShapeType="1"/>
            </p:cNvSpPr>
            <p:nvPr/>
          </p:nvSpPr>
          <p:spPr bwMode="auto">
            <a:xfrm flipV="1">
              <a:off x="5562600" y="4068763"/>
              <a:ext cx="381000" cy="0"/>
            </a:xfrm>
            <a:prstGeom prst="line">
              <a:avLst/>
            </a:prstGeom>
            <a:noFill/>
            <a:ln w="19050">
              <a:solidFill>
                <a:srgbClr val="5F5F5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666666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1004575" name="Picture 31" descr="store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0" y="3352800"/>
              <a:ext cx="825500" cy="990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4576" name="Picture 32" descr="Medium Enterprise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24600" y="4805363"/>
              <a:ext cx="762000" cy="7127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4577" name="Picture 33" descr="Remote DSLAM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400" y="5181600"/>
              <a:ext cx="457200" cy="2936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4578" name="Line 34"/>
            <p:cNvSpPr>
              <a:spLocks noChangeShapeType="1"/>
            </p:cNvSpPr>
            <p:nvPr/>
          </p:nvSpPr>
          <p:spPr bwMode="auto">
            <a:xfrm flipV="1">
              <a:off x="5638800" y="4221163"/>
              <a:ext cx="685800" cy="0"/>
            </a:xfrm>
            <a:prstGeom prst="line">
              <a:avLst/>
            </a:prstGeom>
            <a:noFill/>
            <a:ln w="38100">
              <a:solidFill>
                <a:srgbClr val="5F5F5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666666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1004579" name="Picture 35" descr="Remote DSLAM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43600" y="3992563"/>
              <a:ext cx="533400" cy="342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4580" name="Rectangle 36"/>
            <p:cNvSpPr>
              <a:spLocks noChangeArrowheads="1"/>
            </p:cNvSpPr>
            <p:nvPr/>
          </p:nvSpPr>
          <p:spPr bwMode="auto">
            <a:xfrm>
              <a:off x="6324600" y="4267200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CE</a:t>
              </a:r>
            </a:p>
          </p:txBody>
        </p:sp>
        <p:pic>
          <p:nvPicPr>
            <p:cNvPr id="1004581" name="Picture 37" descr="dertified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10200" y="3763963"/>
              <a:ext cx="207963" cy="38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4582" name="Rectangle 38"/>
            <p:cNvSpPr>
              <a:spLocks noChangeArrowheads="1"/>
            </p:cNvSpPr>
            <p:nvPr/>
          </p:nvSpPr>
          <p:spPr bwMode="auto">
            <a:xfrm>
              <a:off x="5562600" y="4068763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UNI</a:t>
              </a:r>
            </a:p>
          </p:txBody>
        </p:sp>
        <p:sp>
          <p:nvSpPr>
            <p:cNvPr id="1004583" name="Rectangle 39"/>
            <p:cNvSpPr>
              <a:spLocks noChangeArrowheads="1"/>
            </p:cNvSpPr>
            <p:nvPr/>
          </p:nvSpPr>
          <p:spPr bwMode="auto">
            <a:xfrm>
              <a:off x="6324600" y="5486400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CE</a:t>
              </a:r>
            </a:p>
          </p:txBody>
        </p:sp>
      </p:grpSp>
      <p:sp>
        <p:nvSpPr>
          <p:cNvPr id="41" name="Slide Number Placeholder 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8158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6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081963" cy="685800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Services Using E-Tree Service Type</a:t>
            </a:r>
          </a:p>
        </p:txBody>
      </p:sp>
      <p:sp>
        <p:nvSpPr>
          <p:cNvPr id="1008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610600" cy="35052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2400" dirty="0"/>
              <a:t>Ethernet Private Tree (EP-Tree) and Ethernet Virtual Private Tree (EVP-Tree) Services</a:t>
            </a:r>
            <a:endParaRPr lang="en-US" sz="1800" dirty="0"/>
          </a:p>
          <a:p>
            <a:pPr lvl="1">
              <a:lnSpc>
                <a:spcPct val="95000"/>
              </a:lnSpc>
              <a:spcBef>
                <a:spcPct val="0"/>
              </a:spcBef>
            </a:pPr>
            <a:r>
              <a:rPr lang="en-US" sz="2000" dirty="0"/>
              <a:t>Provides traffic separation between users with traffic from one “leaf” being allowed to arrive at one of more “Roots” but never being transmitted to other “leaves” </a:t>
            </a:r>
          </a:p>
          <a:p>
            <a:pPr lvl="1">
              <a:lnSpc>
                <a:spcPct val="95000"/>
              </a:lnSpc>
              <a:spcBef>
                <a:spcPct val="0"/>
              </a:spcBef>
            </a:pPr>
            <a:r>
              <a:rPr lang="en-US" sz="2000" dirty="0"/>
              <a:t>Targeted at multi-host and where user traffic must be kept invisible to other users</a:t>
            </a:r>
          </a:p>
          <a:p>
            <a:pPr lvl="1">
              <a:lnSpc>
                <a:spcPct val="95000"/>
              </a:lnSpc>
              <a:spcBef>
                <a:spcPct val="0"/>
              </a:spcBef>
            </a:pPr>
            <a:r>
              <a:rPr lang="en-US" sz="2000" dirty="0"/>
              <a:t>Anticipated to be an enabler for mobile backhaul </a:t>
            </a:r>
            <a:br>
              <a:rPr lang="en-US" sz="2000" dirty="0"/>
            </a:br>
            <a:r>
              <a:rPr lang="en-US" sz="2000" dirty="0"/>
              <a:t>and triple-play infrastructure rather </a:t>
            </a:r>
            <a:br>
              <a:rPr lang="en-US" sz="2000" dirty="0"/>
            </a:br>
            <a:r>
              <a:rPr lang="en-US" sz="2000" dirty="0"/>
              <a:t>than end-user SLAs</a:t>
            </a:r>
          </a:p>
        </p:txBody>
      </p:sp>
      <p:sp>
        <p:nvSpPr>
          <p:cNvPr id="1008677" name="Rectangle 37"/>
          <p:cNvSpPr>
            <a:spLocks noChangeArrowheads="1"/>
          </p:cNvSpPr>
          <p:nvPr/>
        </p:nvSpPr>
        <p:spPr bwMode="auto">
          <a:xfrm>
            <a:off x="0" y="2433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2" name="Group 49"/>
          <p:cNvGrpSpPr/>
          <p:nvPr/>
        </p:nvGrpSpPr>
        <p:grpSpPr>
          <a:xfrm>
            <a:off x="3429000" y="3657600"/>
            <a:ext cx="5410200" cy="2389188"/>
            <a:chOff x="3733800" y="3657600"/>
            <a:chExt cx="5410200" cy="2389188"/>
          </a:xfrm>
        </p:grpSpPr>
        <p:pic>
          <p:nvPicPr>
            <p:cNvPr id="1008644" name="Picture 4" descr="Large Enterprise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33800" y="4800600"/>
              <a:ext cx="731838" cy="10969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8645" name="Text Box 5"/>
            <p:cNvSpPr txBox="1">
              <a:spLocks noChangeArrowheads="1"/>
            </p:cNvSpPr>
            <p:nvPr/>
          </p:nvSpPr>
          <p:spPr bwMode="auto">
            <a:xfrm>
              <a:off x="4703763" y="4724400"/>
              <a:ext cx="635000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sz="1200" b="1"/>
                <a:t>Root</a:t>
              </a:r>
            </a:p>
          </p:txBody>
        </p:sp>
        <p:sp>
          <p:nvSpPr>
            <p:cNvPr id="1008646" name="Line 6"/>
            <p:cNvSpPr>
              <a:spLocks noChangeShapeType="1"/>
            </p:cNvSpPr>
            <p:nvPr/>
          </p:nvSpPr>
          <p:spPr bwMode="auto">
            <a:xfrm>
              <a:off x="7467600" y="5176838"/>
              <a:ext cx="1143000" cy="0"/>
            </a:xfrm>
            <a:prstGeom prst="line">
              <a:avLst/>
            </a:prstGeom>
            <a:noFill/>
            <a:ln w="38100">
              <a:solidFill>
                <a:srgbClr val="5F5F5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666666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1008647" name="Picture 7" descr="cloud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29200" y="4419600"/>
              <a:ext cx="2362200" cy="13493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8648" name="Line 8"/>
            <p:cNvSpPr>
              <a:spLocks noChangeShapeType="1"/>
            </p:cNvSpPr>
            <p:nvPr/>
          </p:nvSpPr>
          <p:spPr bwMode="auto">
            <a:xfrm flipV="1">
              <a:off x="5842000" y="4678363"/>
              <a:ext cx="838200" cy="304800"/>
            </a:xfrm>
            <a:prstGeom prst="line">
              <a:avLst/>
            </a:prstGeom>
            <a:noFill/>
            <a:ln w="28575" cap="rnd">
              <a:solidFill>
                <a:srgbClr val="5F5F5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8649" name="Line 9"/>
            <p:cNvSpPr>
              <a:spLocks noChangeShapeType="1"/>
            </p:cNvSpPr>
            <p:nvPr/>
          </p:nvSpPr>
          <p:spPr bwMode="auto">
            <a:xfrm>
              <a:off x="4419600" y="5181600"/>
              <a:ext cx="685800" cy="0"/>
            </a:xfrm>
            <a:prstGeom prst="line">
              <a:avLst/>
            </a:prstGeom>
            <a:noFill/>
            <a:ln w="38100">
              <a:solidFill>
                <a:srgbClr val="5F5F5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666666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8650" name="Line 10"/>
            <p:cNvSpPr>
              <a:spLocks noChangeShapeType="1"/>
            </p:cNvSpPr>
            <p:nvPr/>
          </p:nvSpPr>
          <p:spPr bwMode="auto">
            <a:xfrm>
              <a:off x="5842000" y="5287963"/>
              <a:ext cx="914400" cy="228600"/>
            </a:xfrm>
            <a:prstGeom prst="line">
              <a:avLst/>
            </a:prstGeom>
            <a:noFill/>
            <a:ln w="28575" cap="rnd">
              <a:solidFill>
                <a:srgbClr val="5F5F5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8651" name="Text Box 11"/>
            <p:cNvSpPr txBox="1">
              <a:spLocks noChangeArrowheads="1"/>
            </p:cNvSpPr>
            <p:nvPr/>
          </p:nvSpPr>
          <p:spPr bwMode="auto">
            <a:xfrm>
              <a:off x="4703763" y="5653088"/>
              <a:ext cx="1752600" cy="214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lnSpc>
                  <a:spcPct val="80000"/>
                </a:lnSpc>
              </a:pPr>
              <a:r>
                <a:rPr lang="en-US" sz="1000"/>
                <a:t>Carrier Ethernet Network</a:t>
              </a:r>
            </a:p>
          </p:txBody>
        </p:sp>
        <p:pic>
          <p:nvPicPr>
            <p:cNvPr id="1008652" name="Picture 12" descr="Remote DSLAM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9400" y="5027613"/>
              <a:ext cx="457200" cy="2936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8653" name="Rectangle 13"/>
            <p:cNvSpPr>
              <a:spLocks noChangeArrowheads="1"/>
            </p:cNvSpPr>
            <p:nvPr/>
          </p:nvSpPr>
          <p:spPr bwMode="auto">
            <a:xfrm>
              <a:off x="4089400" y="5332413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CE</a:t>
              </a:r>
            </a:p>
          </p:txBody>
        </p:sp>
        <p:sp>
          <p:nvSpPr>
            <p:cNvPr id="1008654" name="Rectangle 14"/>
            <p:cNvSpPr>
              <a:spLocks noChangeArrowheads="1"/>
            </p:cNvSpPr>
            <p:nvPr/>
          </p:nvSpPr>
          <p:spPr bwMode="auto">
            <a:xfrm>
              <a:off x="4724400" y="5181600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UNI</a:t>
              </a:r>
            </a:p>
          </p:txBody>
        </p:sp>
        <p:sp>
          <p:nvSpPr>
            <p:cNvPr id="1008655" name="Line 15"/>
            <p:cNvSpPr>
              <a:spLocks noChangeShapeType="1"/>
            </p:cNvSpPr>
            <p:nvPr/>
          </p:nvSpPr>
          <p:spPr bwMode="auto">
            <a:xfrm flipV="1">
              <a:off x="6908800" y="4297363"/>
              <a:ext cx="381000" cy="152400"/>
            </a:xfrm>
            <a:prstGeom prst="line">
              <a:avLst/>
            </a:prstGeom>
            <a:noFill/>
            <a:ln w="38100">
              <a:solidFill>
                <a:srgbClr val="5F5F5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666666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1008656" name="Picture 16" descr="Remote DSLAM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61200" y="4144963"/>
              <a:ext cx="533400" cy="342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8657" name="Picture 17" descr="Router2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51400" y="4983163"/>
              <a:ext cx="685800" cy="4429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8658" name="Picture 18" descr="Router2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61200" y="4870450"/>
              <a:ext cx="762000" cy="492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8659" name="Picture 19" descr="dertified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56200" y="4906963"/>
              <a:ext cx="207963" cy="38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8660" name="Picture 20" descr="dertified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94600" y="4870450"/>
              <a:ext cx="207963" cy="38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8661" name="Picture 21" descr="Router2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0800" y="4343400"/>
              <a:ext cx="762000" cy="492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rnd" algn="ctr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008662" name="Picture 22" descr="dertified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8800" y="4297363"/>
              <a:ext cx="207963" cy="38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8663" name="Rectangle 23"/>
            <p:cNvSpPr>
              <a:spLocks noChangeArrowheads="1"/>
            </p:cNvSpPr>
            <p:nvPr/>
          </p:nvSpPr>
          <p:spPr bwMode="auto">
            <a:xfrm>
              <a:off x="6629400" y="4191000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UNI</a:t>
              </a:r>
            </a:p>
          </p:txBody>
        </p:sp>
        <p:sp>
          <p:nvSpPr>
            <p:cNvPr id="1008664" name="Rectangle 24"/>
            <p:cNvSpPr>
              <a:spLocks noChangeArrowheads="1"/>
            </p:cNvSpPr>
            <p:nvPr/>
          </p:nvSpPr>
          <p:spPr bwMode="auto">
            <a:xfrm>
              <a:off x="7772400" y="4948238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UNI</a:t>
              </a:r>
            </a:p>
          </p:txBody>
        </p:sp>
        <p:sp>
          <p:nvSpPr>
            <p:cNvPr id="1008665" name="Line 25"/>
            <p:cNvSpPr>
              <a:spLocks noChangeShapeType="1"/>
            </p:cNvSpPr>
            <p:nvPr/>
          </p:nvSpPr>
          <p:spPr bwMode="auto">
            <a:xfrm flipH="1" flipV="1">
              <a:off x="5791200" y="4800600"/>
              <a:ext cx="0" cy="609600"/>
            </a:xfrm>
            <a:prstGeom prst="line">
              <a:avLst/>
            </a:prstGeom>
            <a:noFill/>
            <a:ln w="28575" cap="rnd">
              <a:solidFill>
                <a:srgbClr val="5F5F5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8666" name="Line 26"/>
            <p:cNvSpPr>
              <a:spLocks noChangeShapeType="1"/>
            </p:cNvSpPr>
            <p:nvPr/>
          </p:nvSpPr>
          <p:spPr bwMode="auto">
            <a:xfrm flipV="1">
              <a:off x="5156200" y="5211763"/>
              <a:ext cx="685800" cy="0"/>
            </a:xfrm>
            <a:prstGeom prst="line">
              <a:avLst/>
            </a:prstGeom>
            <a:noFill/>
            <a:ln w="28575" cap="rnd">
              <a:solidFill>
                <a:srgbClr val="5F5F5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8667" name="Line 27"/>
            <p:cNvSpPr>
              <a:spLocks noChangeShapeType="1"/>
            </p:cNvSpPr>
            <p:nvPr/>
          </p:nvSpPr>
          <p:spPr bwMode="auto">
            <a:xfrm flipV="1">
              <a:off x="7391400" y="4221163"/>
              <a:ext cx="381000" cy="0"/>
            </a:xfrm>
            <a:prstGeom prst="line">
              <a:avLst/>
            </a:prstGeom>
            <a:noFill/>
            <a:ln w="19050">
              <a:solidFill>
                <a:srgbClr val="5F5F5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666666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1008668" name="Picture 28" descr="store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04163" y="3657600"/>
              <a:ext cx="825500" cy="990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8669" name="Picture 29" descr="Medium Enterprise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0" y="4572000"/>
              <a:ext cx="762000" cy="7127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8670" name="Picture 30" descr="Remote DSLAM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8200" y="5100638"/>
              <a:ext cx="457200" cy="2936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8671" name="Line 31"/>
            <p:cNvSpPr>
              <a:spLocks noChangeShapeType="1"/>
            </p:cNvSpPr>
            <p:nvPr/>
          </p:nvSpPr>
          <p:spPr bwMode="auto">
            <a:xfrm flipV="1">
              <a:off x="7467600" y="4373563"/>
              <a:ext cx="685800" cy="0"/>
            </a:xfrm>
            <a:prstGeom prst="line">
              <a:avLst/>
            </a:prstGeom>
            <a:noFill/>
            <a:ln w="38100">
              <a:solidFill>
                <a:srgbClr val="5F5F5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666666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1008672" name="Picture 32" descr="Remote DSLAM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72400" y="4144963"/>
              <a:ext cx="533400" cy="342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8673" name="Rectangle 33"/>
            <p:cNvSpPr>
              <a:spLocks noChangeArrowheads="1"/>
            </p:cNvSpPr>
            <p:nvPr/>
          </p:nvSpPr>
          <p:spPr bwMode="auto">
            <a:xfrm>
              <a:off x="8153400" y="4419600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CE</a:t>
              </a:r>
            </a:p>
          </p:txBody>
        </p:sp>
        <p:pic>
          <p:nvPicPr>
            <p:cNvPr id="1008674" name="Picture 34" descr="dertified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9000" y="3916363"/>
              <a:ext cx="207963" cy="38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8675" name="Rectangle 35"/>
            <p:cNvSpPr>
              <a:spLocks noChangeArrowheads="1"/>
            </p:cNvSpPr>
            <p:nvPr/>
          </p:nvSpPr>
          <p:spPr bwMode="auto">
            <a:xfrm>
              <a:off x="7391400" y="4221163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UNI</a:t>
              </a:r>
            </a:p>
          </p:txBody>
        </p:sp>
        <p:sp>
          <p:nvSpPr>
            <p:cNvPr id="1008676" name="Rectangle 36"/>
            <p:cNvSpPr>
              <a:spLocks noChangeArrowheads="1"/>
            </p:cNvSpPr>
            <p:nvPr/>
          </p:nvSpPr>
          <p:spPr bwMode="auto">
            <a:xfrm>
              <a:off x="8458200" y="5257800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CE</a:t>
              </a:r>
            </a:p>
          </p:txBody>
        </p:sp>
        <p:sp>
          <p:nvSpPr>
            <p:cNvPr id="1008678" name="Line 38"/>
            <p:cNvSpPr>
              <a:spLocks noChangeShapeType="1"/>
            </p:cNvSpPr>
            <p:nvPr/>
          </p:nvSpPr>
          <p:spPr bwMode="auto">
            <a:xfrm flipV="1">
              <a:off x="5791200" y="5105400"/>
              <a:ext cx="1600200" cy="0"/>
            </a:xfrm>
            <a:prstGeom prst="line">
              <a:avLst/>
            </a:prstGeom>
            <a:noFill/>
            <a:ln w="28575" cap="rnd">
              <a:solidFill>
                <a:srgbClr val="5F5F5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8679" name="Text Box 39"/>
            <p:cNvSpPr txBox="1">
              <a:spLocks noChangeArrowheads="1"/>
            </p:cNvSpPr>
            <p:nvPr/>
          </p:nvSpPr>
          <p:spPr bwMode="auto">
            <a:xfrm>
              <a:off x="6400800" y="3886200"/>
              <a:ext cx="635000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sz="1200" b="1"/>
                <a:t>Leaf</a:t>
              </a:r>
            </a:p>
          </p:txBody>
        </p:sp>
        <p:sp>
          <p:nvSpPr>
            <p:cNvPr id="1008680" name="Text Box 40"/>
            <p:cNvSpPr txBox="1">
              <a:spLocks noChangeArrowheads="1"/>
            </p:cNvSpPr>
            <p:nvPr/>
          </p:nvSpPr>
          <p:spPr bwMode="auto">
            <a:xfrm>
              <a:off x="6324600" y="5181600"/>
              <a:ext cx="635000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sz="1200" b="1"/>
                <a:t>Leaf</a:t>
              </a:r>
            </a:p>
          </p:txBody>
        </p:sp>
        <p:sp>
          <p:nvSpPr>
            <p:cNvPr id="1008681" name="Line 41"/>
            <p:cNvSpPr>
              <a:spLocks noChangeShapeType="1"/>
            </p:cNvSpPr>
            <p:nvPr/>
          </p:nvSpPr>
          <p:spPr bwMode="auto">
            <a:xfrm>
              <a:off x="6959600" y="5786438"/>
              <a:ext cx="1143000" cy="0"/>
            </a:xfrm>
            <a:prstGeom prst="line">
              <a:avLst/>
            </a:prstGeom>
            <a:noFill/>
            <a:ln w="38100">
              <a:solidFill>
                <a:srgbClr val="5F5F5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666666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1008682" name="Picture 42" descr="Router2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3200" y="5480050"/>
              <a:ext cx="762000" cy="492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8683" name="Picture 43" descr="dertified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5480050"/>
              <a:ext cx="207963" cy="38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8684" name="Rectangle 44"/>
            <p:cNvSpPr>
              <a:spLocks noChangeArrowheads="1"/>
            </p:cNvSpPr>
            <p:nvPr/>
          </p:nvSpPr>
          <p:spPr bwMode="auto">
            <a:xfrm>
              <a:off x="7264400" y="5557838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UNI</a:t>
              </a:r>
            </a:p>
          </p:txBody>
        </p:sp>
        <p:pic>
          <p:nvPicPr>
            <p:cNvPr id="1008685" name="Picture 45" descr="Medium Enterprise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4800" y="5334000"/>
              <a:ext cx="762000" cy="7127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8686" name="Picture 46" descr="Remote DSLAM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74000" y="5634038"/>
              <a:ext cx="457200" cy="2936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8687" name="Rectangle 47"/>
            <p:cNvSpPr>
              <a:spLocks noChangeArrowheads="1"/>
            </p:cNvSpPr>
            <p:nvPr/>
          </p:nvSpPr>
          <p:spPr bwMode="auto">
            <a:xfrm>
              <a:off x="7772400" y="5867400"/>
              <a:ext cx="304800" cy="152400"/>
            </a:xfrm>
            <a:prstGeom prst="rect">
              <a:avLst/>
            </a:prstGeom>
            <a:gradFill rotWithShape="0">
              <a:gsLst>
                <a:gs pos="0">
                  <a:srgbClr val="66CCFF">
                    <a:gamma/>
                    <a:shade val="46275"/>
                    <a:invGamma/>
                  </a:srgbClr>
                </a:gs>
                <a:gs pos="50000">
                  <a:srgbClr val="66CCFF"/>
                </a:gs>
                <a:gs pos="100000">
                  <a:srgbClr val="66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Verdana" pitchFamily="34" charset="0"/>
                </a:rPr>
                <a:t>CE</a:t>
              </a:r>
            </a:p>
          </p:txBody>
        </p:sp>
        <p:sp>
          <p:nvSpPr>
            <p:cNvPr id="1008688" name="Text Box 48"/>
            <p:cNvSpPr txBox="1">
              <a:spLocks noChangeArrowheads="1"/>
            </p:cNvSpPr>
            <p:nvPr/>
          </p:nvSpPr>
          <p:spPr bwMode="auto">
            <a:xfrm>
              <a:off x="6477000" y="4876800"/>
              <a:ext cx="635000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sz="1200" b="1"/>
                <a:t>Leaf</a:t>
              </a:r>
            </a:p>
          </p:txBody>
        </p:sp>
      </p:grpSp>
      <p:sp>
        <p:nvSpPr>
          <p:cNvPr id="1008689" name="Rectangle 49"/>
          <p:cNvSpPr>
            <a:spLocks noChangeArrowheads="1"/>
          </p:cNvSpPr>
          <p:nvPr/>
        </p:nvSpPr>
        <p:spPr bwMode="auto">
          <a:xfrm>
            <a:off x="196850" y="6096000"/>
            <a:ext cx="8718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400" b="1" dirty="0"/>
              <a:t>See examples at the end of presentation.  E-Tree is referenced in MEF 10.1 as Rooted-Multipoint EVC.</a:t>
            </a:r>
          </a:p>
        </p:txBody>
      </p:sp>
      <p:sp>
        <p:nvSpPr>
          <p:cNvPr id="51" name="Slide Number Placeholder 5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09135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6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081963" cy="685800"/>
          </a:xfrm>
        </p:spPr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END OF SESSION 2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008677" name="Rectangle 37"/>
          <p:cNvSpPr>
            <a:spLocks noChangeArrowheads="1"/>
          </p:cNvSpPr>
          <p:nvPr/>
        </p:nvSpPr>
        <p:spPr bwMode="auto">
          <a:xfrm>
            <a:off x="0" y="2433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" name="Slide Number Placeholder 5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75488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5929</TotalTime>
  <Words>2984</Words>
  <Application>Microsoft Office PowerPoint</Application>
  <PresentationFormat>On-screen Show (4:3)</PresentationFormat>
  <Paragraphs>610</Paragraphs>
  <Slides>46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Civic</vt:lpstr>
      <vt:lpstr>Advanced Network Design EETS8332</vt:lpstr>
      <vt:lpstr>Optical Transport Network (OTN)</vt:lpstr>
      <vt:lpstr>Optical Transport Network (OTN)</vt:lpstr>
      <vt:lpstr>Optical Transport Network (OTN)</vt:lpstr>
      <vt:lpstr>Optical Transport Network (OTN)</vt:lpstr>
      <vt:lpstr>Optical Transport Network (OTN)</vt:lpstr>
      <vt:lpstr>OTN Hierarchy</vt:lpstr>
      <vt:lpstr>OTN Hierarchy</vt:lpstr>
      <vt:lpstr>OTN Hierarchy</vt:lpstr>
      <vt:lpstr>OTN Hierarchy</vt:lpstr>
      <vt:lpstr>Optical Transport Network (OTN) Hierarchy</vt:lpstr>
      <vt:lpstr>Optical Transport Network (OTN)  Hierarchy Added in 2009</vt:lpstr>
      <vt:lpstr>What is MPLS?</vt:lpstr>
      <vt:lpstr>What is MPLS?</vt:lpstr>
      <vt:lpstr>What is MPLS?</vt:lpstr>
      <vt:lpstr>What is MPLS?</vt:lpstr>
      <vt:lpstr>What is MPLS?</vt:lpstr>
      <vt:lpstr>MPLS Motivation</vt:lpstr>
      <vt:lpstr>Some MPLS Benefits</vt:lpstr>
      <vt:lpstr>Some MPLS Benefits</vt:lpstr>
      <vt:lpstr>MPLS and OSI Model  (MPLS is a “Layer 2.5” protocol)</vt:lpstr>
      <vt:lpstr>Label Switching</vt:lpstr>
      <vt:lpstr>Labels are not new!</vt:lpstr>
      <vt:lpstr>Label Swapping</vt:lpstr>
      <vt:lpstr>MPLS</vt:lpstr>
      <vt:lpstr>Terminology</vt:lpstr>
      <vt:lpstr>FEC</vt:lpstr>
      <vt:lpstr>Label Process</vt:lpstr>
      <vt:lpstr>How does it work?</vt:lpstr>
      <vt:lpstr>MPLS Operation</vt:lpstr>
      <vt:lpstr>MPLS Example:  Forwarding Packets</vt:lpstr>
      <vt:lpstr>Label Stacking</vt:lpstr>
      <vt:lpstr>Packet Forwarding (Again)</vt:lpstr>
      <vt:lpstr>Ethernet</vt:lpstr>
      <vt:lpstr>Carrier Ethernet</vt:lpstr>
      <vt:lpstr>Carrier Ethernet</vt:lpstr>
      <vt:lpstr>Carrier Ethernet Scope and Reach</vt:lpstr>
      <vt:lpstr>Metro Ethernet Forum (MEF)</vt:lpstr>
      <vt:lpstr>MEF Carrier Ethernet Terminology</vt:lpstr>
      <vt:lpstr>MEF Carrier Ethernet Terminology</vt:lpstr>
      <vt:lpstr>Carrier Ethernet: Two Service Types Using EVCs</vt:lpstr>
      <vt:lpstr>Services Using E-Line Service Type</vt:lpstr>
      <vt:lpstr>Services Using E-Line Service Type</vt:lpstr>
      <vt:lpstr>Services Using E-LAN Service Type</vt:lpstr>
      <vt:lpstr>Services Using E-Tree Service Type</vt:lpstr>
      <vt:lpstr>END OF SESSION 2</vt:lpstr>
    </vt:vector>
  </TitlesOfParts>
  <Company>DeVry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Telecommunications  EETS7301</dc:title>
  <dc:creator>devry</dc:creator>
  <cp:lastModifiedBy>Marlin Kingsley</cp:lastModifiedBy>
  <cp:revision>109</cp:revision>
  <cp:lastPrinted>2012-06-05T19:21:58Z</cp:lastPrinted>
  <dcterms:created xsi:type="dcterms:W3CDTF">2011-08-14T16:57:04Z</dcterms:created>
  <dcterms:modified xsi:type="dcterms:W3CDTF">2015-01-28T02:27:38Z</dcterms:modified>
</cp:coreProperties>
</file>