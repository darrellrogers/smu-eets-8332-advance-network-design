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wav" ContentType="audio/x-wav"/>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108"/>
  </p:notesMasterIdLst>
  <p:handoutMasterIdLst>
    <p:handoutMasterId r:id="rId109"/>
  </p:handoutMasterIdLst>
  <p:sldIdLst>
    <p:sldId id="512" r:id="rId2"/>
    <p:sldId id="515" r:id="rId3"/>
    <p:sldId id="518" r:id="rId4"/>
    <p:sldId id="516" r:id="rId5"/>
    <p:sldId id="519" r:id="rId6"/>
    <p:sldId id="520" r:id="rId7"/>
    <p:sldId id="521" r:id="rId8"/>
    <p:sldId id="667" r:id="rId9"/>
    <p:sldId id="668" r:id="rId10"/>
    <p:sldId id="669" r:id="rId11"/>
    <p:sldId id="670" r:id="rId12"/>
    <p:sldId id="671" r:id="rId13"/>
    <p:sldId id="672" r:id="rId14"/>
    <p:sldId id="673" r:id="rId15"/>
    <p:sldId id="674" r:id="rId16"/>
    <p:sldId id="675" r:id="rId17"/>
    <p:sldId id="678" r:id="rId18"/>
    <p:sldId id="676" r:id="rId19"/>
    <p:sldId id="677" r:id="rId20"/>
    <p:sldId id="679" r:id="rId21"/>
    <p:sldId id="680" r:id="rId22"/>
    <p:sldId id="686" r:id="rId23"/>
    <p:sldId id="687" r:id="rId24"/>
    <p:sldId id="688" r:id="rId25"/>
    <p:sldId id="689" r:id="rId26"/>
    <p:sldId id="690" r:id="rId27"/>
    <p:sldId id="691" r:id="rId28"/>
    <p:sldId id="692" r:id="rId29"/>
    <p:sldId id="693" r:id="rId30"/>
    <p:sldId id="694" r:id="rId31"/>
    <p:sldId id="685" r:id="rId32"/>
    <p:sldId id="695" r:id="rId33"/>
    <p:sldId id="681" r:id="rId34"/>
    <p:sldId id="682" r:id="rId35"/>
    <p:sldId id="683" r:id="rId36"/>
    <p:sldId id="531" r:id="rId37"/>
    <p:sldId id="532" r:id="rId38"/>
    <p:sldId id="666" r:id="rId39"/>
    <p:sldId id="533" r:id="rId40"/>
    <p:sldId id="551" r:id="rId41"/>
    <p:sldId id="696" r:id="rId42"/>
    <p:sldId id="552" r:id="rId43"/>
    <p:sldId id="553" r:id="rId44"/>
    <p:sldId id="554" r:id="rId45"/>
    <p:sldId id="555" r:id="rId46"/>
    <p:sldId id="556" r:id="rId47"/>
    <p:sldId id="568" r:id="rId48"/>
    <p:sldId id="569" r:id="rId49"/>
    <p:sldId id="570" r:id="rId50"/>
    <p:sldId id="571" r:id="rId51"/>
    <p:sldId id="572" r:id="rId52"/>
    <p:sldId id="573" r:id="rId53"/>
    <p:sldId id="574" r:id="rId54"/>
    <p:sldId id="697" r:id="rId55"/>
    <p:sldId id="698" r:id="rId56"/>
    <p:sldId id="699" r:id="rId57"/>
    <p:sldId id="700" r:id="rId58"/>
    <p:sldId id="701" r:id="rId59"/>
    <p:sldId id="702" r:id="rId60"/>
    <p:sldId id="703" r:id="rId61"/>
    <p:sldId id="705" r:id="rId62"/>
    <p:sldId id="704" r:id="rId63"/>
    <p:sldId id="706" r:id="rId64"/>
    <p:sldId id="707" r:id="rId65"/>
    <p:sldId id="708" r:id="rId66"/>
    <p:sldId id="712" r:id="rId67"/>
    <p:sldId id="714" r:id="rId68"/>
    <p:sldId id="713" r:id="rId69"/>
    <p:sldId id="710" r:id="rId70"/>
    <p:sldId id="584" r:id="rId71"/>
    <p:sldId id="711" r:id="rId72"/>
    <p:sldId id="585" r:id="rId73"/>
    <p:sldId id="587" r:id="rId74"/>
    <p:sldId id="588" r:id="rId75"/>
    <p:sldId id="616" r:id="rId76"/>
    <p:sldId id="617" r:id="rId77"/>
    <p:sldId id="619" r:id="rId78"/>
    <p:sldId id="622" r:id="rId79"/>
    <p:sldId id="624" r:id="rId80"/>
    <p:sldId id="625" r:id="rId81"/>
    <p:sldId id="627" r:id="rId82"/>
    <p:sldId id="628" r:id="rId83"/>
    <p:sldId id="629" r:id="rId84"/>
    <p:sldId id="630" r:id="rId85"/>
    <p:sldId id="633" r:id="rId86"/>
    <p:sldId id="638" r:id="rId87"/>
    <p:sldId id="715" r:id="rId88"/>
    <p:sldId id="716" r:id="rId89"/>
    <p:sldId id="717" r:id="rId90"/>
    <p:sldId id="639" r:id="rId91"/>
    <p:sldId id="640" r:id="rId92"/>
    <p:sldId id="641" r:id="rId93"/>
    <p:sldId id="644" r:id="rId94"/>
    <p:sldId id="719" r:id="rId95"/>
    <p:sldId id="721" r:id="rId96"/>
    <p:sldId id="723" r:id="rId97"/>
    <p:sldId id="724" r:id="rId98"/>
    <p:sldId id="725" r:id="rId99"/>
    <p:sldId id="726" r:id="rId100"/>
    <p:sldId id="727" r:id="rId101"/>
    <p:sldId id="728" r:id="rId102"/>
    <p:sldId id="729" r:id="rId103"/>
    <p:sldId id="730" r:id="rId104"/>
    <p:sldId id="718" r:id="rId105"/>
    <p:sldId id="720" r:id="rId106"/>
    <p:sldId id="731" r:id="rId107"/>
  </p:sldIdLst>
  <p:sldSz cx="9144000" cy="6858000" type="screen4x3"/>
  <p:notesSz cx="6858000" cy="91440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04">
          <p15:clr>
            <a:srgbClr val="A4A3A4"/>
          </p15:clr>
        </p15:guide>
        <p15:guide id="3" orient="horz" pos="4136">
          <p15:clr>
            <a:srgbClr val="A4A3A4"/>
          </p15:clr>
        </p15:guide>
        <p15:guide id="4" pos="2880">
          <p15:clr>
            <a:srgbClr val="A4A3A4"/>
          </p15:clr>
        </p15:guide>
        <p15:guide id="5" pos="144">
          <p15:clr>
            <a:srgbClr val="A4A3A4"/>
          </p15:clr>
        </p15:guide>
        <p15:guide id="6" pos="556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EA6A"/>
    <a:srgbClr val="16DE0C"/>
    <a:srgbClr val="FFFF00"/>
    <a:srgbClr val="1F09BF"/>
    <a:srgbClr val="FBFBFB"/>
    <a:srgbClr val="2A3A68"/>
    <a:srgbClr val="FFFFFF"/>
    <a:srgbClr val="FFFFCC"/>
    <a:srgbClr val="CC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32" autoAdjust="0"/>
    <p:restoredTop sz="83759" autoAdjust="0"/>
  </p:normalViewPr>
  <p:slideViewPr>
    <p:cSldViewPr>
      <p:cViewPr varScale="1">
        <p:scale>
          <a:sx n="83" d="100"/>
          <a:sy n="83" d="100"/>
        </p:scale>
        <p:origin x="1613" y="82"/>
      </p:cViewPr>
      <p:guideLst>
        <p:guide orient="horz" pos="2160"/>
        <p:guide orient="horz" pos="4004"/>
        <p:guide orient="horz" pos="4136"/>
        <p:guide pos="2880"/>
        <p:guide pos="144"/>
        <p:guide pos="5568"/>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0" d="100"/>
          <a:sy n="120" d="100"/>
        </p:scale>
        <p:origin x="-1472" y="-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6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dirty="0"/>
          </a:p>
        </p:txBody>
      </p:sp>
      <p:sp>
        <p:nvSpPr>
          <p:cNvPr id="8909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dirty="0"/>
          </a:p>
        </p:txBody>
      </p:sp>
      <p:sp>
        <p:nvSpPr>
          <p:cNvPr id="8909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dirty="0"/>
          </a:p>
        </p:txBody>
      </p:sp>
      <p:sp>
        <p:nvSpPr>
          <p:cNvPr id="8909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8B8FAEF-4EC0-46B6-842C-DD1E8A8FDD9A}" type="slidenum">
              <a:rPr lang="en-US"/>
              <a:pPr/>
              <a:t>‹#›</a:t>
            </a:fld>
            <a:endParaRPr lang="en-US" dirty="0"/>
          </a:p>
        </p:txBody>
      </p:sp>
    </p:spTree>
    <p:extLst>
      <p:ext uri="{BB962C8B-B14F-4D97-AF65-F5344CB8AC3E}">
        <p14:creationId xmlns:p14="http://schemas.microsoft.com/office/powerpoint/2010/main" val="21013833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vl1pPr>
          </a:lstStyle>
          <a:p>
            <a:endParaRPr lang="en-US" dirty="0"/>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vl1pPr>
          </a:lstStyle>
          <a:p>
            <a:endParaRPr lang="en-US" dirty="0"/>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vl1pPr>
          </a:lstStyle>
          <a:p>
            <a:endParaRPr lang="en-US" dirty="0"/>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461950BF-5E6A-4CD6-97CF-B82A16459836}" type="slidenum">
              <a:rPr lang="en-US"/>
              <a:pPr/>
              <a:t>‹#›</a:t>
            </a:fld>
            <a:endParaRPr lang="en-US" dirty="0"/>
          </a:p>
        </p:txBody>
      </p:sp>
    </p:spTree>
    <p:extLst>
      <p:ext uri="{BB962C8B-B14F-4D97-AF65-F5344CB8AC3E}">
        <p14:creationId xmlns:p14="http://schemas.microsoft.com/office/powerpoint/2010/main" val="292270770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0</a:t>
            </a:fld>
            <a:endParaRPr lang="en-US" dirty="0"/>
          </a:p>
        </p:txBody>
      </p:sp>
    </p:spTree>
    <p:extLst>
      <p:ext uri="{BB962C8B-B14F-4D97-AF65-F5344CB8AC3E}">
        <p14:creationId xmlns:p14="http://schemas.microsoft.com/office/powerpoint/2010/main" val="1290190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29</a:t>
            </a:fld>
            <a:endParaRPr lang="en-US" dirty="0"/>
          </a:p>
        </p:txBody>
      </p:sp>
    </p:spTree>
    <p:extLst>
      <p:ext uri="{BB962C8B-B14F-4D97-AF65-F5344CB8AC3E}">
        <p14:creationId xmlns:p14="http://schemas.microsoft.com/office/powerpoint/2010/main" val="2971899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F558EB20-A704-47D1-84F8-F873512CD0D0}" type="slidenum">
              <a:rPr lang="en-GB" altLang="en-US" sz="1200" b="0" smtClean="0"/>
              <a:pPr/>
              <a:t>54</a:t>
            </a:fld>
            <a:endParaRPr lang="en-GB" altLang="en-US" sz="1200" b="0" smtClean="0"/>
          </a:p>
        </p:txBody>
      </p:sp>
      <p:sp>
        <p:nvSpPr>
          <p:cNvPr id="100355" name="Rectangle 2"/>
          <p:cNvSpPr>
            <a:spLocks noGrp="1" noRot="1" noChangeAspect="1" noChangeArrowheads="1" noTextEdit="1"/>
          </p:cNvSpPr>
          <p:nvPr>
            <p:ph type="sldImg"/>
          </p:nvPr>
        </p:nvSpPr>
        <p:spPr>
          <a:xfrm>
            <a:off x="1287463" y="946150"/>
            <a:ext cx="4532312" cy="3398838"/>
          </a:xfrm>
          <a:noFill/>
          <a:ln cap="flat"/>
        </p:spPr>
      </p:sp>
      <p:sp>
        <p:nvSpPr>
          <p:cNvPr id="100356" name="Rectangle 3"/>
          <p:cNvSpPr>
            <a:spLocks noGrp="1" noChangeArrowheads="1"/>
          </p:cNvSpPr>
          <p:nvPr>
            <p:ph type="body" idx="1"/>
          </p:nvPr>
        </p:nvSpPr>
        <p:spPr>
          <a:xfrm>
            <a:off x="946150" y="4522788"/>
            <a:ext cx="5213350" cy="5203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Tree>
    <p:extLst>
      <p:ext uri="{BB962C8B-B14F-4D97-AF65-F5344CB8AC3E}">
        <p14:creationId xmlns:p14="http://schemas.microsoft.com/office/powerpoint/2010/main" val="322075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EB912A1C-983E-4B71-8FBE-E46FE32348C9}" type="slidenum">
              <a:rPr lang="en-GB" altLang="en-US" sz="1200" b="0" smtClean="0"/>
              <a:pPr/>
              <a:t>55</a:t>
            </a:fld>
            <a:endParaRPr lang="en-GB" altLang="en-US" sz="1200" b="0" smtClean="0"/>
          </a:p>
        </p:txBody>
      </p:sp>
      <p:sp>
        <p:nvSpPr>
          <p:cNvPr id="102403" name="Rectangle 2"/>
          <p:cNvSpPr>
            <a:spLocks noGrp="1" noRot="1" noChangeAspect="1" noChangeArrowheads="1" noTextEdit="1"/>
          </p:cNvSpPr>
          <p:nvPr>
            <p:ph type="sldImg"/>
          </p:nvPr>
        </p:nvSpPr>
        <p:spPr>
          <a:xfrm>
            <a:off x="1287463" y="946150"/>
            <a:ext cx="4532312" cy="3398838"/>
          </a:xfrm>
          <a:noFill/>
          <a:ln cap="flat"/>
        </p:spPr>
      </p:sp>
      <p:sp>
        <p:nvSpPr>
          <p:cNvPr id="102404" name="Rectangle 3"/>
          <p:cNvSpPr>
            <a:spLocks noGrp="1" noChangeArrowheads="1"/>
          </p:cNvSpPr>
          <p:nvPr>
            <p:ph type="body" idx="1"/>
          </p:nvPr>
        </p:nvSpPr>
        <p:spPr>
          <a:xfrm>
            <a:off x="946150" y="4522788"/>
            <a:ext cx="5213350" cy="5203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Tree>
    <p:extLst>
      <p:ext uri="{BB962C8B-B14F-4D97-AF65-F5344CB8AC3E}">
        <p14:creationId xmlns:p14="http://schemas.microsoft.com/office/powerpoint/2010/main" val="3060589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D24A5083-114E-4D04-A9D6-4EC22C457F34}" type="slidenum">
              <a:rPr lang="en-GB" altLang="en-US" sz="1200" b="0" smtClean="0"/>
              <a:pPr/>
              <a:t>56</a:t>
            </a:fld>
            <a:endParaRPr lang="en-GB" altLang="en-US" sz="1200" b="0" smtClean="0"/>
          </a:p>
        </p:txBody>
      </p:sp>
      <p:sp>
        <p:nvSpPr>
          <p:cNvPr id="104451" name="Rectangle 2"/>
          <p:cNvSpPr>
            <a:spLocks noGrp="1" noRot="1" noChangeAspect="1" noChangeArrowheads="1" noTextEdit="1"/>
          </p:cNvSpPr>
          <p:nvPr>
            <p:ph type="sldImg"/>
          </p:nvPr>
        </p:nvSpPr>
        <p:spPr>
          <a:xfrm>
            <a:off x="1287463" y="946150"/>
            <a:ext cx="4532312" cy="3398838"/>
          </a:xfrm>
          <a:noFill/>
          <a:ln cap="flat"/>
        </p:spPr>
      </p:sp>
      <p:sp>
        <p:nvSpPr>
          <p:cNvPr id="104452" name="Rectangle 3"/>
          <p:cNvSpPr>
            <a:spLocks noGrp="1" noChangeArrowheads="1"/>
          </p:cNvSpPr>
          <p:nvPr>
            <p:ph type="body" idx="1"/>
          </p:nvPr>
        </p:nvSpPr>
        <p:spPr>
          <a:xfrm>
            <a:off x="946150" y="4522788"/>
            <a:ext cx="5213350" cy="5203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Tree>
    <p:extLst>
      <p:ext uri="{BB962C8B-B14F-4D97-AF65-F5344CB8AC3E}">
        <p14:creationId xmlns:p14="http://schemas.microsoft.com/office/powerpoint/2010/main" val="1027095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EB36B52A-DEF0-4C83-9B1B-8F1D6B9ED881}" type="slidenum">
              <a:rPr lang="en-GB" altLang="en-US" sz="1200" b="0" smtClean="0"/>
              <a:pPr/>
              <a:t>57</a:t>
            </a:fld>
            <a:endParaRPr lang="en-GB" altLang="en-US" sz="1200" b="0" smtClean="0"/>
          </a:p>
        </p:txBody>
      </p:sp>
      <p:sp>
        <p:nvSpPr>
          <p:cNvPr id="106499" name="Rectangle 2"/>
          <p:cNvSpPr>
            <a:spLocks noGrp="1" noChangeArrowheads="1"/>
          </p:cNvSpPr>
          <p:nvPr>
            <p:ph type="body" idx="1"/>
          </p:nvPr>
        </p:nvSpPr>
        <p:spPr>
          <a:xfrm>
            <a:off x="946150" y="4522788"/>
            <a:ext cx="5213350" cy="5203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06500" name="Rectangle 3"/>
          <p:cNvSpPr>
            <a:spLocks noGrp="1" noRot="1" noChangeAspect="1" noChangeArrowheads="1" noTextEdit="1"/>
          </p:cNvSpPr>
          <p:nvPr>
            <p:ph type="sldImg"/>
          </p:nvPr>
        </p:nvSpPr>
        <p:spPr>
          <a:xfrm>
            <a:off x="1287463" y="946150"/>
            <a:ext cx="4532312" cy="3398838"/>
          </a:xfrm>
          <a:noFill/>
          <a:ln cap="flat"/>
        </p:spPr>
      </p:sp>
    </p:spTree>
    <p:extLst>
      <p:ext uri="{BB962C8B-B14F-4D97-AF65-F5344CB8AC3E}">
        <p14:creationId xmlns:p14="http://schemas.microsoft.com/office/powerpoint/2010/main" val="1497627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DA768B47-BDFF-49E6-BA4C-7FCDEFC244B7}" type="slidenum">
              <a:rPr lang="en-GB" altLang="en-US" sz="1200" b="0" smtClean="0"/>
              <a:pPr/>
              <a:t>58</a:t>
            </a:fld>
            <a:endParaRPr lang="en-GB" altLang="en-US" sz="1200" b="0" smtClean="0"/>
          </a:p>
        </p:txBody>
      </p:sp>
      <p:sp>
        <p:nvSpPr>
          <p:cNvPr id="108547" name="Rectangle 2"/>
          <p:cNvSpPr>
            <a:spLocks noGrp="1" noRot="1" noChangeAspect="1" noChangeArrowheads="1" noTextEdit="1"/>
          </p:cNvSpPr>
          <p:nvPr>
            <p:ph type="sldImg"/>
          </p:nvPr>
        </p:nvSpPr>
        <p:spPr>
          <a:xfrm>
            <a:off x="1287463" y="946150"/>
            <a:ext cx="4532312" cy="3398838"/>
          </a:xfrm>
          <a:noFill/>
          <a:ln cap="flat"/>
        </p:spPr>
      </p:sp>
      <p:sp>
        <p:nvSpPr>
          <p:cNvPr id="108548" name="Rectangle 3"/>
          <p:cNvSpPr>
            <a:spLocks noGrp="1" noChangeArrowheads="1"/>
          </p:cNvSpPr>
          <p:nvPr>
            <p:ph type="body" idx="1"/>
          </p:nvPr>
        </p:nvSpPr>
        <p:spPr>
          <a:xfrm>
            <a:off x="946150" y="4522788"/>
            <a:ext cx="5213350" cy="5203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Tree>
    <p:extLst>
      <p:ext uri="{BB962C8B-B14F-4D97-AF65-F5344CB8AC3E}">
        <p14:creationId xmlns:p14="http://schemas.microsoft.com/office/powerpoint/2010/main" val="3335993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75C4737-1816-49DF-A774-BDFC0160008D}" type="slidenum">
              <a:rPr lang="en-GB" altLang="en-US" sz="1200" b="0" smtClean="0"/>
              <a:pPr/>
              <a:t>59</a:t>
            </a:fld>
            <a:endParaRPr lang="en-GB" altLang="en-US" sz="1200" b="0" smtClean="0"/>
          </a:p>
        </p:txBody>
      </p:sp>
      <p:sp>
        <p:nvSpPr>
          <p:cNvPr id="110595" name="Rectangle 2"/>
          <p:cNvSpPr>
            <a:spLocks noGrp="1" noChangeArrowheads="1"/>
          </p:cNvSpPr>
          <p:nvPr>
            <p:ph type="body" idx="1"/>
          </p:nvPr>
        </p:nvSpPr>
        <p:spPr>
          <a:xfrm>
            <a:off x="946150" y="4522788"/>
            <a:ext cx="5213350" cy="5203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10596" name="Rectangle 3"/>
          <p:cNvSpPr>
            <a:spLocks noGrp="1" noRot="1" noChangeAspect="1" noChangeArrowheads="1" noTextEdit="1"/>
          </p:cNvSpPr>
          <p:nvPr>
            <p:ph type="sldImg"/>
          </p:nvPr>
        </p:nvSpPr>
        <p:spPr>
          <a:xfrm>
            <a:off x="1287463" y="946150"/>
            <a:ext cx="4532312" cy="3398838"/>
          </a:xfrm>
          <a:noFill/>
          <a:ln cap="flat"/>
        </p:spPr>
      </p:sp>
    </p:spTree>
    <p:extLst>
      <p:ext uri="{BB962C8B-B14F-4D97-AF65-F5344CB8AC3E}">
        <p14:creationId xmlns:p14="http://schemas.microsoft.com/office/powerpoint/2010/main" val="977185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45C3FCF-C923-431D-9770-C19146EA47F3}" type="slidenum">
              <a:rPr lang="en-GB" altLang="en-US" sz="1200" b="0" smtClean="0"/>
              <a:pPr/>
              <a:t>60</a:t>
            </a:fld>
            <a:endParaRPr lang="en-GB" altLang="en-US" sz="1200" b="0" smtClean="0"/>
          </a:p>
        </p:txBody>
      </p:sp>
      <p:sp>
        <p:nvSpPr>
          <p:cNvPr id="114691" name="Rectangle 2"/>
          <p:cNvSpPr>
            <a:spLocks noGrp="1" noRot="1" noChangeAspect="1" noChangeArrowheads="1" noTextEdit="1"/>
          </p:cNvSpPr>
          <p:nvPr>
            <p:ph type="sldImg"/>
          </p:nvPr>
        </p:nvSpPr>
        <p:spPr>
          <a:xfrm>
            <a:off x="1287463" y="946150"/>
            <a:ext cx="4532312" cy="3398838"/>
          </a:xfrm>
          <a:noFill/>
          <a:ln cap="flat"/>
        </p:spPr>
      </p:sp>
      <p:sp>
        <p:nvSpPr>
          <p:cNvPr id="114692" name="Rectangle 3"/>
          <p:cNvSpPr>
            <a:spLocks noGrp="1" noChangeArrowheads="1"/>
          </p:cNvSpPr>
          <p:nvPr>
            <p:ph type="body" idx="1"/>
          </p:nvPr>
        </p:nvSpPr>
        <p:spPr>
          <a:xfrm>
            <a:off x="946150" y="4522788"/>
            <a:ext cx="5213350" cy="5203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Tree>
    <p:extLst>
      <p:ext uri="{BB962C8B-B14F-4D97-AF65-F5344CB8AC3E}">
        <p14:creationId xmlns:p14="http://schemas.microsoft.com/office/powerpoint/2010/main" val="42120268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E8695C91-1A65-4973-AD79-2F7E015139E7}" type="slidenum">
              <a:rPr lang="en-GB" altLang="en-US" sz="1200" b="0" smtClean="0"/>
              <a:pPr/>
              <a:t>61</a:t>
            </a:fld>
            <a:endParaRPr lang="en-GB" altLang="en-US" sz="1200" b="0" smtClean="0"/>
          </a:p>
        </p:txBody>
      </p:sp>
      <p:sp>
        <p:nvSpPr>
          <p:cNvPr id="112643" name="Rectangle 2"/>
          <p:cNvSpPr>
            <a:spLocks noGrp="1" noRot="1" noChangeAspect="1" noChangeArrowheads="1" noTextEdit="1"/>
          </p:cNvSpPr>
          <p:nvPr>
            <p:ph type="sldImg"/>
          </p:nvPr>
        </p:nvSpPr>
        <p:spPr>
          <a:xfrm>
            <a:off x="1287463" y="946150"/>
            <a:ext cx="4532312" cy="3398838"/>
          </a:xfrm>
          <a:noFill/>
          <a:ln cap="flat"/>
        </p:spPr>
      </p:sp>
      <p:sp>
        <p:nvSpPr>
          <p:cNvPr id="112644" name="Rectangle 3"/>
          <p:cNvSpPr>
            <a:spLocks noGrp="1" noChangeArrowheads="1"/>
          </p:cNvSpPr>
          <p:nvPr>
            <p:ph type="body" idx="1"/>
          </p:nvPr>
        </p:nvSpPr>
        <p:spPr>
          <a:xfrm>
            <a:off x="946150" y="4522788"/>
            <a:ext cx="5213350" cy="5203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Tree>
    <p:extLst>
      <p:ext uri="{BB962C8B-B14F-4D97-AF65-F5344CB8AC3E}">
        <p14:creationId xmlns:p14="http://schemas.microsoft.com/office/powerpoint/2010/main" val="4168055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CDD77B41-4352-40A0-8488-C7F8FC07A228}" type="slidenum">
              <a:rPr lang="en-GB" altLang="en-US" sz="1200" b="0" smtClean="0"/>
              <a:pPr/>
              <a:t>63</a:t>
            </a:fld>
            <a:endParaRPr lang="en-GB" altLang="en-US" sz="1200" b="0" smtClean="0"/>
          </a:p>
        </p:txBody>
      </p:sp>
      <p:sp>
        <p:nvSpPr>
          <p:cNvPr id="117763" name="Rectangle 2"/>
          <p:cNvSpPr>
            <a:spLocks noGrp="1" noChangeArrowheads="1"/>
          </p:cNvSpPr>
          <p:nvPr>
            <p:ph type="body" idx="1"/>
          </p:nvPr>
        </p:nvSpPr>
        <p:spPr>
          <a:xfrm>
            <a:off x="946150" y="4522788"/>
            <a:ext cx="5213350" cy="5203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17764" name="Rectangle 3"/>
          <p:cNvSpPr>
            <a:spLocks noGrp="1" noRot="1" noChangeAspect="1" noChangeArrowheads="1" noTextEdit="1"/>
          </p:cNvSpPr>
          <p:nvPr>
            <p:ph type="sldImg"/>
          </p:nvPr>
        </p:nvSpPr>
        <p:spPr>
          <a:xfrm>
            <a:off x="1271588" y="931863"/>
            <a:ext cx="4551362" cy="3413125"/>
          </a:xfrm>
          <a:noFill/>
          <a:ln cap="flat"/>
        </p:spPr>
      </p:sp>
    </p:spTree>
    <p:extLst>
      <p:ext uri="{BB962C8B-B14F-4D97-AF65-F5344CB8AC3E}">
        <p14:creationId xmlns:p14="http://schemas.microsoft.com/office/powerpoint/2010/main" val="765296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DA772622-CCE2-463F-92B2-66C2A62A9332}" type="slidenum">
              <a:rPr lang="en-GB" altLang="en-US" sz="1200" b="0" smtClean="0"/>
              <a:pPr/>
              <a:t>64</a:t>
            </a:fld>
            <a:endParaRPr lang="en-GB" altLang="en-US" sz="1200" b="0" smtClean="0"/>
          </a:p>
        </p:txBody>
      </p:sp>
      <p:sp>
        <p:nvSpPr>
          <p:cNvPr id="119811" name="Rectangle 2"/>
          <p:cNvSpPr>
            <a:spLocks noGrp="1" noRot="1" noChangeAspect="1" noChangeArrowheads="1" noTextEdit="1"/>
          </p:cNvSpPr>
          <p:nvPr>
            <p:ph type="sldImg"/>
          </p:nvPr>
        </p:nvSpPr>
        <p:spPr>
          <a:xfrm>
            <a:off x="1271588" y="931863"/>
            <a:ext cx="4551362" cy="3413125"/>
          </a:xfrm>
          <a:noFill/>
          <a:ln cap="flat"/>
        </p:spPr>
      </p:sp>
      <p:sp>
        <p:nvSpPr>
          <p:cNvPr id="119812" name="Rectangle 3"/>
          <p:cNvSpPr>
            <a:spLocks noGrp="1" noChangeArrowheads="1"/>
          </p:cNvSpPr>
          <p:nvPr>
            <p:ph type="body" idx="1"/>
          </p:nvPr>
        </p:nvSpPr>
        <p:spPr>
          <a:xfrm>
            <a:off x="946150" y="4522788"/>
            <a:ext cx="5213350" cy="5203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Tree>
    <p:extLst>
      <p:ext uri="{BB962C8B-B14F-4D97-AF65-F5344CB8AC3E}">
        <p14:creationId xmlns:p14="http://schemas.microsoft.com/office/powerpoint/2010/main" val="2843288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046AF9EE-4514-4CEC-8464-09CEDAE447DB}" type="slidenum">
              <a:rPr lang="en-GB" altLang="en-US" sz="1200" b="0" smtClean="0"/>
              <a:pPr/>
              <a:t>74</a:t>
            </a:fld>
            <a:endParaRPr lang="en-GB" altLang="en-US" sz="1200" b="0" smtClean="0"/>
          </a:p>
        </p:txBody>
      </p:sp>
      <p:sp>
        <p:nvSpPr>
          <p:cNvPr id="1218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21860" name="Rectangle 3"/>
          <p:cNvSpPr>
            <a:spLocks noGrp="1" noRot="1" noChangeAspect="1" noChangeArrowheads="1" noTextEdit="1"/>
          </p:cNvSpPr>
          <p:nvPr>
            <p:ph type="sldImg"/>
          </p:nvPr>
        </p:nvSpPr>
        <p:spPr>
          <a:xfrm>
            <a:off x="1249363" y="511175"/>
            <a:ext cx="4551362" cy="3413125"/>
          </a:xfrm>
          <a:noFill/>
          <a:ln w="12700" cap="flat"/>
        </p:spPr>
      </p:sp>
    </p:spTree>
    <p:extLst>
      <p:ext uri="{BB962C8B-B14F-4D97-AF65-F5344CB8AC3E}">
        <p14:creationId xmlns:p14="http://schemas.microsoft.com/office/powerpoint/2010/main" val="2378054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54DA849A-E814-4A20-828E-47D44C4D5C3D}" type="slidenum">
              <a:rPr lang="en-GB" altLang="en-US" sz="1200" b="0" smtClean="0"/>
              <a:pPr/>
              <a:t>75</a:t>
            </a:fld>
            <a:endParaRPr lang="en-GB" altLang="en-US" sz="1200" b="0" smtClean="0"/>
          </a:p>
        </p:txBody>
      </p:sp>
      <p:sp>
        <p:nvSpPr>
          <p:cNvPr id="123907"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23908" name="Rectangle 3"/>
          <p:cNvSpPr>
            <a:spLocks noGrp="1" noRot="1" noChangeAspect="1" noChangeArrowheads="1" noTextEdit="1"/>
          </p:cNvSpPr>
          <p:nvPr>
            <p:ph type="sldImg"/>
          </p:nvPr>
        </p:nvSpPr>
        <p:spPr>
          <a:xfrm>
            <a:off x="1249363" y="511175"/>
            <a:ext cx="4551362" cy="3413125"/>
          </a:xfrm>
          <a:noFill/>
          <a:ln w="12700" cap="flat"/>
        </p:spPr>
      </p:sp>
    </p:spTree>
    <p:extLst>
      <p:ext uri="{BB962C8B-B14F-4D97-AF65-F5344CB8AC3E}">
        <p14:creationId xmlns:p14="http://schemas.microsoft.com/office/powerpoint/2010/main" val="21361225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74745297-328D-4B76-B7A3-3C0F62156C56}" type="slidenum">
              <a:rPr lang="en-GB" altLang="en-US" sz="1200" b="0" smtClean="0"/>
              <a:pPr/>
              <a:t>78</a:t>
            </a:fld>
            <a:endParaRPr lang="en-GB" altLang="en-US" sz="1200" b="0" smtClean="0"/>
          </a:p>
        </p:txBody>
      </p:sp>
      <p:sp>
        <p:nvSpPr>
          <p:cNvPr id="13312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33124" name="Rectangle 3"/>
          <p:cNvSpPr>
            <a:spLocks noGrp="1" noRot="1" noChangeAspect="1" noChangeArrowheads="1" noTextEdit="1"/>
          </p:cNvSpPr>
          <p:nvPr>
            <p:ph type="sldImg"/>
          </p:nvPr>
        </p:nvSpPr>
        <p:spPr>
          <a:xfrm>
            <a:off x="1249363" y="511175"/>
            <a:ext cx="4551362" cy="3413125"/>
          </a:xfrm>
          <a:noFill/>
          <a:ln w="12700" cap="flat"/>
        </p:spPr>
      </p:sp>
    </p:spTree>
    <p:extLst>
      <p:ext uri="{BB962C8B-B14F-4D97-AF65-F5344CB8AC3E}">
        <p14:creationId xmlns:p14="http://schemas.microsoft.com/office/powerpoint/2010/main" val="17386245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E95C6EB0-941B-4CD1-900C-EB5222BE3ABD}" type="slidenum">
              <a:rPr lang="en-GB" altLang="en-US" sz="1200" b="0" smtClean="0"/>
              <a:pPr/>
              <a:t>79</a:t>
            </a:fld>
            <a:endParaRPr lang="en-GB" altLang="en-US" sz="1200" b="0" smtClean="0"/>
          </a:p>
        </p:txBody>
      </p:sp>
      <p:sp>
        <p:nvSpPr>
          <p:cNvPr id="135171"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35172" name="Rectangle 3"/>
          <p:cNvSpPr>
            <a:spLocks noGrp="1" noRot="1" noChangeAspect="1" noChangeArrowheads="1" noTextEdit="1"/>
          </p:cNvSpPr>
          <p:nvPr>
            <p:ph type="sldImg"/>
          </p:nvPr>
        </p:nvSpPr>
        <p:spPr>
          <a:xfrm>
            <a:off x="1249363" y="511175"/>
            <a:ext cx="4551362" cy="3413125"/>
          </a:xfrm>
          <a:noFill/>
          <a:ln w="12700" cap="flat"/>
        </p:spPr>
      </p:sp>
    </p:spTree>
    <p:extLst>
      <p:ext uri="{BB962C8B-B14F-4D97-AF65-F5344CB8AC3E}">
        <p14:creationId xmlns:p14="http://schemas.microsoft.com/office/powerpoint/2010/main" val="40506994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31354A59-6CF4-4292-92CF-911F7AF9F41A}" type="slidenum">
              <a:rPr lang="en-GB" altLang="en-US" sz="1200" b="0" smtClean="0"/>
              <a:pPr/>
              <a:t>80</a:t>
            </a:fld>
            <a:endParaRPr lang="en-GB" altLang="en-US" sz="1200" b="0" smtClean="0"/>
          </a:p>
        </p:txBody>
      </p:sp>
      <p:sp>
        <p:nvSpPr>
          <p:cNvPr id="139267"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39268" name="Rectangle 3"/>
          <p:cNvSpPr>
            <a:spLocks noGrp="1" noRot="1" noChangeAspect="1" noChangeArrowheads="1" noTextEdit="1"/>
          </p:cNvSpPr>
          <p:nvPr>
            <p:ph type="sldImg"/>
          </p:nvPr>
        </p:nvSpPr>
        <p:spPr>
          <a:xfrm>
            <a:off x="1249363" y="511175"/>
            <a:ext cx="4551362" cy="3413125"/>
          </a:xfrm>
          <a:noFill/>
          <a:ln w="12700" cap="flat"/>
        </p:spPr>
      </p:sp>
    </p:spTree>
    <p:extLst>
      <p:ext uri="{BB962C8B-B14F-4D97-AF65-F5344CB8AC3E}">
        <p14:creationId xmlns:p14="http://schemas.microsoft.com/office/powerpoint/2010/main" val="1000963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90763427-B245-47C1-B7CF-1D0E61F6D08C}" type="slidenum">
              <a:rPr lang="en-GB" altLang="en-US" sz="1200" b="0" smtClean="0"/>
              <a:pPr/>
              <a:t>81</a:t>
            </a:fld>
            <a:endParaRPr lang="en-GB" altLang="en-US" sz="1200" b="0" smtClean="0"/>
          </a:p>
        </p:txBody>
      </p:sp>
      <p:sp>
        <p:nvSpPr>
          <p:cNvPr id="141315"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41316" name="Rectangle 3"/>
          <p:cNvSpPr>
            <a:spLocks noGrp="1" noRot="1" noChangeAspect="1" noChangeArrowheads="1" noTextEdit="1"/>
          </p:cNvSpPr>
          <p:nvPr>
            <p:ph type="sldImg"/>
          </p:nvPr>
        </p:nvSpPr>
        <p:spPr>
          <a:xfrm>
            <a:off x="1249363" y="511175"/>
            <a:ext cx="4551362" cy="3413125"/>
          </a:xfrm>
          <a:noFill/>
          <a:ln w="12700" cap="flat"/>
        </p:spPr>
      </p:sp>
    </p:spTree>
    <p:extLst>
      <p:ext uri="{BB962C8B-B14F-4D97-AF65-F5344CB8AC3E}">
        <p14:creationId xmlns:p14="http://schemas.microsoft.com/office/powerpoint/2010/main" val="1132419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1C334C38-CA28-4EE6-B08D-D7D826E56C8B}" type="slidenum">
              <a:rPr lang="en-GB" altLang="en-US" sz="1200" b="0" smtClean="0"/>
              <a:pPr/>
              <a:t>83</a:t>
            </a:fld>
            <a:endParaRPr lang="en-GB" altLang="en-US" sz="1200" b="0" smtClean="0"/>
          </a:p>
        </p:txBody>
      </p:sp>
      <p:sp>
        <p:nvSpPr>
          <p:cNvPr id="144387"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44388" name="Rectangle 3"/>
          <p:cNvSpPr>
            <a:spLocks noGrp="1" noRot="1" noChangeAspect="1" noChangeArrowheads="1" noTextEdit="1"/>
          </p:cNvSpPr>
          <p:nvPr>
            <p:ph type="sldImg"/>
          </p:nvPr>
        </p:nvSpPr>
        <p:spPr>
          <a:xfrm>
            <a:off x="1249363" y="511175"/>
            <a:ext cx="4551362" cy="3413125"/>
          </a:xfrm>
          <a:noFill/>
          <a:ln w="12700" cap="flat"/>
        </p:spPr>
      </p:sp>
    </p:spTree>
    <p:extLst>
      <p:ext uri="{BB962C8B-B14F-4D97-AF65-F5344CB8AC3E}">
        <p14:creationId xmlns:p14="http://schemas.microsoft.com/office/powerpoint/2010/main" val="15768972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5DE0C744-4F9F-48B5-8043-09760CCD7224}" type="slidenum">
              <a:rPr lang="en-GB" altLang="en-US" sz="1200" b="0" smtClean="0"/>
              <a:pPr/>
              <a:t>85</a:t>
            </a:fld>
            <a:endParaRPr lang="en-GB" altLang="en-US" sz="1200" b="0" smtClean="0"/>
          </a:p>
        </p:txBody>
      </p:sp>
      <p:sp>
        <p:nvSpPr>
          <p:cNvPr id="156675" name="Rectangle 2"/>
          <p:cNvSpPr>
            <a:spLocks noGrp="1" noRot="1" noChangeAspect="1" noChangeArrowheads="1" noTextEdit="1"/>
          </p:cNvSpPr>
          <p:nvPr>
            <p:ph type="sldImg"/>
          </p:nvPr>
        </p:nvSpPr>
        <p:spPr>
          <a:xfrm>
            <a:off x="1249363" y="511175"/>
            <a:ext cx="4551362" cy="3413125"/>
          </a:xfrm>
          <a:noFill/>
          <a:ln w="12700" cap="flat"/>
        </p:spPr>
      </p:sp>
      <p:sp>
        <p:nvSpPr>
          <p:cNvPr id="156676" name="Rectangle 3"/>
          <p:cNvSpPr>
            <a:spLocks noGrp="1" noChangeArrowheads="1"/>
          </p:cNvSpPr>
          <p:nvPr>
            <p:ph type="body" idx="1"/>
          </p:nvPr>
        </p:nvSpPr>
        <p:spPr>
          <a:xfrm>
            <a:off x="947738" y="5211763"/>
            <a:ext cx="5210175" cy="4257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67" tIns="48584" rIns="97167" bIns="48584"/>
          <a:lstStyle/>
          <a:p>
            <a:endParaRPr lang="en-US" altLang="en-US" smtClean="0"/>
          </a:p>
        </p:txBody>
      </p:sp>
    </p:spTree>
    <p:extLst>
      <p:ext uri="{BB962C8B-B14F-4D97-AF65-F5344CB8AC3E}">
        <p14:creationId xmlns:p14="http://schemas.microsoft.com/office/powerpoint/2010/main" val="20529444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5DE0C744-4F9F-48B5-8043-09760CCD7224}" type="slidenum">
              <a:rPr lang="en-GB" altLang="en-US" sz="1200" b="0" smtClean="0"/>
              <a:pPr/>
              <a:t>86</a:t>
            </a:fld>
            <a:endParaRPr lang="en-GB" altLang="en-US" sz="1200" b="0" smtClean="0"/>
          </a:p>
        </p:txBody>
      </p:sp>
      <p:sp>
        <p:nvSpPr>
          <p:cNvPr id="156675" name="Rectangle 2"/>
          <p:cNvSpPr>
            <a:spLocks noGrp="1" noRot="1" noChangeAspect="1" noChangeArrowheads="1" noTextEdit="1"/>
          </p:cNvSpPr>
          <p:nvPr>
            <p:ph type="sldImg"/>
          </p:nvPr>
        </p:nvSpPr>
        <p:spPr>
          <a:xfrm>
            <a:off x="1249363" y="511175"/>
            <a:ext cx="4551362" cy="3413125"/>
          </a:xfrm>
          <a:noFill/>
          <a:ln w="12700" cap="flat"/>
        </p:spPr>
      </p:sp>
      <p:sp>
        <p:nvSpPr>
          <p:cNvPr id="156676" name="Rectangle 3"/>
          <p:cNvSpPr>
            <a:spLocks noGrp="1" noChangeArrowheads="1"/>
          </p:cNvSpPr>
          <p:nvPr>
            <p:ph type="body" idx="1"/>
          </p:nvPr>
        </p:nvSpPr>
        <p:spPr>
          <a:xfrm>
            <a:off x="947738" y="5211763"/>
            <a:ext cx="5210175" cy="4257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67" tIns="48584" rIns="97167" bIns="48584"/>
          <a:lstStyle/>
          <a:p>
            <a:endParaRPr lang="en-US" altLang="en-US" smtClean="0"/>
          </a:p>
        </p:txBody>
      </p:sp>
    </p:spTree>
    <p:extLst>
      <p:ext uri="{BB962C8B-B14F-4D97-AF65-F5344CB8AC3E}">
        <p14:creationId xmlns:p14="http://schemas.microsoft.com/office/powerpoint/2010/main" val="24371822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5DE0C744-4F9F-48B5-8043-09760CCD7224}" type="slidenum">
              <a:rPr lang="en-GB" altLang="en-US" sz="1200" b="0" smtClean="0"/>
              <a:pPr/>
              <a:t>87</a:t>
            </a:fld>
            <a:endParaRPr lang="en-GB" altLang="en-US" sz="1200" b="0" smtClean="0"/>
          </a:p>
        </p:txBody>
      </p:sp>
      <p:sp>
        <p:nvSpPr>
          <p:cNvPr id="156675" name="Rectangle 2"/>
          <p:cNvSpPr>
            <a:spLocks noGrp="1" noRot="1" noChangeAspect="1" noChangeArrowheads="1" noTextEdit="1"/>
          </p:cNvSpPr>
          <p:nvPr>
            <p:ph type="sldImg"/>
          </p:nvPr>
        </p:nvSpPr>
        <p:spPr>
          <a:xfrm>
            <a:off x="1249363" y="511175"/>
            <a:ext cx="4551362" cy="3413125"/>
          </a:xfrm>
          <a:noFill/>
          <a:ln w="12700" cap="flat"/>
        </p:spPr>
      </p:sp>
      <p:sp>
        <p:nvSpPr>
          <p:cNvPr id="156676" name="Rectangle 3"/>
          <p:cNvSpPr>
            <a:spLocks noGrp="1" noChangeArrowheads="1"/>
          </p:cNvSpPr>
          <p:nvPr>
            <p:ph type="body" idx="1"/>
          </p:nvPr>
        </p:nvSpPr>
        <p:spPr>
          <a:xfrm>
            <a:off x="947738" y="5211763"/>
            <a:ext cx="5210175" cy="4257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67" tIns="48584" rIns="97167" bIns="48584"/>
          <a:lstStyle/>
          <a:p>
            <a:endParaRPr lang="en-US" altLang="en-US" smtClean="0"/>
          </a:p>
        </p:txBody>
      </p:sp>
    </p:spTree>
    <p:extLst>
      <p:ext uri="{BB962C8B-B14F-4D97-AF65-F5344CB8AC3E}">
        <p14:creationId xmlns:p14="http://schemas.microsoft.com/office/powerpoint/2010/main" val="41349091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5DE0C744-4F9F-48B5-8043-09760CCD7224}" type="slidenum">
              <a:rPr lang="en-GB" altLang="en-US" sz="1200" b="0" smtClean="0"/>
              <a:pPr/>
              <a:t>88</a:t>
            </a:fld>
            <a:endParaRPr lang="en-GB" altLang="en-US" sz="1200" b="0" smtClean="0"/>
          </a:p>
        </p:txBody>
      </p:sp>
      <p:sp>
        <p:nvSpPr>
          <p:cNvPr id="156675" name="Rectangle 2"/>
          <p:cNvSpPr>
            <a:spLocks noGrp="1" noRot="1" noChangeAspect="1" noChangeArrowheads="1" noTextEdit="1"/>
          </p:cNvSpPr>
          <p:nvPr>
            <p:ph type="sldImg"/>
          </p:nvPr>
        </p:nvSpPr>
        <p:spPr>
          <a:xfrm>
            <a:off x="1249363" y="511175"/>
            <a:ext cx="4551362" cy="3413125"/>
          </a:xfrm>
          <a:noFill/>
          <a:ln w="12700" cap="flat"/>
        </p:spPr>
      </p:sp>
      <p:sp>
        <p:nvSpPr>
          <p:cNvPr id="156676" name="Rectangle 3"/>
          <p:cNvSpPr>
            <a:spLocks noGrp="1" noChangeArrowheads="1"/>
          </p:cNvSpPr>
          <p:nvPr>
            <p:ph type="body" idx="1"/>
          </p:nvPr>
        </p:nvSpPr>
        <p:spPr>
          <a:xfrm>
            <a:off x="947738" y="5211763"/>
            <a:ext cx="5210175" cy="4257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67" tIns="48584" rIns="97167" bIns="48584"/>
          <a:lstStyle/>
          <a:p>
            <a:endParaRPr lang="en-US" altLang="en-US" smtClean="0"/>
          </a:p>
        </p:txBody>
      </p:sp>
    </p:spTree>
    <p:extLst>
      <p:ext uri="{BB962C8B-B14F-4D97-AF65-F5344CB8AC3E}">
        <p14:creationId xmlns:p14="http://schemas.microsoft.com/office/powerpoint/2010/main" val="32814728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5E4FED54-6F6E-4700-AE03-8A1A9C3F4EAE}" type="slidenum">
              <a:rPr lang="en-GB" altLang="en-US" sz="1200" b="0" smtClean="0"/>
              <a:pPr/>
              <a:t>89</a:t>
            </a:fld>
            <a:endParaRPr lang="en-GB" altLang="en-US" sz="1200" b="0" smtClean="0"/>
          </a:p>
        </p:txBody>
      </p:sp>
      <p:sp>
        <p:nvSpPr>
          <p:cNvPr id="158723" name="Rectangle 2"/>
          <p:cNvSpPr>
            <a:spLocks noGrp="1" noRot="1" noChangeAspect="1" noChangeArrowheads="1" noTextEdit="1"/>
          </p:cNvSpPr>
          <p:nvPr>
            <p:ph type="sldImg"/>
          </p:nvPr>
        </p:nvSpPr>
        <p:spPr>
          <a:xfrm>
            <a:off x="1233488" y="498475"/>
            <a:ext cx="4567237" cy="3425825"/>
          </a:xfrm>
          <a:noFill/>
          <a:ln w="12700" cap="flat"/>
        </p:spPr>
      </p:sp>
      <p:sp>
        <p:nvSpPr>
          <p:cNvPr id="158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Tree>
    <p:extLst>
      <p:ext uri="{BB962C8B-B14F-4D97-AF65-F5344CB8AC3E}">
        <p14:creationId xmlns:p14="http://schemas.microsoft.com/office/powerpoint/2010/main" val="29460957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CC2E4508-DFCD-438D-B1A8-EDDFA7CB993B}" type="slidenum">
              <a:rPr lang="en-GB" altLang="en-US" sz="1200" b="0" smtClean="0"/>
              <a:pPr/>
              <a:t>90</a:t>
            </a:fld>
            <a:endParaRPr lang="en-GB" altLang="en-US" sz="1200" b="0" smtClean="0"/>
          </a:p>
        </p:txBody>
      </p:sp>
      <p:sp>
        <p:nvSpPr>
          <p:cNvPr id="160771" name="Rectangle 2"/>
          <p:cNvSpPr>
            <a:spLocks noGrp="1" noRot="1" noChangeAspect="1" noChangeArrowheads="1" noTextEdit="1"/>
          </p:cNvSpPr>
          <p:nvPr>
            <p:ph type="sldImg"/>
          </p:nvPr>
        </p:nvSpPr>
        <p:spPr>
          <a:xfrm>
            <a:off x="1233488" y="498475"/>
            <a:ext cx="4567237" cy="3425825"/>
          </a:xfrm>
          <a:noFill/>
          <a:ln w="12700" cap="flat"/>
        </p:spPr>
      </p:sp>
      <p:sp>
        <p:nvSpPr>
          <p:cNvPr id="160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Tree>
    <p:extLst>
      <p:ext uri="{BB962C8B-B14F-4D97-AF65-F5344CB8AC3E}">
        <p14:creationId xmlns:p14="http://schemas.microsoft.com/office/powerpoint/2010/main" val="35554875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81EFF077-2C97-45C6-9ABD-F5C413C73B74}" type="slidenum">
              <a:rPr lang="en-GB" altLang="en-US" sz="1200" b="0" smtClean="0"/>
              <a:pPr/>
              <a:t>91</a:t>
            </a:fld>
            <a:endParaRPr lang="en-GB" altLang="en-US" sz="1200" b="0" smtClean="0"/>
          </a:p>
        </p:txBody>
      </p:sp>
      <p:sp>
        <p:nvSpPr>
          <p:cNvPr id="16281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2820"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22393425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92</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1081694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93</a:t>
            </a:fld>
            <a:endParaRPr lang="en-US" dirty="0"/>
          </a:p>
        </p:txBody>
      </p:sp>
    </p:spTree>
    <p:extLst>
      <p:ext uri="{BB962C8B-B14F-4D97-AF65-F5344CB8AC3E}">
        <p14:creationId xmlns:p14="http://schemas.microsoft.com/office/powerpoint/2010/main" val="19747821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94</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29210866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95</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30829905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96</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25797185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97</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31107628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98</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20480313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99</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21617204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100</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17948392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101</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30675024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102</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28247860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103</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22524970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104</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dirty="0"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7509716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5"/>
          <p:cNvSpPr>
            <a:spLocks noGrp="1" noChangeArrowheads="1"/>
          </p:cNvSpPr>
          <p:nvPr>
            <p:ph type="sldNum" sz="quarter" idx="5"/>
          </p:nvPr>
        </p:nvSpPr>
        <p:spPr>
          <a:noFill/>
        </p:spPr>
        <p:txBody>
          <a:bodyPr/>
          <a:lstStyle>
            <a:lvl1pPr defTabSz="965200">
              <a:defRPr sz="2400" b="1">
                <a:solidFill>
                  <a:schemeClr val="tx1"/>
                </a:solidFill>
                <a:latin typeface="Times New Roman" panose="02020603050405020304" pitchFamily="18" charset="0"/>
              </a:defRPr>
            </a:lvl1pPr>
            <a:lvl2pPr marL="742950" indent="-285750" defTabSz="965200">
              <a:defRPr sz="2400" b="1">
                <a:solidFill>
                  <a:schemeClr val="tx1"/>
                </a:solidFill>
                <a:latin typeface="Times New Roman" panose="02020603050405020304" pitchFamily="18" charset="0"/>
              </a:defRPr>
            </a:lvl2pPr>
            <a:lvl3pPr marL="1143000" indent="-228600" defTabSz="965200">
              <a:defRPr sz="2400" b="1">
                <a:solidFill>
                  <a:schemeClr val="tx1"/>
                </a:solidFill>
                <a:latin typeface="Times New Roman" panose="02020603050405020304" pitchFamily="18" charset="0"/>
              </a:defRPr>
            </a:lvl3pPr>
            <a:lvl4pPr marL="1600200" indent="-228600" defTabSz="965200">
              <a:defRPr sz="2400" b="1">
                <a:solidFill>
                  <a:schemeClr val="tx1"/>
                </a:solidFill>
                <a:latin typeface="Times New Roman" panose="02020603050405020304" pitchFamily="18" charset="0"/>
              </a:defRPr>
            </a:lvl4pPr>
            <a:lvl5pPr marL="2057400" indent="-228600" defTabSz="965200">
              <a:defRPr sz="2400" b="1">
                <a:solidFill>
                  <a:schemeClr val="tx1"/>
                </a:solidFill>
                <a:latin typeface="Times New Roman" panose="02020603050405020304" pitchFamily="18" charset="0"/>
              </a:defRPr>
            </a:lvl5pPr>
            <a:lvl6pPr marL="2514600" indent="-228600" defTabSz="9652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defTabSz="9652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defTabSz="9652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defTabSz="965200" eaLnBrk="0" fontAlgn="base" hangingPunct="0">
              <a:spcBef>
                <a:spcPct val="0"/>
              </a:spcBef>
              <a:spcAft>
                <a:spcPct val="0"/>
              </a:spcAft>
              <a:defRPr sz="2400" b="1">
                <a:solidFill>
                  <a:schemeClr val="tx1"/>
                </a:solidFill>
                <a:latin typeface="Times New Roman" panose="02020603050405020304" pitchFamily="18" charset="0"/>
              </a:defRPr>
            </a:lvl9pPr>
          </a:lstStyle>
          <a:p>
            <a:fld id="{422B03CC-AC05-4960-AD70-3EADCEBC2FD8}" type="slidenum">
              <a:rPr lang="en-GB" altLang="en-US" sz="1200" b="0" smtClean="0"/>
              <a:pPr/>
              <a:t>105</a:t>
            </a:fld>
            <a:endParaRPr lang="en-GB" altLang="en-US" sz="1200" b="0" smtClean="0"/>
          </a:p>
        </p:txBody>
      </p:sp>
      <p:sp>
        <p:nvSpPr>
          <p:cNvPr id="168963"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7179" tIns="48590" rIns="97179" bIns="48590"/>
          <a:lstStyle/>
          <a:p>
            <a:endParaRPr lang="en-US" altLang="en-US" dirty="0" smtClean="0"/>
          </a:p>
        </p:txBody>
      </p:sp>
      <p:sp>
        <p:nvSpPr>
          <p:cNvPr id="168964" name="Rectangle 3"/>
          <p:cNvSpPr>
            <a:spLocks noGrp="1" noRot="1" noChangeAspect="1" noChangeArrowheads="1" noTextEdit="1"/>
          </p:cNvSpPr>
          <p:nvPr>
            <p:ph type="sldImg"/>
          </p:nvPr>
        </p:nvSpPr>
        <p:spPr>
          <a:xfrm>
            <a:off x="1233488" y="498475"/>
            <a:ext cx="4567237" cy="3425825"/>
          </a:xfrm>
          <a:noFill/>
          <a:ln w="12700" cap="flat"/>
        </p:spPr>
      </p:sp>
    </p:spTree>
    <p:extLst>
      <p:ext uri="{BB962C8B-B14F-4D97-AF65-F5344CB8AC3E}">
        <p14:creationId xmlns:p14="http://schemas.microsoft.com/office/powerpoint/2010/main" val="19741222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204" name="Picture 36" descr="stmntpg_bkgrd2"/>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7171" name="Rectangle 3"/>
          <p:cNvSpPr>
            <a:spLocks noGrp="1" noChangeArrowheads="1"/>
          </p:cNvSpPr>
          <p:nvPr>
            <p:ph type="ctrTitle"/>
          </p:nvPr>
        </p:nvSpPr>
        <p:spPr>
          <a:xfrm>
            <a:off x="533401" y="1931988"/>
            <a:ext cx="8153400" cy="887412"/>
          </a:xfrm>
        </p:spPr>
        <p:txBody>
          <a:bodyPr/>
          <a:lstStyle>
            <a:lvl1pPr algn="ctr">
              <a:defRPr sz="5400" cap="small" baseline="0">
                <a:solidFill>
                  <a:schemeClr val="bg1"/>
                </a:solidFill>
                <a:effectLst>
                  <a:outerShdw blurRad="38100" dist="38100" dir="2700000" algn="tl">
                    <a:srgbClr val="000000"/>
                  </a:outerShdw>
                </a:effectLst>
                <a:latin typeface="Calibri" pitchFamily="34" charset="0"/>
              </a:defRPr>
            </a:lvl1pPr>
          </a:lstStyle>
          <a:p>
            <a:r>
              <a:rPr lang="en-US" dirty="0"/>
              <a:t>Click to edit Master title style</a:t>
            </a:r>
          </a:p>
        </p:txBody>
      </p:sp>
      <p:sp>
        <p:nvSpPr>
          <p:cNvPr id="7172" name="Rectangle 4"/>
          <p:cNvSpPr>
            <a:spLocks noGrp="1" noChangeArrowheads="1"/>
          </p:cNvSpPr>
          <p:nvPr>
            <p:ph type="subTitle" idx="1"/>
          </p:nvPr>
        </p:nvSpPr>
        <p:spPr>
          <a:xfrm>
            <a:off x="631825" y="2898775"/>
            <a:ext cx="7851775" cy="3121025"/>
          </a:xfrm>
        </p:spPr>
        <p:txBody>
          <a:bodyPr/>
          <a:lstStyle>
            <a:lvl1pPr marL="0" indent="0" algn="ctr">
              <a:buFontTx/>
              <a:buNone/>
              <a:defRPr sz="3200" i="0">
                <a:solidFill>
                  <a:schemeClr val="bg1"/>
                </a:solidFill>
                <a:effectLst>
                  <a:outerShdw blurRad="38100" dist="38100" dir="2700000" algn="tl">
                    <a:srgbClr val="000000"/>
                  </a:outerShdw>
                </a:effectLst>
                <a:latin typeface="Calibri" pitchFamily="34" charset="0"/>
              </a:defRPr>
            </a:lvl1pPr>
          </a:lstStyle>
          <a:p>
            <a:r>
              <a:rPr lang="en-US" dirty="0"/>
              <a:t>Click to edit Master subtitle style</a:t>
            </a:r>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22237"/>
            <a:ext cx="8686800" cy="563563"/>
          </a:xfrm>
        </p:spPr>
        <p:txBody>
          <a:bodyPr/>
          <a:lstStyle>
            <a:lvl1pPr>
              <a:defRPr sz="3600" b="0">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990600"/>
            <a:ext cx="8382000" cy="4953000"/>
          </a:xfrm>
        </p:spPr>
        <p:txBody>
          <a:bodyPr/>
          <a:lstStyle>
            <a:lvl1pPr>
              <a:buClr>
                <a:schemeClr val="tx2"/>
              </a:buClr>
              <a:defRPr sz="3200">
                <a:latin typeface="Calibri" pitchFamily="34" charset="0"/>
              </a:defRPr>
            </a:lvl1pPr>
            <a:lvl2pPr>
              <a:buClr>
                <a:srgbClr val="C00000"/>
              </a:buClr>
              <a:buFont typeface="Wingdings" pitchFamily="2" charset="2"/>
              <a:buChar char="§"/>
              <a:defRPr sz="2800">
                <a:latin typeface="Calibri" pitchFamily="34" charset="0"/>
              </a:defRPr>
            </a:lvl2pPr>
            <a:lvl3pPr>
              <a:defRPr sz="2400">
                <a:latin typeface="Calibri" pitchFamily="34" charset="0"/>
              </a:defRPr>
            </a:lvl3pPr>
            <a:lvl4pPr>
              <a:defRPr sz="2400">
                <a:latin typeface="Calibri" pitchFamily="34" charset="0"/>
              </a:defRPr>
            </a:lvl4pPr>
            <a:lvl5pPr>
              <a:defRPr sz="2400">
                <a:latin typeface="Calibri"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fld id="{1C0FA7A3-0FBF-4EC3-BE45-825983E95E58}"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800" b="1" cap="small" baseline="0">
                <a:solidFill>
                  <a:schemeClr val="tx1"/>
                </a:solidFill>
                <a:latin typeface="Calibri" pitchFamily="34" charset="0"/>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Master text styles</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fld id="{340D0772-A24E-4F60-87C6-1B8FABEC81BE}" type="slidenum">
              <a:rPr lang="en-US"/>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smtClean="0"/>
              <a:t>Click to edit Master title style</a:t>
            </a:r>
            <a:endParaRPr lang="en-US" dirty="0"/>
          </a:p>
        </p:txBody>
      </p:sp>
      <p:sp>
        <p:nvSpPr>
          <p:cNvPr id="3" name="Content Placeholder 2"/>
          <p:cNvSpPr>
            <a:spLocks noGrp="1"/>
          </p:cNvSpPr>
          <p:nvPr>
            <p:ph sz="half" idx="1"/>
          </p:nvPr>
        </p:nvSpPr>
        <p:spPr>
          <a:xfrm>
            <a:off x="2286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fld id="{30D1CA97-B344-4217-90AD-1773C9A60CA6}"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8600" y="46038"/>
            <a:ext cx="8229600" cy="563562"/>
          </a:xfrm>
        </p:spPr>
        <p:txBody>
          <a:bodyPr/>
          <a:lstStyle>
            <a:lvl1pPr>
              <a:defRPr sz="3600"/>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91440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1676400"/>
            <a:ext cx="4040188"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91440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676400"/>
            <a:ext cx="4041775"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10"/>
          </p:nvPr>
        </p:nvSpPr>
        <p:spPr>
          <a:xfrm>
            <a:off x="8686800" y="6400800"/>
            <a:ext cx="155575" cy="152400"/>
          </a:xfrm>
        </p:spPr>
        <p:txBody>
          <a:bodyPr/>
          <a:lstStyle>
            <a:lvl1pPr>
              <a:defRPr/>
            </a:lvl1pPr>
          </a:lstStyle>
          <a:p>
            <a:fld id="{AA73854A-5C14-47C3-B598-1F673C68FB47}"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smtClean="0"/>
              <a:t>Click to edit Master title style</a:t>
            </a:r>
            <a:endParaRPr lang="en-US" dirty="0"/>
          </a:p>
        </p:txBody>
      </p:sp>
      <p:sp>
        <p:nvSpPr>
          <p:cNvPr id="3" name="Slide Number Placeholder 2"/>
          <p:cNvSpPr>
            <a:spLocks noGrp="1"/>
          </p:cNvSpPr>
          <p:nvPr>
            <p:ph type="sldNum" sz="quarter" idx="10"/>
          </p:nvPr>
        </p:nvSpPr>
        <p:spPr>
          <a:xfrm>
            <a:off x="8686800" y="6400800"/>
            <a:ext cx="155575" cy="152400"/>
          </a:xfrm>
        </p:spPr>
        <p:txBody>
          <a:bodyPr/>
          <a:lstStyle>
            <a:lvl1pPr>
              <a:defRPr/>
            </a:lvl1pPr>
          </a:lstStyle>
          <a:p>
            <a:fld id="{CDC70ED7-27EA-4514-903C-D4A37184F7C2}"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8686800" y="6400800"/>
            <a:ext cx="155575" cy="152400"/>
          </a:xfrm>
        </p:spPr>
        <p:txBody>
          <a:bodyPr/>
          <a:lstStyle>
            <a:lvl1pPr>
              <a:defRPr/>
            </a:lvl1pPr>
          </a:lstStyle>
          <a:p>
            <a:fld id="{8361A7F4-E54E-4223-9BAA-A5DFCE9EB1E4}"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fld id="{C9188CC7-1F86-4711-BAA0-C20CBBAA9A13}" type="slidenum">
              <a:rPr lang="en-US"/>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a:xfrm>
            <a:off x="8839200" y="6400800"/>
            <a:ext cx="155575" cy="152400"/>
          </a:xfrm>
        </p:spPr>
        <p:txBody>
          <a:bodyPr/>
          <a:lstStyle>
            <a:lvl1pPr>
              <a:defRPr/>
            </a:lvl1pPr>
          </a:lstStyle>
          <a:p>
            <a:fld id="{A23425AD-99C3-4D67-BAAA-9EF149E2BC6E}"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1CAF9A4D-BF2E-454A-8E48-0BE3BF83C625}" type="slidenum">
              <a:rPr lang="en-US"/>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685800"/>
            <a:ext cx="2171700" cy="5181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685800"/>
            <a:ext cx="6362700" cy="5181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78D09FAD-2610-4BCF-8A6E-D3BAB9283AB4}" type="slidenum">
              <a:rPr lang="en-US"/>
              <a:pPr/>
              <a:t>‹#›</a:t>
            </a:fld>
            <a:endParaRPr lang="en-US" dirty="0"/>
          </a:p>
        </p:txBody>
      </p:sp>
    </p:spTree>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p>
            <a:fld id="{0518207C-D3B4-4E49-8C59-E267A7D5C2C0}" type="slidenum">
              <a:rPr lang="en-US" smtClean="0"/>
              <a:pPr/>
              <a:t>‹#›</a:t>
            </a:fld>
            <a:endParaRPr lang="en-US" dirty="0"/>
          </a:p>
        </p:txBody>
      </p:sp>
      <p:pic>
        <p:nvPicPr>
          <p:cNvPr id="4" name="Picture 21" descr="textpg_bkgrd2b2"/>
          <p:cNvPicPr>
            <a:picLocks noChangeAspect="1" noChangeArrowheads="1"/>
          </p:cNvPicPr>
          <p:nvPr userDrawn="1"/>
        </p:nvPicPr>
        <p:blipFill>
          <a:blip r:embed="rId2" cstate="print"/>
          <a:srcRect r="8560" b="8560"/>
          <a:stretch>
            <a:fillRect/>
          </a:stretch>
        </p:blipFill>
        <p:spPr bwMode="auto">
          <a:xfrm>
            <a:off x="0" y="0"/>
            <a:ext cx="9144000" cy="6858000"/>
          </a:xfrm>
          <a:prstGeom prst="rect">
            <a:avLst/>
          </a:prstGeom>
          <a:noFill/>
        </p:spPr>
      </p:pic>
    </p:spTree>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gi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folHlink"/>
        </a:solidFill>
        <a:effectLst/>
      </p:bgPr>
    </p:bg>
    <p:spTree>
      <p:nvGrpSpPr>
        <p:cNvPr id="1" name=""/>
        <p:cNvGrpSpPr/>
        <p:nvPr/>
      </p:nvGrpSpPr>
      <p:grpSpPr>
        <a:xfrm>
          <a:off x="0" y="0"/>
          <a:ext cx="0" cy="0"/>
          <a:chOff x="0" y="0"/>
          <a:chExt cx="0" cy="0"/>
        </a:xfrm>
      </p:grpSpPr>
      <p:sp>
        <p:nvSpPr>
          <p:cNvPr id="1032" name="Rectangle 8"/>
          <p:cNvSpPr>
            <a:spLocks noGrp="1" noChangeArrowheads="1"/>
          </p:cNvSpPr>
          <p:nvPr>
            <p:ph type="sldNum" sz="quarter" idx="4"/>
          </p:nvPr>
        </p:nvSpPr>
        <p:spPr bwMode="auto">
          <a:xfrm>
            <a:off x="6245225" y="6400800"/>
            <a:ext cx="155575" cy="152400"/>
          </a:xfrm>
          <a:prstGeom prst="rect">
            <a:avLst/>
          </a:prstGeom>
          <a:noFill/>
          <a:ln w="9525">
            <a:noFill/>
            <a:miter lim="800000"/>
            <a:headEnd/>
            <a:tailEnd/>
          </a:ln>
          <a:effectLst/>
        </p:spPr>
        <p:txBody>
          <a:bodyPr vert="horz" wrap="none" lIns="0" tIns="0" rIns="0" bIns="0" numCol="1" anchor="ctr" anchorCtr="1" compatLnSpc="1">
            <a:prstTxWarp prst="textNoShape">
              <a:avLst/>
            </a:prstTxWarp>
            <a:spAutoFit/>
          </a:bodyPr>
          <a:lstStyle>
            <a:lvl1pPr>
              <a:defRPr sz="1000" b="0">
                <a:solidFill>
                  <a:schemeClr val="tx2"/>
                </a:solidFill>
              </a:defRPr>
            </a:lvl1pPr>
          </a:lstStyle>
          <a:p>
            <a:fld id="{0518207C-D3B4-4E49-8C59-E267A7D5C2C0}" type="slidenum">
              <a:rPr lang="en-US"/>
              <a:pPr/>
              <a:t>‹#›</a:t>
            </a:fld>
            <a:endParaRPr lang="en-US" dirty="0"/>
          </a:p>
        </p:txBody>
      </p:sp>
      <p:pic>
        <p:nvPicPr>
          <p:cNvPr id="1045" name="Picture 21" descr="textpg_bkgrd2b2"/>
          <p:cNvPicPr>
            <a:picLocks noChangeAspect="1" noChangeArrowheads="1"/>
          </p:cNvPicPr>
          <p:nvPr/>
        </p:nvPicPr>
        <p:blipFill>
          <a:blip r:embed="rId14" cstate="print"/>
          <a:srcRect r="5512" b="5512"/>
          <a:stretch>
            <a:fillRect/>
          </a:stretch>
        </p:blipFill>
        <p:spPr bwMode="auto">
          <a:xfrm>
            <a:off x="0" y="0"/>
            <a:ext cx="9144000" cy="6858000"/>
          </a:xfrm>
          <a:prstGeom prst="rect">
            <a:avLst/>
          </a:prstGeom>
          <a:noFill/>
        </p:spPr>
      </p:pic>
      <p:sp>
        <p:nvSpPr>
          <p:cNvPr id="1026" name="Rectangle 2"/>
          <p:cNvSpPr>
            <a:spLocks noGrp="1" noChangeArrowheads="1"/>
          </p:cNvSpPr>
          <p:nvPr>
            <p:ph type="title"/>
          </p:nvPr>
        </p:nvSpPr>
        <p:spPr bwMode="auto">
          <a:xfrm>
            <a:off x="228600" y="0"/>
            <a:ext cx="8686800" cy="639763"/>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p>
            <a:pPr lvl="0"/>
            <a:r>
              <a:rPr lang="en-US" dirty="0" smtClean="0"/>
              <a:t>Click to edit Master title style</a:t>
            </a:r>
          </a:p>
        </p:txBody>
      </p:sp>
      <p:sp>
        <p:nvSpPr>
          <p:cNvPr id="1027" name="Rectangle 3"/>
          <p:cNvSpPr>
            <a:spLocks noGrp="1" noChangeArrowheads="1"/>
          </p:cNvSpPr>
          <p:nvPr>
            <p:ph type="body" idx="1"/>
          </p:nvPr>
        </p:nvSpPr>
        <p:spPr bwMode="auto">
          <a:xfrm>
            <a:off x="228600" y="838200"/>
            <a:ext cx="8686800" cy="5029200"/>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99" name="Rectangle 75"/>
          <p:cNvSpPr>
            <a:spLocks noChangeArrowheads="1"/>
          </p:cNvSpPr>
          <p:nvPr/>
        </p:nvSpPr>
        <p:spPr bwMode="auto">
          <a:xfrm>
            <a:off x="0" y="6248400"/>
            <a:ext cx="9144000" cy="609600"/>
          </a:xfrm>
          <a:prstGeom prst="rect">
            <a:avLst/>
          </a:prstGeom>
          <a:solidFill>
            <a:schemeClr val="bg1"/>
          </a:solidFill>
          <a:ln w="9525">
            <a:noFill/>
            <a:miter lim="800000"/>
            <a:headEnd/>
            <a:tailEnd/>
          </a:ln>
          <a:effectLst/>
        </p:spPr>
        <p:txBody>
          <a:bodyPr wrap="none" anchor="ctr"/>
          <a:lstStyle/>
          <a:p>
            <a:endParaRPr lang="en-US" dirty="0"/>
          </a:p>
        </p:txBody>
      </p:sp>
      <p:pic>
        <p:nvPicPr>
          <p:cNvPr id="1098" name="Picture 74"/>
          <p:cNvPicPr>
            <a:picLocks noChangeAspect="1" noChangeArrowheads="1"/>
          </p:cNvPicPr>
          <p:nvPr/>
        </p:nvPicPr>
        <p:blipFill>
          <a:blip r:embed="rId15" cstate="print"/>
          <a:stretch>
            <a:fillRect/>
          </a:stretch>
        </p:blipFill>
        <p:spPr bwMode="auto">
          <a:xfrm>
            <a:off x="127000" y="6324600"/>
            <a:ext cx="2971800" cy="460200"/>
          </a:xfrm>
          <a:prstGeom prst="rect">
            <a:avLst/>
          </a:prstGeom>
          <a:solidFill>
            <a:srgbClr val="FFFFFF">
              <a:shade val="85000"/>
            </a:srgbClr>
          </a:solidFill>
          <a:ln w="88900" cap="sq">
            <a:noFill/>
            <a:miter lim="800000"/>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iming>
    <p:tnLst>
      <p:par>
        <p:cTn id="1" dur="indefinite" restart="never" nodeType="tmRoot"/>
      </p:par>
    </p:tnLst>
  </p:timing>
  <p:hf hdr="0" ftr="0" dt="0"/>
  <p:txStyles>
    <p:titleStyle>
      <a:lvl1pPr algn="l" rtl="0" fontAlgn="base">
        <a:spcBef>
          <a:spcPct val="0"/>
        </a:spcBef>
        <a:spcAft>
          <a:spcPct val="0"/>
        </a:spcAft>
        <a:defRPr sz="3200" cap="small" baseline="0">
          <a:solidFill>
            <a:schemeClr val="bg1"/>
          </a:solidFill>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p:titleStyle>
    <p:bodyStyle>
      <a:lvl1pPr marL="228600" indent="-228600" algn="l" rtl="0" fontAlgn="base">
        <a:spcBef>
          <a:spcPct val="20000"/>
        </a:spcBef>
        <a:spcAft>
          <a:spcPct val="0"/>
        </a:spcAft>
        <a:buClr>
          <a:schemeClr val="hlink"/>
        </a:buClr>
        <a:buChar char="•"/>
        <a:defRPr sz="2000">
          <a:solidFill>
            <a:schemeClr val="tx1"/>
          </a:solidFill>
          <a:latin typeface="+mn-lt"/>
          <a:ea typeface="+mn-ea"/>
          <a:cs typeface="+mn-cs"/>
        </a:defRPr>
      </a:lvl1pPr>
      <a:lvl2pPr marL="565150" indent="-222250" algn="l" rtl="0" fontAlgn="base">
        <a:spcBef>
          <a:spcPct val="20000"/>
        </a:spcBef>
        <a:spcAft>
          <a:spcPct val="0"/>
        </a:spcAft>
        <a:buClr>
          <a:schemeClr val="tx2"/>
        </a:buClr>
        <a:buFont typeface="Arial" charset="0"/>
        <a:buChar char="–"/>
        <a:defRPr>
          <a:solidFill>
            <a:schemeClr val="tx1"/>
          </a:solidFill>
          <a:latin typeface="+mn-lt"/>
        </a:defRPr>
      </a:lvl2pPr>
      <a:lvl3pPr marL="908050" indent="-228600" algn="l" rtl="0" fontAlgn="base">
        <a:spcBef>
          <a:spcPct val="20000"/>
        </a:spcBef>
        <a:spcAft>
          <a:spcPct val="0"/>
        </a:spcAft>
        <a:buClr>
          <a:srgbClr val="918C5A"/>
        </a:buClr>
        <a:buChar char="•"/>
        <a:defRPr sz="1600">
          <a:solidFill>
            <a:schemeClr val="tx1"/>
          </a:solidFill>
          <a:latin typeface="+mn-lt"/>
        </a:defRPr>
      </a:lvl3pPr>
      <a:lvl4pPr marL="1250950" indent="-228600" algn="l" rtl="0" fontAlgn="base">
        <a:spcBef>
          <a:spcPct val="20000"/>
        </a:spcBef>
        <a:spcAft>
          <a:spcPct val="0"/>
        </a:spcAft>
        <a:buClr>
          <a:srgbClr val="918C5A"/>
        </a:buClr>
        <a:buChar char="•"/>
        <a:defRPr sz="1600">
          <a:solidFill>
            <a:schemeClr val="tx1"/>
          </a:solidFill>
          <a:latin typeface="+mn-lt"/>
        </a:defRPr>
      </a:lvl4pPr>
      <a:lvl5pPr marL="1593850" indent="-228600" algn="l" rtl="0" fontAlgn="base">
        <a:spcBef>
          <a:spcPct val="20000"/>
        </a:spcBef>
        <a:spcAft>
          <a:spcPct val="0"/>
        </a:spcAft>
        <a:buClr>
          <a:srgbClr val="918C5A"/>
        </a:buClr>
        <a:buChar char="•"/>
        <a:defRPr sz="1600">
          <a:solidFill>
            <a:schemeClr val="tx1"/>
          </a:solidFill>
          <a:latin typeface="+mn-lt"/>
        </a:defRPr>
      </a:lvl5pPr>
      <a:lvl6pPr marL="2051050" indent="-228600" algn="l" rtl="0" fontAlgn="base">
        <a:spcBef>
          <a:spcPct val="20000"/>
        </a:spcBef>
        <a:spcAft>
          <a:spcPct val="0"/>
        </a:spcAft>
        <a:buClr>
          <a:srgbClr val="918C5A"/>
        </a:buClr>
        <a:buChar char="•"/>
        <a:defRPr sz="1600">
          <a:solidFill>
            <a:schemeClr val="tx1"/>
          </a:solidFill>
          <a:latin typeface="+mn-lt"/>
        </a:defRPr>
      </a:lvl6pPr>
      <a:lvl7pPr marL="2508250" indent="-228600" algn="l" rtl="0" fontAlgn="base">
        <a:spcBef>
          <a:spcPct val="20000"/>
        </a:spcBef>
        <a:spcAft>
          <a:spcPct val="0"/>
        </a:spcAft>
        <a:buClr>
          <a:srgbClr val="918C5A"/>
        </a:buClr>
        <a:buChar char="•"/>
        <a:defRPr sz="1600">
          <a:solidFill>
            <a:schemeClr val="tx1"/>
          </a:solidFill>
          <a:latin typeface="+mn-lt"/>
        </a:defRPr>
      </a:lvl7pPr>
      <a:lvl8pPr marL="2965450" indent="-228600" algn="l" rtl="0" fontAlgn="base">
        <a:spcBef>
          <a:spcPct val="20000"/>
        </a:spcBef>
        <a:spcAft>
          <a:spcPct val="0"/>
        </a:spcAft>
        <a:buClr>
          <a:srgbClr val="918C5A"/>
        </a:buClr>
        <a:buChar char="•"/>
        <a:defRPr sz="1600">
          <a:solidFill>
            <a:schemeClr val="tx1"/>
          </a:solidFill>
          <a:latin typeface="+mn-lt"/>
        </a:defRPr>
      </a:lvl8pPr>
      <a:lvl9pPr marL="3422650" indent="-228600" algn="l" rtl="0" fontAlgn="base">
        <a:spcBef>
          <a:spcPct val="20000"/>
        </a:spcBef>
        <a:spcAft>
          <a:spcPct val="0"/>
        </a:spcAft>
        <a:buClr>
          <a:srgbClr val="918C5A"/>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7.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2.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2.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7.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audio" Target="../media/audio1.wav"/><Relationship Id="rId7" Type="http://schemas.openxmlformats.org/officeDocument/2006/relationships/image" Target="../media/image23.wmf"/><Relationship Id="rId12" Type="http://schemas.openxmlformats.org/officeDocument/2006/relationships/image" Target="../media/image28.wmf"/><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22.wmf"/><Relationship Id="rId11" Type="http://schemas.openxmlformats.org/officeDocument/2006/relationships/image" Target="../media/image27.wmf"/><Relationship Id="rId5" Type="http://schemas.openxmlformats.org/officeDocument/2006/relationships/image" Target="../media/image21.wmf"/><Relationship Id="rId10" Type="http://schemas.openxmlformats.org/officeDocument/2006/relationships/image" Target="../media/image26.wmf"/><Relationship Id="rId4" Type="http://schemas.openxmlformats.org/officeDocument/2006/relationships/image" Target="../media/image20.wmf"/><Relationship Id="rId9" Type="http://schemas.openxmlformats.org/officeDocument/2006/relationships/image" Target="../media/image25.wmf"/></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9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hyperlink" Target="https://www.youtube.com/watch?v=z8INzy9E628"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hyperlink" Target="https://www.youtube.com/watch?v=AjkU7Hw2TY4" TargetMode="External"/></Relationships>
</file>

<file path=ppt/slides/_rels/slide105.xml.rels><?xml version="1.0" encoding="UTF-8" standalone="yes"?>
<Relationships xmlns="http://schemas.openxmlformats.org/package/2006/relationships"><Relationship Id="rId3" Type="http://schemas.openxmlformats.org/officeDocument/2006/relationships/hyperlink" Target="https://www.youtube.com/watch?v=66oksttO9fQ&amp;list=PLJqb_j53o7BiVPaFGQxEHhGx-ximMukwH&amp;index=4"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hyperlink" Target="https://www.youtube.com/watch?v=8ciI6-maH7Q&amp;list=PLJqb_j53o7BiVPaFGQxEHhGx-ximMukwH&amp;index=12" TargetMode="External"/><Relationship Id="rId4" Type="http://schemas.openxmlformats.org/officeDocument/2006/relationships/hyperlink" Target="https://www.youtube.com/watch?v=y5va67BO2Pw&amp;list=PLJqb_j53o7BiVPaFGQxEHhGx-ximMukwH&amp;index=5" TargetMode="Externa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2" name="Rectangle 10"/>
          <p:cNvSpPr>
            <a:spLocks noGrp="1" noChangeArrowheads="1"/>
          </p:cNvSpPr>
          <p:nvPr>
            <p:ph type="ctrTitle"/>
          </p:nvPr>
        </p:nvSpPr>
        <p:spPr>
          <a:xfrm>
            <a:off x="403224" y="1371600"/>
            <a:ext cx="8308975" cy="1725612"/>
          </a:xfrm>
        </p:spPr>
        <p:txBody>
          <a:bodyPr/>
          <a:lstStyle/>
          <a:p>
            <a:r>
              <a:rPr lang="en-US" sz="4000" dirty="0" smtClean="0"/>
              <a:t>EETS 8332: </a:t>
            </a:r>
            <a:br>
              <a:rPr lang="en-US" sz="4000" dirty="0" smtClean="0"/>
            </a:br>
            <a:r>
              <a:rPr lang="en-US" sz="4000" dirty="0" smtClean="0"/>
              <a:t>Advanced Network Design</a:t>
            </a:r>
            <a:endParaRPr lang="en-US" sz="4000" dirty="0"/>
          </a:p>
        </p:txBody>
      </p:sp>
      <p:sp>
        <p:nvSpPr>
          <p:cNvPr id="44043" name="Rectangle 11"/>
          <p:cNvSpPr>
            <a:spLocks noGrp="1" noChangeArrowheads="1"/>
          </p:cNvSpPr>
          <p:nvPr>
            <p:ph type="subTitle" idx="1"/>
          </p:nvPr>
        </p:nvSpPr>
        <p:spPr>
          <a:xfrm>
            <a:off x="631825" y="3657600"/>
            <a:ext cx="7851775" cy="1597025"/>
          </a:xfrm>
        </p:spPr>
        <p:txBody>
          <a:bodyPr/>
          <a:lstStyle/>
          <a:p>
            <a:r>
              <a:rPr lang="en-US" sz="3600" i="0" smtClean="0">
                <a:latin typeface="Calibri" pitchFamily="34" charset="0"/>
              </a:rPr>
              <a:t>Dr. M</a:t>
            </a:r>
            <a:r>
              <a:rPr lang="en-US" sz="3600" i="0" dirty="0" smtClean="0">
                <a:latin typeface="Calibri" pitchFamily="34" charset="0"/>
              </a:rPr>
              <a:t>. Scott Kingsley</a:t>
            </a:r>
            <a:endParaRPr lang="en-US" i="0" dirty="0" smtClean="0">
              <a:latin typeface="Calibri" pitchFamily="34" charset="0"/>
            </a:endParaRPr>
          </a:p>
          <a:p>
            <a:endParaRPr lang="en-US" sz="2800" dirty="0"/>
          </a:p>
        </p:txBody>
      </p:sp>
    </p:spTree>
    <p:extLst>
      <p:ext uri="{BB962C8B-B14F-4D97-AF65-F5344CB8AC3E}">
        <p14:creationId xmlns:p14="http://schemas.microsoft.com/office/powerpoint/2010/main" val="1353684769"/>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body" idx="1"/>
          </p:nvPr>
        </p:nvSpPr>
        <p:spPr>
          <a:xfrm>
            <a:off x="199697" y="701566"/>
            <a:ext cx="8534400" cy="5943600"/>
          </a:xfrm>
        </p:spPr>
        <p:txBody>
          <a:bodyPr/>
          <a:lstStyle/>
          <a:p>
            <a:pPr eaLnBrk="1" hangingPunct="1"/>
            <a:r>
              <a:rPr lang="en-US" altLang="en-US" sz="2800" b="1" dirty="0" smtClean="0"/>
              <a:t>IGP</a:t>
            </a:r>
            <a:r>
              <a:rPr lang="en-US" altLang="en-US" sz="2800" dirty="0" smtClean="0"/>
              <a:t> (Interior Gateway Protocol) - RIP, IGRP, EIGRP, OSPF = Routing protocol used to exchange routing information within an autonomous system.</a:t>
            </a:r>
          </a:p>
          <a:p>
            <a:pPr eaLnBrk="1" hangingPunct="1"/>
            <a:r>
              <a:rPr lang="en-US" altLang="en-US" sz="2800" b="1" dirty="0" smtClean="0"/>
              <a:t>EGP</a:t>
            </a:r>
            <a:r>
              <a:rPr lang="en-US" altLang="en-US" sz="2800" dirty="0" smtClean="0"/>
              <a:t> (Exterior Gateway Protocol) - BGP = Routing protocol used to exchange routing information between autonomous systems.</a:t>
            </a:r>
          </a:p>
          <a:p>
            <a:pPr eaLnBrk="1" hangingPunct="1"/>
            <a:r>
              <a:rPr lang="en-US" altLang="en-US" sz="2800" b="1" dirty="0" smtClean="0"/>
              <a:t>Autonomous System</a:t>
            </a:r>
            <a:r>
              <a:rPr lang="en-US" altLang="en-US" sz="2800" dirty="0" smtClean="0"/>
              <a:t> = (From RFC 1771) “A set of routers under the single technical administration, using an IGP and common metrics to route packets within the AS, and using an EGP to route packets to other AS’s.”</a:t>
            </a:r>
          </a:p>
          <a:p>
            <a:pPr eaLnBrk="1" hangingPunct="1"/>
            <a:r>
              <a:rPr lang="en-US" altLang="en-US" sz="2800" b="1" dirty="0" smtClean="0"/>
              <a:t>BGP</a:t>
            </a:r>
            <a:r>
              <a:rPr lang="en-US" altLang="en-US" sz="2800" dirty="0" smtClean="0"/>
              <a:t> is a </a:t>
            </a:r>
            <a:r>
              <a:rPr lang="en-US" altLang="en-US" sz="2800" u="sng" dirty="0" smtClean="0"/>
              <a:t>path vector</a:t>
            </a:r>
            <a:r>
              <a:rPr lang="en-US" altLang="en-US" sz="2800" dirty="0" smtClean="0"/>
              <a:t> or an </a:t>
            </a:r>
            <a:r>
              <a:rPr lang="en-US" altLang="en-US" sz="2800" u="sng" dirty="0" smtClean="0"/>
              <a:t>advanced distance vector</a:t>
            </a:r>
            <a:r>
              <a:rPr lang="en-US" altLang="en-US" sz="2800" dirty="0" smtClean="0"/>
              <a:t> routing protocol.</a:t>
            </a:r>
          </a:p>
        </p:txBody>
      </p:sp>
      <p:sp>
        <p:nvSpPr>
          <p:cNvPr id="3" name="Rectangle 2"/>
          <p:cNvSpPr>
            <a:spLocks noGrp="1" noChangeArrowheads="1"/>
          </p:cNvSpPr>
          <p:nvPr>
            <p:ph type="title"/>
          </p:nvPr>
        </p:nvSpPr>
        <p:spPr>
          <a:xfrm>
            <a:off x="228600" y="122237"/>
            <a:ext cx="8686800" cy="563563"/>
          </a:xfrm>
        </p:spPr>
        <p:txBody>
          <a:bodyPr/>
          <a:lstStyle/>
          <a:p>
            <a:pPr algn="ctr" eaLnBrk="1" hangingPunct="1"/>
            <a:r>
              <a:rPr lang="en-US" altLang="en-US" b="1" dirty="0" smtClean="0"/>
              <a:t>BGP Terms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1</a:t>
            </a:fld>
            <a:endParaRPr lang="en-US" dirty="0"/>
          </a:p>
        </p:txBody>
      </p:sp>
    </p:spTree>
    <p:extLst>
      <p:ext uri="{BB962C8B-B14F-4D97-AF65-F5344CB8AC3E}">
        <p14:creationId xmlns:p14="http://schemas.microsoft.com/office/powerpoint/2010/main" val="381418479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0"/>
            <a:ext cx="8031163" cy="685800"/>
          </a:xfrm>
        </p:spPr>
        <p:txBody>
          <a:bodyPr/>
          <a:lstStyle/>
          <a:p>
            <a:pPr eaLnBrk="1" hangingPunct="1"/>
            <a:r>
              <a:rPr lang="en-US" altLang="en-US" sz="4000" dirty="0" smtClean="0"/>
              <a:t>EGPs – Exterior Gateway Protocols</a:t>
            </a:r>
          </a:p>
        </p:txBody>
      </p:sp>
      <p:sp>
        <p:nvSpPr>
          <p:cNvPr id="10243" name="Rectangle 3"/>
          <p:cNvSpPr>
            <a:spLocks noGrp="1" noChangeArrowheads="1"/>
          </p:cNvSpPr>
          <p:nvPr>
            <p:ph type="body" idx="1"/>
          </p:nvPr>
        </p:nvSpPr>
        <p:spPr>
          <a:xfrm>
            <a:off x="304800" y="1219200"/>
            <a:ext cx="8640763" cy="4876800"/>
          </a:xfrm>
        </p:spPr>
        <p:txBody>
          <a:bodyPr/>
          <a:lstStyle/>
          <a:p>
            <a:pPr eaLnBrk="1" hangingPunct="1"/>
            <a:r>
              <a:rPr lang="en-US" altLang="en-US" sz="2800" dirty="0" smtClean="0">
                <a:cs typeface="Times New Roman" panose="02020603050405020304" pitchFamily="18" charset="0"/>
              </a:rPr>
              <a:t>Typically, EGPs are used to exchange routing information between ISPs, or in some cases between a customer</a:t>
            </a:r>
            <a:r>
              <a:rPr lang="en-US" altLang="en-US" sz="2800" dirty="0" smtClean="0">
                <a:latin typeface="Times New Roman" panose="02020603050405020304" pitchFamily="18" charset="0"/>
                <a:cs typeface="Times New Roman" panose="02020603050405020304" pitchFamily="18" charset="0"/>
              </a:rPr>
              <a:t>’</a:t>
            </a:r>
            <a:r>
              <a:rPr lang="en-US" altLang="en-US" sz="2800" dirty="0" smtClean="0">
                <a:cs typeface="Times New Roman" panose="02020603050405020304" pitchFamily="18" charset="0"/>
              </a:rPr>
              <a:t>s AS and the provider</a:t>
            </a:r>
            <a:r>
              <a:rPr lang="en-US" altLang="en-US" sz="2800" dirty="0" smtClean="0">
                <a:latin typeface="Times New Roman" panose="02020603050405020304" pitchFamily="18" charset="0"/>
                <a:cs typeface="Times New Roman" panose="02020603050405020304" pitchFamily="18" charset="0"/>
              </a:rPr>
              <a:t>’</a:t>
            </a:r>
            <a:r>
              <a:rPr lang="en-US" altLang="en-US" sz="2800" dirty="0" smtClean="0">
                <a:cs typeface="Times New Roman" panose="02020603050405020304" pitchFamily="18" charset="0"/>
              </a:rPr>
              <a:t>s network. </a:t>
            </a:r>
          </a:p>
          <a:p>
            <a:pPr eaLnBrk="1" hangingPunct="1"/>
            <a:r>
              <a:rPr lang="en-US" altLang="en-US" sz="2800" b="1" dirty="0" smtClean="0">
                <a:cs typeface="Times New Roman" panose="02020603050405020304" pitchFamily="18" charset="0"/>
              </a:rPr>
              <a:t>Border Gateway Protocol (BGP)</a:t>
            </a:r>
            <a:r>
              <a:rPr lang="en-US" altLang="en-US" sz="2800" dirty="0" smtClean="0">
                <a:cs typeface="Times New Roman" panose="02020603050405020304" pitchFamily="18" charset="0"/>
              </a:rPr>
              <a:t>, version 4 (BGP4) is the most common EGP and is considered the Internet standard.</a:t>
            </a:r>
          </a:p>
          <a:p>
            <a:pPr eaLnBrk="1" hangingPunct="1"/>
            <a:endParaRPr lang="en-US" altLang="en-US" sz="2800"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2</a:t>
            </a:fld>
            <a:endParaRPr lang="en-US" dirty="0"/>
          </a:p>
        </p:txBody>
      </p:sp>
    </p:spTree>
    <p:extLst>
      <p:ext uri="{BB962C8B-B14F-4D97-AF65-F5344CB8AC3E}">
        <p14:creationId xmlns:p14="http://schemas.microsoft.com/office/powerpoint/2010/main" val="4026985405"/>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en-US" dirty="0" smtClean="0"/>
              <a:t>BGP – an Exterior Gateway Protocol</a:t>
            </a:r>
          </a:p>
        </p:txBody>
      </p:sp>
      <p:pic>
        <p:nvPicPr>
          <p:cNvPr id="8195" name="Picture 4" descr="fi9708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143000"/>
            <a:ext cx="7315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0"/>
          </p:nvPr>
        </p:nvSpPr>
        <p:spPr/>
        <p:txBody>
          <a:bodyPr/>
          <a:lstStyle/>
          <a:p>
            <a:fld id="{1C0FA7A3-0FBF-4EC3-BE45-825983E95E58}" type="slidenum">
              <a:rPr lang="en-US" smtClean="0"/>
              <a:pPr/>
              <a:t>3</a:t>
            </a:fld>
            <a:endParaRPr lang="en-US" dirty="0"/>
          </a:p>
        </p:txBody>
      </p:sp>
    </p:spTree>
    <p:extLst>
      <p:ext uri="{BB962C8B-B14F-4D97-AF65-F5344CB8AC3E}">
        <p14:creationId xmlns:p14="http://schemas.microsoft.com/office/powerpoint/2010/main" val="440144490"/>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71348" y="0"/>
            <a:ext cx="7772400" cy="685800"/>
          </a:xfrm>
        </p:spPr>
        <p:txBody>
          <a:bodyPr/>
          <a:lstStyle/>
          <a:p>
            <a:pPr algn="ctr" eaLnBrk="1" hangingPunct="1"/>
            <a:r>
              <a:rPr lang="en-US" altLang="en-US" sz="4000" b="1" dirty="0" smtClean="0"/>
              <a:t>Autonomous</a:t>
            </a:r>
            <a:r>
              <a:rPr lang="en-US" altLang="en-US" b="1" dirty="0" smtClean="0"/>
              <a:t> Systems</a:t>
            </a:r>
          </a:p>
        </p:txBody>
      </p:sp>
      <p:sp>
        <p:nvSpPr>
          <p:cNvPr id="11267" name="Rectangle 3"/>
          <p:cNvSpPr>
            <a:spLocks noGrp="1" noChangeArrowheads="1"/>
          </p:cNvSpPr>
          <p:nvPr>
            <p:ph type="body" idx="1"/>
          </p:nvPr>
        </p:nvSpPr>
        <p:spPr>
          <a:xfrm>
            <a:off x="252248" y="990600"/>
            <a:ext cx="8610600" cy="6096000"/>
          </a:xfrm>
        </p:spPr>
        <p:txBody>
          <a:bodyPr/>
          <a:lstStyle/>
          <a:p>
            <a:pPr eaLnBrk="1" hangingPunct="1">
              <a:lnSpc>
                <a:spcPct val="90000"/>
              </a:lnSpc>
            </a:pPr>
            <a:r>
              <a:rPr lang="en-US" altLang="en-US" sz="2800" dirty="0" smtClean="0">
                <a:cs typeface="Times New Roman" panose="02020603050405020304" pitchFamily="18" charset="0"/>
              </a:rPr>
              <a:t>An internetwork is a confederation of smaller, independent networks. </a:t>
            </a:r>
          </a:p>
          <a:p>
            <a:pPr eaLnBrk="1" hangingPunct="1">
              <a:lnSpc>
                <a:spcPct val="90000"/>
              </a:lnSpc>
            </a:pPr>
            <a:r>
              <a:rPr lang="en-US" altLang="en-US" sz="2800" dirty="0" smtClean="0">
                <a:cs typeface="Times New Roman" panose="02020603050405020304" pitchFamily="18" charset="0"/>
              </a:rPr>
              <a:t>Each of these smaller networks may be owned and operated by a different organization: a company, university, government agency, or some other group. </a:t>
            </a:r>
          </a:p>
          <a:p>
            <a:pPr eaLnBrk="1" hangingPunct="1">
              <a:lnSpc>
                <a:spcPct val="90000"/>
              </a:lnSpc>
            </a:pPr>
            <a:r>
              <a:rPr lang="en-US" altLang="en-US" sz="2800" dirty="0" smtClean="0">
                <a:cs typeface="Times New Roman" panose="02020603050405020304" pitchFamily="18" charset="0"/>
              </a:rPr>
              <a:t>Since the routing and security policies of one organization may conflict with the policies of another, internetworks are divided into domains, or </a:t>
            </a:r>
            <a:r>
              <a:rPr lang="en-US" altLang="en-US" sz="2800" b="1" dirty="0" smtClean="0">
                <a:cs typeface="Times New Roman" panose="02020603050405020304" pitchFamily="18" charset="0"/>
              </a:rPr>
              <a:t>autonomous systems</a:t>
            </a:r>
            <a:r>
              <a:rPr lang="en-US" altLang="en-US" sz="2800" dirty="0" smtClean="0">
                <a:cs typeface="Times New Roman" panose="02020603050405020304" pitchFamily="18" charset="0"/>
              </a:rPr>
              <a:t>. </a:t>
            </a:r>
          </a:p>
          <a:p>
            <a:pPr eaLnBrk="1" hangingPunct="1">
              <a:lnSpc>
                <a:spcPct val="90000"/>
              </a:lnSpc>
            </a:pPr>
            <a:r>
              <a:rPr lang="en-US" altLang="en-US" sz="2800" dirty="0" smtClean="0">
                <a:cs typeface="Times New Roman" panose="02020603050405020304" pitchFamily="18" charset="0"/>
              </a:rPr>
              <a:t>Each AS typically represents an independent organization, and applies its own unique routing and security policies.</a:t>
            </a:r>
          </a:p>
          <a:p>
            <a:pPr eaLnBrk="1" hangingPunct="1">
              <a:lnSpc>
                <a:spcPct val="90000"/>
              </a:lnSpc>
            </a:pPr>
            <a:r>
              <a:rPr lang="en-US" altLang="en-US" sz="2800" dirty="0" smtClean="0">
                <a:cs typeface="Times New Roman" panose="02020603050405020304" pitchFamily="18" charset="0"/>
              </a:rPr>
              <a:t>EGPs facilitate the sharing of routing information between autonomous systems. </a:t>
            </a:r>
          </a:p>
        </p:txBody>
      </p:sp>
      <p:sp>
        <p:nvSpPr>
          <p:cNvPr id="2" name="Slide Number Placeholder 1"/>
          <p:cNvSpPr>
            <a:spLocks noGrp="1"/>
          </p:cNvSpPr>
          <p:nvPr>
            <p:ph type="sldNum" sz="quarter" idx="10"/>
          </p:nvPr>
        </p:nvSpPr>
        <p:spPr/>
        <p:txBody>
          <a:bodyPr/>
          <a:lstStyle/>
          <a:p>
            <a:fld id="{1C0FA7A3-0FBF-4EC3-BE45-825983E95E58}" type="slidenum">
              <a:rPr lang="en-US" smtClean="0"/>
              <a:pPr/>
              <a:t>4</a:t>
            </a:fld>
            <a:endParaRPr lang="en-US" dirty="0"/>
          </a:p>
        </p:txBody>
      </p:sp>
    </p:spTree>
    <p:extLst>
      <p:ext uri="{BB962C8B-B14F-4D97-AF65-F5344CB8AC3E}">
        <p14:creationId xmlns:p14="http://schemas.microsoft.com/office/powerpoint/2010/main" val="1226138672"/>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28600" y="-152400"/>
            <a:ext cx="7772400" cy="762000"/>
          </a:xfrm>
        </p:spPr>
        <p:txBody>
          <a:bodyPr/>
          <a:lstStyle/>
          <a:p>
            <a:pPr algn="ctr" eaLnBrk="1" hangingPunct="1"/>
            <a:r>
              <a:rPr lang="en-US" altLang="en-US" b="1" dirty="0" smtClean="0"/>
              <a:t>AS Numbers</a:t>
            </a:r>
          </a:p>
        </p:txBody>
      </p:sp>
      <p:sp>
        <p:nvSpPr>
          <p:cNvPr id="12291" name="Rectangle 3"/>
          <p:cNvSpPr>
            <a:spLocks noGrp="1" noChangeArrowheads="1"/>
          </p:cNvSpPr>
          <p:nvPr>
            <p:ph type="body" idx="1"/>
          </p:nvPr>
        </p:nvSpPr>
        <p:spPr>
          <a:xfrm>
            <a:off x="381000" y="1295400"/>
            <a:ext cx="8305800" cy="4724400"/>
          </a:xfrm>
        </p:spPr>
        <p:txBody>
          <a:bodyPr/>
          <a:lstStyle/>
          <a:p>
            <a:pPr eaLnBrk="1" hangingPunct="1"/>
            <a:r>
              <a:rPr lang="en-US" altLang="en-US" sz="2800" dirty="0" smtClean="0">
                <a:cs typeface="Times New Roman" panose="02020603050405020304" pitchFamily="18" charset="0"/>
              </a:rPr>
              <a:t>Each AS has an identifying number, assigned by an Internet registry or a service provider, between </a:t>
            </a:r>
            <a:r>
              <a:rPr lang="en-US" altLang="en-US" sz="2800" b="1" dirty="0" smtClean="0">
                <a:cs typeface="Times New Roman" panose="02020603050405020304" pitchFamily="18" charset="0"/>
              </a:rPr>
              <a:t>1 and 65535.</a:t>
            </a:r>
          </a:p>
          <a:p>
            <a:pPr eaLnBrk="1" hangingPunct="1"/>
            <a:r>
              <a:rPr lang="en-US" altLang="en-US" sz="2800" dirty="0" smtClean="0">
                <a:cs typeface="Times New Roman" panose="02020603050405020304" pitchFamily="18" charset="0"/>
              </a:rPr>
              <a:t>Private AS numbers: Between </a:t>
            </a:r>
            <a:r>
              <a:rPr lang="en-US" altLang="en-US" sz="2800" b="1" dirty="0" smtClean="0">
                <a:cs typeface="Times New Roman" panose="02020603050405020304" pitchFamily="18" charset="0"/>
              </a:rPr>
              <a:t>64512 through 65535</a:t>
            </a:r>
            <a:endParaRPr lang="en-US" altLang="en-US" sz="2800" dirty="0">
              <a:cs typeface="Times New Roman" panose="02020603050405020304" pitchFamily="18" charset="0"/>
            </a:endParaRPr>
          </a:p>
          <a:p>
            <a:pPr eaLnBrk="1" hangingPunct="1"/>
            <a:r>
              <a:rPr lang="en-US" altLang="en-US" sz="2800" dirty="0" smtClean="0">
                <a:cs typeface="Times New Roman" panose="02020603050405020304" pitchFamily="18" charset="0"/>
              </a:rPr>
              <a:t>Be</a:t>
            </a:r>
            <a:r>
              <a:rPr lang="en-US" altLang="en-US" dirty="0" smtClean="0">
                <a:cs typeface="Times New Roman" panose="02020603050405020304" pitchFamily="18" charset="0"/>
              </a:rPr>
              <a:t>cause of the finite number of available AS numbers, an organization must present justification of its need before it will be assigned an AS number.</a:t>
            </a:r>
            <a:r>
              <a:rPr lang="en-US" altLang="en-US" dirty="0" smtClean="0"/>
              <a:t> </a:t>
            </a:r>
          </a:p>
        </p:txBody>
      </p:sp>
      <p:sp>
        <p:nvSpPr>
          <p:cNvPr id="2" name="Slide Number Placeholder 1"/>
          <p:cNvSpPr>
            <a:spLocks noGrp="1"/>
          </p:cNvSpPr>
          <p:nvPr>
            <p:ph type="sldNum" sz="quarter" idx="10"/>
          </p:nvPr>
        </p:nvSpPr>
        <p:spPr/>
        <p:txBody>
          <a:bodyPr/>
          <a:lstStyle/>
          <a:p>
            <a:fld id="{1C0FA7A3-0FBF-4EC3-BE45-825983E95E58}" type="slidenum">
              <a:rPr lang="en-US" smtClean="0"/>
              <a:pPr/>
              <a:t>5</a:t>
            </a:fld>
            <a:endParaRPr lang="en-US" dirty="0"/>
          </a:p>
        </p:txBody>
      </p:sp>
    </p:spTree>
    <p:extLst>
      <p:ext uri="{BB962C8B-B14F-4D97-AF65-F5344CB8AC3E}">
        <p14:creationId xmlns:p14="http://schemas.microsoft.com/office/powerpoint/2010/main" val="2008420210"/>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09600" y="-76200"/>
            <a:ext cx="7772400" cy="685800"/>
          </a:xfrm>
        </p:spPr>
        <p:txBody>
          <a:bodyPr/>
          <a:lstStyle/>
          <a:p>
            <a:pPr algn="ctr" eaLnBrk="1" hangingPunct="1"/>
            <a:r>
              <a:rPr lang="en-US" altLang="en-US" b="1" dirty="0" smtClean="0"/>
              <a:t>AS Numbers</a:t>
            </a:r>
          </a:p>
        </p:txBody>
      </p:sp>
      <p:sp>
        <p:nvSpPr>
          <p:cNvPr id="13315" name="Rectangle 3"/>
          <p:cNvSpPr>
            <a:spLocks noGrp="1" noChangeArrowheads="1"/>
          </p:cNvSpPr>
          <p:nvPr>
            <p:ph type="body" idx="1"/>
          </p:nvPr>
        </p:nvSpPr>
        <p:spPr>
          <a:xfrm>
            <a:off x="304800" y="1295400"/>
            <a:ext cx="8640763" cy="4800600"/>
          </a:xfrm>
        </p:spPr>
        <p:txBody>
          <a:bodyPr/>
          <a:lstStyle/>
          <a:p>
            <a:pPr eaLnBrk="1" hangingPunct="1">
              <a:lnSpc>
                <a:spcPct val="90000"/>
              </a:lnSpc>
            </a:pPr>
            <a:r>
              <a:rPr lang="en-US" altLang="en-US" sz="2800" dirty="0" smtClean="0">
                <a:cs typeface="Times New Roman" panose="02020603050405020304" pitchFamily="18" charset="0"/>
              </a:rPr>
              <a:t>Organizations that connect to a single provider and share the provider’s routing policies use an AS number from the private pool (64,512-65,535). </a:t>
            </a:r>
          </a:p>
          <a:p>
            <a:pPr eaLnBrk="1" hangingPunct="1">
              <a:lnSpc>
                <a:spcPct val="90000"/>
              </a:lnSpc>
            </a:pPr>
            <a:r>
              <a:rPr lang="en-US" altLang="en-US" sz="2800" dirty="0" smtClean="0">
                <a:cs typeface="Times New Roman" panose="02020603050405020304" pitchFamily="18" charset="0"/>
              </a:rPr>
              <a:t>These private AS numbers appear only within the provider’s network, and are replaced by the provider’s registered number upon exiting the network. </a:t>
            </a:r>
            <a:r>
              <a:rPr lang="en-US" altLang="en-US" dirty="0" smtClean="0">
                <a:solidFill>
                  <a:schemeClr val="accent2"/>
                </a:solidFill>
                <a:cs typeface="Times New Roman" panose="02020603050405020304" pitchFamily="18" charset="0"/>
              </a:rPr>
              <a:t>us, to the</a:t>
            </a:r>
            <a:endParaRPr lang="en-US"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6</a:t>
            </a:fld>
            <a:endParaRPr lang="en-US" dirty="0"/>
          </a:p>
        </p:txBody>
      </p:sp>
    </p:spTree>
    <p:extLst>
      <p:ext uri="{BB962C8B-B14F-4D97-AF65-F5344CB8AC3E}">
        <p14:creationId xmlns:p14="http://schemas.microsoft.com/office/powerpoint/2010/main" val="985628089"/>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152400"/>
            <a:ext cx="7772400" cy="533400"/>
          </a:xfrm>
        </p:spPr>
        <p:txBody>
          <a:bodyPr/>
          <a:lstStyle/>
          <a:p>
            <a:pPr algn="ctr" eaLnBrk="1" hangingPunct="1"/>
            <a:r>
              <a:rPr lang="en-US" altLang="en-US" b="1" dirty="0" smtClean="0"/>
              <a:t>BGP Basics</a:t>
            </a:r>
          </a:p>
        </p:txBody>
      </p:sp>
      <p:sp>
        <p:nvSpPr>
          <p:cNvPr id="26627" name="Rectangle 3"/>
          <p:cNvSpPr>
            <a:spLocks noGrp="1" noChangeArrowheads="1"/>
          </p:cNvSpPr>
          <p:nvPr>
            <p:ph type="body" idx="1"/>
          </p:nvPr>
        </p:nvSpPr>
        <p:spPr>
          <a:xfrm>
            <a:off x="457200" y="1308538"/>
            <a:ext cx="8153400" cy="5562600"/>
          </a:xfrm>
        </p:spPr>
        <p:txBody>
          <a:bodyPr/>
          <a:lstStyle/>
          <a:p>
            <a:pPr eaLnBrk="1" hangingPunct="1">
              <a:lnSpc>
                <a:spcPct val="90000"/>
              </a:lnSpc>
            </a:pPr>
            <a:r>
              <a:rPr lang="en-US" altLang="en-US" sz="3600" dirty="0" smtClean="0"/>
              <a:t>BGP is a path vector routing protocol.</a:t>
            </a:r>
          </a:p>
          <a:p>
            <a:pPr eaLnBrk="1" hangingPunct="1">
              <a:lnSpc>
                <a:spcPct val="90000"/>
              </a:lnSpc>
            </a:pPr>
            <a:r>
              <a:rPr lang="en-US" altLang="en-US" sz="3600" dirty="0" smtClean="0"/>
              <a:t>The node makes its route calculations based on those advertised routes and passes the results to upstream neighbors.</a:t>
            </a:r>
          </a:p>
          <a:p>
            <a:pPr eaLnBrk="1" hangingPunct="1">
              <a:lnSpc>
                <a:spcPct val="90000"/>
              </a:lnSpc>
            </a:pPr>
            <a:r>
              <a:rPr lang="en-US" altLang="en-US" sz="3600" dirty="0" smtClean="0"/>
              <a:t>BGP uses a list of AS numbers through which a packet must pass to reach a destination.</a:t>
            </a:r>
          </a:p>
        </p:txBody>
      </p:sp>
      <p:sp>
        <p:nvSpPr>
          <p:cNvPr id="2" name="Slide Number Placeholder 1"/>
          <p:cNvSpPr>
            <a:spLocks noGrp="1"/>
          </p:cNvSpPr>
          <p:nvPr>
            <p:ph type="sldNum" sz="quarter" idx="10"/>
          </p:nvPr>
        </p:nvSpPr>
        <p:spPr/>
        <p:txBody>
          <a:bodyPr/>
          <a:lstStyle/>
          <a:p>
            <a:fld id="{1C0FA7A3-0FBF-4EC3-BE45-825983E95E58}" type="slidenum">
              <a:rPr lang="en-US" smtClean="0"/>
              <a:pPr/>
              <a:t>7</a:t>
            </a:fld>
            <a:endParaRPr lang="en-US" dirty="0"/>
          </a:p>
        </p:txBody>
      </p:sp>
    </p:spTree>
    <p:extLst>
      <p:ext uri="{BB962C8B-B14F-4D97-AF65-F5344CB8AC3E}">
        <p14:creationId xmlns:p14="http://schemas.microsoft.com/office/powerpoint/2010/main" val="3982280353"/>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7" name="Rectangle 3"/>
          <p:cNvSpPr>
            <a:spLocks noGrp="1" noChangeArrowheads="1"/>
          </p:cNvSpPr>
          <p:nvPr>
            <p:ph type="body" idx="1"/>
          </p:nvPr>
        </p:nvSpPr>
        <p:spPr>
          <a:xfrm>
            <a:off x="609600" y="838200"/>
            <a:ext cx="7954963" cy="2819400"/>
          </a:xfrm>
        </p:spPr>
        <p:txBody>
          <a:bodyPr/>
          <a:lstStyle/>
          <a:p>
            <a:pPr eaLnBrk="1" hangingPunct="1">
              <a:lnSpc>
                <a:spcPct val="90000"/>
              </a:lnSpc>
              <a:defRPr/>
            </a:pPr>
            <a:r>
              <a:rPr lang="en-US" altLang="en-US" sz="2800" dirty="0" smtClean="0"/>
              <a:t>The list of AS numbers associated with a BGP route is called the </a:t>
            </a:r>
            <a:r>
              <a:rPr lang="en-US" altLang="en-US" sz="2800" b="1" dirty="0" smtClean="0">
                <a:effectLst>
                  <a:outerShdw blurRad="38100" dist="38100" dir="2700000" algn="tl">
                    <a:srgbClr val="C0C0C0"/>
                  </a:outerShdw>
                </a:effectLst>
              </a:rPr>
              <a:t>AS_PATH</a:t>
            </a:r>
            <a:r>
              <a:rPr lang="en-US" altLang="en-US" sz="2800" dirty="0" smtClean="0"/>
              <a:t> and is one of several path attributes associated with each route.</a:t>
            </a:r>
          </a:p>
          <a:p>
            <a:pPr eaLnBrk="1" hangingPunct="1">
              <a:lnSpc>
                <a:spcPct val="90000"/>
              </a:lnSpc>
              <a:defRPr/>
            </a:pPr>
            <a:r>
              <a:rPr lang="en-US" altLang="en-US" sz="2800" dirty="0" smtClean="0"/>
              <a:t>Path attributes will be discussed in much more detail later.</a:t>
            </a:r>
          </a:p>
          <a:p>
            <a:pPr eaLnBrk="1" hangingPunct="1">
              <a:lnSpc>
                <a:spcPct val="90000"/>
              </a:lnSpc>
              <a:defRPr/>
            </a:pPr>
            <a:r>
              <a:rPr lang="en-US" altLang="en-US" sz="2800" dirty="0" smtClean="0"/>
              <a:t>The shortest inter-AS path is very simply determined by the least number of AS numbers.</a:t>
            </a:r>
          </a:p>
          <a:p>
            <a:pPr eaLnBrk="1" hangingPunct="1">
              <a:lnSpc>
                <a:spcPct val="90000"/>
              </a:lnSpc>
              <a:defRPr/>
            </a:pPr>
            <a:r>
              <a:rPr lang="en-US" altLang="en-US" sz="2800" dirty="0" smtClean="0"/>
              <a:t>All things being equal, BGP prefers routes with shorter AS paths</a:t>
            </a:r>
            <a:r>
              <a:rPr lang="en-US" altLang="en-US" sz="2800" dirty="0" smtClean="0">
                <a:solidFill>
                  <a:schemeClr val="accent2"/>
                </a:solidFill>
              </a:rPr>
              <a:t>.</a:t>
            </a:r>
            <a:r>
              <a:rPr lang="en-US" altLang="en-US" sz="2800" dirty="0" smtClean="0"/>
              <a:t> </a:t>
            </a:r>
          </a:p>
          <a:p>
            <a:pPr eaLnBrk="1" hangingPunct="1">
              <a:lnSpc>
                <a:spcPct val="90000"/>
              </a:lnSpc>
              <a:defRPr/>
            </a:pPr>
            <a:r>
              <a:rPr lang="en-US" altLang="en-US" sz="2800" dirty="0" smtClean="0"/>
              <a:t>In this example, </a:t>
            </a:r>
            <a:r>
              <a:rPr lang="en-US" altLang="en-US" sz="2800" dirty="0" smtClean="0"/>
              <a:t>AS1-AS7 </a:t>
            </a:r>
            <a:r>
              <a:rPr lang="en-US" altLang="en-US" sz="2800" dirty="0" smtClean="0"/>
              <a:t>will choose the shortest path (4, 2, 1).</a:t>
            </a:r>
          </a:p>
          <a:p>
            <a:pPr eaLnBrk="1" hangingPunct="1">
              <a:lnSpc>
                <a:spcPct val="90000"/>
              </a:lnSpc>
              <a:defRPr/>
            </a:pPr>
            <a:r>
              <a:rPr lang="en-US" altLang="en-US" sz="2800" dirty="0" smtClean="0"/>
              <a:t>We will see later what happens with equal cost paths.</a:t>
            </a:r>
          </a:p>
        </p:txBody>
      </p:sp>
      <p:sp>
        <p:nvSpPr>
          <p:cNvPr id="4" name="Rectangle 2"/>
          <p:cNvSpPr>
            <a:spLocks noGrp="1" noChangeArrowheads="1"/>
          </p:cNvSpPr>
          <p:nvPr>
            <p:ph type="title"/>
          </p:nvPr>
        </p:nvSpPr>
        <p:spPr>
          <a:xfrm>
            <a:off x="480848" y="152400"/>
            <a:ext cx="7772400" cy="533400"/>
          </a:xfrm>
        </p:spPr>
        <p:txBody>
          <a:bodyPr/>
          <a:lstStyle/>
          <a:p>
            <a:pPr algn="ctr" eaLnBrk="1" hangingPunct="1"/>
            <a:r>
              <a:rPr lang="en-US" altLang="en-US" b="1" dirty="0" smtClean="0"/>
              <a:t>BGP Basics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8</a:t>
            </a:fld>
            <a:endParaRPr lang="en-US" dirty="0"/>
          </a:p>
        </p:txBody>
      </p:sp>
    </p:spTree>
    <p:extLst>
      <p:ext uri="{BB962C8B-B14F-4D97-AF65-F5344CB8AC3E}">
        <p14:creationId xmlns:p14="http://schemas.microsoft.com/office/powerpoint/2010/main" val="2294365972"/>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480848" y="152400"/>
            <a:ext cx="7772400" cy="533400"/>
          </a:xfrm>
        </p:spPr>
        <p:txBody>
          <a:bodyPr/>
          <a:lstStyle/>
          <a:p>
            <a:pPr algn="ctr" eaLnBrk="1" hangingPunct="1"/>
            <a:r>
              <a:rPr lang="en-US" altLang="en-US" b="1" dirty="0" smtClean="0"/>
              <a:t>BGP </a:t>
            </a:r>
            <a:r>
              <a:rPr lang="en-US" altLang="en-US" b="1" dirty="0" smtClean="0"/>
              <a:t>Basics (AS1-AS7)</a:t>
            </a:r>
            <a:endParaRPr lang="en-US" altLang="en-US" b="1" dirty="0" smtClean="0"/>
          </a:p>
        </p:txBody>
      </p:sp>
      <p:graphicFrame>
        <p:nvGraphicFramePr>
          <p:cNvPr id="5" name="Object 4"/>
          <p:cNvGraphicFramePr>
            <a:graphicFrameLocks noChangeAspect="1"/>
          </p:cNvGraphicFramePr>
          <p:nvPr/>
        </p:nvGraphicFramePr>
        <p:xfrm>
          <a:off x="1524000" y="1295400"/>
          <a:ext cx="5943600" cy="4419600"/>
        </p:xfrm>
        <a:graphic>
          <a:graphicData uri="http://schemas.openxmlformats.org/presentationml/2006/ole">
            <mc:AlternateContent xmlns:mc="http://schemas.openxmlformats.org/markup-compatibility/2006">
              <mc:Choice xmlns:v="urn:schemas-microsoft-com:vml" Requires="v">
                <p:oleObj spid="_x0000_s10268" name="VISIO" r:id="rId3" imgW="4164248" imgH="3240719" progId="Visio.Drawing.6">
                  <p:embed/>
                </p:oleObj>
              </mc:Choice>
              <mc:Fallback>
                <p:oleObj name="VISIO" r:id="rId3" imgW="4164248" imgH="3240719" progId="Visio.Drawing.6">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295400"/>
                        <a:ext cx="5943600" cy="4419600"/>
                      </a:xfrm>
                      <a:prstGeom prst="rect">
                        <a:avLst/>
                      </a:prstGeom>
                      <a:noFill/>
                      <a:ln>
                        <a:noFill/>
                      </a:ln>
                      <a:effectLst/>
                    </p:spPr>
                  </p:pic>
                </p:oleObj>
              </mc:Fallback>
            </mc:AlternateContent>
          </a:graphicData>
        </a:graphic>
      </p:graphicFrame>
      <p:sp>
        <p:nvSpPr>
          <p:cNvPr id="2" name="Slide Number Placeholder 1"/>
          <p:cNvSpPr>
            <a:spLocks noGrp="1"/>
          </p:cNvSpPr>
          <p:nvPr>
            <p:ph type="sldNum" sz="quarter" idx="10"/>
          </p:nvPr>
        </p:nvSpPr>
        <p:spPr/>
        <p:txBody>
          <a:bodyPr/>
          <a:lstStyle/>
          <a:p>
            <a:fld id="{1C0FA7A3-0FBF-4EC3-BE45-825983E95E58}" type="slidenum">
              <a:rPr lang="en-US" smtClean="0"/>
              <a:pPr/>
              <a:t>9</a:t>
            </a:fld>
            <a:endParaRPr lang="en-US" dirty="0"/>
          </a:p>
        </p:txBody>
      </p:sp>
    </p:spTree>
    <p:extLst>
      <p:ext uri="{BB962C8B-B14F-4D97-AF65-F5344CB8AC3E}">
        <p14:creationId xmlns:p14="http://schemas.microsoft.com/office/powerpoint/2010/main" val="2629522682"/>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type="body" idx="1"/>
          </p:nvPr>
        </p:nvSpPr>
        <p:spPr>
          <a:xfrm>
            <a:off x="762000" y="1447800"/>
            <a:ext cx="7772400" cy="2209800"/>
          </a:xfrm>
        </p:spPr>
        <p:txBody>
          <a:bodyPr/>
          <a:lstStyle/>
          <a:p>
            <a:pPr eaLnBrk="1" hangingPunct="1">
              <a:lnSpc>
                <a:spcPct val="90000"/>
              </a:lnSpc>
              <a:buFont typeface="Wingdings" panose="05000000000000000000" pitchFamily="2" charset="2"/>
              <a:buNone/>
            </a:pPr>
            <a:r>
              <a:rPr lang="en-US" altLang="en-US" b="1" dirty="0" smtClean="0"/>
              <a:t>Routing Loop Avoidance</a:t>
            </a:r>
          </a:p>
          <a:p>
            <a:pPr eaLnBrk="1" hangingPunct="1">
              <a:lnSpc>
                <a:spcPct val="90000"/>
              </a:lnSpc>
            </a:pPr>
            <a:r>
              <a:rPr lang="en-US" altLang="en-US" dirty="0" smtClean="0"/>
              <a:t>Route loops can be easily detected when a router receives an update containing its local AS number in the AS_PATH.</a:t>
            </a:r>
          </a:p>
          <a:p>
            <a:pPr eaLnBrk="1" hangingPunct="1">
              <a:lnSpc>
                <a:spcPct val="90000"/>
              </a:lnSpc>
            </a:pPr>
            <a:r>
              <a:rPr lang="en-US" altLang="en-US" dirty="0" smtClean="0"/>
              <a:t>When this occurs, the router will not accept the update, thereby avoiding a potential routing loop.</a:t>
            </a:r>
          </a:p>
        </p:txBody>
      </p:sp>
      <p:sp>
        <p:nvSpPr>
          <p:cNvPr id="4" name="Rectangle 2"/>
          <p:cNvSpPr>
            <a:spLocks noGrp="1" noChangeArrowheads="1"/>
          </p:cNvSpPr>
          <p:nvPr>
            <p:ph type="title"/>
          </p:nvPr>
        </p:nvSpPr>
        <p:spPr>
          <a:xfrm>
            <a:off x="480848" y="152400"/>
            <a:ext cx="7772400" cy="533400"/>
          </a:xfrm>
        </p:spPr>
        <p:txBody>
          <a:bodyPr/>
          <a:lstStyle/>
          <a:p>
            <a:pPr algn="ctr" eaLnBrk="1" hangingPunct="1"/>
            <a:r>
              <a:rPr lang="en-US" altLang="en-US" b="1" dirty="0" smtClean="0"/>
              <a:t>BGP Basics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10</a:t>
            </a:fld>
            <a:endParaRPr lang="en-US" dirty="0"/>
          </a:p>
        </p:txBody>
      </p:sp>
    </p:spTree>
    <p:extLst>
      <p:ext uri="{BB962C8B-B14F-4D97-AF65-F5344CB8AC3E}">
        <p14:creationId xmlns:p14="http://schemas.microsoft.com/office/powerpoint/2010/main" val="186448476"/>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5" name="Object 6"/>
          <p:cNvGraphicFramePr>
            <a:graphicFrameLocks noChangeAspect="1"/>
          </p:cNvGraphicFramePr>
          <p:nvPr/>
        </p:nvGraphicFramePr>
        <p:xfrm>
          <a:off x="1676400" y="1219200"/>
          <a:ext cx="5303838" cy="4724400"/>
        </p:xfrm>
        <a:graphic>
          <a:graphicData uri="http://schemas.openxmlformats.org/presentationml/2006/ole">
            <mc:AlternateContent xmlns:mc="http://schemas.openxmlformats.org/markup-compatibility/2006">
              <mc:Choice xmlns:v="urn:schemas-microsoft-com:vml" Requires="v">
                <p:oleObj spid="_x0000_s11292" name="VISIO" r:id="rId3" imgW="5308389" imgH="4153597" progId="Visio.Drawing.6">
                  <p:embed/>
                </p:oleObj>
              </mc:Choice>
              <mc:Fallback>
                <p:oleObj name="VISIO" r:id="rId3" imgW="5308389" imgH="4153597" progId="Visio.Drawing.6">
                  <p:embed/>
                  <p:pic>
                    <p:nvPicPr>
                      <p:cNvPr id="2867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219200"/>
                        <a:ext cx="5303838" cy="4724400"/>
                      </a:xfrm>
                      <a:prstGeom prst="rect">
                        <a:avLst/>
                      </a:prstGeom>
                      <a:noFill/>
                      <a:ln>
                        <a:noFill/>
                      </a:ln>
                      <a:effectLst/>
                    </p:spPr>
                  </p:pic>
                </p:oleObj>
              </mc:Fallback>
            </mc:AlternateContent>
          </a:graphicData>
        </a:graphic>
      </p:graphicFrame>
      <p:sp>
        <p:nvSpPr>
          <p:cNvPr id="5" name="Rectangle 2"/>
          <p:cNvSpPr>
            <a:spLocks noGrp="1" noChangeArrowheads="1"/>
          </p:cNvSpPr>
          <p:nvPr>
            <p:ph type="title"/>
          </p:nvPr>
        </p:nvSpPr>
        <p:spPr>
          <a:xfrm>
            <a:off x="480848" y="152400"/>
            <a:ext cx="7772400" cy="533400"/>
          </a:xfrm>
        </p:spPr>
        <p:txBody>
          <a:bodyPr/>
          <a:lstStyle/>
          <a:p>
            <a:pPr algn="ctr" eaLnBrk="1" hangingPunct="1"/>
            <a:r>
              <a:rPr lang="en-US" altLang="en-US" b="1" dirty="0" smtClean="0"/>
              <a:t>BGP Basics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11</a:t>
            </a:fld>
            <a:endParaRPr lang="en-US" dirty="0"/>
          </a:p>
        </p:txBody>
      </p:sp>
    </p:spTree>
    <p:extLst>
      <p:ext uri="{BB962C8B-B14F-4D97-AF65-F5344CB8AC3E}">
        <p14:creationId xmlns:p14="http://schemas.microsoft.com/office/powerpoint/2010/main" val="1765390121"/>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533400" y="152400"/>
            <a:ext cx="7772400" cy="533400"/>
          </a:xfrm>
        </p:spPr>
        <p:txBody>
          <a:bodyPr/>
          <a:lstStyle/>
          <a:p>
            <a:pPr algn="ctr" eaLnBrk="1" hangingPunct="1"/>
            <a:r>
              <a:rPr lang="en-US" altLang="en-US" b="1" dirty="0" smtClean="0"/>
              <a:t>BGP Basics</a:t>
            </a:r>
          </a:p>
        </p:txBody>
      </p:sp>
      <p:sp>
        <p:nvSpPr>
          <p:cNvPr id="29699" name="Rectangle 3"/>
          <p:cNvSpPr>
            <a:spLocks noGrp="1" noChangeArrowheads="1"/>
          </p:cNvSpPr>
          <p:nvPr>
            <p:ph type="body" idx="1"/>
          </p:nvPr>
        </p:nvSpPr>
        <p:spPr>
          <a:xfrm>
            <a:off x="304800" y="990600"/>
            <a:ext cx="8640763" cy="5562600"/>
          </a:xfrm>
        </p:spPr>
        <p:txBody>
          <a:bodyPr/>
          <a:lstStyle/>
          <a:p>
            <a:pPr eaLnBrk="1" hangingPunct="1"/>
            <a:r>
              <a:rPr lang="en-US" altLang="en-US" sz="2800" dirty="0" smtClean="0">
                <a:cs typeface="Times New Roman" panose="02020603050405020304" pitchFamily="18" charset="0"/>
              </a:rPr>
              <a:t>BGP4 is the first version of BGP that supports CIDR and route aggregation. </a:t>
            </a:r>
          </a:p>
          <a:p>
            <a:pPr eaLnBrk="1" hangingPunct="1"/>
            <a:r>
              <a:rPr lang="en-US" altLang="en-US" sz="2800" dirty="0" smtClean="0">
                <a:cs typeface="Times New Roman" panose="02020603050405020304" pitchFamily="18" charset="0"/>
              </a:rPr>
              <a:t>BGP does not use technical metrics, instead, BGP makes routing decisions based on network policies.</a:t>
            </a:r>
          </a:p>
          <a:p>
            <a:pPr eaLnBrk="1" hangingPunct="1"/>
            <a:r>
              <a:rPr lang="en-US" altLang="en-US" sz="2800" dirty="0" smtClean="0"/>
              <a:t>BGP does not show the details of topologies within each AS.</a:t>
            </a:r>
          </a:p>
          <a:p>
            <a:pPr eaLnBrk="1" hangingPunct="1"/>
            <a:r>
              <a:rPr lang="en-US" altLang="en-US" sz="2800" dirty="0" smtClean="0"/>
              <a:t>BGP sees only a tree of autonomous systems.</a:t>
            </a:r>
          </a:p>
          <a:p>
            <a:pPr eaLnBrk="1" hangingPunct="1"/>
            <a:r>
              <a:rPr lang="en-US" altLang="en-US" sz="2800" dirty="0" smtClean="0"/>
              <a:t>Cisco routers maintain a separate routing table to hold BGP routes. </a:t>
            </a:r>
          </a:p>
        </p:txBody>
      </p:sp>
      <p:sp>
        <p:nvSpPr>
          <p:cNvPr id="2" name="Slide Number Placeholder 1"/>
          <p:cNvSpPr>
            <a:spLocks noGrp="1"/>
          </p:cNvSpPr>
          <p:nvPr>
            <p:ph type="sldNum" sz="quarter" idx="10"/>
          </p:nvPr>
        </p:nvSpPr>
        <p:spPr/>
        <p:txBody>
          <a:bodyPr/>
          <a:lstStyle/>
          <a:p>
            <a:fld id="{1C0FA7A3-0FBF-4EC3-BE45-825983E95E58}" type="slidenum">
              <a:rPr lang="en-US" smtClean="0"/>
              <a:pPr/>
              <a:t>12</a:t>
            </a:fld>
            <a:endParaRPr lang="en-US" dirty="0"/>
          </a:p>
        </p:txBody>
      </p:sp>
    </p:spTree>
    <p:extLst>
      <p:ext uri="{BB962C8B-B14F-4D97-AF65-F5344CB8AC3E}">
        <p14:creationId xmlns:p14="http://schemas.microsoft.com/office/powerpoint/2010/main" val="64288915"/>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09600" y="-152400"/>
            <a:ext cx="7772400" cy="762000"/>
          </a:xfrm>
        </p:spPr>
        <p:txBody>
          <a:bodyPr/>
          <a:lstStyle/>
          <a:p>
            <a:pPr algn="ctr" eaLnBrk="1" hangingPunct="1"/>
            <a:r>
              <a:rPr lang="en-US" altLang="en-US" b="1" dirty="0" err="1"/>
              <a:t>i</a:t>
            </a:r>
            <a:r>
              <a:rPr lang="en-US" altLang="en-US" b="1" dirty="0" err="1" smtClean="0"/>
              <a:t>BGP</a:t>
            </a:r>
            <a:r>
              <a:rPr lang="en-US" altLang="en-US" b="1" dirty="0" smtClean="0"/>
              <a:t> versus EBGP</a:t>
            </a:r>
          </a:p>
        </p:txBody>
      </p:sp>
      <p:sp>
        <p:nvSpPr>
          <p:cNvPr id="30723" name="Rectangle 3"/>
          <p:cNvSpPr>
            <a:spLocks noGrp="1" noChangeArrowheads="1"/>
          </p:cNvSpPr>
          <p:nvPr>
            <p:ph type="body" idx="1"/>
          </p:nvPr>
        </p:nvSpPr>
        <p:spPr>
          <a:xfrm>
            <a:off x="304800" y="762000"/>
            <a:ext cx="8382000" cy="5257800"/>
          </a:xfrm>
        </p:spPr>
        <p:txBody>
          <a:bodyPr/>
          <a:lstStyle/>
          <a:p>
            <a:pPr eaLnBrk="1" hangingPunct="1"/>
            <a:r>
              <a:rPr lang="en-US" altLang="en-US" sz="2800" dirty="0" smtClean="0">
                <a:cs typeface="Times New Roman" panose="02020603050405020304" pitchFamily="18" charset="0"/>
              </a:rPr>
              <a:t>When BGP is running inside an AS, it is referred to as </a:t>
            </a:r>
            <a:r>
              <a:rPr lang="en-US" altLang="en-US" sz="2800" b="1" dirty="0" smtClean="0">
                <a:cs typeface="Times New Roman" panose="02020603050405020304" pitchFamily="18" charset="0"/>
              </a:rPr>
              <a:t>Internal BGP (IBGP)</a:t>
            </a:r>
            <a:r>
              <a:rPr lang="en-US" altLang="en-US" sz="2800" dirty="0" smtClean="0">
                <a:cs typeface="Times New Roman" panose="02020603050405020304" pitchFamily="18" charset="0"/>
              </a:rPr>
              <a:t>.</a:t>
            </a:r>
          </a:p>
          <a:p>
            <a:pPr lvl="1" eaLnBrk="1" hangingPunct="1"/>
            <a:r>
              <a:rPr lang="en-US" altLang="en-US" dirty="0" smtClean="0">
                <a:cs typeface="Times New Roman" panose="02020603050405020304" pitchFamily="18" charset="0"/>
              </a:rPr>
              <a:t>If a BGP router’s role is to route IBGP traffic, it is called a transit router. </a:t>
            </a:r>
          </a:p>
          <a:p>
            <a:pPr eaLnBrk="1" hangingPunct="1"/>
            <a:r>
              <a:rPr lang="en-US" altLang="en-US" sz="2800" dirty="0" smtClean="0">
                <a:cs typeface="Times New Roman" panose="02020603050405020304" pitchFamily="18" charset="0"/>
              </a:rPr>
              <a:t>When BGP runs between autonomous systems, it is called </a:t>
            </a:r>
            <a:r>
              <a:rPr lang="en-US" altLang="en-US" sz="2800" b="1" dirty="0" smtClean="0">
                <a:cs typeface="Times New Roman" panose="02020603050405020304" pitchFamily="18" charset="0"/>
              </a:rPr>
              <a:t>External BGP (EBGP)</a:t>
            </a:r>
            <a:r>
              <a:rPr lang="en-US" altLang="en-US" sz="2800" dirty="0" smtClean="0">
                <a:cs typeface="Times New Roman" panose="02020603050405020304" pitchFamily="18" charset="0"/>
              </a:rPr>
              <a:t>. </a:t>
            </a:r>
          </a:p>
          <a:p>
            <a:pPr lvl="1" eaLnBrk="1" hangingPunct="1"/>
            <a:r>
              <a:rPr lang="en-US" altLang="en-US" dirty="0" smtClean="0">
                <a:cs typeface="Times New Roman" panose="02020603050405020304" pitchFamily="18" charset="0"/>
              </a:rPr>
              <a:t>Routers that sit on the boundary of an AS and use EBGP to exchange information with the ISP are called border routers. </a:t>
            </a:r>
          </a:p>
          <a:p>
            <a:pPr eaLnBrk="1" hangingPunct="1"/>
            <a:r>
              <a:rPr lang="en-US" altLang="en-US" sz="2800" dirty="0" smtClean="0">
                <a:cs typeface="Times New Roman" panose="02020603050405020304" pitchFamily="18" charset="0"/>
              </a:rPr>
              <a:t>With few exceptions, interior BGP (IBGP) – BGP between peers in the same AS – is used only in multi-homed scenarios.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13</a:t>
            </a:fld>
            <a:endParaRPr lang="en-US" dirty="0"/>
          </a:p>
        </p:txBody>
      </p:sp>
    </p:spTree>
    <p:extLst>
      <p:ext uri="{BB962C8B-B14F-4D97-AF65-F5344CB8AC3E}">
        <p14:creationId xmlns:p14="http://schemas.microsoft.com/office/powerpoint/2010/main" val="2157419096"/>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body" idx="1"/>
          </p:nvPr>
        </p:nvSpPr>
        <p:spPr>
          <a:xfrm>
            <a:off x="283997" y="1196975"/>
            <a:ext cx="4929208" cy="2514600"/>
          </a:xfrm>
        </p:spPr>
        <p:txBody>
          <a:bodyPr/>
          <a:lstStyle/>
          <a:p>
            <a:pPr eaLnBrk="1" hangingPunct="1"/>
            <a:r>
              <a:rPr lang="en-US" altLang="en-US" sz="2800" b="1" dirty="0" smtClean="0">
                <a:solidFill>
                  <a:srgbClr val="FF0000"/>
                </a:solidFill>
              </a:rPr>
              <a:t>EBGP</a:t>
            </a:r>
            <a:r>
              <a:rPr lang="en-US" altLang="en-US" sz="2800" dirty="0" smtClean="0"/>
              <a:t>: Between Taos and Vail</a:t>
            </a:r>
          </a:p>
          <a:p>
            <a:pPr eaLnBrk="1" hangingPunct="1"/>
            <a:r>
              <a:rPr lang="en-US" altLang="en-US" sz="2800" b="1" dirty="0" smtClean="0">
                <a:solidFill>
                  <a:srgbClr val="CC0000"/>
                </a:solidFill>
              </a:rPr>
              <a:t>IBGP</a:t>
            </a:r>
            <a:r>
              <a:rPr lang="en-US" altLang="en-US" sz="2800" dirty="0" smtClean="0"/>
              <a:t>: Between Vail and Aspen</a:t>
            </a:r>
          </a:p>
          <a:p>
            <a:pPr eaLnBrk="1" hangingPunct="1"/>
            <a:endParaRPr lang="en-US" altLang="en-US" sz="2800" dirty="0" smtClean="0"/>
          </a:p>
        </p:txBody>
      </p:sp>
      <p:grpSp>
        <p:nvGrpSpPr>
          <p:cNvPr id="2" name="Group 1"/>
          <p:cNvGrpSpPr/>
          <p:nvPr/>
        </p:nvGrpSpPr>
        <p:grpSpPr>
          <a:xfrm>
            <a:off x="5029200" y="1196975"/>
            <a:ext cx="3733800" cy="4441825"/>
            <a:chOff x="2819400" y="228600"/>
            <a:chExt cx="3092450" cy="3703638"/>
          </a:xfrm>
        </p:grpSpPr>
        <p:graphicFrame>
          <p:nvGraphicFramePr>
            <p:cNvPr id="31747" name="Object 5"/>
            <p:cNvGraphicFramePr>
              <a:graphicFrameLocks noChangeAspect="1"/>
            </p:cNvGraphicFramePr>
            <p:nvPr/>
          </p:nvGraphicFramePr>
          <p:xfrm>
            <a:off x="3048000" y="228600"/>
            <a:ext cx="2863850" cy="3703638"/>
          </p:xfrm>
          <a:graphic>
            <a:graphicData uri="http://schemas.openxmlformats.org/presentationml/2006/ole">
              <mc:AlternateContent xmlns:mc="http://schemas.openxmlformats.org/markup-compatibility/2006">
                <mc:Choice xmlns:v="urn:schemas-microsoft-com:vml" Requires="v">
                  <p:oleObj spid="_x0000_s12316" name="VISIO" r:id="rId3" imgW="2864917" imgH="3697158" progId="Visio.Drawing.6">
                    <p:embed/>
                  </p:oleObj>
                </mc:Choice>
                <mc:Fallback>
                  <p:oleObj name="VISIO" r:id="rId3" imgW="2864917" imgH="3697158" progId="Visio.Drawing.6">
                    <p:embed/>
                    <p:pic>
                      <p:nvPicPr>
                        <p:cNvPr id="3174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28600"/>
                          <a:ext cx="2863850" cy="370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48" name="Text Box 6"/>
            <p:cNvSpPr txBox="1">
              <a:spLocks noChangeArrowheads="1"/>
            </p:cNvSpPr>
            <p:nvPr/>
          </p:nvSpPr>
          <p:spPr bwMode="auto">
            <a:xfrm>
              <a:off x="2819400" y="1981200"/>
              <a:ext cx="99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000" dirty="0">
                  <a:solidFill>
                    <a:srgbClr val="FF0000"/>
                  </a:solidFill>
                </a:rPr>
                <a:t>EBGP</a:t>
              </a:r>
            </a:p>
          </p:txBody>
        </p:sp>
        <p:sp>
          <p:nvSpPr>
            <p:cNvPr id="31749" name="Line 7"/>
            <p:cNvSpPr>
              <a:spLocks noChangeShapeType="1"/>
            </p:cNvSpPr>
            <p:nvPr/>
          </p:nvSpPr>
          <p:spPr bwMode="auto">
            <a:xfrm>
              <a:off x="3733800" y="1981200"/>
              <a:ext cx="0" cy="457200"/>
            </a:xfrm>
            <a:prstGeom prst="line">
              <a:avLst/>
            </a:prstGeom>
            <a:noFill/>
            <a:ln w="2540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sp>
          <p:nvSpPr>
            <p:cNvPr id="31750" name="Text Box 8"/>
            <p:cNvSpPr txBox="1">
              <a:spLocks noChangeArrowheads="1"/>
            </p:cNvSpPr>
            <p:nvPr/>
          </p:nvSpPr>
          <p:spPr bwMode="auto">
            <a:xfrm>
              <a:off x="4572000" y="1219200"/>
              <a:ext cx="99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000">
                  <a:solidFill>
                    <a:srgbClr val="CC0000"/>
                  </a:solidFill>
                </a:rPr>
                <a:t>IBGP</a:t>
              </a:r>
            </a:p>
          </p:txBody>
        </p:sp>
        <p:sp>
          <p:nvSpPr>
            <p:cNvPr id="31751" name="Line 9"/>
            <p:cNvSpPr>
              <a:spLocks noChangeShapeType="1"/>
            </p:cNvSpPr>
            <p:nvPr/>
          </p:nvSpPr>
          <p:spPr bwMode="auto">
            <a:xfrm flipV="1">
              <a:off x="4419600" y="1066800"/>
              <a:ext cx="381000" cy="381000"/>
            </a:xfrm>
            <a:prstGeom prst="line">
              <a:avLst/>
            </a:prstGeom>
            <a:noFill/>
            <a:ln w="25400">
              <a:solidFill>
                <a:srgbClr val="CC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sp>
        <p:nvSpPr>
          <p:cNvPr id="9" name="Rectangle 2"/>
          <p:cNvSpPr>
            <a:spLocks noGrp="1" noChangeArrowheads="1"/>
          </p:cNvSpPr>
          <p:nvPr>
            <p:ph type="title"/>
          </p:nvPr>
        </p:nvSpPr>
        <p:spPr>
          <a:xfrm>
            <a:off x="609600" y="-152400"/>
            <a:ext cx="7772400" cy="762000"/>
          </a:xfrm>
        </p:spPr>
        <p:txBody>
          <a:bodyPr/>
          <a:lstStyle/>
          <a:p>
            <a:pPr algn="ctr" eaLnBrk="1" hangingPunct="1"/>
            <a:r>
              <a:rPr lang="en-US" altLang="en-US" b="1" dirty="0" err="1"/>
              <a:t>i</a:t>
            </a:r>
            <a:r>
              <a:rPr lang="en-US" altLang="en-US" b="1" dirty="0" err="1" smtClean="0"/>
              <a:t>BGP</a:t>
            </a:r>
            <a:r>
              <a:rPr lang="en-US" altLang="en-US" b="1" dirty="0" smtClean="0"/>
              <a:t> versus EBGP</a:t>
            </a:r>
          </a:p>
        </p:txBody>
      </p:sp>
      <p:sp>
        <p:nvSpPr>
          <p:cNvPr id="3" name="Slide Number Placeholder 2"/>
          <p:cNvSpPr>
            <a:spLocks noGrp="1"/>
          </p:cNvSpPr>
          <p:nvPr>
            <p:ph type="sldNum" sz="quarter" idx="10"/>
          </p:nvPr>
        </p:nvSpPr>
        <p:spPr/>
        <p:txBody>
          <a:bodyPr/>
          <a:lstStyle/>
          <a:p>
            <a:fld id="{1C0FA7A3-0FBF-4EC3-BE45-825983E95E58}" type="slidenum">
              <a:rPr lang="en-US" smtClean="0"/>
              <a:pPr/>
              <a:t>14</a:t>
            </a:fld>
            <a:endParaRPr lang="en-US" dirty="0"/>
          </a:p>
        </p:txBody>
      </p:sp>
    </p:spTree>
    <p:extLst>
      <p:ext uri="{BB962C8B-B14F-4D97-AF65-F5344CB8AC3E}">
        <p14:creationId xmlns:p14="http://schemas.microsoft.com/office/powerpoint/2010/main" val="3765978504"/>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xfrm>
            <a:off x="228600" y="1066800"/>
            <a:ext cx="8458200" cy="5943600"/>
          </a:xfrm>
        </p:spPr>
        <p:txBody>
          <a:bodyPr/>
          <a:lstStyle/>
          <a:p>
            <a:pPr eaLnBrk="1" hangingPunct="1">
              <a:buFont typeface="Wingdings" panose="05000000000000000000" pitchFamily="2" charset="2"/>
              <a:buNone/>
            </a:pPr>
            <a:r>
              <a:rPr lang="en-US" altLang="en-US" dirty="0" smtClean="0"/>
              <a:t>When to use </a:t>
            </a:r>
            <a:r>
              <a:rPr lang="en-US" altLang="en-US" dirty="0" err="1" smtClean="0"/>
              <a:t>iBGP</a:t>
            </a:r>
            <a:r>
              <a:rPr lang="en-US" altLang="en-US" dirty="0" smtClean="0"/>
              <a:t> versus a static route to your provider:</a:t>
            </a:r>
          </a:p>
          <a:p>
            <a:pPr>
              <a:buFont typeface="Arial" panose="020B0604020202020204" pitchFamily="34" charset="0"/>
              <a:buChar char="•"/>
            </a:pPr>
            <a:r>
              <a:rPr lang="en-US" altLang="en-US" sz="2800" dirty="0" smtClean="0"/>
              <a:t>When the effects of BGP are well understood and one of the following conditions exist:</a:t>
            </a:r>
          </a:p>
          <a:p>
            <a:pPr lvl="1"/>
            <a:r>
              <a:rPr lang="en-US" altLang="en-US" sz="2400" dirty="0" smtClean="0"/>
              <a:t>The AS allows packets to transit through it to reach another AS (transit AS).  </a:t>
            </a:r>
          </a:p>
          <a:p>
            <a:pPr lvl="1"/>
            <a:r>
              <a:rPr lang="en-US" altLang="en-US" sz="2400" dirty="0" smtClean="0"/>
              <a:t>The AS has multiple connections to other AS’s.</a:t>
            </a:r>
          </a:p>
          <a:p>
            <a:pPr lvl="1"/>
            <a:r>
              <a:rPr lang="en-US" altLang="en-US" sz="2400" dirty="0" smtClean="0"/>
              <a:t>The flow of traffic entering or exiting the AS must be manipulated.  This is policy based routing and based on </a:t>
            </a:r>
            <a:r>
              <a:rPr lang="en-US" altLang="en-US" sz="2400" b="1" dirty="0" smtClean="0"/>
              <a:t>attributes</a:t>
            </a:r>
            <a:r>
              <a:rPr lang="en-US" altLang="en-US" sz="2400" dirty="0" smtClean="0"/>
              <a:t>.</a:t>
            </a:r>
          </a:p>
        </p:txBody>
      </p:sp>
      <p:sp>
        <p:nvSpPr>
          <p:cNvPr id="3" name="Rectangle 2"/>
          <p:cNvSpPr>
            <a:spLocks noGrp="1" noChangeArrowheads="1"/>
          </p:cNvSpPr>
          <p:nvPr>
            <p:ph type="title"/>
          </p:nvPr>
        </p:nvSpPr>
        <p:spPr>
          <a:xfrm>
            <a:off x="609600" y="-152400"/>
            <a:ext cx="7772400" cy="762000"/>
          </a:xfrm>
        </p:spPr>
        <p:txBody>
          <a:bodyPr/>
          <a:lstStyle/>
          <a:p>
            <a:pPr algn="ctr" eaLnBrk="1" hangingPunct="1"/>
            <a:r>
              <a:rPr lang="en-US" altLang="en-US" b="1" dirty="0" err="1" smtClean="0"/>
              <a:t>iBGP</a:t>
            </a:r>
            <a:r>
              <a:rPr lang="en-US" altLang="en-US" b="1" dirty="0" smtClean="0"/>
              <a:t> versus Static Routes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15</a:t>
            </a:fld>
            <a:endParaRPr lang="en-US" dirty="0"/>
          </a:p>
        </p:txBody>
      </p:sp>
    </p:spTree>
    <p:extLst>
      <p:ext uri="{BB962C8B-B14F-4D97-AF65-F5344CB8AC3E}">
        <p14:creationId xmlns:p14="http://schemas.microsoft.com/office/powerpoint/2010/main" val="809583831"/>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95400"/>
            <a:ext cx="7467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2"/>
          <p:cNvSpPr>
            <a:spLocks noGrp="1" noChangeArrowheads="1"/>
          </p:cNvSpPr>
          <p:nvPr>
            <p:ph type="title"/>
          </p:nvPr>
        </p:nvSpPr>
        <p:spPr>
          <a:xfrm>
            <a:off x="609600" y="-152400"/>
            <a:ext cx="7772400" cy="762000"/>
          </a:xfrm>
        </p:spPr>
        <p:txBody>
          <a:bodyPr/>
          <a:lstStyle/>
          <a:p>
            <a:pPr algn="ctr" eaLnBrk="1" hangingPunct="1"/>
            <a:r>
              <a:rPr lang="en-US" altLang="en-US" b="1" dirty="0" smtClean="0"/>
              <a:t>BGP Peers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16</a:t>
            </a:fld>
            <a:endParaRPr lang="en-US" dirty="0"/>
          </a:p>
        </p:txBody>
      </p:sp>
    </p:spTree>
    <p:extLst>
      <p:ext uri="{BB962C8B-B14F-4D97-AF65-F5344CB8AC3E}">
        <p14:creationId xmlns:p14="http://schemas.microsoft.com/office/powerpoint/2010/main" val="2921117765"/>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xfrm>
            <a:off x="390251" y="1066800"/>
            <a:ext cx="8296549" cy="3124200"/>
          </a:xfrm>
        </p:spPr>
        <p:txBody>
          <a:bodyPr/>
          <a:lstStyle/>
          <a:p>
            <a:pPr eaLnBrk="1" hangingPunct="1">
              <a:lnSpc>
                <a:spcPct val="90000"/>
              </a:lnSpc>
              <a:spcBef>
                <a:spcPts val="500"/>
              </a:spcBef>
              <a:spcAft>
                <a:spcPts val="500"/>
              </a:spcAft>
              <a:buFont typeface="Symbol" panose="05050102010706020507" pitchFamily="18" charset="2"/>
              <a:buChar char="·"/>
            </a:pPr>
            <a:r>
              <a:rPr lang="en-US" altLang="en-US" dirty="0" smtClean="0"/>
              <a:t>Routers A and B are running</a:t>
            </a:r>
            <a:r>
              <a:rPr lang="en-US" altLang="en-US" dirty="0" smtClean="0">
                <a:solidFill>
                  <a:srgbClr val="FF0000"/>
                </a:solidFill>
              </a:rPr>
              <a:t> </a:t>
            </a:r>
            <a:r>
              <a:rPr lang="en-US" altLang="en-US" b="1" dirty="0" smtClean="0">
                <a:solidFill>
                  <a:srgbClr val="FF0000"/>
                </a:solidFill>
              </a:rPr>
              <a:t>EBGP</a:t>
            </a:r>
            <a:r>
              <a:rPr lang="en-US" altLang="en-US" dirty="0" smtClean="0"/>
              <a:t>, and Routers B and C are running </a:t>
            </a:r>
            <a:r>
              <a:rPr lang="en-US" altLang="en-US" b="1" dirty="0" smtClean="0">
                <a:solidFill>
                  <a:srgbClr val="CC0000"/>
                </a:solidFill>
              </a:rPr>
              <a:t>IBGP</a:t>
            </a:r>
            <a:r>
              <a:rPr lang="en-US" altLang="en-US" dirty="0" smtClean="0"/>
              <a:t>. </a:t>
            </a:r>
          </a:p>
          <a:p>
            <a:pPr eaLnBrk="1" hangingPunct="1">
              <a:lnSpc>
                <a:spcPct val="90000"/>
              </a:lnSpc>
              <a:spcBef>
                <a:spcPts val="500"/>
              </a:spcBef>
              <a:spcAft>
                <a:spcPts val="500"/>
              </a:spcAft>
              <a:buFont typeface="Symbol" panose="05050102010706020507" pitchFamily="18" charset="2"/>
              <a:buChar char="·"/>
            </a:pPr>
            <a:r>
              <a:rPr lang="en-US" altLang="en-US" dirty="0" smtClean="0"/>
              <a:t>Note that the</a:t>
            </a:r>
            <a:r>
              <a:rPr lang="en-US" altLang="en-US" dirty="0" smtClean="0">
                <a:solidFill>
                  <a:srgbClr val="FF0000"/>
                </a:solidFill>
              </a:rPr>
              <a:t> </a:t>
            </a:r>
            <a:r>
              <a:rPr lang="en-US" altLang="en-US" b="1" dirty="0" smtClean="0">
                <a:solidFill>
                  <a:srgbClr val="FF0000"/>
                </a:solidFill>
              </a:rPr>
              <a:t>EBGP</a:t>
            </a:r>
            <a:r>
              <a:rPr lang="en-US" altLang="en-US" dirty="0" smtClean="0">
                <a:solidFill>
                  <a:srgbClr val="FF0000"/>
                </a:solidFill>
              </a:rPr>
              <a:t> </a:t>
            </a:r>
            <a:r>
              <a:rPr lang="en-US" altLang="en-US" dirty="0" smtClean="0"/>
              <a:t>peers are directly connected and that the </a:t>
            </a:r>
            <a:r>
              <a:rPr lang="en-US" altLang="en-US" b="1" dirty="0" smtClean="0">
                <a:solidFill>
                  <a:srgbClr val="CC0000"/>
                </a:solidFill>
              </a:rPr>
              <a:t>IBGP</a:t>
            </a:r>
            <a:r>
              <a:rPr lang="en-US" altLang="en-US" dirty="0" smtClean="0"/>
              <a:t> peers are not. (They can be.)</a:t>
            </a:r>
          </a:p>
          <a:p>
            <a:pPr eaLnBrk="1" hangingPunct="1">
              <a:lnSpc>
                <a:spcPct val="90000"/>
              </a:lnSpc>
              <a:spcBef>
                <a:spcPts val="500"/>
              </a:spcBef>
              <a:spcAft>
                <a:spcPts val="500"/>
              </a:spcAft>
              <a:buFont typeface="Symbol" panose="05050102010706020507" pitchFamily="18" charset="2"/>
              <a:buChar char="·"/>
            </a:pPr>
            <a:r>
              <a:rPr lang="en-US" altLang="en-US" dirty="0" smtClean="0"/>
              <a:t>As long as there is an </a:t>
            </a:r>
            <a:r>
              <a:rPr lang="en-US" altLang="en-US" b="1" dirty="0" smtClean="0">
                <a:solidFill>
                  <a:srgbClr val="009999"/>
                </a:solidFill>
              </a:rPr>
              <a:t>IGP</a:t>
            </a:r>
            <a:r>
              <a:rPr lang="en-US" altLang="en-US" dirty="0" smtClean="0"/>
              <a:t> running that allows the two neighbors to reach one another, IBGP peers do not have to be directly connected. </a:t>
            </a:r>
          </a:p>
        </p:txBody>
      </p:sp>
      <p:sp>
        <p:nvSpPr>
          <p:cNvPr id="4" name="Rectangle 2"/>
          <p:cNvSpPr>
            <a:spLocks noGrp="1" noChangeArrowheads="1"/>
          </p:cNvSpPr>
          <p:nvPr>
            <p:ph type="title"/>
          </p:nvPr>
        </p:nvSpPr>
        <p:spPr>
          <a:xfrm>
            <a:off x="609600" y="-152400"/>
            <a:ext cx="7772400" cy="762000"/>
          </a:xfrm>
        </p:spPr>
        <p:txBody>
          <a:bodyPr/>
          <a:lstStyle/>
          <a:p>
            <a:pPr algn="ctr" eaLnBrk="1" hangingPunct="1"/>
            <a:r>
              <a:rPr lang="en-US" altLang="en-US" b="1" dirty="0" smtClean="0"/>
              <a:t>BGP Peers</a:t>
            </a:r>
          </a:p>
        </p:txBody>
      </p:sp>
      <p:sp>
        <p:nvSpPr>
          <p:cNvPr id="2" name="TextBox 1"/>
          <p:cNvSpPr txBox="1"/>
          <p:nvPr/>
        </p:nvSpPr>
        <p:spPr>
          <a:xfrm>
            <a:off x="4766065" y="6324600"/>
            <a:ext cx="3634328" cy="369332"/>
          </a:xfrm>
          <a:prstGeom prst="rect">
            <a:avLst/>
          </a:prstGeom>
          <a:noFill/>
        </p:spPr>
        <p:txBody>
          <a:bodyPr wrap="none" rtlCol="0">
            <a:spAutoFit/>
          </a:bodyPr>
          <a:lstStyle/>
          <a:p>
            <a:r>
              <a:rPr lang="en-US" dirty="0" smtClean="0"/>
              <a:t>See second slide after this one.</a:t>
            </a:r>
            <a:endParaRPr lang="en-US" dirty="0"/>
          </a:p>
        </p:txBody>
      </p:sp>
      <p:sp>
        <p:nvSpPr>
          <p:cNvPr id="3" name="Slide Number Placeholder 2"/>
          <p:cNvSpPr>
            <a:spLocks noGrp="1"/>
          </p:cNvSpPr>
          <p:nvPr>
            <p:ph type="sldNum" sz="quarter" idx="10"/>
          </p:nvPr>
        </p:nvSpPr>
        <p:spPr/>
        <p:txBody>
          <a:bodyPr/>
          <a:lstStyle/>
          <a:p>
            <a:fld id="{1C0FA7A3-0FBF-4EC3-BE45-825983E95E58}" type="slidenum">
              <a:rPr lang="en-US" smtClean="0"/>
              <a:pPr/>
              <a:t>17</a:t>
            </a:fld>
            <a:endParaRPr lang="en-US" dirty="0"/>
          </a:p>
        </p:txBody>
      </p:sp>
    </p:spTree>
    <p:extLst>
      <p:ext uri="{BB962C8B-B14F-4D97-AF65-F5344CB8AC3E}">
        <p14:creationId xmlns:p14="http://schemas.microsoft.com/office/powerpoint/2010/main" val="3560721514"/>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xfrm>
            <a:off x="457200" y="914400"/>
            <a:ext cx="8183563" cy="2667000"/>
          </a:xfrm>
        </p:spPr>
        <p:txBody>
          <a:bodyPr/>
          <a:lstStyle/>
          <a:p>
            <a:pPr eaLnBrk="1" hangingPunct="1">
              <a:spcBef>
                <a:spcPts val="500"/>
              </a:spcBef>
              <a:spcAft>
                <a:spcPts val="500"/>
              </a:spcAft>
              <a:buFont typeface="Symbol" panose="05050102010706020507" pitchFamily="18" charset="2"/>
              <a:buChar char="·"/>
            </a:pPr>
            <a:r>
              <a:rPr lang="en-US" altLang="en-US" dirty="0" smtClean="0"/>
              <a:t>All </a:t>
            </a:r>
            <a:r>
              <a:rPr lang="en-US" altLang="en-US" b="1" dirty="0" smtClean="0"/>
              <a:t>BGP</a:t>
            </a:r>
            <a:r>
              <a:rPr lang="en-US" altLang="en-US" dirty="0" smtClean="0"/>
              <a:t> speakers within an AS must establish a peer relationship with each other, that is, the </a:t>
            </a:r>
            <a:r>
              <a:rPr lang="en-US" altLang="en-US" b="1" dirty="0" smtClean="0"/>
              <a:t>BGP</a:t>
            </a:r>
            <a:r>
              <a:rPr lang="en-US" altLang="en-US" dirty="0" smtClean="0"/>
              <a:t> speakers within an AS must be fully meshed logically.</a:t>
            </a:r>
          </a:p>
          <a:p>
            <a:pPr eaLnBrk="1" hangingPunct="1">
              <a:spcBef>
                <a:spcPts val="500"/>
              </a:spcBef>
              <a:spcAft>
                <a:spcPts val="500"/>
              </a:spcAft>
              <a:buFont typeface="Symbol" panose="05050102010706020507" pitchFamily="18" charset="2"/>
              <a:buChar char="·"/>
            </a:pPr>
            <a:r>
              <a:rPr lang="en-US" altLang="en-US" dirty="0" smtClean="0"/>
              <a:t>BGP4 provides two techniques that alleviate the requirement for a logical full mesh: confederations and route reflectors.</a:t>
            </a:r>
          </a:p>
          <a:p>
            <a:pPr eaLnBrk="1" hangingPunct="1">
              <a:spcBef>
                <a:spcPts val="500"/>
              </a:spcBef>
              <a:spcAft>
                <a:spcPts val="500"/>
              </a:spcAft>
              <a:buFont typeface="Symbol" panose="05050102010706020507" pitchFamily="18" charset="2"/>
              <a:buChar char="·"/>
            </a:pPr>
            <a:r>
              <a:rPr lang="en-US" altLang="en-US" dirty="0" smtClean="0"/>
              <a:t>AS 200 is a </a:t>
            </a:r>
            <a:r>
              <a:rPr lang="en-US" altLang="en-US" b="1" i="1" dirty="0" smtClean="0"/>
              <a:t>transit</a:t>
            </a:r>
            <a:r>
              <a:rPr lang="en-US" altLang="en-US" i="1" dirty="0" smtClean="0"/>
              <a:t> </a:t>
            </a:r>
            <a:r>
              <a:rPr lang="en-US" altLang="en-US" b="1" i="1" dirty="0" smtClean="0"/>
              <a:t>AS</a:t>
            </a:r>
            <a:r>
              <a:rPr lang="en-US" altLang="en-US" dirty="0" smtClean="0"/>
              <a:t> for AS 100 and AS 300---that is, AS 200 is used to transfer packets between AS 100 and AS 300.</a:t>
            </a:r>
          </a:p>
        </p:txBody>
      </p:sp>
      <p:sp>
        <p:nvSpPr>
          <p:cNvPr id="4" name="Rectangle 2"/>
          <p:cNvSpPr>
            <a:spLocks noGrp="1" noChangeArrowheads="1"/>
          </p:cNvSpPr>
          <p:nvPr>
            <p:ph type="title"/>
          </p:nvPr>
        </p:nvSpPr>
        <p:spPr>
          <a:xfrm>
            <a:off x="609600" y="-152400"/>
            <a:ext cx="7772400" cy="762000"/>
          </a:xfrm>
        </p:spPr>
        <p:txBody>
          <a:bodyPr/>
          <a:lstStyle/>
          <a:p>
            <a:pPr algn="ctr" eaLnBrk="1" hangingPunct="1"/>
            <a:r>
              <a:rPr lang="en-US" altLang="en-US" b="1" dirty="0" smtClean="0"/>
              <a:t>BGP Peers</a:t>
            </a:r>
          </a:p>
        </p:txBody>
      </p:sp>
      <p:sp>
        <p:nvSpPr>
          <p:cNvPr id="5" name="TextBox 4"/>
          <p:cNvSpPr txBox="1"/>
          <p:nvPr/>
        </p:nvSpPr>
        <p:spPr>
          <a:xfrm>
            <a:off x="6172200" y="6324600"/>
            <a:ext cx="1787669" cy="369332"/>
          </a:xfrm>
          <a:prstGeom prst="rect">
            <a:avLst/>
          </a:prstGeom>
          <a:noFill/>
        </p:spPr>
        <p:txBody>
          <a:bodyPr wrap="none" rtlCol="0">
            <a:spAutoFit/>
          </a:bodyPr>
          <a:lstStyle/>
          <a:p>
            <a:r>
              <a:rPr lang="en-US" dirty="0" smtClean="0"/>
              <a:t>See next slide</a:t>
            </a:r>
            <a:endParaRPr lang="en-US" dirty="0"/>
          </a:p>
        </p:txBody>
      </p:sp>
      <p:sp>
        <p:nvSpPr>
          <p:cNvPr id="2" name="Slide Number Placeholder 1"/>
          <p:cNvSpPr>
            <a:spLocks noGrp="1"/>
          </p:cNvSpPr>
          <p:nvPr>
            <p:ph type="sldNum" sz="quarter" idx="10"/>
          </p:nvPr>
        </p:nvSpPr>
        <p:spPr/>
        <p:txBody>
          <a:bodyPr/>
          <a:lstStyle/>
          <a:p>
            <a:fld id="{1C0FA7A3-0FBF-4EC3-BE45-825983E95E58}" type="slidenum">
              <a:rPr lang="en-US" smtClean="0"/>
              <a:pPr/>
              <a:t>18</a:t>
            </a:fld>
            <a:endParaRPr lang="en-US" dirty="0"/>
          </a:p>
        </p:txBody>
      </p:sp>
    </p:spTree>
    <p:extLst>
      <p:ext uri="{BB962C8B-B14F-4D97-AF65-F5344CB8AC3E}">
        <p14:creationId xmlns:p14="http://schemas.microsoft.com/office/powerpoint/2010/main" val="451210817"/>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09600" y="76200"/>
            <a:ext cx="7772400" cy="533400"/>
          </a:xfrm>
        </p:spPr>
        <p:txBody>
          <a:bodyPr/>
          <a:lstStyle/>
          <a:p>
            <a:pPr algn="ctr" eaLnBrk="1" hangingPunct="1"/>
            <a:r>
              <a:rPr lang="en-US" altLang="en-US" sz="3200" b="1" dirty="0" smtClean="0"/>
              <a:t>EBGP versus IBGP</a:t>
            </a:r>
          </a:p>
        </p:txBody>
      </p:sp>
      <p:sp>
        <p:nvSpPr>
          <p:cNvPr id="36867" name="Rectangle 3"/>
          <p:cNvSpPr>
            <a:spLocks noGrp="1" noChangeArrowheads="1"/>
          </p:cNvSpPr>
          <p:nvPr>
            <p:ph type="body" idx="1"/>
          </p:nvPr>
        </p:nvSpPr>
        <p:spPr>
          <a:xfrm>
            <a:off x="228600" y="1143000"/>
            <a:ext cx="3429000" cy="2667000"/>
          </a:xfrm>
        </p:spPr>
        <p:txBody>
          <a:bodyPr/>
          <a:lstStyle/>
          <a:p>
            <a:pPr eaLnBrk="1" hangingPunct="1">
              <a:lnSpc>
                <a:spcPct val="90000"/>
              </a:lnSpc>
            </a:pPr>
            <a:r>
              <a:rPr lang="en-US" altLang="en-US" sz="2000" b="1" dirty="0" smtClean="0">
                <a:cs typeface="Times New Roman" panose="02020603050405020304" pitchFamily="18" charset="0"/>
              </a:rPr>
              <a:t>EBGP peers must be directly connected, but there are certain exceptions to this requirement. </a:t>
            </a:r>
          </a:p>
          <a:p>
            <a:pPr eaLnBrk="1" hangingPunct="1">
              <a:lnSpc>
                <a:spcPct val="90000"/>
              </a:lnSpc>
            </a:pPr>
            <a:r>
              <a:rPr lang="en-US" altLang="en-US" sz="2000" b="1" dirty="0" smtClean="0">
                <a:cs typeface="Times New Roman" panose="02020603050405020304" pitchFamily="18" charset="0"/>
              </a:rPr>
              <a:t>In contrast, IBGP peers merely require TCP/IP connectivity within the same AS. </a:t>
            </a:r>
          </a:p>
          <a:p>
            <a:pPr lvl="1" eaLnBrk="1" hangingPunct="1">
              <a:lnSpc>
                <a:spcPct val="90000"/>
              </a:lnSpc>
            </a:pPr>
            <a:r>
              <a:rPr lang="en-US" altLang="en-US" sz="2000" b="1" dirty="0" smtClean="0">
                <a:cs typeface="Times New Roman" panose="02020603050405020304" pitchFamily="18" charset="0"/>
              </a:rPr>
              <a:t>As long as RTY can communicate with RTW using TCP, both routers can establish an IBGP session. </a:t>
            </a:r>
          </a:p>
          <a:p>
            <a:pPr lvl="1" eaLnBrk="1" hangingPunct="1">
              <a:lnSpc>
                <a:spcPct val="90000"/>
              </a:lnSpc>
            </a:pPr>
            <a:r>
              <a:rPr lang="en-US" altLang="en-US" sz="2000" b="1" dirty="0" smtClean="0">
                <a:cs typeface="Times New Roman" panose="02020603050405020304" pitchFamily="18" charset="0"/>
              </a:rPr>
              <a:t>If needed, an IGP such as OSPF can provide IBGP peers with routes to each other.</a:t>
            </a:r>
            <a:endParaRPr lang="en-US" altLang="en-US" sz="1800" b="1" dirty="0" smtClean="0"/>
          </a:p>
        </p:txBody>
      </p:sp>
      <p:pic>
        <p:nvPicPr>
          <p:cNvPr id="36868" name="Picture 4" descr="fi9708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856593"/>
            <a:ext cx="4800600" cy="405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0"/>
          </p:nvPr>
        </p:nvSpPr>
        <p:spPr/>
        <p:txBody>
          <a:bodyPr/>
          <a:lstStyle/>
          <a:p>
            <a:fld id="{1C0FA7A3-0FBF-4EC3-BE45-825983E95E58}" type="slidenum">
              <a:rPr lang="en-US" smtClean="0"/>
              <a:pPr/>
              <a:t>19</a:t>
            </a:fld>
            <a:endParaRPr lang="en-US" dirty="0"/>
          </a:p>
        </p:txBody>
      </p:sp>
    </p:spTree>
    <p:extLst>
      <p:ext uri="{BB962C8B-B14F-4D97-AF65-F5344CB8AC3E}">
        <p14:creationId xmlns:p14="http://schemas.microsoft.com/office/powerpoint/2010/main" val="2450918438"/>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algn="ctr" eaLnBrk="1" hangingPunct="1"/>
            <a:r>
              <a:rPr lang="en-US" altLang="en-US" b="1" dirty="0" smtClean="0"/>
              <a:t>IBGP</a:t>
            </a:r>
          </a:p>
        </p:txBody>
      </p:sp>
      <p:sp>
        <p:nvSpPr>
          <p:cNvPr id="37891" name="Rectangle 3"/>
          <p:cNvSpPr>
            <a:spLocks noGrp="1" noChangeArrowheads="1"/>
          </p:cNvSpPr>
          <p:nvPr>
            <p:ph type="body" idx="1"/>
          </p:nvPr>
        </p:nvSpPr>
        <p:spPr>
          <a:xfrm>
            <a:off x="55179" y="838200"/>
            <a:ext cx="3852042" cy="2819400"/>
          </a:xfrm>
        </p:spPr>
        <p:txBody>
          <a:bodyPr/>
          <a:lstStyle/>
          <a:p>
            <a:pPr eaLnBrk="1" hangingPunct="1"/>
            <a:r>
              <a:rPr lang="en-US" altLang="en-US" sz="2000" b="1" dirty="0" smtClean="0">
                <a:cs typeface="Times New Roman" panose="02020603050405020304" pitchFamily="18" charset="0"/>
              </a:rPr>
              <a:t>In a typical configuration, an IBGP router maintains IBGP sessions with all other IBGP routers in the AS, forming a logical full-mesh.</a:t>
            </a:r>
          </a:p>
          <a:p>
            <a:pPr lvl="1" eaLnBrk="1" hangingPunct="1"/>
            <a:r>
              <a:rPr lang="en-US" altLang="en-US" sz="2000" b="1" dirty="0" smtClean="0">
                <a:cs typeface="Times New Roman" panose="02020603050405020304" pitchFamily="18" charset="0"/>
              </a:rPr>
              <a:t>This is necessary because IBGP routers do not advertise routes learned via IBGP to other IBGP peers (to prevent routing loops). </a:t>
            </a:r>
          </a:p>
          <a:p>
            <a:pPr lvl="1" eaLnBrk="1" hangingPunct="1"/>
            <a:r>
              <a:rPr lang="en-US" altLang="en-US" sz="2000" b="1" dirty="0" smtClean="0">
                <a:cs typeface="Times New Roman" panose="02020603050405020304" pitchFamily="18" charset="0"/>
              </a:rPr>
              <a:t>In other words, if you want your IBGP routers to exchange BGP routes with each other, you should configure a full-mesh. </a:t>
            </a:r>
          </a:p>
          <a:p>
            <a:pPr lvl="1" eaLnBrk="1" hangingPunct="1"/>
            <a:r>
              <a:rPr lang="en-US" altLang="en-US" sz="2000" b="1" dirty="0" smtClean="0">
                <a:cs typeface="Times New Roman" panose="02020603050405020304" pitchFamily="18" charset="0"/>
              </a:rPr>
              <a:t>An alternative to this approach: configuring a route reflector</a:t>
            </a:r>
            <a:r>
              <a:rPr lang="en-US" altLang="en-US" sz="2000" b="1" dirty="0" smtClean="0"/>
              <a:t> (In few slides)</a:t>
            </a:r>
          </a:p>
        </p:txBody>
      </p:sp>
      <p:pic>
        <p:nvPicPr>
          <p:cNvPr id="37892" name="Picture 4" descr="fi9708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45" y="1371600"/>
            <a:ext cx="4800600" cy="405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0"/>
          </p:nvPr>
        </p:nvSpPr>
        <p:spPr/>
        <p:txBody>
          <a:bodyPr/>
          <a:lstStyle/>
          <a:p>
            <a:fld id="{1C0FA7A3-0FBF-4EC3-BE45-825983E95E58}" type="slidenum">
              <a:rPr lang="en-US" smtClean="0"/>
              <a:pPr/>
              <a:t>20</a:t>
            </a:fld>
            <a:endParaRPr lang="en-US" dirty="0"/>
          </a:p>
        </p:txBody>
      </p:sp>
    </p:spTree>
    <p:extLst>
      <p:ext uri="{BB962C8B-B14F-4D97-AF65-F5344CB8AC3E}">
        <p14:creationId xmlns:p14="http://schemas.microsoft.com/office/powerpoint/2010/main" val="2793603982"/>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0"/>
            <a:ext cx="7772400" cy="685800"/>
          </a:xfrm>
        </p:spPr>
        <p:txBody>
          <a:bodyPr/>
          <a:lstStyle/>
          <a:p>
            <a:pPr algn="ctr" eaLnBrk="1" hangingPunct="1"/>
            <a:r>
              <a:rPr lang="en-US" altLang="en-US" sz="4000" b="1" dirty="0" smtClean="0"/>
              <a:t>Single-Homed AS</a:t>
            </a:r>
          </a:p>
        </p:txBody>
      </p:sp>
      <p:sp>
        <p:nvSpPr>
          <p:cNvPr id="14339" name="Rectangle 3"/>
          <p:cNvSpPr>
            <a:spLocks noGrp="1" noChangeArrowheads="1"/>
          </p:cNvSpPr>
          <p:nvPr>
            <p:ph type="body" idx="1"/>
          </p:nvPr>
        </p:nvSpPr>
        <p:spPr>
          <a:xfrm>
            <a:off x="266700" y="3517900"/>
            <a:ext cx="8610600" cy="3124200"/>
          </a:xfrm>
        </p:spPr>
        <p:txBody>
          <a:bodyPr/>
          <a:lstStyle/>
          <a:p>
            <a:pPr eaLnBrk="1" hangingPunct="1"/>
            <a:r>
              <a:rPr lang="en-US" altLang="en-US" sz="2400" dirty="0" smtClean="0">
                <a:cs typeface="Times New Roman" panose="02020603050405020304" pitchFamily="18" charset="0"/>
              </a:rPr>
              <a:t>If an AS has only one exit point to outside networks, it is considered a </a:t>
            </a:r>
            <a:r>
              <a:rPr lang="en-US" altLang="en-US" sz="2400" b="1" dirty="0" smtClean="0">
                <a:cs typeface="Times New Roman" panose="02020603050405020304" pitchFamily="18" charset="0"/>
              </a:rPr>
              <a:t>single-homed system</a:t>
            </a:r>
            <a:r>
              <a:rPr lang="en-US" altLang="en-US" sz="2400" dirty="0" smtClean="0">
                <a:cs typeface="Times New Roman" panose="02020603050405020304" pitchFamily="18" charset="0"/>
              </a:rPr>
              <a:t>. </a:t>
            </a:r>
          </a:p>
          <a:p>
            <a:pPr eaLnBrk="1" hangingPunct="1"/>
            <a:r>
              <a:rPr lang="en-US" altLang="en-US" sz="2400" dirty="0" smtClean="0">
                <a:cs typeface="Times New Roman" panose="02020603050405020304" pitchFamily="18" charset="0"/>
              </a:rPr>
              <a:t>Single-homed autonomous systems are often referred to as </a:t>
            </a:r>
            <a:r>
              <a:rPr lang="en-US" altLang="en-US" sz="2400" b="1" dirty="0" smtClean="0">
                <a:cs typeface="Times New Roman" panose="02020603050405020304" pitchFamily="18" charset="0"/>
              </a:rPr>
              <a:t>stub networks</a:t>
            </a:r>
            <a:r>
              <a:rPr lang="en-US" altLang="en-US" sz="2400" i="1" dirty="0" smtClean="0">
                <a:cs typeface="Times New Roman" panose="02020603050405020304" pitchFamily="18" charset="0"/>
              </a:rPr>
              <a:t>, </a:t>
            </a:r>
            <a:r>
              <a:rPr lang="en-US" altLang="en-US" sz="2400" dirty="0" smtClean="0">
                <a:cs typeface="Times New Roman" panose="02020603050405020304" pitchFamily="18" charset="0"/>
              </a:rPr>
              <a:t>or </a:t>
            </a:r>
            <a:r>
              <a:rPr lang="en-US" altLang="en-US" sz="2400" i="1" dirty="0" smtClean="0">
                <a:cs typeface="Times New Roman" panose="02020603050405020304" pitchFamily="18" charset="0"/>
              </a:rPr>
              <a:t>stubs</a:t>
            </a:r>
            <a:r>
              <a:rPr lang="en-US" altLang="en-US" sz="2400" dirty="0" smtClean="0">
                <a:cs typeface="Times New Roman" panose="02020603050405020304" pitchFamily="18" charset="0"/>
              </a:rPr>
              <a:t>.</a:t>
            </a:r>
          </a:p>
          <a:p>
            <a:pPr eaLnBrk="1" hangingPunct="1"/>
            <a:r>
              <a:rPr lang="en-US" altLang="en-US" sz="2400" dirty="0" smtClean="0">
                <a:cs typeface="Times New Roman" panose="02020603050405020304" pitchFamily="18" charset="0"/>
              </a:rPr>
              <a:t>Stubs can rely on a default route to handle all traffic destined for nonlocal networks.</a:t>
            </a:r>
          </a:p>
          <a:p>
            <a:pPr eaLnBrk="1" hangingPunct="1"/>
            <a:r>
              <a:rPr lang="en-US" altLang="en-US" sz="2400" dirty="0" smtClean="0">
                <a:cs typeface="Times New Roman" panose="02020603050405020304" pitchFamily="18" charset="0"/>
              </a:rPr>
              <a:t>BGP is not normally needed in this situation.</a:t>
            </a:r>
          </a:p>
        </p:txBody>
      </p:sp>
      <p:pic>
        <p:nvPicPr>
          <p:cNvPr id="14340" name="Picture 4" descr="fi9708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812800"/>
            <a:ext cx="7315200"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65" name="Line 5"/>
          <p:cNvSpPr>
            <a:spLocks noChangeShapeType="1"/>
          </p:cNvSpPr>
          <p:nvPr/>
        </p:nvSpPr>
        <p:spPr bwMode="auto">
          <a:xfrm flipH="1" flipV="1">
            <a:off x="3200400" y="2438400"/>
            <a:ext cx="2743200" cy="60960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166" name="Text Box 6"/>
          <p:cNvSpPr txBox="1">
            <a:spLocks noChangeArrowheads="1"/>
          </p:cNvSpPr>
          <p:nvPr/>
        </p:nvSpPr>
        <p:spPr bwMode="auto">
          <a:xfrm>
            <a:off x="5867400" y="2971800"/>
            <a:ext cx="2514600" cy="376238"/>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SzTx/>
              <a:buFontTx/>
              <a:buNone/>
            </a:pPr>
            <a:r>
              <a:rPr lang="en-US" altLang="en-US" sz="1800" b="0">
                <a:solidFill>
                  <a:schemeClr val="accent2"/>
                </a:solidFill>
              </a:rPr>
              <a:t>ip route 0.0.0.0 0.0.0.0</a:t>
            </a:r>
          </a:p>
        </p:txBody>
      </p:sp>
      <p:sp>
        <p:nvSpPr>
          <p:cNvPr id="2" name="Slide Number Placeholder 1"/>
          <p:cNvSpPr>
            <a:spLocks noGrp="1"/>
          </p:cNvSpPr>
          <p:nvPr>
            <p:ph type="sldNum" sz="quarter" idx="10"/>
          </p:nvPr>
        </p:nvSpPr>
        <p:spPr/>
        <p:txBody>
          <a:bodyPr/>
          <a:lstStyle/>
          <a:p>
            <a:fld id="{1C0FA7A3-0FBF-4EC3-BE45-825983E95E58}" type="slidenum">
              <a:rPr lang="en-US" smtClean="0"/>
              <a:pPr/>
              <a:t>21</a:t>
            </a:fld>
            <a:endParaRPr lang="en-US" dirty="0"/>
          </a:p>
        </p:txBody>
      </p:sp>
    </p:spTree>
    <p:extLst>
      <p:ext uri="{BB962C8B-B14F-4D97-AF65-F5344CB8AC3E}">
        <p14:creationId xmlns:p14="http://schemas.microsoft.com/office/powerpoint/2010/main" val="9677286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2000"/>
                                  </p:stCondLst>
                                  <p:childTnLst>
                                    <p:set>
                                      <p:cBhvr>
                                        <p:cTn id="6" dur="1" fill="hold">
                                          <p:stCondLst>
                                            <p:cond delay="0"/>
                                          </p:stCondLst>
                                        </p:cTn>
                                        <p:tgtEl>
                                          <p:spTgt spid="348166"/>
                                        </p:tgtEl>
                                        <p:attrNameLst>
                                          <p:attrName>style.visibility</p:attrName>
                                        </p:attrNameLst>
                                      </p:cBhvr>
                                      <p:to>
                                        <p:strVal val="visible"/>
                                      </p:to>
                                    </p:set>
                                    <p:animEffect transition="in" filter="dissolve">
                                      <p:cBhvr>
                                        <p:cTn id="7" dur="500"/>
                                        <p:tgtEl>
                                          <p:spTgt spid="348166"/>
                                        </p:tgtEl>
                                      </p:cBhvr>
                                    </p:animEffect>
                                  </p:childTnLst>
                                </p:cTn>
                              </p:par>
                            </p:childTnLst>
                          </p:cTn>
                        </p:par>
                        <p:par>
                          <p:cTn id="8" fill="hold" nodeType="afterGroup">
                            <p:stCondLst>
                              <p:cond delay="2500"/>
                            </p:stCondLst>
                            <p:childTnLst>
                              <p:par>
                                <p:cTn id="9" presetID="22" presetClass="entr" presetSubtype="2" fill="hold" nodeType="afterEffect">
                                  <p:stCondLst>
                                    <p:cond delay="1000"/>
                                  </p:stCondLst>
                                  <p:childTnLst>
                                    <p:set>
                                      <p:cBhvr>
                                        <p:cTn id="10" dur="1" fill="hold">
                                          <p:stCondLst>
                                            <p:cond delay="0"/>
                                          </p:stCondLst>
                                        </p:cTn>
                                        <p:tgtEl>
                                          <p:spTgt spid="348165"/>
                                        </p:tgtEl>
                                        <p:attrNameLst>
                                          <p:attrName>style.visibility</p:attrName>
                                        </p:attrNameLst>
                                      </p:cBhvr>
                                      <p:to>
                                        <p:strVal val="visible"/>
                                      </p:to>
                                    </p:set>
                                    <p:animEffect transition="in" filter="wipe(right)">
                                      <p:cBhvr>
                                        <p:cTn id="11" dur="500"/>
                                        <p:tgtEl>
                                          <p:spTgt spid="348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6"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432718" y="-37306"/>
            <a:ext cx="7954963" cy="685800"/>
          </a:xfrm>
        </p:spPr>
        <p:txBody>
          <a:bodyPr/>
          <a:lstStyle/>
          <a:p>
            <a:pPr eaLnBrk="1" hangingPunct="1"/>
            <a:r>
              <a:rPr lang="en-US" altLang="en-US" b="1" dirty="0" smtClean="0">
                <a:cs typeface="Times New Roman" panose="02020603050405020304" pitchFamily="18" charset="0"/>
              </a:rPr>
              <a:t>Multi-homed Autonomous Systems</a:t>
            </a:r>
            <a:r>
              <a:rPr lang="en-US" altLang="en-US" sz="4000" b="1" dirty="0" smtClean="0"/>
              <a:t> </a:t>
            </a:r>
          </a:p>
        </p:txBody>
      </p:sp>
      <p:sp>
        <p:nvSpPr>
          <p:cNvPr id="15363" name="Rectangle 3"/>
          <p:cNvSpPr>
            <a:spLocks noGrp="1" noChangeArrowheads="1"/>
          </p:cNvSpPr>
          <p:nvPr>
            <p:ph type="body" idx="1"/>
          </p:nvPr>
        </p:nvSpPr>
        <p:spPr>
          <a:xfrm>
            <a:off x="228600" y="3962400"/>
            <a:ext cx="8915400" cy="2667000"/>
          </a:xfrm>
        </p:spPr>
        <p:txBody>
          <a:bodyPr/>
          <a:lstStyle/>
          <a:p>
            <a:pPr eaLnBrk="1" hangingPunct="1">
              <a:lnSpc>
                <a:spcPct val="90000"/>
              </a:lnSpc>
            </a:pPr>
            <a:r>
              <a:rPr lang="en-US" altLang="en-US" sz="2800" dirty="0" smtClean="0">
                <a:cs typeface="Times New Roman" panose="02020603050405020304" pitchFamily="18" charset="0"/>
              </a:rPr>
              <a:t>An AS is a </a:t>
            </a:r>
            <a:r>
              <a:rPr lang="en-US" altLang="en-US" sz="2800" b="1" dirty="0" smtClean="0">
                <a:cs typeface="Times New Roman" panose="02020603050405020304" pitchFamily="18" charset="0"/>
              </a:rPr>
              <a:t>multi-homed system</a:t>
            </a:r>
            <a:r>
              <a:rPr lang="en-US" altLang="en-US" sz="2800" dirty="0" smtClean="0">
                <a:cs typeface="Times New Roman" panose="02020603050405020304" pitchFamily="18" charset="0"/>
              </a:rPr>
              <a:t> if it has more than one exit point to outside networks. </a:t>
            </a:r>
          </a:p>
          <a:p>
            <a:pPr eaLnBrk="1" hangingPunct="1">
              <a:lnSpc>
                <a:spcPct val="90000"/>
              </a:lnSpc>
            </a:pPr>
            <a:r>
              <a:rPr lang="en-US" altLang="en-US" sz="2800" dirty="0" smtClean="0">
                <a:cs typeface="Times New Roman" panose="02020603050405020304" pitchFamily="18" charset="0"/>
              </a:rPr>
              <a:t>An AS connected to the Internet can be multi-homed to:</a:t>
            </a:r>
          </a:p>
          <a:p>
            <a:pPr lvl="1" eaLnBrk="1" hangingPunct="1">
              <a:lnSpc>
                <a:spcPct val="90000"/>
              </a:lnSpc>
            </a:pPr>
            <a:r>
              <a:rPr lang="en-US" altLang="en-US" dirty="0" smtClean="0">
                <a:cs typeface="Times New Roman" panose="02020603050405020304" pitchFamily="18" charset="0"/>
              </a:rPr>
              <a:t>a single provider (AS)</a:t>
            </a:r>
          </a:p>
          <a:p>
            <a:pPr lvl="1" eaLnBrk="1" hangingPunct="1">
              <a:lnSpc>
                <a:spcPct val="90000"/>
              </a:lnSpc>
            </a:pPr>
            <a:r>
              <a:rPr lang="en-US" altLang="en-US" dirty="0" smtClean="0">
                <a:cs typeface="Times New Roman" panose="02020603050405020304" pitchFamily="18" charset="0"/>
              </a:rPr>
              <a:t>multiple providers (ASs)</a:t>
            </a:r>
          </a:p>
        </p:txBody>
      </p:sp>
      <p:pic>
        <p:nvPicPr>
          <p:cNvPr id="15364" name="Picture 4" descr="fi9708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914400"/>
            <a:ext cx="4648200" cy="289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6" descr="fi9708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0600"/>
            <a:ext cx="4648200" cy="289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Oval 7"/>
          <p:cNvSpPr>
            <a:spLocks noChangeArrowheads="1"/>
          </p:cNvSpPr>
          <p:nvPr/>
        </p:nvSpPr>
        <p:spPr bwMode="auto">
          <a:xfrm>
            <a:off x="0" y="990600"/>
            <a:ext cx="4495800" cy="1219200"/>
          </a:xfrm>
          <a:prstGeom prst="ellipse">
            <a:avLst/>
          </a:prstGeom>
          <a:solidFill>
            <a:srgbClr val="DDDDDD"/>
          </a:solidFill>
          <a:ln>
            <a:noFill/>
          </a:ln>
          <a:effectLst/>
          <a:extLst>
            <a:ext uri="{91240B29-F687-4F45-9708-019B960494DF}">
              <a14:hiddenLine xmlns:a14="http://schemas.microsoft.com/office/drawing/2010/main" w="254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5367" name="Text Box 8"/>
          <p:cNvSpPr txBox="1">
            <a:spLocks noChangeArrowheads="1"/>
          </p:cNvSpPr>
          <p:nvPr/>
        </p:nvSpPr>
        <p:spPr bwMode="auto">
          <a:xfrm>
            <a:off x="1600200" y="1066800"/>
            <a:ext cx="152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000"/>
              <a:t>Same ISP</a:t>
            </a:r>
          </a:p>
        </p:txBody>
      </p:sp>
      <p:sp>
        <p:nvSpPr>
          <p:cNvPr id="15368" name="Rectangle 9"/>
          <p:cNvSpPr>
            <a:spLocks noChangeArrowheads="1"/>
          </p:cNvSpPr>
          <p:nvPr/>
        </p:nvSpPr>
        <p:spPr bwMode="auto">
          <a:xfrm>
            <a:off x="914400" y="2438400"/>
            <a:ext cx="533400" cy="304800"/>
          </a:xfrm>
          <a:prstGeom prst="rect">
            <a:avLst/>
          </a:prstGeom>
          <a:solidFill>
            <a:schemeClr val="bg1"/>
          </a:solidFill>
          <a:ln>
            <a:noFill/>
          </a:ln>
          <a:effectLst/>
          <a:extLs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5369" name="Rectangle 10"/>
          <p:cNvSpPr>
            <a:spLocks noChangeArrowheads="1"/>
          </p:cNvSpPr>
          <p:nvPr/>
        </p:nvSpPr>
        <p:spPr bwMode="auto">
          <a:xfrm>
            <a:off x="3048000" y="2438400"/>
            <a:ext cx="533400" cy="304800"/>
          </a:xfrm>
          <a:prstGeom prst="rect">
            <a:avLst/>
          </a:prstGeom>
          <a:solidFill>
            <a:schemeClr val="bg1"/>
          </a:solidFill>
          <a:ln>
            <a:noFill/>
          </a:ln>
          <a:effectLst/>
          <a:extLs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5370" name="Rectangle 11"/>
          <p:cNvSpPr>
            <a:spLocks noChangeArrowheads="1"/>
          </p:cNvSpPr>
          <p:nvPr/>
        </p:nvSpPr>
        <p:spPr bwMode="auto">
          <a:xfrm>
            <a:off x="5410200" y="2362200"/>
            <a:ext cx="533400" cy="304800"/>
          </a:xfrm>
          <a:prstGeom prst="rect">
            <a:avLst/>
          </a:prstGeom>
          <a:solidFill>
            <a:schemeClr val="bg1"/>
          </a:solidFill>
          <a:ln>
            <a:noFill/>
          </a:ln>
          <a:effectLst/>
          <a:extLs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5371" name="Rectangle 12"/>
          <p:cNvSpPr>
            <a:spLocks noChangeArrowheads="1"/>
          </p:cNvSpPr>
          <p:nvPr/>
        </p:nvSpPr>
        <p:spPr bwMode="auto">
          <a:xfrm>
            <a:off x="7543800" y="2362200"/>
            <a:ext cx="533400" cy="304800"/>
          </a:xfrm>
          <a:prstGeom prst="rect">
            <a:avLst/>
          </a:prstGeom>
          <a:solidFill>
            <a:schemeClr val="bg1"/>
          </a:solidFill>
          <a:ln>
            <a:noFill/>
          </a:ln>
          <a:effectLst/>
          <a:extLs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 name="Slide Number Placeholder 1"/>
          <p:cNvSpPr>
            <a:spLocks noGrp="1"/>
          </p:cNvSpPr>
          <p:nvPr>
            <p:ph type="sldNum" sz="quarter" idx="10"/>
          </p:nvPr>
        </p:nvSpPr>
        <p:spPr/>
        <p:txBody>
          <a:bodyPr/>
          <a:lstStyle/>
          <a:p>
            <a:fld id="{1C0FA7A3-0FBF-4EC3-BE45-825983E95E58}" type="slidenum">
              <a:rPr lang="en-US" smtClean="0"/>
              <a:pPr/>
              <a:t>22</a:t>
            </a:fld>
            <a:endParaRPr lang="en-US" dirty="0"/>
          </a:p>
        </p:txBody>
      </p:sp>
    </p:spTree>
    <p:extLst>
      <p:ext uri="{BB962C8B-B14F-4D97-AF65-F5344CB8AC3E}">
        <p14:creationId xmlns:p14="http://schemas.microsoft.com/office/powerpoint/2010/main" val="3197043695"/>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14400" y="-53866"/>
            <a:ext cx="7954963" cy="685800"/>
          </a:xfrm>
        </p:spPr>
        <p:txBody>
          <a:bodyPr/>
          <a:lstStyle/>
          <a:p>
            <a:pPr eaLnBrk="1" hangingPunct="1"/>
            <a:r>
              <a:rPr lang="en-US" altLang="en-US" sz="3200" b="1" dirty="0" smtClean="0">
                <a:cs typeface="Times New Roman" panose="02020603050405020304" pitchFamily="18" charset="0"/>
              </a:rPr>
              <a:t>Multi-homed to a Single Autonomous Systems</a:t>
            </a:r>
            <a:r>
              <a:rPr lang="en-US" altLang="en-US" b="1" dirty="0" smtClean="0"/>
              <a:t> </a:t>
            </a:r>
          </a:p>
        </p:txBody>
      </p:sp>
      <p:sp>
        <p:nvSpPr>
          <p:cNvPr id="16387" name="Rectangle 3"/>
          <p:cNvSpPr>
            <a:spLocks noGrp="1" noChangeArrowheads="1"/>
          </p:cNvSpPr>
          <p:nvPr>
            <p:ph type="body" idx="1"/>
          </p:nvPr>
        </p:nvSpPr>
        <p:spPr>
          <a:xfrm>
            <a:off x="304799" y="4081517"/>
            <a:ext cx="8564563" cy="2667000"/>
          </a:xfrm>
        </p:spPr>
        <p:txBody>
          <a:bodyPr/>
          <a:lstStyle/>
          <a:p>
            <a:pPr eaLnBrk="1" hangingPunct="1"/>
            <a:r>
              <a:rPr lang="en-US" altLang="en-US" sz="2400" dirty="0" smtClean="0">
                <a:cs typeface="Times New Roman" panose="02020603050405020304" pitchFamily="18" charset="0"/>
              </a:rPr>
              <a:t>This is an improved topology over Single-Home AS, providing for redundancy.</a:t>
            </a:r>
          </a:p>
          <a:p>
            <a:pPr eaLnBrk="1" hangingPunct="1"/>
            <a:r>
              <a:rPr lang="en-US" altLang="en-US" sz="2400" dirty="0" smtClean="0">
                <a:cs typeface="Times New Roman" panose="02020603050405020304" pitchFamily="18" charset="0"/>
              </a:rPr>
              <a:t>One option may be to use one link as the </a:t>
            </a:r>
            <a:r>
              <a:rPr lang="en-US" altLang="en-US" sz="2400" b="1" dirty="0" smtClean="0">
                <a:cs typeface="Times New Roman" panose="02020603050405020304" pitchFamily="18" charset="0"/>
              </a:rPr>
              <a:t>primary</a:t>
            </a:r>
            <a:r>
              <a:rPr lang="en-US" altLang="en-US" sz="2400" dirty="0" smtClean="0">
                <a:cs typeface="Times New Roman" panose="02020603050405020304" pitchFamily="18" charset="0"/>
              </a:rPr>
              <a:t> link and the other as a </a:t>
            </a:r>
            <a:r>
              <a:rPr lang="en-US" altLang="en-US" sz="2400" b="1" dirty="0" smtClean="0">
                <a:cs typeface="Times New Roman" panose="02020603050405020304" pitchFamily="18" charset="0"/>
              </a:rPr>
              <a:t>backup</a:t>
            </a:r>
            <a:r>
              <a:rPr lang="en-US" altLang="en-US" sz="2400" dirty="0" smtClean="0">
                <a:cs typeface="Times New Roman" panose="02020603050405020304" pitchFamily="18" charset="0"/>
              </a:rPr>
              <a:t> link.</a:t>
            </a:r>
          </a:p>
        </p:txBody>
      </p:sp>
      <p:sp>
        <p:nvSpPr>
          <p:cNvPr id="16388" name="Rectangle 8"/>
          <p:cNvSpPr>
            <a:spLocks noChangeArrowheads="1"/>
          </p:cNvSpPr>
          <p:nvPr/>
        </p:nvSpPr>
        <p:spPr bwMode="auto">
          <a:xfrm>
            <a:off x="3352800" y="2438400"/>
            <a:ext cx="533400" cy="304800"/>
          </a:xfrm>
          <a:prstGeom prst="rect">
            <a:avLst/>
          </a:prstGeom>
          <a:solidFill>
            <a:schemeClr val="bg1"/>
          </a:solidFill>
          <a:ln>
            <a:noFill/>
          </a:ln>
          <a:effectLst/>
          <a:extLs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6389" name="Rectangle 9"/>
          <p:cNvSpPr>
            <a:spLocks noChangeArrowheads="1"/>
          </p:cNvSpPr>
          <p:nvPr/>
        </p:nvSpPr>
        <p:spPr bwMode="auto">
          <a:xfrm>
            <a:off x="5486400" y="2438400"/>
            <a:ext cx="533400" cy="304800"/>
          </a:xfrm>
          <a:prstGeom prst="rect">
            <a:avLst/>
          </a:prstGeom>
          <a:solidFill>
            <a:schemeClr val="bg1"/>
          </a:solidFill>
          <a:ln>
            <a:noFill/>
          </a:ln>
          <a:effectLst/>
          <a:extLs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aphicFrame>
        <p:nvGraphicFramePr>
          <p:cNvPr id="16390" name="Object 14"/>
          <p:cNvGraphicFramePr>
            <a:graphicFrameLocks noChangeAspect="1"/>
          </p:cNvGraphicFramePr>
          <p:nvPr/>
        </p:nvGraphicFramePr>
        <p:xfrm>
          <a:off x="2819400" y="914400"/>
          <a:ext cx="3733800" cy="3073400"/>
        </p:xfrm>
        <a:graphic>
          <a:graphicData uri="http://schemas.openxmlformats.org/presentationml/2006/ole">
            <mc:AlternateContent xmlns:mc="http://schemas.openxmlformats.org/markup-compatibility/2006">
              <mc:Choice xmlns:v="urn:schemas-microsoft-com:vml" Requires="v">
                <p:oleObj spid="_x0000_s13340" name="VISIO" r:id="rId3" imgW="4500491" imgH="3697158" progId="Visio.Drawing.6">
                  <p:embed/>
                </p:oleObj>
              </mc:Choice>
              <mc:Fallback>
                <p:oleObj name="VISIO" r:id="rId3" imgW="4500491" imgH="3697158" progId="Visio.Drawing.6">
                  <p:embed/>
                  <p:pic>
                    <p:nvPicPr>
                      <p:cNvPr id="1639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914400"/>
                        <a:ext cx="3733800" cy="307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Slide Number Placeholder 1"/>
          <p:cNvSpPr>
            <a:spLocks noGrp="1"/>
          </p:cNvSpPr>
          <p:nvPr>
            <p:ph type="sldNum" sz="quarter" idx="10"/>
          </p:nvPr>
        </p:nvSpPr>
        <p:spPr/>
        <p:txBody>
          <a:bodyPr/>
          <a:lstStyle/>
          <a:p>
            <a:fld id="{1C0FA7A3-0FBF-4EC3-BE45-825983E95E58}" type="slidenum">
              <a:rPr lang="en-US" smtClean="0"/>
              <a:pPr/>
              <a:t>23</a:t>
            </a:fld>
            <a:endParaRPr lang="en-US" dirty="0"/>
          </a:p>
        </p:txBody>
      </p:sp>
    </p:spTree>
    <p:extLst>
      <p:ext uri="{BB962C8B-B14F-4D97-AF65-F5344CB8AC3E}">
        <p14:creationId xmlns:p14="http://schemas.microsoft.com/office/powerpoint/2010/main" val="826820375"/>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708818" y="-70507"/>
            <a:ext cx="7954963" cy="685800"/>
          </a:xfrm>
        </p:spPr>
        <p:txBody>
          <a:bodyPr/>
          <a:lstStyle/>
          <a:p>
            <a:pPr eaLnBrk="1" hangingPunct="1"/>
            <a:r>
              <a:rPr lang="en-US" altLang="en-US" sz="3200" b="1" dirty="0" smtClean="0">
                <a:cs typeface="Times New Roman" panose="02020603050405020304" pitchFamily="18" charset="0"/>
              </a:rPr>
              <a:t>Multi-homed to a Single Autonomous Systems</a:t>
            </a:r>
            <a:r>
              <a:rPr lang="en-US" altLang="en-US" b="1" dirty="0" smtClean="0"/>
              <a:t> </a:t>
            </a:r>
          </a:p>
        </p:txBody>
      </p:sp>
      <p:sp>
        <p:nvSpPr>
          <p:cNvPr id="17411" name="Rectangle 3"/>
          <p:cNvSpPr>
            <a:spLocks noGrp="1" noChangeArrowheads="1"/>
          </p:cNvSpPr>
          <p:nvPr>
            <p:ph type="body" idx="1"/>
          </p:nvPr>
        </p:nvSpPr>
        <p:spPr>
          <a:xfrm>
            <a:off x="152400" y="3962400"/>
            <a:ext cx="8915400" cy="2667000"/>
          </a:xfrm>
        </p:spPr>
        <p:txBody>
          <a:bodyPr/>
          <a:lstStyle/>
          <a:p>
            <a:pPr eaLnBrk="1" hangingPunct="1">
              <a:lnSpc>
                <a:spcPct val="90000"/>
              </a:lnSpc>
            </a:pPr>
            <a:r>
              <a:rPr lang="en-US" altLang="en-US" sz="2000" dirty="0" smtClean="0">
                <a:cs typeface="Times New Roman" panose="02020603050405020304" pitchFamily="18" charset="0"/>
              </a:rPr>
              <a:t>A better design would be to </a:t>
            </a:r>
            <a:r>
              <a:rPr lang="en-US" altLang="en-US" sz="2000" b="1" dirty="0" smtClean="0">
                <a:cs typeface="Times New Roman" panose="02020603050405020304" pitchFamily="18" charset="0"/>
              </a:rPr>
              <a:t>use both paths</a:t>
            </a:r>
            <a:r>
              <a:rPr lang="en-US" altLang="en-US" sz="2000" dirty="0" smtClean="0">
                <a:cs typeface="Times New Roman" panose="02020603050405020304" pitchFamily="18" charset="0"/>
              </a:rPr>
              <a:t>, with each one providing backup for the other in the event of link or router failure. </a:t>
            </a:r>
          </a:p>
          <a:p>
            <a:pPr eaLnBrk="1" hangingPunct="1">
              <a:lnSpc>
                <a:spcPct val="90000"/>
              </a:lnSpc>
            </a:pPr>
            <a:r>
              <a:rPr lang="en-US" altLang="en-US" sz="2000" dirty="0" smtClean="0">
                <a:cs typeface="Times New Roman" panose="02020603050405020304" pitchFamily="18" charset="0"/>
              </a:rPr>
              <a:t>One example would be to run a dynamic routing protocol like OSPF within your network, with static default routes advertised at both campus entrance routers into your network.</a:t>
            </a:r>
          </a:p>
          <a:p>
            <a:pPr eaLnBrk="1" hangingPunct="1">
              <a:lnSpc>
                <a:spcPct val="90000"/>
              </a:lnSpc>
            </a:pPr>
            <a:r>
              <a:rPr lang="en-US" altLang="en-US" sz="2000" dirty="0" smtClean="0">
                <a:cs typeface="Times New Roman" panose="02020603050405020304" pitchFamily="18" charset="0"/>
              </a:rPr>
              <a:t>As a result, every router chooses the closest exit point, when choosing a default route.</a:t>
            </a:r>
          </a:p>
          <a:p>
            <a:pPr eaLnBrk="1" hangingPunct="1">
              <a:lnSpc>
                <a:spcPct val="90000"/>
              </a:lnSpc>
            </a:pPr>
            <a:r>
              <a:rPr lang="en-US" altLang="en-US" sz="2000" dirty="0" smtClean="0">
                <a:cs typeface="Times New Roman" panose="02020603050405020304" pitchFamily="18" charset="0"/>
              </a:rPr>
              <a:t>In most cases this will be sufficient for good internetwork performance.</a:t>
            </a:r>
          </a:p>
        </p:txBody>
      </p:sp>
      <p:grpSp>
        <p:nvGrpSpPr>
          <p:cNvPr id="2" name="Group 1"/>
          <p:cNvGrpSpPr/>
          <p:nvPr/>
        </p:nvGrpSpPr>
        <p:grpSpPr>
          <a:xfrm>
            <a:off x="1676400" y="838200"/>
            <a:ext cx="5943600" cy="3073400"/>
            <a:chOff x="1676400" y="914400"/>
            <a:chExt cx="5943600" cy="3073400"/>
          </a:xfrm>
        </p:grpSpPr>
        <p:sp>
          <p:nvSpPr>
            <p:cNvPr id="17412" name="Rectangle 7"/>
            <p:cNvSpPr>
              <a:spLocks noChangeArrowheads="1"/>
            </p:cNvSpPr>
            <p:nvPr/>
          </p:nvSpPr>
          <p:spPr bwMode="auto">
            <a:xfrm>
              <a:off x="3352800" y="2438400"/>
              <a:ext cx="533400" cy="304800"/>
            </a:xfrm>
            <a:prstGeom prst="rect">
              <a:avLst/>
            </a:prstGeom>
            <a:solidFill>
              <a:schemeClr val="bg1"/>
            </a:solidFill>
            <a:ln>
              <a:noFill/>
            </a:ln>
            <a:effectLst/>
            <a:extLs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7413" name="Rectangle 8"/>
            <p:cNvSpPr>
              <a:spLocks noChangeArrowheads="1"/>
            </p:cNvSpPr>
            <p:nvPr/>
          </p:nvSpPr>
          <p:spPr bwMode="auto">
            <a:xfrm>
              <a:off x="5486400" y="2438400"/>
              <a:ext cx="533400" cy="304800"/>
            </a:xfrm>
            <a:prstGeom prst="rect">
              <a:avLst/>
            </a:prstGeom>
            <a:solidFill>
              <a:schemeClr val="bg1"/>
            </a:solidFill>
            <a:ln>
              <a:noFill/>
            </a:ln>
            <a:effectLst/>
            <a:extLs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aphicFrame>
          <p:nvGraphicFramePr>
            <p:cNvPr id="17414" name="Object 11"/>
            <p:cNvGraphicFramePr>
              <a:graphicFrameLocks noChangeAspect="1"/>
            </p:cNvGraphicFramePr>
            <p:nvPr/>
          </p:nvGraphicFramePr>
          <p:xfrm>
            <a:off x="2819400" y="914400"/>
            <a:ext cx="3733800" cy="3073400"/>
          </p:xfrm>
          <a:graphic>
            <a:graphicData uri="http://schemas.openxmlformats.org/presentationml/2006/ole">
              <mc:AlternateContent xmlns:mc="http://schemas.openxmlformats.org/markup-compatibility/2006">
                <mc:Choice xmlns:v="urn:schemas-microsoft-com:vml" Requires="v">
                  <p:oleObj spid="_x0000_s14364" name="VISIO" r:id="rId3" imgW="4500491" imgH="3697158" progId="Visio.Drawing.6">
                    <p:embed/>
                  </p:oleObj>
                </mc:Choice>
                <mc:Fallback>
                  <p:oleObj name="VISIO" r:id="rId3" imgW="4500491" imgH="3697158" progId="Visio.Drawing.6">
                    <p:embed/>
                    <p:pic>
                      <p:nvPicPr>
                        <p:cNvPr id="17414"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914400"/>
                          <a:ext cx="3733800" cy="307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415" name="Text Box 12"/>
            <p:cNvSpPr txBox="1">
              <a:spLocks noChangeArrowheads="1"/>
            </p:cNvSpPr>
            <p:nvPr/>
          </p:nvSpPr>
          <p:spPr bwMode="auto">
            <a:xfrm>
              <a:off x="4191000" y="1905000"/>
              <a:ext cx="914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1800" b="0"/>
                <a:t>OSPF</a:t>
              </a:r>
            </a:p>
          </p:txBody>
        </p:sp>
        <p:sp>
          <p:nvSpPr>
            <p:cNvPr id="17416" name="Text Box 13"/>
            <p:cNvSpPr txBox="1">
              <a:spLocks noChangeArrowheads="1"/>
            </p:cNvSpPr>
            <p:nvPr/>
          </p:nvSpPr>
          <p:spPr bwMode="auto">
            <a:xfrm>
              <a:off x="1676400" y="1828800"/>
              <a:ext cx="12192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1600" dirty="0"/>
                <a:t>0.0.0.0/0 Cost = 10 Type = E1</a:t>
              </a:r>
            </a:p>
          </p:txBody>
        </p:sp>
        <p:sp>
          <p:nvSpPr>
            <p:cNvPr id="17417" name="Text Box 14"/>
            <p:cNvSpPr txBox="1">
              <a:spLocks noChangeArrowheads="1"/>
            </p:cNvSpPr>
            <p:nvPr/>
          </p:nvSpPr>
          <p:spPr bwMode="auto">
            <a:xfrm>
              <a:off x="6400800" y="1828800"/>
              <a:ext cx="12192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1600" dirty="0"/>
                <a:t>0.0.0.0/0 Cost = 10 Type = E1</a:t>
              </a:r>
            </a:p>
          </p:txBody>
        </p:sp>
        <p:sp>
          <p:nvSpPr>
            <p:cNvPr id="17418" name="Line 15"/>
            <p:cNvSpPr>
              <a:spLocks noChangeShapeType="1"/>
            </p:cNvSpPr>
            <p:nvPr/>
          </p:nvSpPr>
          <p:spPr bwMode="auto">
            <a:xfrm>
              <a:off x="3124200" y="1981200"/>
              <a:ext cx="0" cy="762000"/>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sp>
          <p:nvSpPr>
            <p:cNvPr id="17419" name="Line 16"/>
            <p:cNvSpPr>
              <a:spLocks noChangeShapeType="1"/>
            </p:cNvSpPr>
            <p:nvPr/>
          </p:nvSpPr>
          <p:spPr bwMode="auto">
            <a:xfrm>
              <a:off x="6172200" y="1981200"/>
              <a:ext cx="0" cy="762000"/>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sp>
          <p:nvSpPr>
            <p:cNvPr id="17420" name="Text Box 17"/>
            <p:cNvSpPr txBox="1">
              <a:spLocks noChangeArrowheads="1"/>
            </p:cNvSpPr>
            <p:nvPr/>
          </p:nvSpPr>
          <p:spPr bwMode="auto">
            <a:xfrm>
              <a:off x="3200400" y="1447800"/>
              <a:ext cx="3200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1600" b="0">
                  <a:solidFill>
                    <a:srgbClr val="CC0000"/>
                  </a:solidFill>
                </a:rPr>
                <a:t>Summarized network address</a:t>
              </a:r>
            </a:p>
          </p:txBody>
        </p:sp>
        <p:sp>
          <p:nvSpPr>
            <p:cNvPr id="17421" name="Line 18"/>
            <p:cNvSpPr>
              <a:spLocks noChangeShapeType="1"/>
            </p:cNvSpPr>
            <p:nvPr/>
          </p:nvSpPr>
          <p:spPr bwMode="auto">
            <a:xfrm flipV="1">
              <a:off x="3124200" y="1219200"/>
              <a:ext cx="0" cy="457200"/>
            </a:xfrm>
            <a:prstGeom prst="line">
              <a:avLst/>
            </a:prstGeom>
            <a:noFill/>
            <a:ln w="508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sp>
          <p:nvSpPr>
            <p:cNvPr id="17422" name="Line 19"/>
            <p:cNvSpPr>
              <a:spLocks noChangeShapeType="1"/>
            </p:cNvSpPr>
            <p:nvPr/>
          </p:nvSpPr>
          <p:spPr bwMode="auto">
            <a:xfrm flipV="1">
              <a:off x="6096000" y="1219200"/>
              <a:ext cx="0" cy="457200"/>
            </a:xfrm>
            <a:prstGeom prst="line">
              <a:avLst/>
            </a:prstGeom>
            <a:noFill/>
            <a:ln w="508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sp>
        <p:nvSpPr>
          <p:cNvPr id="3" name="Slide Number Placeholder 2"/>
          <p:cNvSpPr>
            <a:spLocks noGrp="1"/>
          </p:cNvSpPr>
          <p:nvPr>
            <p:ph type="sldNum" sz="quarter" idx="10"/>
          </p:nvPr>
        </p:nvSpPr>
        <p:spPr/>
        <p:txBody>
          <a:bodyPr/>
          <a:lstStyle/>
          <a:p>
            <a:fld id="{1C0FA7A3-0FBF-4EC3-BE45-825983E95E58}" type="slidenum">
              <a:rPr lang="en-US" smtClean="0"/>
              <a:pPr/>
              <a:t>24</a:t>
            </a:fld>
            <a:endParaRPr lang="en-US" dirty="0"/>
          </a:p>
        </p:txBody>
      </p:sp>
    </p:spTree>
    <p:extLst>
      <p:ext uri="{BB962C8B-B14F-4D97-AF65-F5344CB8AC3E}">
        <p14:creationId xmlns:p14="http://schemas.microsoft.com/office/powerpoint/2010/main" val="2210172404"/>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46918" y="228600"/>
            <a:ext cx="7954963" cy="457200"/>
          </a:xfrm>
        </p:spPr>
        <p:txBody>
          <a:bodyPr/>
          <a:lstStyle/>
          <a:p>
            <a:pPr eaLnBrk="1" hangingPunct="1"/>
            <a:r>
              <a:rPr lang="en-US" altLang="en-US" sz="3200" b="1" dirty="0" smtClean="0">
                <a:cs typeface="Times New Roman" panose="02020603050405020304" pitchFamily="18" charset="0"/>
              </a:rPr>
              <a:t>Multi-homed to a Single Autonomous Systems</a:t>
            </a:r>
            <a:r>
              <a:rPr lang="en-US" altLang="en-US" b="1" dirty="0" smtClean="0"/>
              <a:t> </a:t>
            </a:r>
          </a:p>
        </p:txBody>
      </p:sp>
      <p:sp>
        <p:nvSpPr>
          <p:cNvPr id="18435" name="Rectangle 3"/>
          <p:cNvSpPr>
            <a:spLocks noGrp="1" noChangeArrowheads="1"/>
          </p:cNvSpPr>
          <p:nvPr>
            <p:ph type="body" idx="1"/>
          </p:nvPr>
        </p:nvSpPr>
        <p:spPr>
          <a:xfrm>
            <a:off x="304800" y="3962400"/>
            <a:ext cx="8839200" cy="2667000"/>
          </a:xfrm>
        </p:spPr>
        <p:txBody>
          <a:bodyPr/>
          <a:lstStyle/>
          <a:p>
            <a:pPr eaLnBrk="1" hangingPunct="1"/>
            <a:r>
              <a:rPr lang="en-US" altLang="en-US" sz="2400" dirty="0" smtClean="0">
                <a:cs typeface="Times New Roman" panose="02020603050405020304" pitchFamily="18" charset="0"/>
              </a:rPr>
              <a:t>If the geographical separation between the two entrance routers is large enough for delay variations to become significant (one router closer to some networks, while the other router is closer to other networks), you might have a need for better control of the routing.</a:t>
            </a:r>
          </a:p>
          <a:p>
            <a:pPr eaLnBrk="1" hangingPunct="1"/>
            <a:r>
              <a:rPr lang="en-US" altLang="en-US" sz="2400" dirty="0" smtClean="0">
                <a:cs typeface="Times New Roman" panose="02020603050405020304" pitchFamily="18" charset="0"/>
              </a:rPr>
              <a:t>In this case BGP </a:t>
            </a:r>
            <a:r>
              <a:rPr lang="en-US" altLang="en-US" sz="2400" i="1" dirty="0" smtClean="0">
                <a:cs typeface="Times New Roman" panose="02020603050405020304" pitchFamily="18" charset="0"/>
              </a:rPr>
              <a:t>might</a:t>
            </a:r>
            <a:r>
              <a:rPr lang="en-US" altLang="en-US" sz="2400" dirty="0" smtClean="0">
                <a:cs typeface="Times New Roman" panose="02020603050405020304" pitchFamily="18" charset="0"/>
              </a:rPr>
              <a:t> be a consideration.</a:t>
            </a:r>
          </a:p>
        </p:txBody>
      </p:sp>
      <p:sp>
        <p:nvSpPr>
          <p:cNvPr id="18436" name="Rectangle 4"/>
          <p:cNvSpPr>
            <a:spLocks noChangeArrowheads="1"/>
          </p:cNvSpPr>
          <p:nvPr/>
        </p:nvSpPr>
        <p:spPr bwMode="auto">
          <a:xfrm>
            <a:off x="3352800" y="2438400"/>
            <a:ext cx="533400" cy="304800"/>
          </a:xfrm>
          <a:prstGeom prst="rect">
            <a:avLst/>
          </a:prstGeom>
          <a:solidFill>
            <a:schemeClr val="bg1"/>
          </a:solidFill>
          <a:ln>
            <a:noFill/>
          </a:ln>
          <a:effectLst/>
          <a:extLs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8437" name="Rectangle 5"/>
          <p:cNvSpPr>
            <a:spLocks noChangeArrowheads="1"/>
          </p:cNvSpPr>
          <p:nvPr/>
        </p:nvSpPr>
        <p:spPr bwMode="auto">
          <a:xfrm>
            <a:off x="5486400" y="2438400"/>
            <a:ext cx="533400" cy="304800"/>
          </a:xfrm>
          <a:prstGeom prst="rect">
            <a:avLst/>
          </a:prstGeom>
          <a:solidFill>
            <a:schemeClr val="bg1"/>
          </a:solidFill>
          <a:ln>
            <a:noFill/>
          </a:ln>
          <a:effectLst/>
          <a:extLs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aphicFrame>
        <p:nvGraphicFramePr>
          <p:cNvPr id="18438" name="Object 6"/>
          <p:cNvGraphicFramePr>
            <a:graphicFrameLocks noChangeAspect="1"/>
          </p:cNvGraphicFramePr>
          <p:nvPr/>
        </p:nvGraphicFramePr>
        <p:xfrm>
          <a:off x="2819400" y="685800"/>
          <a:ext cx="3733800" cy="3073400"/>
        </p:xfrm>
        <a:graphic>
          <a:graphicData uri="http://schemas.openxmlformats.org/presentationml/2006/ole">
            <mc:AlternateContent xmlns:mc="http://schemas.openxmlformats.org/markup-compatibility/2006">
              <mc:Choice xmlns:v="urn:schemas-microsoft-com:vml" Requires="v">
                <p:oleObj spid="_x0000_s15388" name="VISIO" r:id="rId3" imgW="4500491" imgH="3697158" progId="Visio.Drawing.6">
                  <p:embed/>
                </p:oleObj>
              </mc:Choice>
              <mc:Fallback>
                <p:oleObj name="VISIO" r:id="rId3" imgW="4500491" imgH="3697158" progId="Visio.Drawing.6">
                  <p:embed/>
                  <p:pic>
                    <p:nvPicPr>
                      <p:cNvPr id="1843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685800"/>
                        <a:ext cx="3733800" cy="307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9" name="Text Box 7"/>
          <p:cNvSpPr txBox="1">
            <a:spLocks noChangeArrowheads="1"/>
          </p:cNvSpPr>
          <p:nvPr/>
        </p:nvSpPr>
        <p:spPr bwMode="auto">
          <a:xfrm>
            <a:off x="1371600" y="1593138"/>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000" dirty="0"/>
              <a:t>Santa Cruz</a:t>
            </a:r>
          </a:p>
        </p:txBody>
      </p:sp>
      <p:sp>
        <p:nvSpPr>
          <p:cNvPr id="18440" name="Text Box 8"/>
          <p:cNvSpPr txBox="1">
            <a:spLocks noChangeArrowheads="1"/>
          </p:cNvSpPr>
          <p:nvPr/>
        </p:nvSpPr>
        <p:spPr bwMode="auto">
          <a:xfrm>
            <a:off x="6400800" y="1524000"/>
            <a:ext cx="1828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000" dirty="0"/>
              <a:t>Paris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25</a:t>
            </a:fld>
            <a:endParaRPr lang="en-US" dirty="0"/>
          </a:p>
        </p:txBody>
      </p:sp>
    </p:spTree>
    <p:extLst>
      <p:ext uri="{BB962C8B-B14F-4D97-AF65-F5344CB8AC3E}">
        <p14:creationId xmlns:p14="http://schemas.microsoft.com/office/powerpoint/2010/main" val="1716334588"/>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823118" y="228600"/>
            <a:ext cx="7954963" cy="381000"/>
          </a:xfrm>
        </p:spPr>
        <p:txBody>
          <a:bodyPr/>
          <a:lstStyle/>
          <a:p>
            <a:pPr eaLnBrk="1" hangingPunct="1"/>
            <a:r>
              <a:rPr lang="en-US" altLang="en-US" sz="3200" b="1" dirty="0" smtClean="0">
                <a:cs typeface="Times New Roman" panose="02020603050405020304" pitchFamily="18" charset="0"/>
              </a:rPr>
              <a:t>Multi-homed to a Single Autonomous Systems</a:t>
            </a:r>
            <a:r>
              <a:rPr lang="en-US" altLang="en-US" b="1" dirty="0" smtClean="0"/>
              <a:t> </a:t>
            </a:r>
          </a:p>
        </p:txBody>
      </p:sp>
      <p:sp>
        <p:nvSpPr>
          <p:cNvPr id="19459" name="Rectangle 3"/>
          <p:cNvSpPr>
            <a:spLocks noGrp="1" noChangeArrowheads="1"/>
          </p:cNvSpPr>
          <p:nvPr>
            <p:ph type="body" idx="1"/>
          </p:nvPr>
        </p:nvSpPr>
        <p:spPr>
          <a:xfrm>
            <a:off x="23648" y="1219200"/>
            <a:ext cx="9144000" cy="3200400"/>
          </a:xfrm>
        </p:spPr>
        <p:txBody>
          <a:bodyPr/>
          <a:lstStyle/>
          <a:p>
            <a:pPr eaLnBrk="1" hangingPunct="1">
              <a:lnSpc>
                <a:spcPct val="90000"/>
              </a:lnSpc>
            </a:pPr>
            <a:r>
              <a:rPr lang="en-US" altLang="en-US" sz="2400" b="1" i="1" dirty="0" smtClean="0">
                <a:cs typeface="Times New Roman" panose="02020603050405020304" pitchFamily="18" charset="0"/>
              </a:rPr>
              <a:t>Incoming route advertisements influence your outgoing traffic, and outgoing advertisements influence your incoming traffic.</a:t>
            </a:r>
          </a:p>
          <a:p>
            <a:pPr eaLnBrk="1" hangingPunct="1">
              <a:lnSpc>
                <a:spcPct val="90000"/>
              </a:lnSpc>
            </a:pPr>
            <a:r>
              <a:rPr lang="en-US" altLang="en-US" sz="2400" dirty="0" smtClean="0">
                <a:cs typeface="Times New Roman" panose="02020603050405020304" pitchFamily="18" charset="0"/>
              </a:rPr>
              <a:t>If the provider advertises routes into your AS via BGP, your internal routers have more accurate information about external destinations.</a:t>
            </a:r>
          </a:p>
          <a:p>
            <a:pPr lvl="1" eaLnBrk="1" hangingPunct="1">
              <a:lnSpc>
                <a:spcPct val="90000"/>
              </a:lnSpc>
            </a:pPr>
            <a:r>
              <a:rPr lang="en-US" altLang="en-US" sz="2400" dirty="0" smtClean="0">
                <a:cs typeface="Times New Roman" panose="02020603050405020304" pitchFamily="18" charset="0"/>
              </a:rPr>
              <a:t>BGP also provides tools for setting routing policies for external destinations.</a:t>
            </a:r>
          </a:p>
          <a:p>
            <a:pPr eaLnBrk="1" hangingPunct="1">
              <a:lnSpc>
                <a:spcPct val="90000"/>
              </a:lnSpc>
            </a:pPr>
            <a:r>
              <a:rPr lang="en-US" altLang="en-US" sz="2400" dirty="0" smtClean="0">
                <a:cs typeface="Times New Roman" panose="02020603050405020304" pitchFamily="18" charset="0"/>
              </a:rPr>
              <a:t>If your internal routes are advertised to the provider via BGP, you have influence over which routes are advertised at which exit point.</a:t>
            </a:r>
          </a:p>
          <a:p>
            <a:pPr lvl="1" eaLnBrk="1" hangingPunct="1">
              <a:lnSpc>
                <a:spcPct val="90000"/>
              </a:lnSpc>
            </a:pPr>
            <a:r>
              <a:rPr lang="en-US" altLang="en-US" sz="2400" dirty="0" smtClean="0">
                <a:cs typeface="Times New Roman" panose="02020603050405020304" pitchFamily="18" charset="0"/>
              </a:rPr>
              <a:t>BGP also provides tools for your influencing (to some degree) the choices the provider makes when sending traffic into your AS.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26</a:t>
            </a:fld>
            <a:endParaRPr lang="en-US" dirty="0"/>
          </a:p>
        </p:txBody>
      </p:sp>
    </p:spTree>
    <p:extLst>
      <p:ext uri="{BB962C8B-B14F-4D97-AF65-F5344CB8AC3E}">
        <p14:creationId xmlns:p14="http://schemas.microsoft.com/office/powerpoint/2010/main" val="431094626"/>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14400" y="228600"/>
            <a:ext cx="8031163" cy="381000"/>
          </a:xfrm>
        </p:spPr>
        <p:txBody>
          <a:bodyPr/>
          <a:lstStyle/>
          <a:p>
            <a:pPr eaLnBrk="1" hangingPunct="1"/>
            <a:r>
              <a:rPr lang="en-US" altLang="en-US" sz="3200" b="1" dirty="0" smtClean="0">
                <a:cs typeface="Times New Roman" panose="02020603050405020304" pitchFamily="18" charset="0"/>
              </a:rPr>
              <a:t>Multi-homed Non-transit Autonomous Systems</a:t>
            </a:r>
            <a:r>
              <a:rPr lang="en-US" altLang="en-US" b="1" dirty="0" smtClean="0"/>
              <a:t> </a:t>
            </a:r>
          </a:p>
        </p:txBody>
      </p:sp>
      <p:pic>
        <p:nvPicPr>
          <p:cNvPr id="20483" name="Picture 3" descr="fi9708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762000"/>
            <a:ext cx="556260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0452" name="Line 4"/>
          <p:cNvSpPr>
            <a:spLocks noChangeShapeType="1"/>
          </p:cNvSpPr>
          <p:nvPr/>
        </p:nvSpPr>
        <p:spPr bwMode="auto">
          <a:xfrm flipH="1">
            <a:off x="4724400" y="1905000"/>
            <a:ext cx="990600" cy="91440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453" name="Line 5"/>
          <p:cNvSpPr>
            <a:spLocks noChangeShapeType="1"/>
          </p:cNvSpPr>
          <p:nvPr/>
        </p:nvSpPr>
        <p:spPr bwMode="auto">
          <a:xfrm flipH="1" flipV="1">
            <a:off x="3200400" y="1905000"/>
            <a:ext cx="990600" cy="83820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0454" name="Text Box 6"/>
          <p:cNvSpPr txBox="1">
            <a:spLocks noChangeArrowheads="1"/>
          </p:cNvSpPr>
          <p:nvPr/>
        </p:nvSpPr>
        <p:spPr bwMode="auto">
          <a:xfrm>
            <a:off x="3352800" y="1905000"/>
            <a:ext cx="91440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4000">
                <a:solidFill>
                  <a:srgbClr val="CC0000"/>
                </a:solidFill>
              </a:rPr>
              <a:t>X</a:t>
            </a:r>
          </a:p>
        </p:txBody>
      </p:sp>
      <p:sp>
        <p:nvSpPr>
          <p:cNvPr id="360455" name="Rectangle 7"/>
          <p:cNvSpPr>
            <a:spLocks noGrp="1" noChangeArrowheads="1"/>
          </p:cNvSpPr>
          <p:nvPr>
            <p:ph type="body" idx="1"/>
          </p:nvPr>
        </p:nvSpPr>
        <p:spPr>
          <a:xfrm>
            <a:off x="164170" y="4311869"/>
            <a:ext cx="8686800" cy="2743200"/>
          </a:xfrm>
        </p:spPr>
        <p:txBody>
          <a:bodyPr/>
          <a:lstStyle/>
          <a:p>
            <a:pPr eaLnBrk="1" hangingPunct="1">
              <a:defRPr/>
            </a:pPr>
            <a:r>
              <a:rPr lang="en-US" altLang="en-US" sz="2400" dirty="0" smtClean="0">
                <a:cs typeface="Times New Roman" panose="02020603050405020304" pitchFamily="18" charset="0"/>
              </a:rPr>
              <a:t>A </a:t>
            </a:r>
            <a:r>
              <a:rPr lang="en-US" altLang="en-US" sz="2400" b="1" dirty="0" smtClean="0">
                <a:effectLst>
                  <a:outerShdw blurRad="38100" dist="38100" dir="2700000" algn="tl">
                    <a:srgbClr val="C0C0C0"/>
                  </a:outerShdw>
                </a:effectLst>
                <a:cs typeface="Times New Roman" panose="02020603050405020304" pitchFamily="18" charset="0"/>
              </a:rPr>
              <a:t>non-transit AS</a:t>
            </a:r>
            <a:r>
              <a:rPr lang="en-US" altLang="en-US" sz="2400" dirty="0" smtClean="0">
                <a:cs typeface="Times New Roman" panose="02020603050405020304" pitchFamily="18" charset="0"/>
              </a:rPr>
              <a:t> does not allow transit traffic-that is, any traffic that has a source and destination outside the AS</a:t>
            </a:r>
            <a:r>
              <a:rPr lang="en-US" altLang="en-US" sz="2400" dirty="0" smtClean="0">
                <a:latin typeface="Times New Roman" panose="02020603050405020304" pitchFamily="18" charset="0"/>
                <a:cs typeface="Times New Roman" panose="02020603050405020304" pitchFamily="18" charset="0"/>
              </a:rPr>
              <a:t>—</a:t>
            </a:r>
            <a:r>
              <a:rPr lang="en-US" altLang="en-US" sz="2400" dirty="0" smtClean="0">
                <a:cs typeface="Times New Roman" panose="02020603050405020304" pitchFamily="18" charset="0"/>
              </a:rPr>
              <a:t>to pass through it. </a:t>
            </a:r>
            <a:endParaRPr lang="en-US" altLang="en-US" sz="2400" dirty="0" smtClean="0"/>
          </a:p>
          <a:p>
            <a:pPr eaLnBrk="1" hangingPunct="1">
              <a:defRPr/>
            </a:pPr>
            <a:r>
              <a:rPr lang="en-US" altLang="en-US" sz="2400" dirty="0" smtClean="0">
                <a:cs typeface="Times New Roman" panose="02020603050405020304" pitchFamily="18" charset="0"/>
              </a:rPr>
              <a:t>A </a:t>
            </a:r>
            <a:r>
              <a:rPr lang="en-US" altLang="en-US" sz="2400" b="1" dirty="0" smtClean="0">
                <a:cs typeface="Times New Roman" panose="02020603050405020304" pitchFamily="18" charset="0"/>
              </a:rPr>
              <a:t>non-transit AS</a:t>
            </a:r>
            <a:r>
              <a:rPr lang="en-US" altLang="en-US" sz="2400" dirty="0" smtClean="0">
                <a:cs typeface="Times New Roman" panose="02020603050405020304" pitchFamily="18" charset="0"/>
              </a:rPr>
              <a:t> would advertise only its </a:t>
            </a:r>
            <a:r>
              <a:rPr lang="en-US" altLang="en-US" sz="2400" i="1" dirty="0" smtClean="0">
                <a:cs typeface="Times New Roman" panose="02020603050405020304" pitchFamily="18" charset="0"/>
              </a:rPr>
              <a:t>own</a:t>
            </a:r>
            <a:r>
              <a:rPr lang="en-US" altLang="en-US" sz="2400" dirty="0" smtClean="0">
                <a:cs typeface="Times New Roman" panose="02020603050405020304" pitchFamily="18" charset="0"/>
              </a:rPr>
              <a:t> routes to both the providers it connects to—it would not advertise routes it learned from one provider to another. </a:t>
            </a:r>
          </a:p>
        </p:txBody>
      </p:sp>
      <p:sp>
        <p:nvSpPr>
          <p:cNvPr id="2" name="Slide Number Placeholder 1"/>
          <p:cNvSpPr>
            <a:spLocks noGrp="1"/>
          </p:cNvSpPr>
          <p:nvPr>
            <p:ph type="sldNum" sz="quarter" idx="10"/>
          </p:nvPr>
        </p:nvSpPr>
        <p:spPr/>
        <p:txBody>
          <a:bodyPr/>
          <a:lstStyle/>
          <a:p>
            <a:fld id="{1C0FA7A3-0FBF-4EC3-BE45-825983E95E58}" type="slidenum">
              <a:rPr lang="en-US" smtClean="0"/>
              <a:pPr/>
              <a:t>27</a:t>
            </a:fld>
            <a:endParaRPr lang="en-US" dirty="0"/>
          </a:p>
        </p:txBody>
      </p:sp>
    </p:spTree>
    <p:extLst>
      <p:ext uri="{BB962C8B-B14F-4D97-AF65-F5344CB8AC3E}">
        <p14:creationId xmlns:p14="http://schemas.microsoft.com/office/powerpoint/2010/main" val="2688364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afterEffect">
                                  <p:stCondLst>
                                    <p:cond delay="2000"/>
                                  </p:stCondLst>
                                  <p:childTnLst>
                                    <p:set>
                                      <p:cBhvr>
                                        <p:cTn id="6" dur="1" fill="hold">
                                          <p:stCondLst>
                                            <p:cond delay="0"/>
                                          </p:stCondLst>
                                        </p:cTn>
                                        <p:tgtEl>
                                          <p:spTgt spid="360452"/>
                                        </p:tgtEl>
                                        <p:attrNameLst>
                                          <p:attrName>style.visibility</p:attrName>
                                        </p:attrNameLst>
                                      </p:cBhvr>
                                      <p:to>
                                        <p:strVal val="visible"/>
                                      </p:to>
                                    </p:set>
                                    <p:animEffect transition="in" filter="wipe(right)">
                                      <p:cBhvr>
                                        <p:cTn id="7" dur="500"/>
                                        <p:tgtEl>
                                          <p:spTgt spid="360452"/>
                                        </p:tgtEl>
                                      </p:cBhvr>
                                    </p:animEffect>
                                  </p:childTnLst>
                                </p:cTn>
                              </p:par>
                            </p:childTnLst>
                          </p:cTn>
                        </p:par>
                        <p:par>
                          <p:cTn id="8" fill="hold" nodeType="afterGroup">
                            <p:stCondLst>
                              <p:cond delay="2500"/>
                            </p:stCondLst>
                            <p:childTnLst>
                              <p:par>
                                <p:cTn id="9" presetID="22" presetClass="entr" presetSubtype="2" fill="hold" nodeType="afterEffect">
                                  <p:stCondLst>
                                    <p:cond delay="1000"/>
                                  </p:stCondLst>
                                  <p:childTnLst>
                                    <p:set>
                                      <p:cBhvr>
                                        <p:cTn id="10" dur="1" fill="hold">
                                          <p:stCondLst>
                                            <p:cond delay="0"/>
                                          </p:stCondLst>
                                        </p:cTn>
                                        <p:tgtEl>
                                          <p:spTgt spid="360453"/>
                                        </p:tgtEl>
                                        <p:attrNameLst>
                                          <p:attrName>style.visibility</p:attrName>
                                        </p:attrNameLst>
                                      </p:cBhvr>
                                      <p:to>
                                        <p:strVal val="visible"/>
                                      </p:to>
                                    </p:set>
                                    <p:animEffect transition="in" filter="wipe(right)">
                                      <p:cBhvr>
                                        <p:cTn id="11" dur="500"/>
                                        <p:tgtEl>
                                          <p:spTgt spid="360453"/>
                                        </p:tgtEl>
                                      </p:cBhvr>
                                    </p:animEffect>
                                  </p:childTnLst>
                                </p:cTn>
                              </p:par>
                            </p:childTnLst>
                          </p:cTn>
                        </p:par>
                        <p:par>
                          <p:cTn id="12" fill="hold" nodeType="afterGroup">
                            <p:stCondLst>
                              <p:cond delay="4000"/>
                            </p:stCondLst>
                            <p:childTnLst>
                              <p:par>
                                <p:cTn id="13" presetID="9" presetClass="entr" presetSubtype="0" fill="hold" grpId="0" nodeType="afterEffect">
                                  <p:stCondLst>
                                    <p:cond delay="1000"/>
                                  </p:stCondLst>
                                  <p:childTnLst>
                                    <p:set>
                                      <p:cBhvr>
                                        <p:cTn id="14" dur="1" fill="hold">
                                          <p:stCondLst>
                                            <p:cond delay="0"/>
                                          </p:stCondLst>
                                        </p:cTn>
                                        <p:tgtEl>
                                          <p:spTgt spid="360454"/>
                                        </p:tgtEl>
                                        <p:attrNameLst>
                                          <p:attrName>style.visibility</p:attrName>
                                        </p:attrNameLst>
                                      </p:cBhvr>
                                      <p:to>
                                        <p:strVal val="visible"/>
                                      </p:to>
                                    </p:set>
                                    <p:animEffect transition="in" filter="dissolve">
                                      <p:cBhvr>
                                        <p:cTn id="15" dur="500"/>
                                        <p:tgtEl>
                                          <p:spTgt spid="360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4"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body" idx="1"/>
          </p:nvPr>
        </p:nvSpPr>
        <p:spPr>
          <a:xfrm>
            <a:off x="152400" y="4267200"/>
            <a:ext cx="8763000" cy="2133600"/>
          </a:xfrm>
        </p:spPr>
        <p:txBody>
          <a:bodyPr/>
          <a:lstStyle/>
          <a:p>
            <a:pPr eaLnBrk="1" hangingPunct="1"/>
            <a:r>
              <a:rPr lang="en-US" altLang="en-US" sz="2400" dirty="0" smtClean="0">
                <a:cs typeface="Times New Roman" panose="02020603050405020304" pitchFamily="18" charset="0"/>
              </a:rPr>
              <a:t>Multi-homed </a:t>
            </a:r>
            <a:r>
              <a:rPr lang="en-US" altLang="en-US" sz="2400" b="1" dirty="0" smtClean="0">
                <a:cs typeface="Times New Roman" panose="02020603050405020304" pitchFamily="18" charset="0"/>
              </a:rPr>
              <a:t>non-transit</a:t>
            </a:r>
            <a:r>
              <a:rPr lang="en-US" altLang="en-US" sz="2400" dirty="0" smtClean="0">
                <a:cs typeface="Times New Roman" panose="02020603050405020304" pitchFamily="18" charset="0"/>
              </a:rPr>
              <a:t> autonomous systems don’t really need to run BGP4 with their providers, although it is recommended, and often required by ISPs.  </a:t>
            </a:r>
            <a:endParaRPr lang="en-US" altLang="en-US" sz="2400" b="1" dirty="0" smtClean="0">
              <a:cs typeface="Times New Roman" panose="02020603050405020304" pitchFamily="18" charset="0"/>
            </a:endParaRPr>
          </a:p>
          <a:p>
            <a:pPr eaLnBrk="1" hangingPunct="1"/>
            <a:r>
              <a:rPr lang="en-US" altLang="en-US" sz="2400" dirty="0" smtClean="0">
                <a:cs typeface="Times New Roman" panose="02020603050405020304" pitchFamily="18" charset="0"/>
              </a:rPr>
              <a:t>BGP4 offers numerous advantages, including increased control of route propagation and filtering.</a:t>
            </a:r>
            <a:r>
              <a:rPr lang="en-US" altLang="en-US" sz="2400" dirty="0" smtClean="0"/>
              <a:t> </a:t>
            </a:r>
          </a:p>
        </p:txBody>
      </p:sp>
      <p:sp>
        <p:nvSpPr>
          <p:cNvPr id="21507" name="Rectangle 5"/>
          <p:cNvSpPr>
            <a:spLocks noGrp="1" noChangeArrowheads="1"/>
          </p:cNvSpPr>
          <p:nvPr>
            <p:ph type="title"/>
          </p:nvPr>
        </p:nvSpPr>
        <p:spPr>
          <a:xfrm>
            <a:off x="670718" y="147254"/>
            <a:ext cx="8107363" cy="457200"/>
          </a:xfrm>
          <a:noFill/>
        </p:spPr>
        <p:txBody>
          <a:bodyPr/>
          <a:lstStyle/>
          <a:p>
            <a:pPr eaLnBrk="1" hangingPunct="1"/>
            <a:r>
              <a:rPr lang="en-US" altLang="en-US" sz="3200" b="1" dirty="0" smtClean="0">
                <a:cs typeface="Times New Roman" panose="02020603050405020304" pitchFamily="18" charset="0"/>
              </a:rPr>
              <a:t>Multi-homed Non-transit Autonomous Systems</a:t>
            </a:r>
            <a:r>
              <a:rPr lang="en-US" altLang="en-US" b="1" dirty="0" smtClean="0"/>
              <a:t> </a:t>
            </a:r>
          </a:p>
        </p:txBody>
      </p:sp>
      <p:pic>
        <p:nvPicPr>
          <p:cNvPr id="21508" name="Picture 6" descr="fi9708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762000"/>
            <a:ext cx="556260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1479" name="Line 7"/>
          <p:cNvSpPr>
            <a:spLocks noChangeShapeType="1"/>
          </p:cNvSpPr>
          <p:nvPr/>
        </p:nvSpPr>
        <p:spPr bwMode="auto">
          <a:xfrm flipH="1">
            <a:off x="4724400" y="1905000"/>
            <a:ext cx="990600" cy="91440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1480" name="Line 8"/>
          <p:cNvSpPr>
            <a:spLocks noChangeShapeType="1"/>
          </p:cNvSpPr>
          <p:nvPr/>
        </p:nvSpPr>
        <p:spPr bwMode="auto">
          <a:xfrm flipH="1" flipV="1">
            <a:off x="3200400" y="1905000"/>
            <a:ext cx="990600" cy="83820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1481" name="Text Box 9"/>
          <p:cNvSpPr txBox="1">
            <a:spLocks noChangeArrowheads="1"/>
          </p:cNvSpPr>
          <p:nvPr/>
        </p:nvSpPr>
        <p:spPr bwMode="auto">
          <a:xfrm>
            <a:off x="3352800" y="1905000"/>
            <a:ext cx="91440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4000">
                <a:solidFill>
                  <a:srgbClr val="CC0000"/>
                </a:solidFill>
              </a:rPr>
              <a:t>X</a:t>
            </a:r>
          </a:p>
        </p:txBody>
      </p:sp>
      <p:sp>
        <p:nvSpPr>
          <p:cNvPr id="2" name="Slide Number Placeholder 1"/>
          <p:cNvSpPr>
            <a:spLocks noGrp="1"/>
          </p:cNvSpPr>
          <p:nvPr>
            <p:ph type="sldNum" sz="quarter" idx="10"/>
          </p:nvPr>
        </p:nvSpPr>
        <p:spPr/>
        <p:txBody>
          <a:bodyPr/>
          <a:lstStyle/>
          <a:p>
            <a:fld id="{1C0FA7A3-0FBF-4EC3-BE45-825983E95E58}" type="slidenum">
              <a:rPr lang="en-US" smtClean="0"/>
              <a:pPr/>
              <a:t>28</a:t>
            </a:fld>
            <a:endParaRPr lang="en-US" dirty="0"/>
          </a:p>
        </p:txBody>
      </p:sp>
    </p:spTree>
    <p:extLst>
      <p:ext uri="{BB962C8B-B14F-4D97-AF65-F5344CB8AC3E}">
        <p14:creationId xmlns:p14="http://schemas.microsoft.com/office/powerpoint/2010/main" val="10652829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nodeType="afterEffect">
                                  <p:stCondLst>
                                    <p:cond delay="2000"/>
                                  </p:stCondLst>
                                  <p:childTnLst>
                                    <p:set>
                                      <p:cBhvr>
                                        <p:cTn id="6" dur="1" fill="hold">
                                          <p:stCondLst>
                                            <p:cond delay="0"/>
                                          </p:stCondLst>
                                        </p:cTn>
                                        <p:tgtEl>
                                          <p:spTgt spid="361479"/>
                                        </p:tgtEl>
                                        <p:attrNameLst>
                                          <p:attrName>style.visibility</p:attrName>
                                        </p:attrNameLst>
                                      </p:cBhvr>
                                      <p:to>
                                        <p:strVal val="visible"/>
                                      </p:to>
                                    </p:set>
                                    <p:animEffect transition="in" filter="wipe(right)">
                                      <p:cBhvr>
                                        <p:cTn id="7" dur="500"/>
                                        <p:tgtEl>
                                          <p:spTgt spid="361479"/>
                                        </p:tgtEl>
                                      </p:cBhvr>
                                    </p:animEffect>
                                  </p:childTnLst>
                                </p:cTn>
                              </p:par>
                            </p:childTnLst>
                          </p:cTn>
                        </p:par>
                        <p:par>
                          <p:cTn id="8" fill="hold" nodeType="afterGroup">
                            <p:stCondLst>
                              <p:cond delay="2500"/>
                            </p:stCondLst>
                            <p:childTnLst>
                              <p:par>
                                <p:cTn id="9" presetID="22" presetClass="entr" presetSubtype="2" fill="hold" nodeType="afterEffect">
                                  <p:stCondLst>
                                    <p:cond delay="1000"/>
                                  </p:stCondLst>
                                  <p:childTnLst>
                                    <p:set>
                                      <p:cBhvr>
                                        <p:cTn id="10" dur="1" fill="hold">
                                          <p:stCondLst>
                                            <p:cond delay="0"/>
                                          </p:stCondLst>
                                        </p:cTn>
                                        <p:tgtEl>
                                          <p:spTgt spid="361480"/>
                                        </p:tgtEl>
                                        <p:attrNameLst>
                                          <p:attrName>style.visibility</p:attrName>
                                        </p:attrNameLst>
                                      </p:cBhvr>
                                      <p:to>
                                        <p:strVal val="visible"/>
                                      </p:to>
                                    </p:set>
                                    <p:animEffect transition="in" filter="wipe(right)">
                                      <p:cBhvr>
                                        <p:cTn id="11" dur="500"/>
                                        <p:tgtEl>
                                          <p:spTgt spid="361480"/>
                                        </p:tgtEl>
                                      </p:cBhvr>
                                    </p:animEffect>
                                  </p:childTnLst>
                                </p:cTn>
                              </p:par>
                            </p:childTnLst>
                          </p:cTn>
                        </p:par>
                        <p:par>
                          <p:cTn id="12" fill="hold" nodeType="afterGroup">
                            <p:stCondLst>
                              <p:cond delay="4000"/>
                            </p:stCondLst>
                            <p:childTnLst>
                              <p:par>
                                <p:cTn id="13" presetID="9" presetClass="entr" presetSubtype="0" fill="hold" grpId="0" nodeType="afterEffect">
                                  <p:stCondLst>
                                    <p:cond delay="1000"/>
                                  </p:stCondLst>
                                  <p:childTnLst>
                                    <p:set>
                                      <p:cBhvr>
                                        <p:cTn id="14" dur="1" fill="hold">
                                          <p:stCondLst>
                                            <p:cond delay="0"/>
                                          </p:stCondLst>
                                        </p:cTn>
                                        <p:tgtEl>
                                          <p:spTgt spid="361481"/>
                                        </p:tgtEl>
                                        <p:attrNameLst>
                                          <p:attrName>style.visibility</p:attrName>
                                        </p:attrNameLst>
                                      </p:cBhvr>
                                      <p:to>
                                        <p:strVal val="visible"/>
                                      </p:to>
                                    </p:set>
                                    <p:animEffect transition="in" filter="dissolve">
                                      <p:cBhvr>
                                        <p:cTn id="15" dur="500"/>
                                        <p:tgtEl>
                                          <p:spTgt spid="3614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81"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idx="1"/>
          </p:nvPr>
        </p:nvSpPr>
        <p:spPr>
          <a:xfrm>
            <a:off x="228600" y="4010572"/>
            <a:ext cx="8915400" cy="2667000"/>
          </a:xfrm>
        </p:spPr>
        <p:txBody>
          <a:bodyPr/>
          <a:lstStyle/>
          <a:p>
            <a:pPr eaLnBrk="1" hangingPunct="1"/>
            <a:r>
              <a:rPr lang="en-US" altLang="en-US" sz="2400" dirty="0" smtClean="0">
                <a:cs typeface="Times New Roman" panose="02020603050405020304" pitchFamily="18" charset="0"/>
              </a:rPr>
              <a:t>A multi-homed </a:t>
            </a:r>
            <a:r>
              <a:rPr lang="en-US" altLang="en-US" sz="2400" b="1" dirty="0" smtClean="0">
                <a:cs typeface="Times New Roman" panose="02020603050405020304" pitchFamily="18" charset="0"/>
              </a:rPr>
              <a:t>transit system</a:t>
            </a:r>
            <a:r>
              <a:rPr lang="en-US" altLang="en-US" sz="2400" dirty="0" smtClean="0">
                <a:cs typeface="Times New Roman" panose="02020603050405020304" pitchFamily="18" charset="0"/>
              </a:rPr>
              <a:t> has more than one connection to the outside world and can be used for transit traffic by other autonomous systems. </a:t>
            </a:r>
          </a:p>
          <a:p>
            <a:pPr lvl="1" eaLnBrk="1" hangingPunct="1"/>
            <a:r>
              <a:rPr lang="en-US" altLang="en-US" sz="2400" dirty="0" smtClean="0">
                <a:cs typeface="Times New Roman" panose="02020603050405020304" pitchFamily="18" charset="0"/>
              </a:rPr>
              <a:t>From the point of view of the multi-homed AS, transit traffic is any traffic originating from outside sources bound for outside destinations </a:t>
            </a:r>
          </a:p>
        </p:txBody>
      </p:sp>
      <p:sp>
        <p:nvSpPr>
          <p:cNvPr id="22531" name="Rectangle 5"/>
          <p:cNvSpPr>
            <a:spLocks noGrp="1" noChangeArrowheads="1"/>
          </p:cNvSpPr>
          <p:nvPr>
            <p:ph type="title"/>
          </p:nvPr>
        </p:nvSpPr>
        <p:spPr>
          <a:xfrm>
            <a:off x="838200" y="152400"/>
            <a:ext cx="8107363" cy="457200"/>
          </a:xfrm>
          <a:noFill/>
        </p:spPr>
        <p:txBody>
          <a:bodyPr/>
          <a:lstStyle/>
          <a:p>
            <a:pPr eaLnBrk="1" hangingPunct="1"/>
            <a:r>
              <a:rPr lang="en-US" altLang="en-US" sz="3200" b="1" dirty="0" smtClean="0">
                <a:cs typeface="Times New Roman" panose="02020603050405020304" pitchFamily="18" charset="0"/>
              </a:rPr>
              <a:t>Multi-homed Transit Autonomous Systems</a:t>
            </a:r>
            <a:r>
              <a:rPr lang="en-US" altLang="en-US" b="1" dirty="0" smtClean="0"/>
              <a:t> </a:t>
            </a:r>
          </a:p>
        </p:txBody>
      </p:sp>
      <p:pic>
        <p:nvPicPr>
          <p:cNvPr id="22532" name="Picture 10" descr="fi970806"/>
          <p:cNvPicPr>
            <a:picLocks noChangeAspect="1" noChangeArrowheads="1"/>
          </p:cNvPicPr>
          <p:nvPr/>
        </p:nvPicPr>
        <p:blipFill>
          <a:blip r:embed="rId3">
            <a:extLst>
              <a:ext uri="{28A0092B-C50C-407E-A947-70E740481C1C}">
                <a14:useLocalDpi xmlns:a14="http://schemas.microsoft.com/office/drawing/2010/main" val="0"/>
              </a:ext>
            </a:extLst>
          </a:blip>
          <a:srcRect r="15625" b="16898"/>
          <a:stretch>
            <a:fillRect/>
          </a:stretch>
        </p:blipFill>
        <p:spPr bwMode="auto">
          <a:xfrm>
            <a:off x="1981200" y="838200"/>
            <a:ext cx="5410200" cy="318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0"/>
          </p:nvPr>
        </p:nvSpPr>
        <p:spPr/>
        <p:txBody>
          <a:bodyPr/>
          <a:lstStyle/>
          <a:p>
            <a:fld id="{1C0FA7A3-0FBF-4EC3-BE45-825983E95E58}" type="slidenum">
              <a:rPr lang="en-US" smtClean="0"/>
              <a:pPr/>
              <a:t>29</a:t>
            </a:fld>
            <a:endParaRPr lang="en-US" dirty="0"/>
          </a:p>
        </p:txBody>
      </p:sp>
    </p:spTree>
    <p:extLst>
      <p:ext uri="{BB962C8B-B14F-4D97-AF65-F5344CB8AC3E}">
        <p14:creationId xmlns:p14="http://schemas.microsoft.com/office/powerpoint/2010/main" val="583167272"/>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381000" y="1066800"/>
            <a:ext cx="8496300" cy="5029200"/>
          </a:xfrm>
        </p:spPr>
        <p:txBody>
          <a:bodyPr/>
          <a:lstStyle/>
          <a:p>
            <a:pPr eaLnBrk="1" hangingPunct="1">
              <a:buFont typeface="Wingdings" panose="05000000000000000000" pitchFamily="2" charset="2"/>
              <a:buNone/>
            </a:pPr>
            <a:r>
              <a:rPr lang="en-US" altLang="en-US" dirty="0" smtClean="0"/>
              <a:t>Do </a:t>
            </a:r>
            <a:r>
              <a:rPr lang="en-US" altLang="en-US" b="1" u="sng" dirty="0" smtClean="0"/>
              <a:t>not</a:t>
            </a:r>
            <a:r>
              <a:rPr lang="en-US" altLang="en-US" dirty="0" smtClean="0"/>
              <a:t> use BGP if you have one or more of the following conditions:</a:t>
            </a:r>
          </a:p>
          <a:p>
            <a:pPr eaLnBrk="1" hangingPunct="1"/>
            <a:r>
              <a:rPr lang="en-US" altLang="en-US" dirty="0" smtClean="0"/>
              <a:t>A single connection to the Internet or another AS</a:t>
            </a:r>
          </a:p>
          <a:p>
            <a:pPr eaLnBrk="1" hangingPunct="1"/>
            <a:r>
              <a:rPr lang="en-US" altLang="en-US" dirty="0" smtClean="0"/>
              <a:t>No concern for routing policy or routing selection</a:t>
            </a:r>
          </a:p>
          <a:p>
            <a:pPr eaLnBrk="1" hangingPunct="1"/>
            <a:r>
              <a:rPr lang="en-US" altLang="en-US" dirty="0" smtClean="0"/>
              <a:t>A lack of memory or processing power on your routers to handle constant BGP updates</a:t>
            </a:r>
          </a:p>
          <a:p>
            <a:pPr eaLnBrk="1" hangingPunct="1"/>
            <a:r>
              <a:rPr lang="en-US" altLang="en-US" dirty="0" smtClean="0"/>
              <a:t>A limited understanding of route filtering and BGP path selection process </a:t>
            </a:r>
          </a:p>
          <a:p>
            <a:pPr eaLnBrk="1" hangingPunct="1"/>
            <a:r>
              <a:rPr lang="en-US" altLang="en-US" dirty="0" smtClean="0"/>
              <a:t>Low bandwidth between AS’s</a:t>
            </a:r>
          </a:p>
          <a:p>
            <a:pPr eaLnBrk="1" hangingPunct="1"/>
            <a:endParaRPr lang="en-US" altLang="en-US" dirty="0" smtClean="0"/>
          </a:p>
        </p:txBody>
      </p:sp>
      <p:sp>
        <p:nvSpPr>
          <p:cNvPr id="3" name="Rectangle 2"/>
          <p:cNvSpPr>
            <a:spLocks noGrp="1" noChangeArrowheads="1"/>
          </p:cNvSpPr>
          <p:nvPr>
            <p:ph type="title"/>
          </p:nvPr>
        </p:nvSpPr>
        <p:spPr>
          <a:xfrm>
            <a:off x="190500" y="152400"/>
            <a:ext cx="8686800" cy="563563"/>
          </a:xfrm>
        </p:spPr>
        <p:txBody>
          <a:bodyPr/>
          <a:lstStyle/>
          <a:p>
            <a:pPr algn="ctr" eaLnBrk="1" hangingPunct="1"/>
            <a:r>
              <a:rPr lang="en-US" altLang="en-US" sz="4000" b="1" dirty="0" smtClean="0"/>
              <a:t>WHEN NOT TO USE BGP</a:t>
            </a:r>
          </a:p>
        </p:txBody>
      </p:sp>
      <p:sp>
        <p:nvSpPr>
          <p:cNvPr id="2" name="Slide Number Placeholder 1"/>
          <p:cNvSpPr>
            <a:spLocks noGrp="1"/>
          </p:cNvSpPr>
          <p:nvPr>
            <p:ph type="sldNum" sz="quarter" idx="10"/>
          </p:nvPr>
        </p:nvSpPr>
        <p:spPr/>
        <p:txBody>
          <a:bodyPr/>
          <a:lstStyle/>
          <a:p>
            <a:fld id="{1C0FA7A3-0FBF-4EC3-BE45-825983E95E58}" type="slidenum">
              <a:rPr lang="en-US" smtClean="0"/>
              <a:pPr/>
              <a:t>30</a:t>
            </a:fld>
            <a:endParaRPr lang="en-US" dirty="0"/>
          </a:p>
        </p:txBody>
      </p:sp>
    </p:spTree>
    <p:extLst>
      <p:ext uri="{BB962C8B-B14F-4D97-AF65-F5344CB8AC3E}">
        <p14:creationId xmlns:p14="http://schemas.microsoft.com/office/powerpoint/2010/main" val="3196208312"/>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xfrm>
            <a:off x="381000" y="1066800"/>
            <a:ext cx="8496300" cy="5029200"/>
          </a:xfrm>
        </p:spPr>
        <p:txBody>
          <a:bodyPr/>
          <a:lstStyle/>
          <a:p>
            <a:pPr eaLnBrk="1" hangingPunct="1"/>
            <a:r>
              <a:rPr lang="en-US" altLang="en-US" dirty="0" smtClean="0"/>
              <a:t>Multiple connections to ISP or other AS’s.</a:t>
            </a:r>
          </a:p>
          <a:p>
            <a:pPr eaLnBrk="1" hangingPunct="1"/>
            <a:r>
              <a:rPr lang="en-US" altLang="en-US" dirty="0" smtClean="0"/>
              <a:t> Want more control over traffic routing.</a:t>
            </a:r>
          </a:p>
          <a:p>
            <a:pPr marL="0" indent="0" eaLnBrk="1" hangingPunct="1">
              <a:buNone/>
            </a:pPr>
            <a:endParaRPr lang="en-US" altLang="en-US" dirty="0" smtClean="0"/>
          </a:p>
        </p:txBody>
      </p:sp>
      <p:sp>
        <p:nvSpPr>
          <p:cNvPr id="3" name="Rectangle 2"/>
          <p:cNvSpPr>
            <a:spLocks noGrp="1" noChangeArrowheads="1"/>
          </p:cNvSpPr>
          <p:nvPr>
            <p:ph type="title"/>
          </p:nvPr>
        </p:nvSpPr>
        <p:spPr>
          <a:xfrm>
            <a:off x="190500" y="152400"/>
            <a:ext cx="8686800" cy="563563"/>
          </a:xfrm>
        </p:spPr>
        <p:txBody>
          <a:bodyPr/>
          <a:lstStyle/>
          <a:p>
            <a:pPr algn="ctr" eaLnBrk="1" hangingPunct="1"/>
            <a:r>
              <a:rPr lang="en-US" altLang="en-US" sz="4000" b="1" dirty="0" smtClean="0"/>
              <a:t>WHEN TO USE IBGP</a:t>
            </a:r>
          </a:p>
        </p:txBody>
      </p:sp>
      <p:sp>
        <p:nvSpPr>
          <p:cNvPr id="2" name="Slide Number Placeholder 1"/>
          <p:cNvSpPr>
            <a:spLocks noGrp="1"/>
          </p:cNvSpPr>
          <p:nvPr>
            <p:ph type="sldNum" sz="quarter" idx="10"/>
          </p:nvPr>
        </p:nvSpPr>
        <p:spPr/>
        <p:txBody>
          <a:bodyPr/>
          <a:lstStyle/>
          <a:p>
            <a:fld id="{1C0FA7A3-0FBF-4EC3-BE45-825983E95E58}" type="slidenum">
              <a:rPr lang="en-US" smtClean="0"/>
              <a:pPr/>
              <a:t>31</a:t>
            </a:fld>
            <a:endParaRPr lang="en-US" dirty="0"/>
          </a:p>
        </p:txBody>
      </p:sp>
    </p:spTree>
    <p:extLst>
      <p:ext uri="{BB962C8B-B14F-4D97-AF65-F5344CB8AC3E}">
        <p14:creationId xmlns:p14="http://schemas.microsoft.com/office/powerpoint/2010/main" val="4086140522"/>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body" idx="1"/>
          </p:nvPr>
        </p:nvSpPr>
        <p:spPr>
          <a:xfrm>
            <a:off x="487759" y="990600"/>
            <a:ext cx="8168482" cy="4876800"/>
          </a:xfrm>
        </p:spPr>
        <p:txBody>
          <a:bodyPr/>
          <a:lstStyle/>
          <a:p>
            <a:pPr eaLnBrk="1" hangingPunct="1"/>
            <a:r>
              <a:rPr lang="en-US" altLang="en-US" dirty="0" smtClean="0">
                <a:cs typeface="Times New Roman" panose="02020603050405020304" pitchFamily="18" charset="0"/>
              </a:rPr>
              <a:t>BGP updates are carried using </a:t>
            </a:r>
            <a:r>
              <a:rPr lang="en-US" altLang="en-US" b="1" dirty="0" smtClean="0">
                <a:cs typeface="Times New Roman" panose="02020603050405020304" pitchFamily="18" charset="0"/>
              </a:rPr>
              <a:t>TCP on port 179</a:t>
            </a:r>
            <a:r>
              <a:rPr lang="en-US" altLang="en-US" dirty="0" smtClean="0">
                <a:cs typeface="Times New Roman" panose="02020603050405020304" pitchFamily="18" charset="0"/>
              </a:rPr>
              <a:t>.</a:t>
            </a:r>
          </a:p>
          <a:p>
            <a:pPr lvl="1" eaLnBrk="1" hangingPunct="1"/>
            <a:r>
              <a:rPr lang="en-US" altLang="en-US" dirty="0" smtClean="0">
                <a:cs typeface="Times New Roman" panose="02020603050405020304" pitchFamily="18" charset="0"/>
              </a:rPr>
              <a:t>RIP updates use UDP port 520, while OSPF does not use a Layer-4 protocol.</a:t>
            </a:r>
          </a:p>
          <a:p>
            <a:pPr eaLnBrk="1" hangingPunct="1"/>
            <a:r>
              <a:rPr lang="en-US" altLang="en-US" dirty="0" smtClean="0">
                <a:cs typeface="Times New Roman" panose="02020603050405020304" pitchFamily="18" charset="0"/>
              </a:rPr>
              <a:t>Because BGP requires TCP, IP connectivity must exist between BGP peers and TCP connections must be negotiated between them before updates can be exchanged. </a:t>
            </a:r>
          </a:p>
          <a:p>
            <a:pPr lvl="1" eaLnBrk="1" hangingPunct="1"/>
            <a:r>
              <a:rPr lang="en-US" altLang="en-US" dirty="0" smtClean="0">
                <a:cs typeface="Times New Roman" panose="02020603050405020304" pitchFamily="18" charset="0"/>
              </a:rPr>
              <a:t>Thus, BGP inherits TCP’s reliable, connection-oriented properties.</a:t>
            </a:r>
            <a:r>
              <a:rPr lang="en-US" altLang="en-US" dirty="0" smtClean="0"/>
              <a:t> </a:t>
            </a:r>
          </a:p>
        </p:txBody>
      </p:sp>
      <p:sp>
        <p:nvSpPr>
          <p:cNvPr id="5" name="Rectangle 2"/>
          <p:cNvSpPr>
            <a:spLocks noGrp="1" noChangeArrowheads="1"/>
          </p:cNvSpPr>
          <p:nvPr>
            <p:ph type="title"/>
          </p:nvPr>
        </p:nvSpPr>
        <p:spPr>
          <a:xfrm>
            <a:off x="228600" y="152400"/>
            <a:ext cx="8686800" cy="563563"/>
          </a:xfrm>
        </p:spPr>
        <p:txBody>
          <a:bodyPr/>
          <a:lstStyle/>
          <a:p>
            <a:pPr algn="ctr" eaLnBrk="1" hangingPunct="1"/>
            <a:r>
              <a:rPr lang="en-US" altLang="en-US" b="1" dirty="0" smtClean="0"/>
              <a:t>BGP Operation</a:t>
            </a:r>
          </a:p>
        </p:txBody>
      </p:sp>
      <p:sp>
        <p:nvSpPr>
          <p:cNvPr id="2" name="Slide Number Placeholder 1"/>
          <p:cNvSpPr>
            <a:spLocks noGrp="1"/>
          </p:cNvSpPr>
          <p:nvPr>
            <p:ph type="sldNum" sz="quarter" idx="10"/>
          </p:nvPr>
        </p:nvSpPr>
        <p:spPr/>
        <p:txBody>
          <a:bodyPr/>
          <a:lstStyle/>
          <a:p>
            <a:fld id="{1C0FA7A3-0FBF-4EC3-BE45-825983E95E58}" type="slidenum">
              <a:rPr lang="en-US" smtClean="0"/>
              <a:pPr/>
              <a:t>32</a:t>
            </a:fld>
            <a:endParaRPr lang="en-US" dirty="0"/>
          </a:p>
        </p:txBody>
      </p:sp>
    </p:spTree>
    <p:extLst>
      <p:ext uri="{BB962C8B-B14F-4D97-AF65-F5344CB8AC3E}">
        <p14:creationId xmlns:p14="http://schemas.microsoft.com/office/powerpoint/2010/main" val="471073202"/>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1"/>
          </p:nvPr>
        </p:nvSpPr>
        <p:spPr>
          <a:xfrm>
            <a:off x="228600" y="1143000"/>
            <a:ext cx="8716963" cy="4953000"/>
          </a:xfrm>
        </p:spPr>
        <p:txBody>
          <a:bodyPr/>
          <a:lstStyle/>
          <a:p>
            <a:pPr eaLnBrk="1" hangingPunct="1">
              <a:lnSpc>
                <a:spcPct val="90000"/>
              </a:lnSpc>
            </a:pPr>
            <a:r>
              <a:rPr lang="en-US" altLang="en-US" sz="2800" dirty="0" smtClean="0">
                <a:cs typeface="Times New Roman" panose="02020603050405020304" pitchFamily="18" charset="0"/>
              </a:rPr>
              <a:t>When two routers establish a TCP-enabled BGP connection between each other, they are called </a:t>
            </a:r>
            <a:r>
              <a:rPr lang="en-US" altLang="en-US" sz="2800" b="1" i="1" dirty="0" smtClean="0">
                <a:solidFill>
                  <a:srgbClr val="FF0000"/>
                </a:solidFill>
                <a:cs typeface="Times New Roman" panose="02020603050405020304" pitchFamily="18" charset="0"/>
              </a:rPr>
              <a:t>neighbors</a:t>
            </a:r>
            <a:r>
              <a:rPr lang="en-US" altLang="en-US" sz="2800" dirty="0" smtClean="0">
                <a:cs typeface="Times New Roman" panose="02020603050405020304" pitchFamily="18" charset="0"/>
              </a:rPr>
              <a:t> or </a:t>
            </a:r>
            <a:r>
              <a:rPr lang="en-US" altLang="en-US" sz="2800" b="1" i="1" dirty="0" smtClean="0">
                <a:solidFill>
                  <a:srgbClr val="FF0000"/>
                </a:solidFill>
                <a:cs typeface="Times New Roman" panose="02020603050405020304" pitchFamily="18" charset="0"/>
              </a:rPr>
              <a:t>peers</a:t>
            </a:r>
            <a:r>
              <a:rPr lang="en-US" altLang="en-US" sz="2800" dirty="0" smtClean="0">
                <a:solidFill>
                  <a:srgbClr val="FF0000"/>
                </a:solidFill>
                <a:cs typeface="Times New Roman" panose="02020603050405020304" pitchFamily="18" charset="0"/>
              </a:rPr>
              <a:t>. </a:t>
            </a:r>
          </a:p>
          <a:p>
            <a:pPr eaLnBrk="1" hangingPunct="1">
              <a:lnSpc>
                <a:spcPct val="90000"/>
              </a:lnSpc>
            </a:pPr>
            <a:r>
              <a:rPr lang="en-US" altLang="en-US" sz="2800" dirty="0" smtClean="0">
                <a:cs typeface="Times New Roman" panose="02020603050405020304" pitchFamily="18" charset="0"/>
              </a:rPr>
              <a:t>Each router running BGP is called a </a:t>
            </a:r>
            <a:r>
              <a:rPr lang="en-US" altLang="en-US" sz="2800" i="1" dirty="0" smtClean="0">
                <a:cs typeface="Times New Roman" panose="02020603050405020304" pitchFamily="18" charset="0"/>
              </a:rPr>
              <a:t>BGP speaker</a:t>
            </a:r>
            <a:r>
              <a:rPr lang="en-US" altLang="en-US" sz="2800" dirty="0" smtClean="0">
                <a:cs typeface="Times New Roman" panose="02020603050405020304" pitchFamily="18" charset="0"/>
              </a:rPr>
              <a:t>.</a:t>
            </a:r>
          </a:p>
          <a:p>
            <a:pPr eaLnBrk="1" hangingPunct="1">
              <a:lnSpc>
                <a:spcPct val="90000"/>
              </a:lnSpc>
            </a:pPr>
            <a:r>
              <a:rPr lang="en-US" altLang="en-US" sz="2800" dirty="0" smtClean="0">
                <a:cs typeface="Times New Roman" panose="02020603050405020304" pitchFamily="18" charset="0"/>
              </a:rPr>
              <a:t>When two neighbors first establish a BGP connection, they exchange their entire BGP routing tables.</a:t>
            </a:r>
          </a:p>
          <a:p>
            <a:pPr eaLnBrk="1" hangingPunct="1">
              <a:lnSpc>
                <a:spcPct val="90000"/>
              </a:lnSpc>
            </a:pPr>
            <a:r>
              <a:rPr lang="en-US" altLang="en-US" sz="2800" dirty="0" smtClean="0">
                <a:cs typeface="Times New Roman" panose="02020603050405020304" pitchFamily="18" charset="0"/>
              </a:rPr>
              <a:t>After that, they exchange incremental, partial updates with only the information that has changed.</a:t>
            </a:r>
          </a:p>
        </p:txBody>
      </p:sp>
      <p:sp>
        <p:nvSpPr>
          <p:cNvPr id="5" name="Rectangle 2"/>
          <p:cNvSpPr>
            <a:spLocks noGrp="1" noChangeArrowheads="1"/>
          </p:cNvSpPr>
          <p:nvPr>
            <p:ph type="title"/>
          </p:nvPr>
        </p:nvSpPr>
        <p:spPr>
          <a:xfrm>
            <a:off x="228600" y="152400"/>
            <a:ext cx="8686800" cy="563563"/>
          </a:xfrm>
        </p:spPr>
        <p:txBody>
          <a:bodyPr/>
          <a:lstStyle/>
          <a:p>
            <a:pPr algn="ctr" eaLnBrk="1" hangingPunct="1"/>
            <a:r>
              <a:rPr lang="en-US" altLang="en-US" b="1" dirty="0" smtClean="0"/>
              <a:t>BGP Operation</a:t>
            </a:r>
          </a:p>
        </p:txBody>
      </p:sp>
      <p:sp>
        <p:nvSpPr>
          <p:cNvPr id="2" name="Slide Number Placeholder 1"/>
          <p:cNvSpPr>
            <a:spLocks noGrp="1"/>
          </p:cNvSpPr>
          <p:nvPr>
            <p:ph type="sldNum" sz="quarter" idx="10"/>
          </p:nvPr>
        </p:nvSpPr>
        <p:spPr/>
        <p:txBody>
          <a:bodyPr/>
          <a:lstStyle/>
          <a:p>
            <a:fld id="{1C0FA7A3-0FBF-4EC3-BE45-825983E95E58}" type="slidenum">
              <a:rPr lang="en-US" smtClean="0"/>
              <a:pPr/>
              <a:t>33</a:t>
            </a:fld>
            <a:endParaRPr lang="en-US" dirty="0"/>
          </a:p>
        </p:txBody>
      </p:sp>
    </p:spTree>
    <p:extLst>
      <p:ext uri="{BB962C8B-B14F-4D97-AF65-F5344CB8AC3E}">
        <p14:creationId xmlns:p14="http://schemas.microsoft.com/office/powerpoint/2010/main" val="193245812"/>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body" idx="1"/>
          </p:nvPr>
        </p:nvSpPr>
        <p:spPr>
          <a:xfrm>
            <a:off x="457200" y="1295400"/>
            <a:ext cx="8488363" cy="4800600"/>
          </a:xfrm>
        </p:spPr>
        <p:txBody>
          <a:bodyPr/>
          <a:lstStyle/>
          <a:p>
            <a:pPr eaLnBrk="1" hangingPunct="1"/>
            <a:r>
              <a:rPr lang="en-US" altLang="en-US" dirty="0" smtClean="0">
                <a:cs typeface="Times New Roman" panose="02020603050405020304" pitchFamily="18" charset="0"/>
              </a:rPr>
              <a:t>Peers exchange </a:t>
            </a:r>
            <a:r>
              <a:rPr lang="en-US" altLang="en-US" b="1" dirty="0" err="1" smtClean="0">
                <a:solidFill>
                  <a:srgbClr val="FF0000"/>
                </a:solidFill>
                <a:cs typeface="Times New Roman" panose="02020603050405020304" pitchFamily="18" charset="0"/>
              </a:rPr>
              <a:t>keepalive</a:t>
            </a:r>
            <a:r>
              <a:rPr lang="en-US" altLang="en-US" b="1" dirty="0" smtClean="0">
                <a:solidFill>
                  <a:srgbClr val="FF0000"/>
                </a:solidFill>
                <a:cs typeface="Times New Roman" panose="02020603050405020304" pitchFamily="18" charset="0"/>
              </a:rPr>
              <a:t> messages</a:t>
            </a:r>
            <a:r>
              <a:rPr lang="en-US" altLang="en-US" dirty="0" smtClean="0">
                <a:solidFill>
                  <a:srgbClr val="FF0000"/>
                </a:solidFill>
                <a:cs typeface="Times New Roman" panose="02020603050405020304" pitchFamily="18" charset="0"/>
              </a:rPr>
              <a:t> </a:t>
            </a:r>
            <a:r>
              <a:rPr lang="en-US" altLang="en-US" dirty="0" smtClean="0">
                <a:cs typeface="Times New Roman" panose="02020603050405020304" pitchFamily="18" charset="0"/>
              </a:rPr>
              <a:t>to ensure the connection is maintained.</a:t>
            </a:r>
          </a:p>
          <a:p>
            <a:pPr eaLnBrk="1" hangingPunct="1"/>
            <a:r>
              <a:rPr lang="en-US" altLang="en-US" dirty="0" smtClean="0"/>
              <a:t>The Cisco default </a:t>
            </a:r>
            <a:r>
              <a:rPr lang="en-US" altLang="en-US" dirty="0" err="1" smtClean="0"/>
              <a:t>keepalive</a:t>
            </a:r>
            <a:r>
              <a:rPr lang="en-US" altLang="en-US" dirty="0" smtClean="0"/>
              <a:t> interval is </a:t>
            </a:r>
            <a:r>
              <a:rPr lang="en-US" altLang="en-US" b="1" dirty="0" smtClean="0"/>
              <a:t>60 seconds</a:t>
            </a:r>
            <a:r>
              <a:rPr lang="en-US" altLang="en-US" dirty="0" smtClean="0"/>
              <a:t> (RFC 1771 does not specify a standard time).</a:t>
            </a:r>
          </a:p>
          <a:p>
            <a:pPr eaLnBrk="1" hangingPunct="1"/>
            <a:r>
              <a:rPr lang="en-US" altLang="en-US" dirty="0" smtClean="0"/>
              <a:t>If three </a:t>
            </a:r>
            <a:r>
              <a:rPr lang="en-US" altLang="en-US" dirty="0" err="1" smtClean="0"/>
              <a:t>keepalive</a:t>
            </a:r>
            <a:r>
              <a:rPr lang="en-US" altLang="en-US" dirty="0" smtClean="0"/>
              <a:t> intervals (</a:t>
            </a:r>
            <a:r>
              <a:rPr lang="en-US" altLang="en-US" b="1" dirty="0" smtClean="0"/>
              <a:t>180 seconds</a:t>
            </a:r>
            <a:r>
              <a:rPr lang="en-US" altLang="en-US" dirty="0" smtClean="0"/>
              <a:t>) pass the peer </a:t>
            </a:r>
            <a:r>
              <a:rPr lang="en-US" altLang="en-US" dirty="0" err="1" smtClean="0"/>
              <a:t>delcares</a:t>
            </a:r>
            <a:r>
              <a:rPr lang="en-US" altLang="en-US" dirty="0" smtClean="0"/>
              <a:t> its neighbor down.</a:t>
            </a:r>
          </a:p>
        </p:txBody>
      </p:sp>
      <p:sp>
        <p:nvSpPr>
          <p:cNvPr id="5" name="Rectangle 2"/>
          <p:cNvSpPr>
            <a:spLocks noGrp="1" noChangeArrowheads="1"/>
          </p:cNvSpPr>
          <p:nvPr>
            <p:ph type="title"/>
          </p:nvPr>
        </p:nvSpPr>
        <p:spPr>
          <a:xfrm>
            <a:off x="224604" y="23648"/>
            <a:ext cx="8686800" cy="563563"/>
          </a:xfrm>
        </p:spPr>
        <p:txBody>
          <a:bodyPr/>
          <a:lstStyle/>
          <a:p>
            <a:pPr algn="ctr" eaLnBrk="1" hangingPunct="1"/>
            <a:r>
              <a:rPr lang="en-US" altLang="en-US" b="1" dirty="0" smtClean="0"/>
              <a:t>BGP Operation</a:t>
            </a:r>
          </a:p>
        </p:txBody>
      </p:sp>
      <p:sp>
        <p:nvSpPr>
          <p:cNvPr id="2" name="Slide Number Placeholder 1"/>
          <p:cNvSpPr>
            <a:spLocks noGrp="1"/>
          </p:cNvSpPr>
          <p:nvPr>
            <p:ph type="sldNum" sz="quarter" idx="10"/>
          </p:nvPr>
        </p:nvSpPr>
        <p:spPr/>
        <p:txBody>
          <a:bodyPr/>
          <a:lstStyle/>
          <a:p>
            <a:fld id="{1C0FA7A3-0FBF-4EC3-BE45-825983E95E58}" type="slidenum">
              <a:rPr lang="en-US" smtClean="0"/>
              <a:pPr/>
              <a:t>34</a:t>
            </a:fld>
            <a:endParaRPr lang="en-US" dirty="0"/>
          </a:p>
        </p:txBody>
      </p:sp>
    </p:spTree>
    <p:extLst>
      <p:ext uri="{BB962C8B-B14F-4D97-AF65-F5344CB8AC3E}">
        <p14:creationId xmlns:p14="http://schemas.microsoft.com/office/powerpoint/2010/main" val="2750590499"/>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62781" y="10510"/>
            <a:ext cx="7772400" cy="609600"/>
          </a:xfrm>
        </p:spPr>
        <p:txBody>
          <a:bodyPr/>
          <a:lstStyle/>
          <a:p>
            <a:pPr algn="ctr" eaLnBrk="1" hangingPunct="1"/>
            <a:r>
              <a:rPr lang="en-US" altLang="en-US" b="1" dirty="0" smtClean="0"/>
              <a:t>BGP Hazards</a:t>
            </a:r>
          </a:p>
        </p:txBody>
      </p:sp>
      <p:sp>
        <p:nvSpPr>
          <p:cNvPr id="23555" name="Rectangle 3"/>
          <p:cNvSpPr>
            <a:spLocks noGrp="1" noChangeArrowheads="1"/>
          </p:cNvSpPr>
          <p:nvPr>
            <p:ph type="body" idx="1"/>
          </p:nvPr>
        </p:nvSpPr>
        <p:spPr>
          <a:xfrm>
            <a:off x="152400" y="1143000"/>
            <a:ext cx="8793163" cy="5029200"/>
          </a:xfrm>
        </p:spPr>
        <p:txBody>
          <a:bodyPr/>
          <a:lstStyle/>
          <a:p>
            <a:pPr eaLnBrk="1" hangingPunct="1">
              <a:lnSpc>
                <a:spcPct val="90000"/>
              </a:lnSpc>
            </a:pPr>
            <a:r>
              <a:rPr lang="en-US" altLang="en-US" sz="3600" dirty="0" smtClean="0"/>
              <a:t>Creating a BGP “peering” relationship involves an interesting combination of trust and mistrust.</a:t>
            </a:r>
          </a:p>
          <a:p>
            <a:pPr eaLnBrk="1" hangingPunct="1">
              <a:lnSpc>
                <a:spcPct val="90000"/>
              </a:lnSpc>
            </a:pPr>
            <a:r>
              <a:rPr lang="en-US" altLang="en-US" sz="3600" dirty="0" smtClean="0"/>
              <a:t>You must trust the network administrator on that end to know what they are doing.</a:t>
            </a:r>
          </a:p>
          <a:p>
            <a:pPr eaLnBrk="1" hangingPunct="1">
              <a:lnSpc>
                <a:spcPct val="90000"/>
              </a:lnSpc>
            </a:pPr>
            <a:r>
              <a:rPr lang="en-US" altLang="en-US" sz="3600" dirty="0" smtClean="0"/>
              <a:t>At the same time, if you are smart, you will take every practical measure to protect yourself in the event that a mistake is made on the other end.</a:t>
            </a:r>
          </a:p>
        </p:txBody>
      </p:sp>
      <p:sp>
        <p:nvSpPr>
          <p:cNvPr id="2" name="Slide Number Placeholder 1"/>
          <p:cNvSpPr>
            <a:spLocks noGrp="1"/>
          </p:cNvSpPr>
          <p:nvPr>
            <p:ph type="sldNum" sz="quarter" idx="10"/>
          </p:nvPr>
        </p:nvSpPr>
        <p:spPr/>
        <p:txBody>
          <a:bodyPr/>
          <a:lstStyle/>
          <a:p>
            <a:fld id="{1C0FA7A3-0FBF-4EC3-BE45-825983E95E58}" type="slidenum">
              <a:rPr lang="en-US" smtClean="0"/>
              <a:pPr/>
              <a:t>35</a:t>
            </a:fld>
            <a:endParaRPr lang="en-US" dirty="0"/>
          </a:p>
        </p:txBody>
      </p:sp>
    </p:spTree>
    <p:extLst>
      <p:ext uri="{BB962C8B-B14F-4D97-AF65-F5344CB8AC3E}">
        <p14:creationId xmlns:p14="http://schemas.microsoft.com/office/powerpoint/2010/main" val="3039442189"/>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0"/>
            <a:ext cx="7772400" cy="609600"/>
          </a:xfrm>
        </p:spPr>
        <p:txBody>
          <a:bodyPr/>
          <a:lstStyle/>
          <a:p>
            <a:pPr algn="ctr" eaLnBrk="1" hangingPunct="1"/>
            <a:r>
              <a:rPr lang="en-US" altLang="en-US" b="1" dirty="0" smtClean="0"/>
              <a:t>BGP Hazards</a:t>
            </a:r>
          </a:p>
        </p:txBody>
      </p:sp>
      <p:sp>
        <p:nvSpPr>
          <p:cNvPr id="24579" name="Rectangle 3"/>
          <p:cNvSpPr>
            <a:spLocks noGrp="1" noChangeArrowheads="1"/>
          </p:cNvSpPr>
          <p:nvPr>
            <p:ph type="body" idx="1"/>
          </p:nvPr>
        </p:nvSpPr>
        <p:spPr>
          <a:xfrm>
            <a:off x="419100" y="990600"/>
            <a:ext cx="8305800" cy="5867400"/>
          </a:xfrm>
        </p:spPr>
        <p:txBody>
          <a:bodyPr/>
          <a:lstStyle/>
          <a:p>
            <a:pPr eaLnBrk="1" hangingPunct="1">
              <a:lnSpc>
                <a:spcPct val="90000"/>
              </a:lnSpc>
            </a:pPr>
            <a:r>
              <a:rPr lang="en-US" altLang="en-US" dirty="0" smtClean="0"/>
              <a:t>Your ISP will show little patience with you if you make mistakes in your BGP configuration.</a:t>
            </a:r>
          </a:p>
          <a:p>
            <a:pPr eaLnBrk="1" hangingPunct="1">
              <a:lnSpc>
                <a:spcPct val="90000"/>
              </a:lnSpc>
            </a:pPr>
            <a:r>
              <a:rPr lang="en-US" altLang="en-US" dirty="0" smtClean="0"/>
              <a:t>Suppose, for example, that through some misconfiguration you advertise 207.46.0.0/16 to your ISP.</a:t>
            </a:r>
          </a:p>
          <a:p>
            <a:pPr eaLnBrk="1" hangingPunct="1">
              <a:lnSpc>
                <a:spcPct val="90000"/>
              </a:lnSpc>
            </a:pPr>
            <a:r>
              <a:rPr lang="en-US" altLang="en-US" dirty="0" smtClean="0"/>
              <a:t>On the receiving side, the ISP does not filter out this incorrect route, allowing it to be advertised to the rest of the Internet.</a:t>
            </a:r>
          </a:p>
          <a:p>
            <a:pPr eaLnBrk="1" hangingPunct="1">
              <a:lnSpc>
                <a:spcPct val="90000"/>
              </a:lnSpc>
            </a:pPr>
            <a:r>
              <a:rPr lang="en-US" altLang="en-US" dirty="0" smtClean="0"/>
              <a:t>This particular CIDR block belongs to Microsoft, and you have just claimed to have a route to that destination.</a:t>
            </a:r>
          </a:p>
        </p:txBody>
      </p:sp>
      <p:sp>
        <p:nvSpPr>
          <p:cNvPr id="2" name="Slide Number Placeholder 1"/>
          <p:cNvSpPr>
            <a:spLocks noGrp="1"/>
          </p:cNvSpPr>
          <p:nvPr>
            <p:ph type="sldNum" sz="quarter" idx="10"/>
          </p:nvPr>
        </p:nvSpPr>
        <p:spPr/>
        <p:txBody>
          <a:bodyPr/>
          <a:lstStyle/>
          <a:p>
            <a:fld id="{1C0FA7A3-0FBF-4EC3-BE45-825983E95E58}" type="slidenum">
              <a:rPr lang="en-US" smtClean="0"/>
              <a:pPr/>
              <a:t>36</a:t>
            </a:fld>
            <a:endParaRPr lang="en-US" dirty="0"/>
          </a:p>
        </p:txBody>
      </p:sp>
    </p:spTree>
    <p:extLst>
      <p:ext uri="{BB962C8B-B14F-4D97-AF65-F5344CB8AC3E}">
        <p14:creationId xmlns:p14="http://schemas.microsoft.com/office/powerpoint/2010/main" val="3487648267"/>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0"/>
            <a:ext cx="7772400" cy="609600"/>
          </a:xfrm>
        </p:spPr>
        <p:txBody>
          <a:bodyPr/>
          <a:lstStyle/>
          <a:p>
            <a:pPr algn="ctr" eaLnBrk="1" hangingPunct="1"/>
            <a:r>
              <a:rPr lang="en-US" altLang="en-US" b="1" dirty="0" smtClean="0"/>
              <a:t>BGP Hazards</a:t>
            </a:r>
          </a:p>
        </p:txBody>
      </p:sp>
      <p:sp>
        <p:nvSpPr>
          <p:cNvPr id="24579" name="Rectangle 3"/>
          <p:cNvSpPr>
            <a:spLocks noGrp="1" noChangeArrowheads="1"/>
          </p:cNvSpPr>
          <p:nvPr>
            <p:ph type="body" idx="1"/>
          </p:nvPr>
        </p:nvSpPr>
        <p:spPr>
          <a:xfrm>
            <a:off x="419100" y="1219200"/>
            <a:ext cx="8305800" cy="5867400"/>
          </a:xfrm>
        </p:spPr>
        <p:txBody>
          <a:bodyPr/>
          <a:lstStyle/>
          <a:p>
            <a:pPr eaLnBrk="1" hangingPunct="1">
              <a:lnSpc>
                <a:spcPct val="90000"/>
              </a:lnSpc>
            </a:pPr>
            <a:r>
              <a:rPr lang="en-US" altLang="en-US" dirty="0"/>
              <a:t>A significant portion of the Internet community could decide that the best path to Microsoft is through your domain.</a:t>
            </a:r>
          </a:p>
          <a:p>
            <a:pPr eaLnBrk="1" hangingPunct="1">
              <a:lnSpc>
                <a:spcPct val="90000"/>
              </a:lnSpc>
            </a:pPr>
            <a:r>
              <a:rPr lang="en-US" altLang="en-US" dirty="0"/>
              <a:t>You will receive a flood of unwanted packets across your Internet connection and, more importantly, you will have black-holed traffic that should have gone to Microsoft.</a:t>
            </a:r>
          </a:p>
          <a:p>
            <a:pPr eaLnBrk="1" hangingPunct="1">
              <a:lnSpc>
                <a:spcPct val="90000"/>
              </a:lnSpc>
            </a:pPr>
            <a:r>
              <a:rPr lang="en-US" altLang="en-US" dirty="0"/>
              <a:t>They will be neither amused nor understanding.</a:t>
            </a:r>
          </a:p>
        </p:txBody>
      </p:sp>
      <p:sp>
        <p:nvSpPr>
          <p:cNvPr id="2" name="Slide Number Placeholder 1"/>
          <p:cNvSpPr>
            <a:spLocks noGrp="1"/>
          </p:cNvSpPr>
          <p:nvPr>
            <p:ph type="sldNum" sz="quarter" idx="10"/>
          </p:nvPr>
        </p:nvSpPr>
        <p:spPr/>
        <p:txBody>
          <a:bodyPr/>
          <a:lstStyle/>
          <a:p>
            <a:fld id="{1C0FA7A3-0FBF-4EC3-BE45-825983E95E58}" type="slidenum">
              <a:rPr lang="en-US" smtClean="0"/>
              <a:pPr/>
              <a:t>37</a:t>
            </a:fld>
            <a:endParaRPr lang="en-US" dirty="0"/>
          </a:p>
        </p:txBody>
      </p:sp>
    </p:spTree>
    <p:extLst>
      <p:ext uri="{BB962C8B-B14F-4D97-AF65-F5344CB8AC3E}">
        <p14:creationId xmlns:p14="http://schemas.microsoft.com/office/powerpoint/2010/main" val="3295505007"/>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914400" y="-107293"/>
            <a:ext cx="7162800" cy="685800"/>
          </a:xfrm>
        </p:spPr>
        <p:txBody>
          <a:bodyPr/>
          <a:lstStyle/>
          <a:p>
            <a:pPr algn="ctr" eaLnBrk="1" hangingPunct="1"/>
            <a:r>
              <a:rPr lang="en-US" altLang="en-US" sz="3200" b="1" dirty="0" smtClean="0"/>
              <a:t>BGP Hazards: Another Example</a:t>
            </a:r>
          </a:p>
        </p:txBody>
      </p:sp>
      <p:sp>
        <p:nvSpPr>
          <p:cNvPr id="25603" name="Rectangle 3"/>
          <p:cNvSpPr>
            <a:spLocks noGrp="1" noChangeArrowheads="1"/>
          </p:cNvSpPr>
          <p:nvPr>
            <p:ph type="body" idx="1"/>
          </p:nvPr>
        </p:nvSpPr>
        <p:spPr>
          <a:xfrm>
            <a:off x="381000" y="4419600"/>
            <a:ext cx="8564563" cy="2438400"/>
          </a:xfrm>
        </p:spPr>
        <p:txBody>
          <a:bodyPr/>
          <a:lstStyle/>
          <a:p>
            <a:pPr eaLnBrk="1" hangingPunct="1"/>
            <a:r>
              <a:rPr lang="en-US" altLang="en-US" sz="2400" dirty="0" smtClean="0"/>
              <a:t>We inadvertently advertise routes learned from ISP2 to ISP1.</a:t>
            </a:r>
          </a:p>
          <a:p>
            <a:pPr eaLnBrk="1" hangingPunct="1"/>
            <a:r>
              <a:rPr lang="en-US" altLang="en-US" sz="2400" dirty="0" smtClean="0"/>
              <a:t>ISP1 customers will see our network as the best path to ISP2 customers.</a:t>
            </a:r>
          </a:p>
          <a:p>
            <a:pPr eaLnBrk="1" hangingPunct="1"/>
            <a:r>
              <a:rPr lang="en-US" altLang="en-US" sz="2400" dirty="0" smtClean="0"/>
              <a:t>We have become a transit domain for packets from ISP1 to ISP2.</a:t>
            </a:r>
          </a:p>
        </p:txBody>
      </p:sp>
      <p:pic>
        <p:nvPicPr>
          <p:cNvPr id="25604" name="Picture 4" descr="fi970806"/>
          <p:cNvPicPr>
            <a:picLocks noChangeAspect="1" noChangeArrowheads="1"/>
          </p:cNvPicPr>
          <p:nvPr/>
        </p:nvPicPr>
        <p:blipFill>
          <a:blip r:embed="rId2">
            <a:extLst>
              <a:ext uri="{28A0092B-C50C-407E-A947-70E740481C1C}">
                <a14:useLocalDpi xmlns:a14="http://schemas.microsoft.com/office/drawing/2010/main" val="0"/>
              </a:ext>
            </a:extLst>
          </a:blip>
          <a:srcRect r="15625" b="16898"/>
          <a:stretch>
            <a:fillRect/>
          </a:stretch>
        </p:blipFill>
        <p:spPr bwMode="auto">
          <a:xfrm>
            <a:off x="2514600" y="838200"/>
            <a:ext cx="5410200" cy="334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0"/>
          </p:nvPr>
        </p:nvSpPr>
        <p:spPr/>
        <p:txBody>
          <a:bodyPr/>
          <a:lstStyle/>
          <a:p>
            <a:fld id="{1C0FA7A3-0FBF-4EC3-BE45-825983E95E58}" type="slidenum">
              <a:rPr lang="en-US" smtClean="0"/>
              <a:pPr/>
              <a:t>38</a:t>
            </a:fld>
            <a:endParaRPr lang="en-US" dirty="0"/>
          </a:p>
        </p:txBody>
      </p:sp>
    </p:spTree>
    <p:extLst>
      <p:ext uri="{BB962C8B-B14F-4D97-AF65-F5344CB8AC3E}">
        <p14:creationId xmlns:p14="http://schemas.microsoft.com/office/powerpoint/2010/main" val="1001820010"/>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914400" y="0"/>
            <a:ext cx="7772400" cy="609600"/>
          </a:xfrm>
        </p:spPr>
        <p:txBody>
          <a:bodyPr/>
          <a:lstStyle/>
          <a:p>
            <a:pPr algn="ctr" eaLnBrk="1" hangingPunct="1"/>
            <a:r>
              <a:rPr lang="en-US" altLang="en-US" b="1" dirty="0" smtClean="0"/>
              <a:t>BGP Message Types</a:t>
            </a:r>
          </a:p>
        </p:txBody>
      </p:sp>
      <p:sp>
        <p:nvSpPr>
          <p:cNvPr id="44035" name="Rectangle 3"/>
          <p:cNvSpPr>
            <a:spLocks noGrp="1" noChangeArrowheads="1"/>
          </p:cNvSpPr>
          <p:nvPr>
            <p:ph type="body" idx="1"/>
          </p:nvPr>
        </p:nvSpPr>
        <p:spPr>
          <a:xfrm>
            <a:off x="152400" y="762000"/>
            <a:ext cx="8793163" cy="2514600"/>
          </a:xfrm>
        </p:spPr>
        <p:txBody>
          <a:bodyPr/>
          <a:lstStyle/>
          <a:p>
            <a:pPr eaLnBrk="1" hangingPunct="1">
              <a:buFont typeface="Wingdings" panose="05000000000000000000" pitchFamily="2" charset="2"/>
              <a:buNone/>
            </a:pPr>
            <a:r>
              <a:rPr lang="en-US" altLang="en-US" sz="2400" dirty="0" smtClean="0"/>
              <a:t>Each BGP Message contains the following header:</a:t>
            </a:r>
          </a:p>
          <a:p>
            <a:pPr eaLnBrk="1" hangingPunct="1"/>
            <a:r>
              <a:rPr lang="en-US" altLang="en-US" sz="2400" b="1" dirty="0" smtClean="0"/>
              <a:t>Marker</a:t>
            </a:r>
            <a:r>
              <a:rPr lang="en-US" altLang="en-US" sz="2400" dirty="0" smtClean="0"/>
              <a:t>: </a:t>
            </a:r>
            <a:r>
              <a:rPr lang="en-US" altLang="en-US" sz="2400" dirty="0" smtClean="0">
                <a:cs typeface="Times New Roman" panose="02020603050405020304" pitchFamily="18" charset="0"/>
              </a:rPr>
              <a:t>The marker field is used to either authenticate incoming BGP messages or to detect loss of synchronization between two BGP peers. </a:t>
            </a:r>
          </a:p>
          <a:p>
            <a:pPr eaLnBrk="1" hangingPunct="1"/>
            <a:r>
              <a:rPr lang="en-US" altLang="en-US" sz="2400" b="1" dirty="0" smtClean="0">
                <a:cs typeface="Times New Roman" panose="02020603050405020304" pitchFamily="18" charset="0"/>
              </a:rPr>
              <a:t>Length</a:t>
            </a:r>
            <a:r>
              <a:rPr lang="en-US" altLang="en-US" sz="2400" dirty="0" smtClean="0">
                <a:cs typeface="Times New Roman" panose="02020603050405020304" pitchFamily="18" charset="0"/>
              </a:rPr>
              <a:t>: The length field indicates the total BGP message length, including the header. </a:t>
            </a:r>
          </a:p>
          <a:p>
            <a:pPr eaLnBrk="1" hangingPunct="1"/>
            <a:endParaRPr lang="en-US" altLang="en-US" sz="2400" dirty="0" smtClean="0"/>
          </a:p>
        </p:txBody>
      </p:sp>
      <p:pic>
        <p:nvPicPr>
          <p:cNvPr id="44036" name="Picture 4" descr="fi9708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2743200"/>
            <a:ext cx="4629150" cy="3427413"/>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0"/>
          </p:nvPr>
        </p:nvSpPr>
        <p:spPr/>
        <p:txBody>
          <a:bodyPr/>
          <a:lstStyle/>
          <a:p>
            <a:fld id="{1C0FA7A3-0FBF-4EC3-BE45-825983E95E58}" type="slidenum">
              <a:rPr lang="en-US" smtClean="0"/>
              <a:pPr/>
              <a:t>39</a:t>
            </a:fld>
            <a:endParaRPr lang="en-US" dirty="0"/>
          </a:p>
        </p:txBody>
      </p:sp>
    </p:spTree>
    <p:extLst>
      <p:ext uri="{BB962C8B-B14F-4D97-AF65-F5344CB8AC3E}">
        <p14:creationId xmlns:p14="http://schemas.microsoft.com/office/powerpoint/2010/main" val="3240323615"/>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914400" y="152400"/>
            <a:ext cx="7772400" cy="533400"/>
          </a:xfrm>
        </p:spPr>
        <p:txBody>
          <a:bodyPr/>
          <a:lstStyle/>
          <a:p>
            <a:pPr algn="ctr" eaLnBrk="1" hangingPunct="1"/>
            <a:r>
              <a:rPr lang="en-US" altLang="en-US" b="1" dirty="0" smtClean="0"/>
              <a:t>BGP Message Types</a:t>
            </a:r>
          </a:p>
        </p:txBody>
      </p:sp>
      <p:sp>
        <p:nvSpPr>
          <p:cNvPr id="43011" name="Rectangle 3"/>
          <p:cNvSpPr>
            <a:spLocks noGrp="1" noChangeArrowheads="1"/>
          </p:cNvSpPr>
          <p:nvPr>
            <p:ph type="body" idx="1"/>
          </p:nvPr>
        </p:nvSpPr>
        <p:spPr>
          <a:xfrm>
            <a:off x="228600" y="838200"/>
            <a:ext cx="8640763" cy="5410200"/>
          </a:xfrm>
        </p:spPr>
        <p:txBody>
          <a:bodyPr/>
          <a:lstStyle/>
          <a:p>
            <a:pPr eaLnBrk="1" hangingPunct="1">
              <a:lnSpc>
                <a:spcPct val="90000"/>
              </a:lnSpc>
            </a:pPr>
            <a:r>
              <a:rPr lang="en-US" altLang="en-US" sz="2800" dirty="0" smtClean="0"/>
              <a:t>Before establishing a BGP peer connection the two neighbors must perform the standard TCP three-way handshake and open a TCP connection to port 179.</a:t>
            </a:r>
          </a:p>
          <a:p>
            <a:pPr eaLnBrk="1" hangingPunct="1">
              <a:lnSpc>
                <a:spcPct val="90000"/>
              </a:lnSpc>
            </a:pPr>
            <a:r>
              <a:rPr lang="en-US" altLang="en-US" sz="2800" dirty="0" smtClean="0"/>
              <a:t>After the TCP session is established, BGP peers exchanges several messages to open and confirm connection parameters and to send BGP routing information.</a:t>
            </a:r>
          </a:p>
          <a:p>
            <a:pPr eaLnBrk="1" hangingPunct="1">
              <a:lnSpc>
                <a:spcPct val="90000"/>
              </a:lnSpc>
            </a:pPr>
            <a:r>
              <a:rPr lang="en-US" altLang="en-US" sz="2800" dirty="0" smtClean="0"/>
              <a:t>All BGP messages are unicast to the one neighbor over the TCP connection.</a:t>
            </a:r>
          </a:p>
          <a:p>
            <a:pPr eaLnBrk="1" hangingPunct="1">
              <a:lnSpc>
                <a:spcPct val="90000"/>
              </a:lnSpc>
            </a:pPr>
            <a:r>
              <a:rPr lang="en-US" altLang="en-US" sz="2800" dirty="0" smtClean="0"/>
              <a:t>There are four BGP message types:</a:t>
            </a:r>
          </a:p>
          <a:p>
            <a:pPr lvl="1" eaLnBrk="1" hangingPunct="1">
              <a:lnSpc>
                <a:spcPct val="90000"/>
              </a:lnSpc>
            </a:pPr>
            <a:r>
              <a:rPr lang="en-US" altLang="en-US" sz="2400" b="1" dirty="0" smtClean="0">
                <a:cs typeface="Times New Roman" panose="02020603050405020304" pitchFamily="18" charset="0"/>
              </a:rPr>
              <a:t>Type 1:  OPEN</a:t>
            </a:r>
          </a:p>
          <a:p>
            <a:pPr lvl="1" eaLnBrk="1" hangingPunct="1">
              <a:lnSpc>
                <a:spcPct val="90000"/>
              </a:lnSpc>
            </a:pPr>
            <a:r>
              <a:rPr lang="en-US" altLang="en-US" sz="2400" b="1" dirty="0" smtClean="0">
                <a:cs typeface="Times New Roman" panose="02020603050405020304" pitchFamily="18" charset="0"/>
              </a:rPr>
              <a:t>Type 2: KEEPALIVE</a:t>
            </a:r>
          </a:p>
          <a:p>
            <a:pPr lvl="1" eaLnBrk="1" hangingPunct="1">
              <a:lnSpc>
                <a:spcPct val="90000"/>
              </a:lnSpc>
            </a:pPr>
            <a:r>
              <a:rPr lang="en-US" altLang="en-US" sz="2400" b="1" dirty="0" smtClean="0">
                <a:cs typeface="Times New Roman" panose="02020603050405020304" pitchFamily="18" charset="0"/>
              </a:rPr>
              <a:t>Type 3: UPDATE</a:t>
            </a:r>
          </a:p>
          <a:p>
            <a:pPr lvl="1" eaLnBrk="1" hangingPunct="1">
              <a:lnSpc>
                <a:spcPct val="90000"/>
              </a:lnSpc>
            </a:pPr>
            <a:r>
              <a:rPr lang="en-US" altLang="en-US" sz="2400" b="1" dirty="0" smtClean="0">
                <a:cs typeface="Times New Roman" panose="02020603050405020304" pitchFamily="18" charset="0"/>
              </a:rPr>
              <a:t>Type 4: NOTIFICATION</a:t>
            </a:r>
          </a:p>
        </p:txBody>
      </p:sp>
      <p:sp>
        <p:nvSpPr>
          <p:cNvPr id="2" name="Slide Number Placeholder 1"/>
          <p:cNvSpPr>
            <a:spLocks noGrp="1"/>
          </p:cNvSpPr>
          <p:nvPr>
            <p:ph type="sldNum" sz="quarter" idx="10"/>
          </p:nvPr>
        </p:nvSpPr>
        <p:spPr/>
        <p:txBody>
          <a:bodyPr/>
          <a:lstStyle/>
          <a:p>
            <a:fld id="{1C0FA7A3-0FBF-4EC3-BE45-825983E95E58}" type="slidenum">
              <a:rPr lang="en-US" smtClean="0"/>
              <a:pPr/>
              <a:t>40</a:t>
            </a:fld>
            <a:endParaRPr lang="en-US" dirty="0"/>
          </a:p>
        </p:txBody>
      </p:sp>
    </p:spTree>
    <p:extLst>
      <p:ext uri="{BB962C8B-B14F-4D97-AF65-F5344CB8AC3E}">
        <p14:creationId xmlns:p14="http://schemas.microsoft.com/office/powerpoint/2010/main" val="2157193336"/>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body" idx="1"/>
          </p:nvPr>
        </p:nvSpPr>
        <p:spPr>
          <a:xfrm>
            <a:off x="10510" y="1143000"/>
            <a:ext cx="5181600" cy="4841273"/>
          </a:xfrm>
        </p:spPr>
        <p:txBody>
          <a:bodyPr/>
          <a:lstStyle/>
          <a:p>
            <a:pPr eaLnBrk="1" hangingPunct="1">
              <a:lnSpc>
                <a:spcPct val="90000"/>
              </a:lnSpc>
            </a:pPr>
            <a:r>
              <a:rPr lang="en-US" altLang="en-US" sz="2400" dirty="0" smtClean="0"/>
              <a:t>After the TCP session is established, both neighbors send Open messages.</a:t>
            </a:r>
          </a:p>
          <a:p>
            <a:pPr eaLnBrk="1" hangingPunct="1">
              <a:lnSpc>
                <a:spcPct val="90000"/>
              </a:lnSpc>
            </a:pPr>
            <a:r>
              <a:rPr lang="en-US" altLang="en-US" sz="2400" dirty="0" smtClean="0"/>
              <a:t>Each neighbor uses this message to identify itself and to specify its BGP operational parameters including:</a:t>
            </a:r>
          </a:p>
          <a:p>
            <a:pPr lvl="1" eaLnBrk="1" hangingPunct="1">
              <a:lnSpc>
                <a:spcPct val="90000"/>
              </a:lnSpc>
            </a:pPr>
            <a:r>
              <a:rPr lang="en-US" altLang="en-US" sz="2000" b="1" dirty="0" smtClean="0"/>
              <a:t>BGP version number</a:t>
            </a:r>
            <a:r>
              <a:rPr lang="en-US" altLang="en-US" sz="2000" dirty="0" smtClean="0"/>
              <a:t> (defaults to version 4)</a:t>
            </a:r>
          </a:p>
          <a:p>
            <a:pPr lvl="1" eaLnBrk="1" hangingPunct="1">
              <a:lnSpc>
                <a:spcPct val="90000"/>
              </a:lnSpc>
            </a:pPr>
            <a:r>
              <a:rPr lang="en-US" altLang="en-US" sz="2000" b="1" dirty="0" smtClean="0"/>
              <a:t>AS number</a:t>
            </a:r>
            <a:r>
              <a:rPr lang="en-US" altLang="en-US" sz="2000" dirty="0" smtClean="0"/>
              <a:t>: AS number of the originating router, determines if BGP session is EBGP or IBGP.</a:t>
            </a:r>
          </a:p>
          <a:p>
            <a:pPr lvl="1" eaLnBrk="1" hangingPunct="1">
              <a:lnSpc>
                <a:spcPct val="90000"/>
              </a:lnSpc>
            </a:pPr>
            <a:r>
              <a:rPr lang="en-US" altLang="en-US" sz="2000" b="1" dirty="0" smtClean="0"/>
              <a:t>BGP identifier</a:t>
            </a:r>
            <a:r>
              <a:rPr lang="en-US" altLang="en-US" sz="2000" dirty="0" smtClean="0"/>
              <a:t>: IP address that identifies the neighbor using the same method as OSPF router ID.</a:t>
            </a:r>
          </a:p>
          <a:p>
            <a:pPr lvl="1" eaLnBrk="1" hangingPunct="1">
              <a:lnSpc>
                <a:spcPct val="90000"/>
              </a:lnSpc>
            </a:pPr>
            <a:r>
              <a:rPr lang="en-US" altLang="en-US" sz="2000" b="1" dirty="0" smtClean="0"/>
              <a:t>Optional parameter</a:t>
            </a:r>
            <a:r>
              <a:rPr lang="en-US" altLang="en-US" sz="2000" dirty="0" smtClean="0"/>
              <a:t>:  authentication, multiprotocol support and route refresh.</a:t>
            </a:r>
          </a:p>
        </p:txBody>
      </p:sp>
      <p:pic>
        <p:nvPicPr>
          <p:cNvPr id="45060" name="Picture 4" descr="fi9708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412411"/>
            <a:ext cx="3352800" cy="2547938"/>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5" name="Rectangle 2"/>
          <p:cNvSpPr txBox="1">
            <a:spLocks noChangeArrowheads="1"/>
          </p:cNvSpPr>
          <p:nvPr/>
        </p:nvSpPr>
        <p:spPr bwMode="auto">
          <a:xfrm>
            <a:off x="228600" y="152400"/>
            <a:ext cx="7772400" cy="533400"/>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lvl1pPr algn="l" rtl="0" fontAlgn="base">
              <a:spcBef>
                <a:spcPct val="0"/>
              </a:spcBef>
              <a:spcAft>
                <a:spcPct val="0"/>
              </a:spcAft>
              <a:defRPr sz="3600" b="0" cap="small" baseline="0">
                <a:solidFill>
                  <a:schemeClr val="bg1"/>
                </a:solidFill>
                <a:effectLst>
                  <a:outerShdw blurRad="38100" dist="38100" dir="2700000" algn="tl">
                    <a:srgbClr val="000000">
                      <a:alpha val="43137"/>
                    </a:srgbClr>
                  </a:outerShdw>
                </a:effectLst>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a:lstStyle>
          <a:p>
            <a:pPr algn="ctr"/>
            <a:r>
              <a:rPr lang="en-US" altLang="en-US" b="1" kern="0" dirty="0" smtClean="0"/>
              <a:t>BGP Message Type 1: Open</a:t>
            </a:r>
          </a:p>
        </p:txBody>
      </p:sp>
      <p:sp>
        <p:nvSpPr>
          <p:cNvPr id="2" name="Slide Number Placeholder 1"/>
          <p:cNvSpPr>
            <a:spLocks noGrp="1"/>
          </p:cNvSpPr>
          <p:nvPr>
            <p:ph type="sldNum" sz="quarter" idx="10"/>
          </p:nvPr>
        </p:nvSpPr>
        <p:spPr/>
        <p:txBody>
          <a:bodyPr/>
          <a:lstStyle/>
          <a:p>
            <a:fld id="{1C0FA7A3-0FBF-4EC3-BE45-825983E95E58}" type="slidenum">
              <a:rPr lang="en-US" smtClean="0"/>
              <a:pPr/>
              <a:t>41</a:t>
            </a:fld>
            <a:endParaRPr lang="en-US" dirty="0"/>
          </a:p>
        </p:txBody>
      </p:sp>
    </p:spTree>
    <p:extLst>
      <p:ext uri="{BB962C8B-B14F-4D97-AF65-F5344CB8AC3E}">
        <p14:creationId xmlns:p14="http://schemas.microsoft.com/office/powerpoint/2010/main" val="1293599597"/>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body" idx="1"/>
          </p:nvPr>
        </p:nvSpPr>
        <p:spPr>
          <a:xfrm>
            <a:off x="457200" y="1066800"/>
            <a:ext cx="7772400" cy="4953000"/>
          </a:xfrm>
        </p:spPr>
        <p:txBody>
          <a:bodyPr/>
          <a:lstStyle/>
          <a:p>
            <a:pPr eaLnBrk="1" hangingPunct="1"/>
            <a:r>
              <a:rPr lang="en-US" altLang="en-US" dirty="0" smtClean="0"/>
              <a:t>If a router accepts the parameters specified in its neighbor’s Open message, it responds with a </a:t>
            </a:r>
            <a:r>
              <a:rPr lang="en-US" altLang="en-US" dirty="0" err="1"/>
              <a:t>k</a:t>
            </a:r>
            <a:r>
              <a:rPr lang="en-US" altLang="en-US" dirty="0" err="1" smtClean="0"/>
              <a:t>eepalive</a:t>
            </a:r>
            <a:r>
              <a:rPr lang="en-US" altLang="en-US" dirty="0" smtClean="0"/>
              <a:t>.</a:t>
            </a:r>
          </a:p>
          <a:p>
            <a:pPr eaLnBrk="1" hangingPunct="1"/>
            <a:r>
              <a:rPr lang="en-US" altLang="en-US" dirty="0" smtClean="0"/>
              <a:t>Subsequent </a:t>
            </a:r>
            <a:r>
              <a:rPr lang="en-US" altLang="en-US" dirty="0" err="1"/>
              <a:t>k</a:t>
            </a:r>
            <a:r>
              <a:rPr lang="en-US" altLang="en-US" dirty="0" err="1" smtClean="0"/>
              <a:t>eepalives</a:t>
            </a:r>
            <a:r>
              <a:rPr lang="en-US" altLang="en-US" dirty="0" smtClean="0"/>
              <a:t> are sent every 60 seconds by Cisco default or equal to one-third the agreed-upon hold time (180 seconds).</a:t>
            </a:r>
          </a:p>
        </p:txBody>
      </p:sp>
      <p:sp>
        <p:nvSpPr>
          <p:cNvPr id="4" name="Rectangle 2"/>
          <p:cNvSpPr txBox="1">
            <a:spLocks noChangeArrowheads="1"/>
          </p:cNvSpPr>
          <p:nvPr/>
        </p:nvSpPr>
        <p:spPr bwMode="auto">
          <a:xfrm>
            <a:off x="228600" y="152400"/>
            <a:ext cx="7772400" cy="533400"/>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lvl1pPr algn="l" rtl="0" fontAlgn="base">
              <a:spcBef>
                <a:spcPct val="0"/>
              </a:spcBef>
              <a:spcAft>
                <a:spcPct val="0"/>
              </a:spcAft>
              <a:defRPr sz="3600" b="0" cap="small" baseline="0">
                <a:solidFill>
                  <a:schemeClr val="bg1"/>
                </a:solidFill>
                <a:effectLst>
                  <a:outerShdw blurRad="38100" dist="38100" dir="2700000" algn="tl">
                    <a:srgbClr val="000000">
                      <a:alpha val="43137"/>
                    </a:srgbClr>
                  </a:outerShdw>
                </a:effectLst>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a:lstStyle>
          <a:p>
            <a:pPr algn="ctr"/>
            <a:r>
              <a:rPr lang="en-US" altLang="en-US" b="1" kern="0" dirty="0" smtClean="0"/>
              <a:t>BGP Message Type 2: </a:t>
            </a:r>
            <a:r>
              <a:rPr lang="en-US" altLang="en-US" b="1" kern="0" dirty="0" err="1" smtClean="0"/>
              <a:t>Keepalive</a:t>
            </a:r>
            <a:endParaRPr lang="en-US" altLang="en-US" b="1" kern="0"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42</a:t>
            </a:fld>
            <a:endParaRPr lang="en-US" dirty="0"/>
          </a:p>
        </p:txBody>
      </p:sp>
    </p:spTree>
    <p:extLst>
      <p:ext uri="{BB962C8B-B14F-4D97-AF65-F5344CB8AC3E}">
        <p14:creationId xmlns:p14="http://schemas.microsoft.com/office/powerpoint/2010/main" val="3727708079"/>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1" name="Rectangle 3"/>
          <p:cNvSpPr>
            <a:spLocks noGrp="1" noChangeArrowheads="1"/>
          </p:cNvSpPr>
          <p:nvPr>
            <p:ph type="body" idx="1"/>
          </p:nvPr>
        </p:nvSpPr>
        <p:spPr>
          <a:xfrm>
            <a:off x="609600" y="1143000"/>
            <a:ext cx="7772400" cy="3962400"/>
          </a:xfrm>
        </p:spPr>
        <p:txBody>
          <a:bodyPr/>
          <a:lstStyle/>
          <a:p>
            <a:pPr eaLnBrk="1" hangingPunct="1">
              <a:defRPr/>
            </a:pPr>
            <a:r>
              <a:rPr lang="en-US" altLang="en-US" sz="2800" b="1" dirty="0" smtClean="0">
                <a:cs typeface="Times New Roman" panose="02020603050405020304" pitchFamily="18" charset="0"/>
              </a:rPr>
              <a:t>The UPDATE messages contain all the information BGP uses to construct a loop-free picture of the internetwork.</a:t>
            </a:r>
          </a:p>
          <a:p>
            <a:pPr eaLnBrk="1" hangingPunct="1">
              <a:defRPr/>
            </a:pPr>
            <a:r>
              <a:rPr lang="en-US" altLang="en-US" sz="2800" b="1" dirty="0" smtClean="0">
                <a:cs typeface="Times New Roman" panose="02020603050405020304" pitchFamily="18" charset="0"/>
              </a:rPr>
              <a:t>Update messages advertises feasible routes, withdrawn routes, or both.</a:t>
            </a:r>
          </a:p>
          <a:p>
            <a:pPr eaLnBrk="1" hangingPunct="1">
              <a:defRPr/>
            </a:pPr>
            <a:r>
              <a:rPr lang="en-US" altLang="en-US" sz="2800" b="1" dirty="0" smtClean="0">
                <a:cs typeface="Times New Roman" panose="02020603050405020304" pitchFamily="18" charset="0"/>
              </a:rPr>
              <a:t>The three basic components of an UPDATE message are:</a:t>
            </a:r>
          </a:p>
          <a:p>
            <a:pPr lvl="1" eaLnBrk="1" hangingPunct="1">
              <a:defRPr/>
            </a:pPr>
            <a:r>
              <a:rPr lang="en-US" altLang="en-US" b="1" dirty="0" smtClean="0">
                <a:effectLst>
                  <a:outerShdw blurRad="38100" dist="38100" dir="2700000" algn="tl">
                    <a:srgbClr val="C0C0C0"/>
                  </a:outerShdw>
                </a:effectLst>
                <a:cs typeface="Courier New" panose="02070309020205020404" pitchFamily="49" charset="0"/>
              </a:rPr>
              <a:t>Network-Layer Reachability Information</a:t>
            </a:r>
            <a:r>
              <a:rPr lang="en-US" altLang="en-US" b="1" dirty="0" smtClean="0">
                <a:effectLst>
                  <a:outerShdw blurRad="38100" dist="38100" dir="2700000" algn="tl">
                    <a:srgbClr val="C0C0C0"/>
                  </a:outerShdw>
                </a:effectLst>
                <a:cs typeface="Times New Roman" panose="02020603050405020304" pitchFamily="18" charset="0"/>
              </a:rPr>
              <a:t> (NLRI)</a:t>
            </a:r>
          </a:p>
          <a:p>
            <a:pPr lvl="1" eaLnBrk="1" hangingPunct="1">
              <a:defRPr/>
            </a:pPr>
            <a:r>
              <a:rPr lang="en-US" altLang="en-US" b="1" dirty="0" smtClean="0">
                <a:effectLst>
                  <a:outerShdw blurRad="38100" dist="38100" dir="2700000" algn="tl">
                    <a:srgbClr val="C0C0C0"/>
                  </a:outerShdw>
                </a:effectLst>
                <a:cs typeface="Times New Roman" panose="02020603050405020304" pitchFamily="18" charset="0"/>
              </a:rPr>
              <a:t>Path Attributes</a:t>
            </a:r>
          </a:p>
          <a:p>
            <a:pPr lvl="1" eaLnBrk="1" hangingPunct="1">
              <a:defRPr/>
            </a:pPr>
            <a:r>
              <a:rPr lang="en-US" altLang="en-US" b="1" dirty="0" smtClean="0">
                <a:effectLst>
                  <a:outerShdw blurRad="38100" dist="38100" dir="2700000" algn="tl">
                    <a:srgbClr val="C0C0C0"/>
                  </a:outerShdw>
                </a:effectLst>
                <a:cs typeface="Times New Roman" panose="02020603050405020304" pitchFamily="18" charset="0"/>
              </a:rPr>
              <a:t>Withdrawn Routes</a:t>
            </a:r>
            <a:endParaRPr lang="en-US" altLang="en-US" b="1" dirty="0" smtClean="0">
              <a:effectLst>
                <a:outerShdw blurRad="38100" dist="38100" dir="2700000" algn="tl">
                  <a:srgbClr val="C0C0C0"/>
                </a:outerShdw>
              </a:effectLst>
            </a:endParaRPr>
          </a:p>
        </p:txBody>
      </p:sp>
      <p:sp>
        <p:nvSpPr>
          <p:cNvPr id="5" name="Rectangle 2"/>
          <p:cNvSpPr txBox="1">
            <a:spLocks noChangeArrowheads="1"/>
          </p:cNvSpPr>
          <p:nvPr/>
        </p:nvSpPr>
        <p:spPr bwMode="auto">
          <a:xfrm>
            <a:off x="228600" y="152400"/>
            <a:ext cx="7772400" cy="533400"/>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lvl1pPr algn="l" rtl="0" fontAlgn="base">
              <a:spcBef>
                <a:spcPct val="0"/>
              </a:spcBef>
              <a:spcAft>
                <a:spcPct val="0"/>
              </a:spcAft>
              <a:defRPr sz="3600" b="0" cap="small" baseline="0">
                <a:solidFill>
                  <a:schemeClr val="bg1"/>
                </a:solidFill>
                <a:effectLst>
                  <a:outerShdw blurRad="38100" dist="38100" dir="2700000" algn="tl">
                    <a:srgbClr val="000000">
                      <a:alpha val="43137"/>
                    </a:srgbClr>
                  </a:outerShdw>
                </a:effectLst>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a:lstStyle>
          <a:p>
            <a:pPr algn="ctr"/>
            <a:r>
              <a:rPr lang="en-US" altLang="en-US" b="1" kern="0" dirty="0" smtClean="0"/>
              <a:t>BGP Message Type 3: Update</a:t>
            </a:r>
          </a:p>
        </p:txBody>
      </p:sp>
      <p:sp>
        <p:nvSpPr>
          <p:cNvPr id="2" name="Slide Number Placeholder 1"/>
          <p:cNvSpPr>
            <a:spLocks noGrp="1"/>
          </p:cNvSpPr>
          <p:nvPr>
            <p:ph type="sldNum" sz="quarter" idx="10"/>
          </p:nvPr>
        </p:nvSpPr>
        <p:spPr/>
        <p:txBody>
          <a:bodyPr/>
          <a:lstStyle/>
          <a:p>
            <a:fld id="{1C0FA7A3-0FBF-4EC3-BE45-825983E95E58}" type="slidenum">
              <a:rPr lang="en-US" smtClean="0"/>
              <a:pPr/>
              <a:t>43</a:t>
            </a:fld>
            <a:endParaRPr lang="en-US" dirty="0"/>
          </a:p>
        </p:txBody>
      </p:sp>
    </p:spTree>
    <p:extLst>
      <p:ext uri="{BB962C8B-B14F-4D97-AF65-F5344CB8AC3E}">
        <p14:creationId xmlns:p14="http://schemas.microsoft.com/office/powerpoint/2010/main" val="3068949471"/>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3" name="Rectangle 3"/>
          <p:cNvSpPr>
            <a:spLocks noGrp="1" noChangeArrowheads="1"/>
          </p:cNvSpPr>
          <p:nvPr>
            <p:ph type="body" idx="1"/>
          </p:nvPr>
        </p:nvSpPr>
        <p:spPr>
          <a:xfrm>
            <a:off x="990600" y="838200"/>
            <a:ext cx="7924800" cy="5257800"/>
          </a:xfrm>
        </p:spPr>
        <p:txBody>
          <a:bodyPr/>
          <a:lstStyle/>
          <a:p>
            <a:pPr eaLnBrk="1" hangingPunct="1">
              <a:lnSpc>
                <a:spcPct val="90000"/>
              </a:lnSpc>
              <a:buFont typeface="Wingdings" panose="05000000000000000000" pitchFamily="2" charset="2"/>
              <a:buNone/>
              <a:defRPr/>
            </a:pPr>
            <a:r>
              <a:rPr lang="en-US" altLang="en-US" sz="2400" b="1" dirty="0" smtClean="0">
                <a:effectLst>
                  <a:outerShdw blurRad="38100" dist="38100" dir="2700000" algn="tl">
                    <a:srgbClr val="C0C0C0"/>
                  </a:outerShdw>
                </a:effectLst>
                <a:cs typeface="Courier New" panose="02070309020205020404" pitchFamily="49" charset="0"/>
              </a:rPr>
              <a:t>Network-Layer Reachability Information</a:t>
            </a:r>
            <a:r>
              <a:rPr lang="en-US" altLang="en-US" sz="2400" b="1" dirty="0" smtClean="0">
                <a:effectLst>
                  <a:outerShdw blurRad="38100" dist="38100" dir="2700000" algn="tl">
                    <a:srgbClr val="C0C0C0"/>
                  </a:outerShdw>
                </a:effectLst>
                <a:cs typeface="Times New Roman" panose="02020603050405020304" pitchFamily="18" charset="0"/>
              </a:rPr>
              <a:t> (NLRI)</a:t>
            </a:r>
          </a:p>
          <a:p>
            <a:pPr eaLnBrk="1" hangingPunct="1">
              <a:lnSpc>
                <a:spcPct val="90000"/>
              </a:lnSpc>
              <a:defRPr/>
            </a:pPr>
            <a:r>
              <a:rPr lang="en-US" altLang="en-US" sz="2400" dirty="0" smtClean="0"/>
              <a:t>This is one or more (Length, Prefix) tuples that advertise IP address prefixes and their lengths.</a:t>
            </a:r>
          </a:p>
          <a:p>
            <a:pPr eaLnBrk="1" hangingPunct="1">
              <a:lnSpc>
                <a:spcPct val="90000"/>
              </a:lnSpc>
              <a:defRPr/>
            </a:pPr>
            <a:r>
              <a:rPr lang="en-US" altLang="en-US" sz="2400" dirty="0" smtClean="0"/>
              <a:t>192.168.160.0/19 </a:t>
            </a:r>
          </a:p>
          <a:p>
            <a:pPr lvl="1" eaLnBrk="1" hangingPunct="1">
              <a:lnSpc>
                <a:spcPct val="90000"/>
              </a:lnSpc>
              <a:defRPr/>
            </a:pPr>
            <a:r>
              <a:rPr lang="en-US" altLang="en-US" sz="2000" dirty="0" smtClean="0"/>
              <a:t>Length = /19</a:t>
            </a:r>
          </a:p>
          <a:p>
            <a:pPr lvl="1" eaLnBrk="1" hangingPunct="1">
              <a:lnSpc>
                <a:spcPct val="90000"/>
              </a:lnSpc>
              <a:defRPr/>
            </a:pPr>
            <a:r>
              <a:rPr lang="en-US" altLang="en-US" sz="2000" dirty="0" smtClean="0"/>
              <a:t>Prefix = 192.168.160.0</a:t>
            </a:r>
          </a:p>
          <a:p>
            <a:pPr eaLnBrk="1" hangingPunct="1">
              <a:lnSpc>
                <a:spcPct val="90000"/>
              </a:lnSpc>
              <a:buFont typeface="Wingdings" panose="05000000000000000000" pitchFamily="2" charset="2"/>
              <a:buNone/>
              <a:defRPr/>
            </a:pPr>
            <a:r>
              <a:rPr lang="en-US" altLang="en-US" sz="2400" b="1" dirty="0" smtClean="0">
                <a:effectLst>
                  <a:outerShdw blurRad="38100" dist="38100" dir="2700000" algn="tl">
                    <a:srgbClr val="C0C0C0"/>
                  </a:outerShdw>
                </a:effectLst>
              </a:rPr>
              <a:t>Path Attributes</a:t>
            </a:r>
          </a:p>
          <a:p>
            <a:pPr eaLnBrk="1" hangingPunct="1">
              <a:lnSpc>
                <a:spcPct val="90000"/>
              </a:lnSpc>
              <a:defRPr/>
            </a:pPr>
            <a:r>
              <a:rPr lang="en-US" altLang="en-US" sz="2400" dirty="0" smtClean="0"/>
              <a:t>This is described later, providing the information that allows BGP to choose a shortest path, detect routing loops, and determine routing policy.</a:t>
            </a:r>
          </a:p>
          <a:p>
            <a:pPr eaLnBrk="1" hangingPunct="1">
              <a:lnSpc>
                <a:spcPct val="90000"/>
              </a:lnSpc>
              <a:buFont typeface="Wingdings" panose="05000000000000000000" pitchFamily="2" charset="2"/>
              <a:buNone/>
              <a:defRPr/>
            </a:pPr>
            <a:r>
              <a:rPr lang="en-US" altLang="en-US" sz="2400" b="1" dirty="0" smtClean="0">
                <a:effectLst>
                  <a:outerShdw blurRad="38100" dist="38100" dir="2700000" algn="tl">
                    <a:srgbClr val="C0C0C0"/>
                  </a:outerShdw>
                </a:effectLst>
              </a:rPr>
              <a:t>Withdrawn Routes</a:t>
            </a:r>
          </a:p>
          <a:p>
            <a:pPr eaLnBrk="1" hangingPunct="1">
              <a:lnSpc>
                <a:spcPct val="90000"/>
              </a:lnSpc>
              <a:defRPr/>
            </a:pPr>
            <a:r>
              <a:rPr lang="en-US" altLang="en-US" sz="2400" dirty="0" smtClean="0"/>
              <a:t>These are (Length, Prefix) tuples describing destination that have become unreachable and are being withdrawn from service.</a:t>
            </a:r>
          </a:p>
        </p:txBody>
      </p:sp>
      <p:sp>
        <p:nvSpPr>
          <p:cNvPr id="5" name="Rectangle 2"/>
          <p:cNvSpPr txBox="1">
            <a:spLocks noChangeArrowheads="1"/>
          </p:cNvSpPr>
          <p:nvPr/>
        </p:nvSpPr>
        <p:spPr bwMode="auto">
          <a:xfrm>
            <a:off x="228600" y="152400"/>
            <a:ext cx="7772400" cy="533400"/>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lvl1pPr algn="l" rtl="0" fontAlgn="base">
              <a:spcBef>
                <a:spcPct val="0"/>
              </a:spcBef>
              <a:spcAft>
                <a:spcPct val="0"/>
              </a:spcAft>
              <a:defRPr sz="3600" b="0" cap="small" baseline="0">
                <a:solidFill>
                  <a:schemeClr val="bg1"/>
                </a:solidFill>
                <a:effectLst>
                  <a:outerShdw blurRad="38100" dist="38100" dir="2700000" algn="tl">
                    <a:srgbClr val="000000">
                      <a:alpha val="43137"/>
                    </a:srgbClr>
                  </a:outerShdw>
                </a:effectLst>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a:lstStyle>
          <a:p>
            <a:pPr algn="ctr"/>
            <a:r>
              <a:rPr lang="en-US" altLang="en-US" b="1" kern="0" dirty="0" smtClean="0"/>
              <a:t>BGP Message Type 3: Update</a:t>
            </a:r>
          </a:p>
        </p:txBody>
      </p:sp>
      <p:sp>
        <p:nvSpPr>
          <p:cNvPr id="2" name="Slide Number Placeholder 1"/>
          <p:cNvSpPr>
            <a:spLocks noGrp="1"/>
          </p:cNvSpPr>
          <p:nvPr>
            <p:ph type="sldNum" sz="quarter" idx="10"/>
          </p:nvPr>
        </p:nvSpPr>
        <p:spPr/>
        <p:txBody>
          <a:bodyPr/>
          <a:lstStyle/>
          <a:p>
            <a:fld id="{1C0FA7A3-0FBF-4EC3-BE45-825983E95E58}" type="slidenum">
              <a:rPr lang="en-US" smtClean="0"/>
              <a:pPr/>
              <a:t>44</a:t>
            </a:fld>
            <a:endParaRPr lang="en-US" dirty="0"/>
          </a:p>
        </p:txBody>
      </p:sp>
    </p:spTree>
    <p:extLst>
      <p:ext uri="{BB962C8B-B14F-4D97-AF65-F5344CB8AC3E}">
        <p14:creationId xmlns:p14="http://schemas.microsoft.com/office/powerpoint/2010/main" val="2984395400"/>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body" idx="1"/>
          </p:nvPr>
        </p:nvSpPr>
        <p:spPr>
          <a:xfrm>
            <a:off x="533400" y="1524000"/>
            <a:ext cx="8382000" cy="3352800"/>
          </a:xfrm>
        </p:spPr>
        <p:txBody>
          <a:bodyPr/>
          <a:lstStyle/>
          <a:p>
            <a:pPr eaLnBrk="1" hangingPunct="1"/>
            <a:r>
              <a:rPr lang="en-US" altLang="en-US" dirty="0" smtClean="0">
                <a:cs typeface="Times New Roman" panose="02020603050405020304" pitchFamily="18" charset="0"/>
              </a:rPr>
              <a:t>A NOTIFICATION message is sent whenever an error is detected and always causes the BGP connection to close.</a:t>
            </a:r>
          </a:p>
          <a:p>
            <a:pPr eaLnBrk="1" hangingPunct="1"/>
            <a:r>
              <a:rPr lang="en-US" altLang="en-US" dirty="0" smtClean="0">
                <a:cs typeface="Times New Roman" panose="02020603050405020304" pitchFamily="18" charset="0"/>
              </a:rPr>
              <a:t>The NOTIFICATION message is composed of the Error Code (8 bits), Error </a:t>
            </a:r>
            <a:r>
              <a:rPr lang="en-US" altLang="en-US" dirty="0" err="1" smtClean="0">
                <a:cs typeface="Times New Roman" panose="02020603050405020304" pitchFamily="18" charset="0"/>
              </a:rPr>
              <a:t>Subcode</a:t>
            </a:r>
            <a:r>
              <a:rPr lang="en-US" altLang="en-US" dirty="0" smtClean="0">
                <a:cs typeface="Times New Roman" panose="02020603050405020304" pitchFamily="18" charset="0"/>
              </a:rPr>
              <a:t> (8 bits), and a Data fields (variable length).</a:t>
            </a:r>
            <a:r>
              <a:rPr lang="en-US" altLang="en-US" dirty="0" smtClean="0"/>
              <a:t> </a:t>
            </a:r>
          </a:p>
        </p:txBody>
      </p:sp>
      <p:sp>
        <p:nvSpPr>
          <p:cNvPr id="6" name="Rectangle 2"/>
          <p:cNvSpPr txBox="1">
            <a:spLocks noChangeArrowheads="1"/>
          </p:cNvSpPr>
          <p:nvPr/>
        </p:nvSpPr>
        <p:spPr bwMode="auto">
          <a:xfrm>
            <a:off x="228600" y="152400"/>
            <a:ext cx="7772400" cy="533400"/>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lvl1pPr algn="l" rtl="0" fontAlgn="base">
              <a:spcBef>
                <a:spcPct val="0"/>
              </a:spcBef>
              <a:spcAft>
                <a:spcPct val="0"/>
              </a:spcAft>
              <a:defRPr sz="3600" b="0" cap="small" baseline="0">
                <a:solidFill>
                  <a:schemeClr val="bg1"/>
                </a:solidFill>
                <a:effectLst>
                  <a:outerShdw blurRad="38100" dist="38100" dir="2700000" algn="tl">
                    <a:srgbClr val="000000">
                      <a:alpha val="43137"/>
                    </a:srgbClr>
                  </a:outerShdw>
                </a:effectLst>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a:lstStyle>
          <a:p>
            <a:pPr algn="ctr"/>
            <a:r>
              <a:rPr lang="en-US" altLang="en-US" b="1" kern="0" dirty="0" smtClean="0"/>
              <a:t>BGP Message Type 4: Notification</a:t>
            </a:r>
          </a:p>
        </p:txBody>
      </p:sp>
      <p:sp>
        <p:nvSpPr>
          <p:cNvPr id="2" name="Slide Number Placeholder 1"/>
          <p:cNvSpPr>
            <a:spLocks noGrp="1"/>
          </p:cNvSpPr>
          <p:nvPr>
            <p:ph type="sldNum" sz="quarter" idx="10"/>
          </p:nvPr>
        </p:nvSpPr>
        <p:spPr/>
        <p:txBody>
          <a:bodyPr/>
          <a:lstStyle/>
          <a:p>
            <a:fld id="{1C0FA7A3-0FBF-4EC3-BE45-825983E95E58}" type="slidenum">
              <a:rPr lang="en-US" smtClean="0"/>
              <a:pPr/>
              <a:t>45</a:t>
            </a:fld>
            <a:endParaRPr lang="en-US" dirty="0"/>
          </a:p>
        </p:txBody>
      </p:sp>
    </p:spTree>
    <p:extLst>
      <p:ext uri="{BB962C8B-B14F-4D97-AF65-F5344CB8AC3E}">
        <p14:creationId xmlns:p14="http://schemas.microsoft.com/office/powerpoint/2010/main" val="2492292092"/>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Attributes</a:t>
            </a:r>
          </a:p>
        </p:txBody>
      </p:sp>
      <p:sp>
        <p:nvSpPr>
          <p:cNvPr id="61443" name="Rectangle 3"/>
          <p:cNvSpPr>
            <a:spLocks noGrp="1" noChangeArrowheads="1"/>
          </p:cNvSpPr>
          <p:nvPr>
            <p:ph type="body" idx="1"/>
          </p:nvPr>
        </p:nvSpPr>
        <p:spPr>
          <a:xfrm>
            <a:off x="533400" y="838200"/>
            <a:ext cx="8253248" cy="5105400"/>
          </a:xfrm>
        </p:spPr>
        <p:txBody>
          <a:bodyPr/>
          <a:lstStyle/>
          <a:p>
            <a:pPr eaLnBrk="1" hangingPunct="1">
              <a:lnSpc>
                <a:spcPct val="90000"/>
              </a:lnSpc>
            </a:pPr>
            <a:r>
              <a:rPr lang="en-US" altLang="en-US" sz="2800" dirty="0" smtClean="0">
                <a:cs typeface="Times New Roman" panose="02020603050405020304" pitchFamily="18" charset="0"/>
              </a:rPr>
              <a:t>Much of the work you will do configuring BGP focuses on </a:t>
            </a:r>
            <a:r>
              <a:rPr lang="en-US" altLang="en-US" sz="2800" b="1" dirty="0" smtClean="0">
                <a:cs typeface="Times New Roman" panose="02020603050405020304" pitchFamily="18" charset="0"/>
              </a:rPr>
              <a:t>path attributes</a:t>
            </a:r>
            <a:r>
              <a:rPr lang="en-US" altLang="en-US" sz="2800" dirty="0" smtClean="0">
                <a:cs typeface="Times New Roman" panose="02020603050405020304" pitchFamily="18" charset="0"/>
              </a:rPr>
              <a:t>. </a:t>
            </a:r>
          </a:p>
          <a:p>
            <a:pPr eaLnBrk="1" hangingPunct="1">
              <a:lnSpc>
                <a:spcPct val="90000"/>
              </a:lnSpc>
            </a:pPr>
            <a:r>
              <a:rPr lang="en-US" altLang="en-US" sz="2800" dirty="0" smtClean="0">
                <a:cs typeface="Times New Roman" panose="02020603050405020304" pitchFamily="18" charset="0"/>
              </a:rPr>
              <a:t>Each route has its own set of defined attributes, which can include path information, route preference, next-hop, and aggregation information. </a:t>
            </a:r>
          </a:p>
          <a:p>
            <a:pPr eaLnBrk="1" hangingPunct="1">
              <a:lnSpc>
                <a:spcPct val="90000"/>
              </a:lnSpc>
            </a:pPr>
            <a:r>
              <a:rPr lang="en-US" altLang="en-US" sz="2800" dirty="0" smtClean="0">
                <a:cs typeface="Times New Roman" panose="02020603050405020304" pitchFamily="18" charset="0"/>
              </a:rPr>
              <a:t>Administrators use these values to enforce </a:t>
            </a:r>
            <a:r>
              <a:rPr lang="en-US" altLang="en-US" sz="2800" b="1" dirty="0" smtClean="0">
                <a:cs typeface="Times New Roman" panose="02020603050405020304" pitchFamily="18" charset="0"/>
              </a:rPr>
              <a:t>routing policy</a:t>
            </a:r>
            <a:r>
              <a:rPr lang="en-US" altLang="en-US" sz="2800" dirty="0" smtClean="0">
                <a:cs typeface="Times New Roman" panose="02020603050405020304" pitchFamily="18" charset="0"/>
              </a:rPr>
              <a:t>. </a:t>
            </a:r>
          </a:p>
          <a:p>
            <a:pPr eaLnBrk="1" hangingPunct="1">
              <a:lnSpc>
                <a:spcPct val="90000"/>
              </a:lnSpc>
            </a:pPr>
            <a:r>
              <a:rPr lang="en-US" altLang="en-US" sz="2800" dirty="0" smtClean="0">
                <a:cs typeface="Times New Roman" panose="02020603050405020304" pitchFamily="18" charset="0"/>
              </a:rPr>
              <a:t>Based on attribute values, you can configure BGP to filter routing information, prefer certain paths, or otherwise customize its behavior. </a:t>
            </a:r>
          </a:p>
          <a:p>
            <a:pPr eaLnBrk="1" hangingPunct="1">
              <a:lnSpc>
                <a:spcPct val="90000"/>
              </a:lnSpc>
            </a:pPr>
            <a:r>
              <a:rPr lang="en-US" altLang="en-US" sz="2800" dirty="0" smtClean="0">
                <a:cs typeface="Times New Roman" panose="02020603050405020304" pitchFamily="18" charset="0"/>
              </a:rPr>
              <a:t>Every </a:t>
            </a:r>
            <a:r>
              <a:rPr lang="en-US" altLang="en-US" sz="2800" b="1" dirty="0" smtClean="0">
                <a:cs typeface="Times New Roman" panose="02020603050405020304" pitchFamily="18" charset="0"/>
              </a:rPr>
              <a:t>UPDATE message</a:t>
            </a:r>
            <a:r>
              <a:rPr lang="en-US" altLang="en-US" sz="2800" dirty="0" smtClean="0">
                <a:cs typeface="Times New Roman" panose="02020603050405020304" pitchFamily="18" charset="0"/>
              </a:rPr>
              <a:t> has a variable-length sequence of path attributes in the form &lt;attribute type, attribute length, attribute value&gt;.</a:t>
            </a:r>
          </a:p>
        </p:txBody>
      </p:sp>
      <p:sp>
        <p:nvSpPr>
          <p:cNvPr id="2" name="Slide Number Placeholder 1"/>
          <p:cNvSpPr>
            <a:spLocks noGrp="1"/>
          </p:cNvSpPr>
          <p:nvPr>
            <p:ph type="sldNum" sz="quarter" idx="10"/>
          </p:nvPr>
        </p:nvSpPr>
        <p:spPr/>
        <p:txBody>
          <a:bodyPr/>
          <a:lstStyle/>
          <a:p>
            <a:fld id="{1C0FA7A3-0FBF-4EC3-BE45-825983E95E58}" type="slidenum">
              <a:rPr lang="en-US" smtClean="0"/>
              <a:pPr/>
              <a:t>46</a:t>
            </a:fld>
            <a:endParaRPr lang="en-US" dirty="0"/>
          </a:p>
        </p:txBody>
      </p:sp>
    </p:spTree>
    <p:extLst>
      <p:ext uri="{BB962C8B-B14F-4D97-AF65-F5344CB8AC3E}">
        <p14:creationId xmlns:p14="http://schemas.microsoft.com/office/powerpoint/2010/main" val="3489646692"/>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body" idx="1"/>
          </p:nvPr>
        </p:nvSpPr>
        <p:spPr>
          <a:xfrm>
            <a:off x="381000" y="1066800"/>
            <a:ext cx="8564563" cy="5029200"/>
          </a:xfrm>
        </p:spPr>
        <p:txBody>
          <a:bodyPr/>
          <a:lstStyle/>
          <a:p>
            <a:pPr eaLnBrk="1" hangingPunct="1"/>
            <a:r>
              <a:rPr lang="en-US" altLang="en-US" sz="2800" dirty="0" smtClean="0">
                <a:cs typeface="Times New Roman" panose="02020603050405020304" pitchFamily="18" charset="0"/>
              </a:rPr>
              <a:t>Since you will use path attributes extensively when configuring routing policy, you should note that not all vendor implementations of BGP recognize the same attributes. In fact, path attributes come in four different types:</a:t>
            </a:r>
          </a:p>
          <a:p>
            <a:pPr lvl="1" eaLnBrk="1" hangingPunct="1"/>
            <a:r>
              <a:rPr lang="en-US" altLang="en-US" b="1" dirty="0" smtClean="0">
                <a:cs typeface="Times New Roman" panose="02020603050405020304" pitchFamily="18" charset="0"/>
              </a:rPr>
              <a:t>Well-known mandatory</a:t>
            </a:r>
          </a:p>
          <a:p>
            <a:pPr lvl="1" eaLnBrk="1" hangingPunct="1"/>
            <a:r>
              <a:rPr lang="en-US" altLang="en-US" b="1" dirty="0" smtClean="0">
                <a:cs typeface="Times New Roman" panose="02020603050405020304" pitchFamily="18" charset="0"/>
              </a:rPr>
              <a:t>Well-known discretionary</a:t>
            </a:r>
          </a:p>
          <a:p>
            <a:pPr lvl="1" eaLnBrk="1" hangingPunct="1"/>
            <a:r>
              <a:rPr lang="en-US" altLang="en-US" b="1" dirty="0" smtClean="0">
                <a:cs typeface="Times New Roman" panose="02020603050405020304" pitchFamily="18" charset="0"/>
              </a:rPr>
              <a:t>Optional transitive</a:t>
            </a:r>
          </a:p>
          <a:p>
            <a:pPr lvl="1" eaLnBrk="1" hangingPunct="1"/>
            <a:r>
              <a:rPr lang="en-US" altLang="en-US" b="1" dirty="0" smtClean="0">
                <a:cs typeface="Times New Roman" panose="02020603050405020304" pitchFamily="18" charset="0"/>
              </a:rPr>
              <a:t>Optional non-transitive</a:t>
            </a:r>
            <a:endParaRPr lang="en-US" altLang="en-US" b="1" dirty="0" smtClean="0"/>
          </a:p>
        </p:txBody>
      </p:sp>
      <p:sp>
        <p:nvSpPr>
          <p:cNvPr id="5"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47</a:t>
            </a:fld>
            <a:endParaRPr lang="en-US" dirty="0"/>
          </a:p>
        </p:txBody>
      </p:sp>
    </p:spTree>
    <p:extLst>
      <p:ext uri="{BB962C8B-B14F-4D97-AF65-F5344CB8AC3E}">
        <p14:creationId xmlns:p14="http://schemas.microsoft.com/office/powerpoint/2010/main" val="2829202169"/>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Grp="1" noChangeArrowheads="1"/>
          </p:cNvSpPr>
          <p:nvPr>
            <p:ph type="body" idx="1"/>
          </p:nvPr>
        </p:nvSpPr>
        <p:spPr>
          <a:xfrm>
            <a:off x="541283" y="990600"/>
            <a:ext cx="7772400" cy="5029200"/>
          </a:xfrm>
        </p:spPr>
        <p:txBody>
          <a:bodyPr/>
          <a:lstStyle/>
          <a:p>
            <a:pPr eaLnBrk="1" hangingPunct="1">
              <a:buFont typeface="Wingdings" panose="05000000000000000000" pitchFamily="2" charset="2"/>
              <a:buNone/>
            </a:pPr>
            <a:r>
              <a:rPr lang="en-US" altLang="en-US" b="1" dirty="0" smtClean="0">
                <a:cs typeface="Times New Roman" panose="02020603050405020304" pitchFamily="18" charset="0"/>
              </a:rPr>
              <a:t>Well-known mandatory</a:t>
            </a:r>
          </a:p>
          <a:p>
            <a:pPr eaLnBrk="1" hangingPunct="1"/>
            <a:r>
              <a:rPr lang="en-US" altLang="en-US" sz="2800" b="1" dirty="0" smtClean="0">
                <a:cs typeface="Times New Roman" panose="02020603050405020304" pitchFamily="18" charset="0"/>
              </a:rPr>
              <a:t>An attribute that has to exist in the BGP UPDATE packet</a:t>
            </a:r>
            <a:r>
              <a:rPr lang="en-US" altLang="en-US" sz="2800" dirty="0" smtClean="0">
                <a:cs typeface="Times New Roman" panose="02020603050405020304" pitchFamily="18" charset="0"/>
              </a:rPr>
              <a:t>. </a:t>
            </a:r>
          </a:p>
          <a:p>
            <a:pPr eaLnBrk="1" hangingPunct="1"/>
            <a:r>
              <a:rPr lang="en-US" altLang="en-US" sz="2800" dirty="0" smtClean="0">
                <a:cs typeface="Times New Roman" panose="02020603050405020304" pitchFamily="18" charset="0"/>
              </a:rPr>
              <a:t>It must be recognized by all BGP implementations. </a:t>
            </a:r>
          </a:p>
          <a:p>
            <a:pPr eaLnBrk="1" hangingPunct="1"/>
            <a:r>
              <a:rPr lang="en-US" altLang="en-US" sz="2800" dirty="0" smtClean="0">
                <a:cs typeface="Times New Roman" panose="02020603050405020304" pitchFamily="18" charset="0"/>
              </a:rPr>
              <a:t>If a well-known attribute is missing, a notification error will be generated; this ensures that all BGP implementations agree on a standard set of attributes. </a:t>
            </a:r>
          </a:p>
        </p:txBody>
      </p:sp>
      <p:sp>
        <p:nvSpPr>
          <p:cNvPr id="5"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48</a:t>
            </a:fld>
            <a:endParaRPr lang="en-US" dirty="0"/>
          </a:p>
        </p:txBody>
      </p:sp>
    </p:spTree>
    <p:extLst>
      <p:ext uri="{BB962C8B-B14F-4D97-AF65-F5344CB8AC3E}">
        <p14:creationId xmlns:p14="http://schemas.microsoft.com/office/powerpoint/2010/main" val="1669300898"/>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body" idx="1"/>
          </p:nvPr>
        </p:nvSpPr>
        <p:spPr>
          <a:xfrm>
            <a:off x="685800" y="1143000"/>
            <a:ext cx="7467600" cy="4800600"/>
          </a:xfrm>
        </p:spPr>
        <p:txBody>
          <a:bodyPr/>
          <a:lstStyle/>
          <a:p>
            <a:pPr eaLnBrk="1" hangingPunct="1">
              <a:buFont typeface="Wingdings" panose="05000000000000000000" pitchFamily="2" charset="2"/>
              <a:buNone/>
            </a:pPr>
            <a:r>
              <a:rPr lang="en-US" altLang="en-US" b="1" dirty="0" smtClean="0">
                <a:cs typeface="Times New Roman" panose="02020603050405020304" pitchFamily="18" charset="0"/>
              </a:rPr>
              <a:t>Well-known discretionary</a:t>
            </a:r>
          </a:p>
          <a:p>
            <a:pPr eaLnBrk="1" hangingPunct="1"/>
            <a:r>
              <a:rPr lang="en-US" altLang="en-US" sz="2800" dirty="0" smtClean="0">
                <a:cs typeface="Times New Roman" panose="02020603050405020304" pitchFamily="18" charset="0"/>
              </a:rPr>
              <a:t>An attribute that is </a:t>
            </a:r>
            <a:r>
              <a:rPr lang="en-US" altLang="en-US" sz="2800" b="1" dirty="0" smtClean="0">
                <a:cs typeface="Times New Roman" panose="02020603050405020304" pitchFamily="18" charset="0"/>
              </a:rPr>
              <a:t>recognized by all BGP implementations</a:t>
            </a:r>
          </a:p>
          <a:p>
            <a:pPr eaLnBrk="1" hangingPunct="1"/>
            <a:r>
              <a:rPr lang="en-US" altLang="en-US" sz="2800" dirty="0" smtClean="0">
                <a:cs typeface="Times New Roman" panose="02020603050405020304" pitchFamily="18" charset="0"/>
              </a:rPr>
              <a:t>But may or </a:t>
            </a:r>
            <a:r>
              <a:rPr lang="en-US" altLang="en-US" sz="2800" b="1" dirty="0" smtClean="0">
                <a:cs typeface="Times New Roman" panose="02020603050405020304" pitchFamily="18" charset="0"/>
              </a:rPr>
              <a:t>may not be sent</a:t>
            </a:r>
            <a:r>
              <a:rPr lang="en-US" altLang="en-US" sz="2800" dirty="0" smtClean="0">
                <a:cs typeface="Times New Roman" panose="02020603050405020304" pitchFamily="18" charset="0"/>
              </a:rPr>
              <a:t> in the BGP UPDATE message. </a:t>
            </a:r>
          </a:p>
          <a:p>
            <a:pPr eaLnBrk="1" hangingPunct="1">
              <a:buFont typeface="Wingdings" panose="05000000000000000000" pitchFamily="2" charset="2"/>
              <a:buNone/>
            </a:pPr>
            <a:r>
              <a:rPr lang="en-US" altLang="en-US" sz="2800" dirty="0" smtClean="0">
                <a:cs typeface="Times New Roman" panose="02020603050405020304" pitchFamily="18" charset="0"/>
              </a:rPr>
              <a:t>   </a:t>
            </a:r>
          </a:p>
          <a:p>
            <a:pPr eaLnBrk="1" hangingPunct="1"/>
            <a:endParaRPr lang="en-US" altLang="en-US" sz="2800" dirty="0" smtClean="0"/>
          </a:p>
        </p:txBody>
      </p:sp>
      <p:sp>
        <p:nvSpPr>
          <p:cNvPr id="5"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49</a:t>
            </a:fld>
            <a:endParaRPr lang="en-US" dirty="0"/>
          </a:p>
        </p:txBody>
      </p:sp>
    </p:spTree>
    <p:extLst>
      <p:ext uri="{BB962C8B-B14F-4D97-AF65-F5344CB8AC3E}">
        <p14:creationId xmlns:p14="http://schemas.microsoft.com/office/powerpoint/2010/main" val="1358878612"/>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body" idx="1"/>
          </p:nvPr>
        </p:nvSpPr>
        <p:spPr>
          <a:xfrm>
            <a:off x="762000" y="1066800"/>
            <a:ext cx="7543800" cy="5029200"/>
          </a:xfrm>
        </p:spPr>
        <p:txBody>
          <a:bodyPr/>
          <a:lstStyle/>
          <a:p>
            <a:pPr eaLnBrk="1" hangingPunct="1">
              <a:buFont typeface="Wingdings" panose="05000000000000000000" pitchFamily="2" charset="2"/>
              <a:buNone/>
            </a:pPr>
            <a:r>
              <a:rPr lang="en-US" altLang="en-US" b="1" dirty="0" smtClean="0">
                <a:cs typeface="Times New Roman" panose="02020603050405020304" pitchFamily="18" charset="0"/>
              </a:rPr>
              <a:t>Optional transitive</a:t>
            </a:r>
          </a:p>
          <a:p>
            <a:pPr eaLnBrk="1" hangingPunct="1"/>
            <a:r>
              <a:rPr lang="en-US" altLang="en-US" sz="2800" dirty="0" smtClean="0">
                <a:cs typeface="Times New Roman" panose="02020603050405020304" pitchFamily="18" charset="0"/>
              </a:rPr>
              <a:t>An attribute that may or may not be, recognized by all BGP implementations (thus, </a:t>
            </a:r>
            <a:r>
              <a:rPr lang="en-US" altLang="en-US" sz="2800" b="1" dirty="0" smtClean="0">
                <a:cs typeface="Times New Roman" panose="02020603050405020304" pitchFamily="18" charset="0"/>
              </a:rPr>
              <a:t>optional</a:t>
            </a:r>
            <a:r>
              <a:rPr lang="en-US" altLang="en-US" sz="2800" dirty="0" smtClean="0">
                <a:cs typeface="Times New Roman" panose="02020603050405020304" pitchFamily="18" charset="0"/>
              </a:rPr>
              <a:t>). </a:t>
            </a:r>
          </a:p>
          <a:p>
            <a:pPr eaLnBrk="1" hangingPunct="1"/>
            <a:r>
              <a:rPr lang="en-US" altLang="en-US" sz="2800" dirty="0" smtClean="0">
                <a:cs typeface="Times New Roman" panose="02020603050405020304" pitchFamily="18" charset="0"/>
              </a:rPr>
              <a:t>Because the attribute is </a:t>
            </a:r>
            <a:r>
              <a:rPr lang="en-US" altLang="en-US" sz="2800" b="1" dirty="0" smtClean="0">
                <a:cs typeface="Times New Roman" panose="02020603050405020304" pitchFamily="18" charset="0"/>
              </a:rPr>
              <a:t>transitive</a:t>
            </a:r>
            <a:r>
              <a:rPr lang="en-US" altLang="en-US" sz="2800" dirty="0" smtClean="0">
                <a:cs typeface="Times New Roman" panose="02020603050405020304" pitchFamily="18" charset="0"/>
              </a:rPr>
              <a:t>, BGP </a:t>
            </a:r>
            <a:r>
              <a:rPr lang="en-US" altLang="en-US" sz="2800" b="1" dirty="0" smtClean="0">
                <a:cs typeface="Times New Roman" panose="02020603050405020304" pitchFamily="18" charset="0"/>
              </a:rPr>
              <a:t>should accept and advertise</a:t>
            </a:r>
            <a:r>
              <a:rPr lang="en-US" altLang="en-US" sz="2800" dirty="0" smtClean="0">
                <a:cs typeface="Times New Roman" panose="02020603050405020304" pitchFamily="18" charset="0"/>
              </a:rPr>
              <a:t> the attribute even if it isn</a:t>
            </a:r>
            <a:r>
              <a:rPr lang="en-US" altLang="en-US" sz="2800" dirty="0" smtClean="0">
                <a:latin typeface="Times New Roman" panose="02020603050405020304" pitchFamily="18" charset="0"/>
                <a:cs typeface="Times New Roman" panose="02020603050405020304" pitchFamily="18" charset="0"/>
              </a:rPr>
              <a:t>’</a:t>
            </a:r>
            <a:r>
              <a:rPr lang="en-US" altLang="en-US" sz="2800" dirty="0" smtClean="0">
                <a:cs typeface="Times New Roman" panose="02020603050405020304" pitchFamily="18" charset="0"/>
              </a:rPr>
              <a:t>t recognized.</a:t>
            </a:r>
            <a:r>
              <a:rPr lang="en-US" altLang="en-US" dirty="0" smtClean="0">
                <a:cs typeface="Times New Roman" panose="02020603050405020304" pitchFamily="18" charset="0"/>
              </a:rPr>
              <a:t> </a:t>
            </a:r>
          </a:p>
          <a:p>
            <a:pPr eaLnBrk="1" hangingPunct="1">
              <a:buFont typeface="Wingdings" panose="05000000000000000000" pitchFamily="2" charset="2"/>
              <a:buNone/>
            </a:pPr>
            <a:r>
              <a:rPr lang="en-US" altLang="en-US" sz="2800" dirty="0" smtClean="0">
                <a:cs typeface="Times New Roman" panose="02020603050405020304" pitchFamily="18" charset="0"/>
              </a:rPr>
              <a:t>   </a:t>
            </a:r>
          </a:p>
        </p:txBody>
      </p:sp>
      <p:sp>
        <p:nvSpPr>
          <p:cNvPr id="5"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50</a:t>
            </a:fld>
            <a:endParaRPr lang="en-US" dirty="0"/>
          </a:p>
        </p:txBody>
      </p:sp>
    </p:spTree>
    <p:extLst>
      <p:ext uri="{BB962C8B-B14F-4D97-AF65-F5344CB8AC3E}">
        <p14:creationId xmlns:p14="http://schemas.microsoft.com/office/powerpoint/2010/main" val="2782654300"/>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type="body" idx="1"/>
          </p:nvPr>
        </p:nvSpPr>
        <p:spPr>
          <a:xfrm>
            <a:off x="762000" y="1066800"/>
            <a:ext cx="7543800" cy="5334000"/>
          </a:xfrm>
        </p:spPr>
        <p:txBody>
          <a:bodyPr/>
          <a:lstStyle/>
          <a:p>
            <a:pPr eaLnBrk="1" hangingPunct="1">
              <a:buFont typeface="Wingdings" panose="05000000000000000000" pitchFamily="2" charset="2"/>
              <a:buNone/>
            </a:pPr>
            <a:r>
              <a:rPr lang="en-US" altLang="en-US" b="1" dirty="0" smtClean="0">
                <a:cs typeface="Times New Roman" panose="02020603050405020304" pitchFamily="18" charset="0"/>
              </a:rPr>
              <a:t>Optional non-transitive</a:t>
            </a:r>
          </a:p>
          <a:p>
            <a:pPr eaLnBrk="1" hangingPunct="1"/>
            <a:r>
              <a:rPr lang="en-US" altLang="en-US" sz="2800" dirty="0" smtClean="0">
                <a:cs typeface="Times New Roman" panose="02020603050405020304" pitchFamily="18" charset="0"/>
              </a:rPr>
              <a:t>An attribute that </a:t>
            </a:r>
            <a:r>
              <a:rPr lang="en-US" altLang="en-US" sz="2800" b="1" dirty="0" smtClean="0">
                <a:cs typeface="Times New Roman" panose="02020603050405020304" pitchFamily="18" charset="0"/>
              </a:rPr>
              <a:t>may or may not be, recognized</a:t>
            </a:r>
            <a:r>
              <a:rPr lang="en-US" altLang="en-US" sz="2800" dirty="0" smtClean="0">
                <a:cs typeface="Times New Roman" panose="02020603050405020304" pitchFamily="18" charset="0"/>
              </a:rPr>
              <a:t> by all BGP implementations. </a:t>
            </a:r>
          </a:p>
          <a:p>
            <a:pPr eaLnBrk="1" hangingPunct="1"/>
            <a:r>
              <a:rPr lang="en-US" altLang="en-US" sz="2800" dirty="0" smtClean="0">
                <a:cs typeface="Times New Roman" panose="02020603050405020304" pitchFamily="18" charset="0"/>
              </a:rPr>
              <a:t>Whether or not the receiving BGP router recognizes the attribute, it is </a:t>
            </a:r>
            <a:r>
              <a:rPr lang="en-US" altLang="en-US" sz="2800" b="1" dirty="0" smtClean="0">
                <a:cs typeface="Times New Roman" panose="02020603050405020304" pitchFamily="18" charset="0"/>
              </a:rPr>
              <a:t>non-transitive</a:t>
            </a:r>
            <a:r>
              <a:rPr lang="en-US" altLang="en-US" sz="2800" dirty="0" smtClean="0">
                <a:cs typeface="Times New Roman" panose="02020603050405020304" pitchFamily="18" charset="0"/>
              </a:rPr>
              <a:t>, and </a:t>
            </a:r>
            <a:r>
              <a:rPr lang="en-US" altLang="en-US" sz="2800" b="1" dirty="0" smtClean="0">
                <a:cs typeface="Times New Roman" panose="02020603050405020304" pitchFamily="18" charset="0"/>
              </a:rPr>
              <a:t>should not be passed along to other BGP peers</a:t>
            </a:r>
            <a:r>
              <a:rPr lang="en-US" altLang="en-US" sz="2800" dirty="0" smtClean="0">
                <a:cs typeface="Times New Roman" panose="02020603050405020304" pitchFamily="18" charset="0"/>
              </a:rPr>
              <a:t>. </a:t>
            </a:r>
          </a:p>
          <a:p>
            <a:pPr eaLnBrk="1" hangingPunct="1">
              <a:buFont typeface="Wingdings" panose="05000000000000000000" pitchFamily="2" charset="2"/>
              <a:buNone/>
            </a:pPr>
            <a:r>
              <a:rPr lang="en-US" altLang="en-US" sz="2800" dirty="0" smtClean="0">
                <a:cs typeface="Times New Roman" panose="02020603050405020304" pitchFamily="18" charset="0"/>
              </a:rPr>
              <a:t>   </a:t>
            </a:r>
          </a:p>
        </p:txBody>
      </p:sp>
      <p:sp>
        <p:nvSpPr>
          <p:cNvPr id="5"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51</a:t>
            </a:fld>
            <a:endParaRPr lang="en-US" dirty="0"/>
          </a:p>
        </p:txBody>
      </p:sp>
    </p:spTree>
    <p:extLst>
      <p:ext uri="{BB962C8B-B14F-4D97-AF65-F5344CB8AC3E}">
        <p14:creationId xmlns:p14="http://schemas.microsoft.com/office/powerpoint/2010/main" val="3503453550"/>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587" name="Group 96"/>
          <p:cNvGrpSpPr>
            <a:grpSpLocks/>
          </p:cNvGrpSpPr>
          <p:nvPr/>
        </p:nvGrpSpPr>
        <p:grpSpPr bwMode="auto">
          <a:xfrm>
            <a:off x="1447800" y="1143000"/>
            <a:ext cx="6781800" cy="4421188"/>
            <a:chOff x="-2" y="-2"/>
            <a:chExt cx="3718" cy="6049"/>
          </a:xfrm>
        </p:grpSpPr>
        <p:grpSp>
          <p:nvGrpSpPr>
            <p:cNvPr id="67588" name="Group 94"/>
            <p:cNvGrpSpPr>
              <a:grpSpLocks/>
            </p:cNvGrpSpPr>
            <p:nvPr/>
          </p:nvGrpSpPr>
          <p:grpSpPr bwMode="auto">
            <a:xfrm>
              <a:off x="0" y="0"/>
              <a:ext cx="3714" cy="6045"/>
              <a:chOff x="0" y="0"/>
              <a:chExt cx="3714" cy="6045"/>
            </a:xfrm>
          </p:grpSpPr>
          <p:grpSp>
            <p:nvGrpSpPr>
              <p:cNvPr id="67590" name="Group 35"/>
              <p:cNvGrpSpPr>
                <a:grpSpLocks/>
              </p:cNvGrpSpPr>
              <p:nvPr/>
            </p:nvGrpSpPr>
            <p:grpSpPr bwMode="auto">
              <a:xfrm>
                <a:off x="0" y="0"/>
                <a:ext cx="1713" cy="403"/>
                <a:chOff x="0" y="0"/>
                <a:chExt cx="1713" cy="403"/>
              </a:xfrm>
            </p:grpSpPr>
            <p:sp>
              <p:nvSpPr>
                <p:cNvPr id="67678" name="Rectangle 4"/>
                <p:cNvSpPr>
                  <a:spLocks noChangeArrowheads="1"/>
                </p:cNvSpPr>
                <p:nvPr/>
              </p:nvSpPr>
              <p:spPr bwMode="auto">
                <a:xfrm>
                  <a:off x="43" y="0"/>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a:cs typeface="Times New Roman" panose="02020603050405020304" pitchFamily="18" charset="0"/>
                    </a:rPr>
                    <a:t>Attribute Code</a:t>
                  </a:r>
                </a:p>
                <a:p>
                  <a:pPr>
                    <a:spcBef>
                      <a:spcPct val="0"/>
                    </a:spcBef>
                    <a:buClrTx/>
                    <a:buSzTx/>
                    <a:buFontTx/>
                    <a:buNone/>
                  </a:pPr>
                  <a:endParaRPr lang="en-US" altLang="en-US" sz="2400" b="0"/>
                </a:p>
              </p:txBody>
            </p:sp>
            <p:sp>
              <p:nvSpPr>
                <p:cNvPr id="67679" name="Rectangle 34"/>
                <p:cNvSpPr>
                  <a:spLocks noChangeArrowheads="1"/>
                </p:cNvSpPr>
                <p:nvPr/>
              </p:nvSpPr>
              <p:spPr bwMode="auto">
                <a:xfrm>
                  <a:off x="0" y="0"/>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591" name="Group 37"/>
              <p:cNvGrpSpPr>
                <a:grpSpLocks/>
              </p:cNvGrpSpPr>
              <p:nvPr/>
            </p:nvGrpSpPr>
            <p:grpSpPr bwMode="auto">
              <a:xfrm>
                <a:off x="1713" y="0"/>
                <a:ext cx="2001" cy="403"/>
                <a:chOff x="1713" y="0"/>
                <a:chExt cx="2001" cy="403"/>
              </a:xfrm>
            </p:grpSpPr>
            <p:sp>
              <p:nvSpPr>
                <p:cNvPr id="67676" name="Rectangle 5"/>
                <p:cNvSpPr>
                  <a:spLocks noChangeArrowheads="1"/>
                </p:cNvSpPr>
                <p:nvPr/>
              </p:nvSpPr>
              <p:spPr bwMode="auto">
                <a:xfrm>
                  <a:off x="1756" y="0"/>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a:cs typeface="Times New Roman" panose="02020603050405020304" pitchFamily="18" charset="0"/>
                    </a:rPr>
                    <a:t>Type</a:t>
                  </a:r>
                </a:p>
                <a:p>
                  <a:pPr>
                    <a:spcBef>
                      <a:spcPct val="0"/>
                    </a:spcBef>
                    <a:buClrTx/>
                    <a:buSzTx/>
                    <a:buFontTx/>
                    <a:buNone/>
                  </a:pPr>
                  <a:endParaRPr lang="en-US" altLang="en-US" sz="2400" b="0"/>
                </a:p>
              </p:txBody>
            </p:sp>
            <p:sp>
              <p:nvSpPr>
                <p:cNvPr id="67677" name="Rectangle 36"/>
                <p:cNvSpPr>
                  <a:spLocks noChangeArrowheads="1"/>
                </p:cNvSpPr>
                <p:nvPr/>
              </p:nvSpPr>
              <p:spPr bwMode="auto">
                <a:xfrm>
                  <a:off x="1713" y="0"/>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592" name="Group 39"/>
              <p:cNvGrpSpPr>
                <a:grpSpLocks/>
              </p:cNvGrpSpPr>
              <p:nvPr/>
            </p:nvGrpSpPr>
            <p:grpSpPr bwMode="auto">
              <a:xfrm>
                <a:off x="0" y="403"/>
                <a:ext cx="1713" cy="403"/>
                <a:chOff x="0" y="403"/>
                <a:chExt cx="1713" cy="403"/>
              </a:xfrm>
            </p:grpSpPr>
            <p:sp>
              <p:nvSpPr>
                <p:cNvPr id="67674" name="Rectangle 6"/>
                <p:cNvSpPr>
                  <a:spLocks noChangeArrowheads="1"/>
                </p:cNvSpPr>
                <p:nvPr/>
              </p:nvSpPr>
              <p:spPr bwMode="auto">
                <a:xfrm>
                  <a:off x="43" y="403"/>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1-ORIGIN</a:t>
                  </a:r>
                </a:p>
                <a:p>
                  <a:pPr>
                    <a:spcBef>
                      <a:spcPct val="0"/>
                    </a:spcBef>
                    <a:buClrTx/>
                    <a:buSzTx/>
                    <a:buFontTx/>
                    <a:buNone/>
                  </a:pPr>
                  <a:endParaRPr lang="en-US" altLang="en-US" sz="2400" b="0"/>
                </a:p>
              </p:txBody>
            </p:sp>
            <p:sp>
              <p:nvSpPr>
                <p:cNvPr id="67675" name="Rectangle 38"/>
                <p:cNvSpPr>
                  <a:spLocks noChangeArrowheads="1"/>
                </p:cNvSpPr>
                <p:nvPr/>
              </p:nvSpPr>
              <p:spPr bwMode="auto">
                <a:xfrm>
                  <a:off x="0" y="403"/>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593" name="Group 41"/>
              <p:cNvGrpSpPr>
                <a:grpSpLocks/>
              </p:cNvGrpSpPr>
              <p:nvPr/>
            </p:nvGrpSpPr>
            <p:grpSpPr bwMode="auto">
              <a:xfrm>
                <a:off x="1713" y="403"/>
                <a:ext cx="2001" cy="403"/>
                <a:chOff x="1713" y="403"/>
                <a:chExt cx="2001" cy="403"/>
              </a:xfrm>
            </p:grpSpPr>
            <p:sp>
              <p:nvSpPr>
                <p:cNvPr id="67672" name="Rectangle 7"/>
                <p:cNvSpPr>
                  <a:spLocks noChangeArrowheads="1"/>
                </p:cNvSpPr>
                <p:nvPr/>
              </p:nvSpPr>
              <p:spPr bwMode="auto">
                <a:xfrm>
                  <a:off x="1756" y="403"/>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Well-known mandatory</a:t>
                  </a:r>
                </a:p>
                <a:p>
                  <a:pPr>
                    <a:spcBef>
                      <a:spcPct val="0"/>
                    </a:spcBef>
                    <a:buClrTx/>
                    <a:buSzTx/>
                    <a:buFontTx/>
                    <a:buNone/>
                  </a:pPr>
                  <a:endParaRPr lang="en-US" altLang="en-US" sz="2400" b="0"/>
                </a:p>
              </p:txBody>
            </p:sp>
            <p:sp>
              <p:nvSpPr>
                <p:cNvPr id="67673" name="Rectangle 40"/>
                <p:cNvSpPr>
                  <a:spLocks noChangeArrowheads="1"/>
                </p:cNvSpPr>
                <p:nvPr/>
              </p:nvSpPr>
              <p:spPr bwMode="auto">
                <a:xfrm>
                  <a:off x="1713" y="403"/>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594" name="Group 43"/>
              <p:cNvGrpSpPr>
                <a:grpSpLocks/>
              </p:cNvGrpSpPr>
              <p:nvPr/>
            </p:nvGrpSpPr>
            <p:grpSpPr bwMode="auto">
              <a:xfrm>
                <a:off x="0" y="806"/>
                <a:ext cx="1713" cy="403"/>
                <a:chOff x="0" y="806"/>
                <a:chExt cx="1713" cy="403"/>
              </a:xfrm>
            </p:grpSpPr>
            <p:sp>
              <p:nvSpPr>
                <p:cNvPr id="67670" name="Rectangle 8"/>
                <p:cNvSpPr>
                  <a:spLocks noChangeArrowheads="1"/>
                </p:cNvSpPr>
                <p:nvPr/>
              </p:nvSpPr>
              <p:spPr bwMode="auto">
                <a:xfrm>
                  <a:off x="43" y="806"/>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2-AS_PATH</a:t>
                  </a:r>
                </a:p>
                <a:p>
                  <a:pPr>
                    <a:spcBef>
                      <a:spcPct val="0"/>
                    </a:spcBef>
                    <a:buClrTx/>
                    <a:buSzTx/>
                    <a:buFontTx/>
                    <a:buNone/>
                  </a:pPr>
                  <a:endParaRPr lang="en-US" altLang="en-US" sz="2400" b="0"/>
                </a:p>
              </p:txBody>
            </p:sp>
            <p:sp>
              <p:nvSpPr>
                <p:cNvPr id="67671" name="Rectangle 42"/>
                <p:cNvSpPr>
                  <a:spLocks noChangeArrowheads="1"/>
                </p:cNvSpPr>
                <p:nvPr/>
              </p:nvSpPr>
              <p:spPr bwMode="auto">
                <a:xfrm>
                  <a:off x="0" y="806"/>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595" name="Group 45"/>
              <p:cNvGrpSpPr>
                <a:grpSpLocks/>
              </p:cNvGrpSpPr>
              <p:nvPr/>
            </p:nvGrpSpPr>
            <p:grpSpPr bwMode="auto">
              <a:xfrm>
                <a:off x="1713" y="806"/>
                <a:ext cx="2001" cy="403"/>
                <a:chOff x="1713" y="806"/>
                <a:chExt cx="2001" cy="403"/>
              </a:xfrm>
            </p:grpSpPr>
            <p:sp>
              <p:nvSpPr>
                <p:cNvPr id="67668" name="Rectangle 9"/>
                <p:cNvSpPr>
                  <a:spLocks noChangeArrowheads="1"/>
                </p:cNvSpPr>
                <p:nvPr/>
              </p:nvSpPr>
              <p:spPr bwMode="auto">
                <a:xfrm>
                  <a:off x="1756" y="806"/>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Well-known mandatory</a:t>
                  </a:r>
                </a:p>
                <a:p>
                  <a:pPr>
                    <a:spcBef>
                      <a:spcPct val="0"/>
                    </a:spcBef>
                    <a:buClrTx/>
                    <a:buSzTx/>
                    <a:buFontTx/>
                    <a:buNone/>
                  </a:pPr>
                  <a:endParaRPr lang="en-US" altLang="en-US" sz="2400" b="0"/>
                </a:p>
              </p:txBody>
            </p:sp>
            <p:sp>
              <p:nvSpPr>
                <p:cNvPr id="67669" name="Rectangle 44"/>
                <p:cNvSpPr>
                  <a:spLocks noChangeArrowheads="1"/>
                </p:cNvSpPr>
                <p:nvPr/>
              </p:nvSpPr>
              <p:spPr bwMode="auto">
                <a:xfrm>
                  <a:off x="1713" y="806"/>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596" name="Group 47"/>
              <p:cNvGrpSpPr>
                <a:grpSpLocks/>
              </p:cNvGrpSpPr>
              <p:nvPr/>
            </p:nvGrpSpPr>
            <p:grpSpPr bwMode="auto">
              <a:xfrm>
                <a:off x="0" y="1209"/>
                <a:ext cx="1713" cy="403"/>
                <a:chOff x="0" y="1209"/>
                <a:chExt cx="1713" cy="403"/>
              </a:xfrm>
            </p:grpSpPr>
            <p:sp>
              <p:nvSpPr>
                <p:cNvPr id="67666" name="Rectangle 10"/>
                <p:cNvSpPr>
                  <a:spLocks noChangeArrowheads="1"/>
                </p:cNvSpPr>
                <p:nvPr/>
              </p:nvSpPr>
              <p:spPr bwMode="auto">
                <a:xfrm>
                  <a:off x="43" y="1209"/>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3-NEXT_HOP</a:t>
                  </a:r>
                </a:p>
                <a:p>
                  <a:pPr>
                    <a:spcBef>
                      <a:spcPct val="0"/>
                    </a:spcBef>
                    <a:buClrTx/>
                    <a:buSzTx/>
                    <a:buFontTx/>
                    <a:buNone/>
                  </a:pPr>
                  <a:endParaRPr lang="en-US" altLang="en-US" sz="2400" b="0"/>
                </a:p>
              </p:txBody>
            </p:sp>
            <p:sp>
              <p:nvSpPr>
                <p:cNvPr id="67667" name="Rectangle 46"/>
                <p:cNvSpPr>
                  <a:spLocks noChangeArrowheads="1"/>
                </p:cNvSpPr>
                <p:nvPr/>
              </p:nvSpPr>
              <p:spPr bwMode="auto">
                <a:xfrm>
                  <a:off x="0" y="1209"/>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597" name="Group 49"/>
              <p:cNvGrpSpPr>
                <a:grpSpLocks/>
              </p:cNvGrpSpPr>
              <p:nvPr/>
            </p:nvGrpSpPr>
            <p:grpSpPr bwMode="auto">
              <a:xfrm>
                <a:off x="1713" y="1209"/>
                <a:ext cx="2001" cy="403"/>
                <a:chOff x="1713" y="1209"/>
                <a:chExt cx="2001" cy="403"/>
              </a:xfrm>
            </p:grpSpPr>
            <p:sp>
              <p:nvSpPr>
                <p:cNvPr id="67664" name="Rectangle 11"/>
                <p:cNvSpPr>
                  <a:spLocks noChangeArrowheads="1"/>
                </p:cNvSpPr>
                <p:nvPr/>
              </p:nvSpPr>
              <p:spPr bwMode="auto">
                <a:xfrm>
                  <a:off x="1756" y="1209"/>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Well-known mandatory</a:t>
                  </a:r>
                </a:p>
                <a:p>
                  <a:pPr>
                    <a:spcBef>
                      <a:spcPct val="0"/>
                    </a:spcBef>
                    <a:buClrTx/>
                    <a:buSzTx/>
                    <a:buFontTx/>
                    <a:buNone/>
                  </a:pPr>
                  <a:endParaRPr lang="en-US" altLang="en-US" sz="2400" b="0"/>
                </a:p>
              </p:txBody>
            </p:sp>
            <p:sp>
              <p:nvSpPr>
                <p:cNvPr id="67665" name="Rectangle 48"/>
                <p:cNvSpPr>
                  <a:spLocks noChangeArrowheads="1"/>
                </p:cNvSpPr>
                <p:nvPr/>
              </p:nvSpPr>
              <p:spPr bwMode="auto">
                <a:xfrm>
                  <a:off x="1713" y="1209"/>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598" name="Group 51"/>
              <p:cNvGrpSpPr>
                <a:grpSpLocks/>
              </p:cNvGrpSpPr>
              <p:nvPr/>
            </p:nvGrpSpPr>
            <p:grpSpPr bwMode="auto">
              <a:xfrm>
                <a:off x="0" y="1612"/>
                <a:ext cx="1713" cy="403"/>
                <a:chOff x="0" y="1612"/>
                <a:chExt cx="1713" cy="403"/>
              </a:xfrm>
            </p:grpSpPr>
            <p:sp>
              <p:nvSpPr>
                <p:cNvPr id="67662" name="Rectangle 12"/>
                <p:cNvSpPr>
                  <a:spLocks noChangeArrowheads="1"/>
                </p:cNvSpPr>
                <p:nvPr/>
              </p:nvSpPr>
              <p:spPr bwMode="auto">
                <a:xfrm>
                  <a:off x="43" y="1612"/>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4-MULTI_EXIT_DISC</a:t>
                  </a:r>
                </a:p>
                <a:p>
                  <a:pPr>
                    <a:spcBef>
                      <a:spcPct val="0"/>
                    </a:spcBef>
                    <a:buClrTx/>
                    <a:buSzTx/>
                    <a:buFontTx/>
                    <a:buNone/>
                  </a:pPr>
                  <a:endParaRPr lang="en-US" altLang="en-US" sz="2400" b="0"/>
                </a:p>
              </p:txBody>
            </p:sp>
            <p:sp>
              <p:nvSpPr>
                <p:cNvPr id="67663" name="Rectangle 50"/>
                <p:cNvSpPr>
                  <a:spLocks noChangeArrowheads="1"/>
                </p:cNvSpPr>
                <p:nvPr/>
              </p:nvSpPr>
              <p:spPr bwMode="auto">
                <a:xfrm>
                  <a:off x="0" y="1612"/>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599" name="Group 53"/>
              <p:cNvGrpSpPr>
                <a:grpSpLocks/>
              </p:cNvGrpSpPr>
              <p:nvPr/>
            </p:nvGrpSpPr>
            <p:grpSpPr bwMode="auto">
              <a:xfrm>
                <a:off x="1713" y="1612"/>
                <a:ext cx="2001" cy="403"/>
                <a:chOff x="1713" y="1612"/>
                <a:chExt cx="2001" cy="403"/>
              </a:xfrm>
            </p:grpSpPr>
            <p:sp>
              <p:nvSpPr>
                <p:cNvPr id="67660" name="Rectangle 13"/>
                <p:cNvSpPr>
                  <a:spLocks noChangeArrowheads="1"/>
                </p:cNvSpPr>
                <p:nvPr/>
              </p:nvSpPr>
              <p:spPr bwMode="auto">
                <a:xfrm>
                  <a:off x="1756" y="1612"/>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Optional non-transitive</a:t>
                  </a:r>
                </a:p>
                <a:p>
                  <a:pPr>
                    <a:spcBef>
                      <a:spcPct val="0"/>
                    </a:spcBef>
                    <a:buClrTx/>
                    <a:buSzTx/>
                    <a:buFontTx/>
                    <a:buNone/>
                  </a:pPr>
                  <a:endParaRPr lang="en-US" altLang="en-US" sz="2400" b="0"/>
                </a:p>
              </p:txBody>
            </p:sp>
            <p:sp>
              <p:nvSpPr>
                <p:cNvPr id="67661" name="Rectangle 52"/>
                <p:cNvSpPr>
                  <a:spLocks noChangeArrowheads="1"/>
                </p:cNvSpPr>
                <p:nvPr/>
              </p:nvSpPr>
              <p:spPr bwMode="auto">
                <a:xfrm>
                  <a:off x="1713" y="1612"/>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00" name="Group 55"/>
              <p:cNvGrpSpPr>
                <a:grpSpLocks/>
              </p:cNvGrpSpPr>
              <p:nvPr/>
            </p:nvGrpSpPr>
            <p:grpSpPr bwMode="auto">
              <a:xfrm>
                <a:off x="0" y="2015"/>
                <a:ext cx="1713" cy="403"/>
                <a:chOff x="0" y="2015"/>
                <a:chExt cx="1713" cy="403"/>
              </a:xfrm>
            </p:grpSpPr>
            <p:sp>
              <p:nvSpPr>
                <p:cNvPr id="67658" name="Rectangle 14"/>
                <p:cNvSpPr>
                  <a:spLocks noChangeArrowheads="1"/>
                </p:cNvSpPr>
                <p:nvPr/>
              </p:nvSpPr>
              <p:spPr bwMode="auto">
                <a:xfrm>
                  <a:off x="43" y="2015"/>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5-LOCAL_PREF</a:t>
                  </a:r>
                </a:p>
                <a:p>
                  <a:pPr>
                    <a:spcBef>
                      <a:spcPct val="0"/>
                    </a:spcBef>
                    <a:buClrTx/>
                    <a:buSzTx/>
                    <a:buFontTx/>
                    <a:buNone/>
                  </a:pPr>
                  <a:endParaRPr lang="en-US" altLang="en-US" sz="2400" b="0"/>
                </a:p>
              </p:txBody>
            </p:sp>
            <p:sp>
              <p:nvSpPr>
                <p:cNvPr id="67659" name="Rectangle 54"/>
                <p:cNvSpPr>
                  <a:spLocks noChangeArrowheads="1"/>
                </p:cNvSpPr>
                <p:nvPr/>
              </p:nvSpPr>
              <p:spPr bwMode="auto">
                <a:xfrm>
                  <a:off x="0" y="2015"/>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01" name="Group 57"/>
              <p:cNvGrpSpPr>
                <a:grpSpLocks/>
              </p:cNvGrpSpPr>
              <p:nvPr/>
            </p:nvGrpSpPr>
            <p:grpSpPr bwMode="auto">
              <a:xfrm>
                <a:off x="1713" y="2015"/>
                <a:ext cx="2001" cy="403"/>
                <a:chOff x="1713" y="2015"/>
                <a:chExt cx="2001" cy="403"/>
              </a:xfrm>
            </p:grpSpPr>
            <p:sp>
              <p:nvSpPr>
                <p:cNvPr id="67656" name="Rectangle 15"/>
                <p:cNvSpPr>
                  <a:spLocks noChangeArrowheads="1"/>
                </p:cNvSpPr>
                <p:nvPr/>
              </p:nvSpPr>
              <p:spPr bwMode="auto">
                <a:xfrm>
                  <a:off x="1756" y="2015"/>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Well-known discretionary</a:t>
                  </a:r>
                </a:p>
                <a:p>
                  <a:pPr>
                    <a:spcBef>
                      <a:spcPct val="0"/>
                    </a:spcBef>
                    <a:buClrTx/>
                    <a:buSzTx/>
                    <a:buFontTx/>
                    <a:buNone/>
                  </a:pPr>
                  <a:endParaRPr lang="en-US" altLang="en-US" sz="2400" b="0"/>
                </a:p>
              </p:txBody>
            </p:sp>
            <p:sp>
              <p:nvSpPr>
                <p:cNvPr id="67657" name="Rectangle 56"/>
                <p:cNvSpPr>
                  <a:spLocks noChangeArrowheads="1"/>
                </p:cNvSpPr>
                <p:nvPr/>
              </p:nvSpPr>
              <p:spPr bwMode="auto">
                <a:xfrm>
                  <a:off x="1713" y="2015"/>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02" name="Group 59"/>
              <p:cNvGrpSpPr>
                <a:grpSpLocks/>
              </p:cNvGrpSpPr>
              <p:nvPr/>
            </p:nvGrpSpPr>
            <p:grpSpPr bwMode="auto">
              <a:xfrm>
                <a:off x="0" y="2418"/>
                <a:ext cx="1713" cy="403"/>
                <a:chOff x="0" y="2418"/>
                <a:chExt cx="1713" cy="403"/>
              </a:xfrm>
            </p:grpSpPr>
            <p:sp>
              <p:nvSpPr>
                <p:cNvPr id="67654" name="Rectangle 16"/>
                <p:cNvSpPr>
                  <a:spLocks noChangeArrowheads="1"/>
                </p:cNvSpPr>
                <p:nvPr/>
              </p:nvSpPr>
              <p:spPr bwMode="auto">
                <a:xfrm>
                  <a:off x="43" y="2418"/>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6-ATOMIC_AGGREGATE</a:t>
                  </a:r>
                </a:p>
                <a:p>
                  <a:pPr>
                    <a:spcBef>
                      <a:spcPct val="0"/>
                    </a:spcBef>
                    <a:buClrTx/>
                    <a:buSzTx/>
                    <a:buFontTx/>
                    <a:buNone/>
                  </a:pPr>
                  <a:endParaRPr lang="en-US" altLang="en-US" sz="2400" b="0"/>
                </a:p>
              </p:txBody>
            </p:sp>
            <p:sp>
              <p:nvSpPr>
                <p:cNvPr id="67655" name="Rectangle 58"/>
                <p:cNvSpPr>
                  <a:spLocks noChangeArrowheads="1"/>
                </p:cNvSpPr>
                <p:nvPr/>
              </p:nvSpPr>
              <p:spPr bwMode="auto">
                <a:xfrm>
                  <a:off x="0" y="2418"/>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03" name="Group 61"/>
              <p:cNvGrpSpPr>
                <a:grpSpLocks/>
              </p:cNvGrpSpPr>
              <p:nvPr/>
            </p:nvGrpSpPr>
            <p:grpSpPr bwMode="auto">
              <a:xfrm>
                <a:off x="1713" y="2418"/>
                <a:ext cx="2001" cy="403"/>
                <a:chOff x="1713" y="2418"/>
                <a:chExt cx="2001" cy="403"/>
              </a:xfrm>
            </p:grpSpPr>
            <p:sp>
              <p:nvSpPr>
                <p:cNvPr id="67652" name="Rectangle 17"/>
                <p:cNvSpPr>
                  <a:spLocks noChangeArrowheads="1"/>
                </p:cNvSpPr>
                <p:nvPr/>
              </p:nvSpPr>
              <p:spPr bwMode="auto">
                <a:xfrm>
                  <a:off x="1756" y="2418"/>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Well-known discretionary</a:t>
                  </a:r>
                </a:p>
                <a:p>
                  <a:pPr>
                    <a:spcBef>
                      <a:spcPct val="0"/>
                    </a:spcBef>
                    <a:buClrTx/>
                    <a:buSzTx/>
                    <a:buFontTx/>
                    <a:buNone/>
                  </a:pPr>
                  <a:endParaRPr lang="en-US" altLang="en-US" sz="2400" b="0"/>
                </a:p>
              </p:txBody>
            </p:sp>
            <p:sp>
              <p:nvSpPr>
                <p:cNvPr id="67653" name="Rectangle 60"/>
                <p:cNvSpPr>
                  <a:spLocks noChangeArrowheads="1"/>
                </p:cNvSpPr>
                <p:nvPr/>
              </p:nvSpPr>
              <p:spPr bwMode="auto">
                <a:xfrm>
                  <a:off x="1713" y="2418"/>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04" name="Group 63"/>
              <p:cNvGrpSpPr>
                <a:grpSpLocks/>
              </p:cNvGrpSpPr>
              <p:nvPr/>
            </p:nvGrpSpPr>
            <p:grpSpPr bwMode="auto">
              <a:xfrm>
                <a:off x="0" y="2821"/>
                <a:ext cx="1713" cy="403"/>
                <a:chOff x="0" y="2821"/>
                <a:chExt cx="1713" cy="403"/>
              </a:xfrm>
            </p:grpSpPr>
            <p:sp>
              <p:nvSpPr>
                <p:cNvPr id="67650" name="Rectangle 18"/>
                <p:cNvSpPr>
                  <a:spLocks noChangeArrowheads="1"/>
                </p:cNvSpPr>
                <p:nvPr/>
              </p:nvSpPr>
              <p:spPr bwMode="auto">
                <a:xfrm>
                  <a:off x="43" y="2821"/>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7-AGGREGATOR</a:t>
                  </a:r>
                </a:p>
                <a:p>
                  <a:pPr>
                    <a:spcBef>
                      <a:spcPct val="0"/>
                    </a:spcBef>
                    <a:buClrTx/>
                    <a:buSzTx/>
                    <a:buFontTx/>
                    <a:buNone/>
                  </a:pPr>
                  <a:endParaRPr lang="en-US" altLang="en-US" sz="2400" b="0"/>
                </a:p>
              </p:txBody>
            </p:sp>
            <p:sp>
              <p:nvSpPr>
                <p:cNvPr id="67651" name="Rectangle 62"/>
                <p:cNvSpPr>
                  <a:spLocks noChangeArrowheads="1"/>
                </p:cNvSpPr>
                <p:nvPr/>
              </p:nvSpPr>
              <p:spPr bwMode="auto">
                <a:xfrm>
                  <a:off x="0" y="2821"/>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05" name="Group 65"/>
              <p:cNvGrpSpPr>
                <a:grpSpLocks/>
              </p:cNvGrpSpPr>
              <p:nvPr/>
            </p:nvGrpSpPr>
            <p:grpSpPr bwMode="auto">
              <a:xfrm>
                <a:off x="1713" y="2821"/>
                <a:ext cx="2001" cy="403"/>
                <a:chOff x="1713" y="2821"/>
                <a:chExt cx="2001" cy="403"/>
              </a:xfrm>
            </p:grpSpPr>
            <p:sp>
              <p:nvSpPr>
                <p:cNvPr id="67648" name="Rectangle 19"/>
                <p:cNvSpPr>
                  <a:spLocks noChangeArrowheads="1"/>
                </p:cNvSpPr>
                <p:nvPr/>
              </p:nvSpPr>
              <p:spPr bwMode="auto">
                <a:xfrm>
                  <a:off x="1756" y="2821"/>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Well-known discretionary</a:t>
                  </a:r>
                </a:p>
                <a:p>
                  <a:pPr>
                    <a:spcBef>
                      <a:spcPct val="0"/>
                    </a:spcBef>
                    <a:buClrTx/>
                    <a:buSzTx/>
                    <a:buFontTx/>
                    <a:buNone/>
                  </a:pPr>
                  <a:endParaRPr lang="en-US" altLang="en-US" sz="2400" b="0"/>
                </a:p>
              </p:txBody>
            </p:sp>
            <p:sp>
              <p:nvSpPr>
                <p:cNvPr id="67649" name="Rectangle 64"/>
                <p:cNvSpPr>
                  <a:spLocks noChangeArrowheads="1"/>
                </p:cNvSpPr>
                <p:nvPr/>
              </p:nvSpPr>
              <p:spPr bwMode="auto">
                <a:xfrm>
                  <a:off x="1713" y="2821"/>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06" name="Group 67"/>
              <p:cNvGrpSpPr>
                <a:grpSpLocks/>
              </p:cNvGrpSpPr>
              <p:nvPr/>
            </p:nvGrpSpPr>
            <p:grpSpPr bwMode="auto">
              <a:xfrm>
                <a:off x="0" y="3224"/>
                <a:ext cx="1713" cy="403"/>
                <a:chOff x="0" y="3224"/>
                <a:chExt cx="1713" cy="403"/>
              </a:xfrm>
            </p:grpSpPr>
            <p:sp>
              <p:nvSpPr>
                <p:cNvPr id="67646" name="Rectangle 20"/>
                <p:cNvSpPr>
                  <a:spLocks noChangeArrowheads="1"/>
                </p:cNvSpPr>
                <p:nvPr/>
              </p:nvSpPr>
              <p:spPr bwMode="auto">
                <a:xfrm>
                  <a:off x="43" y="3224"/>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8-COMMUNITY</a:t>
                  </a:r>
                </a:p>
                <a:p>
                  <a:pPr>
                    <a:spcBef>
                      <a:spcPct val="0"/>
                    </a:spcBef>
                    <a:buClrTx/>
                    <a:buSzTx/>
                    <a:buFontTx/>
                    <a:buNone/>
                  </a:pPr>
                  <a:endParaRPr lang="en-US" altLang="en-US" sz="2400" b="0"/>
                </a:p>
              </p:txBody>
            </p:sp>
            <p:sp>
              <p:nvSpPr>
                <p:cNvPr id="67647" name="Rectangle 66"/>
                <p:cNvSpPr>
                  <a:spLocks noChangeArrowheads="1"/>
                </p:cNvSpPr>
                <p:nvPr/>
              </p:nvSpPr>
              <p:spPr bwMode="auto">
                <a:xfrm>
                  <a:off x="0" y="3224"/>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07" name="Group 69"/>
              <p:cNvGrpSpPr>
                <a:grpSpLocks/>
              </p:cNvGrpSpPr>
              <p:nvPr/>
            </p:nvGrpSpPr>
            <p:grpSpPr bwMode="auto">
              <a:xfrm>
                <a:off x="1713" y="3224"/>
                <a:ext cx="2001" cy="403"/>
                <a:chOff x="1713" y="3224"/>
                <a:chExt cx="2001" cy="403"/>
              </a:xfrm>
            </p:grpSpPr>
            <p:sp>
              <p:nvSpPr>
                <p:cNvPr id="67644" name="Rectangle 21"/>
                <p:cNvSpPr>
                  <a:spLocks noChangeArrowheads="1"/>
                </p:cNvSpPr>
                <p:nvPr/>
              </p:nvSpPr>
              <p:spPr bwMode="auto">
                <a:xfrm>
                  <a:off x="1756" y="3224"/>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Optional transitive (Cisco)</a:t>
                  </a:r>
                </a:p>
                <a:p>
                  <a:pPr>
                    <a:spcBef>
                      <a:spcPct val="0"/>
                    </a:spcBef>
                    <a:buClrTx/>
                    <a:buSzTx/>
                    <a:buFontTx/>
                    <a:buNone/>
                  </a:pPr>
                  <a:endParaRPr lang="en-US" altLang="en-US" sz="2400" b="0"/>
                </a:p>
              </p:txBody>
            </p:sp>
            <p:sp>
              <p:nvSpPr>
                <p:cNvPr id="67645" name="Rectangle 68"/>
                <p:cNvSpPr>
                  <a:spLocks noChangeArrowheads="1"/>
                </p:cNvSpPr>
                <p:nvPr/>
              </p:nvSpPr>
              <p:spPr bwMode="auto">
                <a:xfrm>
                  <a:off x="1713" y="3224"/>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08" name="Group 71"/>
              <p:cNvGrpSpPr>
                <a:grpSpLocks/>
              </p:cNvGrpSpPr>
              <p:nvPr/>
            </p:nvGrpSpPr>
            <p:grpSpPr bwMode="auto">
              <a:xfrm>
                <a:off x="0" y="3627"/>
                <a:ext cx="1713" cy="403"/>
                <a:chOff x="0" y="3627"/>
                <a:chExt cx="1713" cy="403"/>
              </a:xfrm>
            </p:grpSpPr>
            <p:sp>
              <p:nvSpPr>
                <p:cNvPr id="67642" name="Rectangle 22"/>
                <p:cNvSpPr>
                  <a:spLocks noChangeArrowheads="1"/>
                </p:cNvSpPr>
                <p:nvPr/>
              </p:nvSpPr>
              <p:spPr bwMode="auto">
                <a:xfrm>
                  <a:off x="43" y="3627"/>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9-ORIGINATOR_ID</a:t>
                  </a:r>
                </a:p>
                <a:p>
                  <a:pPr>
                    <a:spcBef>
                      <a:spcPct val="0"/>
                    </a:spcBef>
                    <a:buClrTx/>
                    <a:buSzTx/>
                    <a:buFontTx/>
                    <a:buNone/>
                  </a:pPr>
                  <a:endParaRPr lang="en-US" altLang="en-US" sz="2400" b="0"/>
                </a:p>
              </p:txBody>
            </p:sp>
            <p:sp>
              <p:nvSpPr>
                <p:cNvPr id="67643" name="Rectangle 70"/>
                <p:cNvSpPr>
                  <a:spLocks noChangeArrowheads="1"/>
                </p:cNvSpPr>
                <p:nvPr/>
              </p:nvSpPr>
              <p:spPr bwMode="auto">
                <a:xfrm>
                  <a:off x="0" y="3627"/>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09" name="Group 73"/>
              <p:cNvGrpSpPr>
                <a:grpSpLocks/>
              </p:cNvGrpSpPr>
              <p:nvPr/>
            </p:nvGrpSpPr>
            <p:grpSpPr bwMode="auto">
              <a:xfrm>
                <a:off x="1713" y="3627"/>
                <a:ext cx="2001" cy="403"/>
                <a:chOff x="1713" y="3627"/>
                <a:chExt cx="2001" cy="403"/>
              </a:xfrm>
            </p:grpSpPr>
            <p:sp>
              <p:nvSpPr>
                <p:cNvPr id="67640" name="Rectangle 23"/>
                <p:cNvSpPr>
                  <a:spLocks noChangeArrowheads="1"/>
                </p:cNvSpPr>
                <p:nvPr/>
              </p:nvSpPr>
              <p:spPr bwMode="auto">
                <a:xfrm>
                  <a:off x="1756" y="3627"/>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Optional non-transitive (Cisco)</a:t>
                  </a:r>
                </a:p>
                <a:p>
                  <a:pPr>
                    <a:spcBef>
                      <a:spcPct val="0"/>
                    </a:spcBef>
                    <a:buClrTx/>
                    <a:buSzTx/>
                    <a:buFontTx/>
                    <a:buNone/>
                  </a:pPr>
                  <a:endParaRPr lang="en-US" altLang="en-US" sz="2400" b="0"/>
                </a:p>
              </p:txBody>
            </p:sp>
            <p:sp>
              <p:nvSpPr>
                <p:cNvPr id="67641" name="Rectangle 72"/>
                <p:cNvSpPr>
                  <a:spLocks noChangeArrowheads="1"/>
                </p:cNvSpPr>
                <p:nvPr/>
              </p:nvSpPr>
              <p:spPr bwMode="auto">
                <a:xfrm>
                  <a:off x="1713" y="3627"/>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10" name="Group 75"/>
              <p:cNvGrpSpPr>
                <a:grpSpLocks/>
              </p:cNvGrpSpPr>
              <p:nvPr/>
            </p:nvGrpSpPr>
            <p:grpSpPr bwMode="auto">
              <a:xfrm>
                <a:off x="0" y="4030"/>
                <a:ext cx="1713" cy="403"/>
                <a:chOff x="0" y="4030"/>
                <a:chExt cx="1713" cy="403"/>
              </a:xfrm>
            </p:grpSpPr>
            <p:sp>
              <p:nvSpPr>
                <p:cNvPr id="67638" name="Rectangle 24"/>
                <p:cNvSpPr>
                  <a:spLocks noChangeArrowheads="1"/>
                </p:cNvSpPr>
                <p:nvPr/>
              </p:nvSpPr>
              <p:spPr bwMode="auto">
                <a:xfrm>
                  <a:off x="43" y="4030"/>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10-Cluster List</a:t>
                  </a:r>
                </a:p>
                <a:p>
                  <a:pPr>
                    <a:spcBef>
                      <a:spcPct val="0"/>
                    </a:spcBef>
                    <a:buClrTx/>
                    <a:buSzTx/>
                    <a:buFontTx/>
                    <a:buNone/>
                  </a:pPr>
                  <a:endParaRPr lang="en-US" altLang="en-US" sz="2400" b="0"/>
                </a:p>
              </p:txBody>
            </p:sp>
            <p:sp>
              <p:nvSpPr>
                <p:cNvPr id="67639" name="Rectangle 74"/>
                <p:cNvSpPr>
                  <a:spLocks noChangeArrowheads="1"/>
                </p:cNvSpPr>
                <p:nvPr/>
              </p:nvSpPr>
              <p:spPr bwMode="auto">
                <a:xfrm>
                  <a:off x="0" y="4030"/>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11" name="Group 77"/>
              <p:cNvGrpSpPr>
                <a:grpSpLocks/>
              </p:cNvGrpSpPr>
              <p:nvPr/>
            </p:nvGrpSpPr>
            <p:grpSpPr bwMode="auto">
              <a:xfrm>
                <a:off x="1713" y="4030"/>
                <a:ext cx="2001" cy="403"/>
                <a:chOff x="1713" y="4030"/>
                <a:chExt cx="2001" cy="403"/>
              </a:xfrm>
            </p:grpSpPr>
            <p:sp>
              <p:nvSpPr>
                <p:cNvPr id="67636" name="Rectangle 25"/>
                <p:cNvSpPr>
                  <a:spLocks noChangeArrowheads="1"/>
                </p:cNvSpPr>
                <p:nvPr/>
              </p:nvSpPr>
              <p:spPr bwMode="auto">
                <a:xfrm>
                  <a:off x="1756" y="4030"/>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Optional non-transitive (Cisco)</a:t>
                  </a:r>
                </a:p>
                <a:p>
                  <a:pPr>
                    <a:spcBef>
                      <a:spcPct val="0"/>
                    </a:spcBef>
                    <a:buClrTx/>
                    <a:buSzTx/>
                    <a:buFontTx/>
                    <a:buNone/>
                  </a:pPr>
                  <a:endParaRPr lang="en-US" altLang="en-US" sz="2400" b="0"/>
                </a:p>
              </p:txBody>
            </p:sp>
            <p:sp>
              <p:nvSpPr>
                <p:cNvPr id="67637" name="Rectangle 76"/>
                <p:cNvSpPr>
                  <a:spLocks noChangeArrowheads="1"/>
                </p:cNvSpPr>
                <p:nvPr/>
              </p:nvSpPr>
              <p:spPr bwMode="auto">
                <a:xfrm>
                  <a:off x="1713" y="4030"/>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12" name="Group 79"/>
              <p:cNvGrpSpPr>
                <a:grpSpLocks/>
              </p:cNvGrpSpPr>
              <p:nvPr/>
            </p:nvGrpSpPr>
            <p:grpSpPr bwMode="auto">
              <a:xfrm>
                <a:off x="0" y="4433"/>
                <a:ext cx="1713" cy="403"/>
                <a:chOff x="0" y="4433"/>
                <a:chExt cx="1713" cy="403"/>
              </a:xfrm>
            </p:grpSpPr>
            <p:sp>
              <p:nvSpPr>
                <p:cNvPr id="67634" name="Rectangle 26"/>
                <p:cNvSpPr>
                  <a:spLocks noChangeArrowheads="1"/>
                </p:cNvSpPr>
                <p:nvPr/>
              </p:nvSpPr>
              <p:spPr bwMode="auto">
                <a:xfrm>
                  <a:off x="43" y="4433"/>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11-Destination Preference</a:t>
                  </a:r>
                </a:p>
                <a:p>
                  <a:pPr>
                    <a:spcBef>
                      <a:spcPct val="0"/>
                    </a:spcBef>
                    <a:buClrTx/>
                    <a:buSzTx/>
                    <a:buFontTx/>
                    <a:buNone/>
                  </a:pPr>
                  <a:endParaRPr lang="en-US" altLang="en-US" sz="2400" b="0"/>
                </a:p>
              </p:txBody>
            </p:sp>
            <p:sp>
              <p:nvSpPr>
                <p:cNvPr id="67635" name="Rectangle 78"/>
                <p:cNvSpPr>
                  <a:spLocks noChangeArrowheads="1"/>
                </p:cNvSpPr>
                <p:nvPr/>
              </p:nvSpPr>
              <p:spPr bwMode="auto">
                <a:xfrm>
                  <a:off x="0" y="4433"/>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13" name="Group 81"/>
              <p:cNvGrpSpPr>
                <a:grpSpLocks/>
              </p:cNvGrpSpPr>
              <p:nvPr/>
            </p:nvGrpSpPr>
            <p:grpSpPr bwMode="auto">
              <a:xfrm>
                <a:off x="1713" y="4433"/>
                <a:ext cx="2001" cy="403"/>
                <a:chOff x="1713" y="4433"/>
                <a:chExt cx="2001" cy="403"/>
              </a:xfrm>
            </p:grpSpPr>
            <p:sp>
              <p:nvSpPr>
                <p:cNvPr id="67632" name="Rectangle 27"/>
                <p:cNvSpPr>
                  <a:spLocks noChangeArrowheads="1"/>
                </p:cNvSpPr>
                <p:nvPr/>
              </p:nvSpPr>
              <p:spPr bwMode="auto">
                <a:xfrm>
                  <a:off x="1756" y="4433"/>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(MCI)</a:t>
                  </a:r>
                </a:p>
                <a:p>
                  <a:pPr>
                    <a:spcBef>
                      <a:spcPct val="0"/>
                    </a:spcBef>
                    <a:buClrTx/>
                    <a:buSzTx/>
                    <a:buFontTx/>
                    <a:buNone/>
                  </a:pPr>
                  <a:endParaRPr lang="en-US" altLang="en-US" sz="2400" b="0"/>
                </a:p>
              </p:txBody>
            </p:sp>
            <p:sp>
              <p:nvSpPr>
                <p:cNvPr id="67633" name="Rectangle 80"/>
                <p:cNvSpPr>
                  <a:spLocks noChangeArrowheads="1"/>
                </p:cNvSpPr>
                <p:nvPr/>
              </p:nvSpPr>
              <p:spPr bwMode="auto">
                <a:xfrm>
                  <a:off x="1713" y="4433"/>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14" name="Group 83"/>
              <p:cNvGrpSpPr>
                <a:grpSpLocks/>
              </p:cNvGrpSpPr>
              <p:nvPr/>
            </p:nvGrpSpPr>
            <p:grpSpPr bwMode="auto">
              <a:xfrm>
                <a:off x="0" y="4836"/>
                <a:ext cx="1713" cy="403"/>
                <a:chOff x="0" y="4836"/>
                <a:chExt cx="1713" cy="403"/>
              </a:xfrm>
            </p:grpSpPr>
            <p:sp>
              <p:nvSpPr>
                <p:cNvPr id="67630" name="Rectangle 28"/>
                <p:cNvSpPr>
                  <a:spLocks noChangeArrowheads="1"/>
                </p:cNvSpPr>
                <p:nvPr/>
              </p:nvSpPr>
              <p:spPr bwMode="auto">
                <a:xfrm>
                  <a:off x="43" y="4836"/>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12-Advertiser</a:t>
                  </a:r>
                </a:p>
                <a:p>
                  <a:pPr>
                    <a:spcBef>
                      <a:spcPct val="0"/>
                    </a:spcBef>
                    <a:buClrTx/>
                    <a:buSzTx/>
                    <a:buFontTx/>
                    <a:buNone/>
                  </a:pPr>
                  <a:endParaRPr lang="en-US" altLang="en-US" sz="2400" b="0"/>
                </a:p>
              </p:txBody>
            </p:sp>
            <p:sp>
              <p:nvSpPr>
                <p:cNvPr id="67631" name="Rectangle 82"/>
                <p:cNvSpPr>
                  <a:spLocks noChangeArrowheads="1"/>
                </p:cNvSpPr>
                <p:nvPr/>
              </p:nvSpPr>
              <p:spPr bwMode="auto">
                <a:xfrm>
                  <a:off x="0" y="4836"/>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15" name="Group 85"/>
              <p:cNvGrpSpPr>
                <a:grpSpLocks/>
              </p:cNvGrpSpPr>
              <p:nvPr/>
            </p:nvGrpSpPr>
            <p:grpSpPr bwMode="auto">
              <a:xfrm>
                <a:off x="1713" y="4836"/>
                <a:ext cx="2001" cy="403"/>
                <a:chOff x="1713" y="4836"/>
                <a:chExt cx="2001" cy="403"/>
              </a:xfrm>
            </p:grpSpPr>
            <p:sp>
              <p:nvSpPr>
                <p:cNvPr id="67628" name="Rectangle 29"/>
                <p:cNvSpPr>
                  <a:spLocks noChangeArrowheads="1"/>
                </p:cNvSpPr>
                <p:nvPr/>
              </p:nvSpPr>
              <p:spPr bwMode="auto">
                <a:xfrm>
                  <a:off x="1756" y="4836"/>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(Baynet)</a:t>
                  </a:r>
                </a:p>
                <a:p>
                  <a:pPr>
                    <a:spcBef>
                      <a:spcPct val="0"/>
                    </a:spcBef>
                    <a:buClrTx/>
                    <a:buSzTx/>
                    <a:buFontTx/>
                    <a:buNone/>
                  </a:pPr>
                  <a:endParaRPr lang="en-US" altLang="en-US" sz="2400" b="0"/>
                </a:p>
              </p:txBody>
            </p:sp>
            <p:sp>
              <p:nvSpPr>
                <p:cNvPr id="67629" name="Rectangle 84"/>
                <p:cNvSpPr>
                  <a:spLocks noChangeArrowheads="1"/>
                </p:cNvSpPr>
                <p:nvPr/>
              </p:nvSpPr>
              <p:spPr bwMode="auto">
                <a:xfrm>
                  <a:off x="1713" y="4836"/>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16" name="Group 87"/>
              <p:cNvGrpSpPr>
                <a:grpSpLocks/>
              </p:cNvGrpSpPr>
              <p:nvPr/>
            </p:nvGrpSpPr>
            <p:grpSpPr bwMode="auto">
              <a:xfrm>
                <a:off x="0" y="5239"/>
                <a:ext cx="1713" cy="403"/>
                <a:chOff x="0" y="5239"/>
                <a:chExt cx="1713" cy="403"/>
              </a:xfrm>
            </p:grpSpPr>
            <p:sp>
              <p:nvSpPr>
                <p:cNvPr id="67626" name="Rectangle 30"/>
                <p:cNvSpPr>
                  <a:spLocks noChangeArrowheads="1"/>
                </p:cNvSpPr>
                <p:nvPr/>
              </p:nvSpPr>
              <p:spPr bwMode="auto">
                <a:xfrm>
                  <a:off x="43" y="5239"/>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13-rcid_path</a:t>
                  </a:r>
                </a:p>
                <a:p>
                  <a:pPr>
                    <a:spcBef>
                      <a:spcPct val="0"/>
                    </a:spcBef>
                    <a:buClrTx/>
                    <a:buSzTx/>
                    <a:buFontTx/>
                    <a:buNone/>
                  </a:pPr>
                  <a:endParaRPr lang="en-US" altLang="en-US" sz="2400" b="0"/>
                </a:p>
              </p:txBody>
            </p:sp>
            <p:sp>
              <p:nvSpPr>
                <p:cNvPr id="67627" name="Rectangle 86"/>
                <p:cNvSpPr>
                  <a:spLocks noChangeArrowheads="1"/>
                </p:cNvSpPr>
                <p:nvPr/>
              </p:nvSpPr>
              <p:spPr bwMode="auto">
                <a:xfrm>
                  <a:off x="0" y="5239"/>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17" name="Group 89"/>
              <p:cNvGrpSpPr>
                <a:grpSpLocks/>
              </p:cNvGrpSpPr>
              <p:nvPr/>
            </p:nvGrpSpPr>
            <p:grpSpPr bwMode="auto">
              <a:xfrm>
                <a:off x="1713" y="5239"/>
                <a:ext cx="2001" cy="403"/>
                <a:chOff x="1713" y="5239"/>
                <a:chExt cx="2001" cy="403"/>
              </a:xfrm>
            </p:grpSpPr>
            <p:sp>
              <p:nvSpPr>
                <p:cNvPr id="67624" name="Rectangle 31"/>
                <p:cNvSpPr>
                  <a:spLocks noChangeArrowheads="1"/>
                </p:cNvSpPr>
                <p:nvPr/>
              </p:nvSpPr>
              <p:spPr bwMode="auto">
                <a:xfrm>
                  <a:off x="1756" y="5239"/>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(Baynet)</a:t>
                  </a:r>
                </a:p>
                <a:p>
                  <a:pPr>
                    <a:spcBef>
                      <a:spcPct val="0"/>
                    </a:spcBef>
                    <a:buClrTx/>
                    <a:buSzTx/>
                    <a:buFontTx/>
                    <a:buNone/>
                  </a:pPr>
                  <a:endParaRPr lang="en-US" altLang="en-US" sz="2400" b="0"/>
                </a:p>
              </p:txBody>
            </p:sp>
            <p:sp>
              <p:nvSpPr>
                <p:cNvPr id="67625" name="Rectangle 88"/>
                <p:cNvSpPr>
                  <a:spLocks noChangeArrowheads="1"/>
                </p:cNvSpPr>
                <p:nvPr/>
              </p:nvSpPr>
              <p:spPr bwMode="auto">
                <a:xfrm>
                  <a:off x="1713" y="5239"/>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18" name="Group 91"/>
              <p:cNvGrpSpPr>
                <a:grpSpLocks/>
              </p:cNvGrpSpPr>
              <p:nvPr/>
            </p:nvGrpSpPr>
            <p:grpSpPr bwMode="auto">
              <a:xfrm>
                <a:off x="0" y="5642"/>
                <a:ext cx="1713" cy="403"/>
                <a:chOff x="0" y="5642"/>
                <a:chExt cx="1713" cy="403"/>
              </a:xfrm>
            </p:grpSpPr>
            <p:sp>
              <p:nvSpPr>
                <p:cNvPr id="67622" name="Rectangle 32"/>
                <p:cNvSpPr>
                  <a:spLocks noChangeArrowheads="1"/>
                </p:cNvSpPr>
                <p:nvPr/>
              </p:nvSpPr>
              <p:spPr bwMode="auto">
                <a:xfrm>
                  <a:off x="43" y="5642"/>
                  <a:ext cx="1627"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255-Reserved</a:t>
                  </a:r>
                </a:p>
                <a:p>
                  <a:pPr>
                    <a:spcBef>
                      <a:spcPct val="0"/>
                    </a:spcBef>
                    <a:buClrTx/>
                    <a:buSzTx/>
                    <a:buFontTx/>
                    <a:buNone/>
                  </a:pPr>
                  <a:endParaRPr lang="en-US" altLang="en-US" sz="2400" b="0"/>
                </a:p>
              </p:txBody>
            </p:sp>
            <p:sp>
              <p:nvSpPr>
                <p:cNvPr id="67623" name="Rectangle 90"/>
                <p:cNvSpPr>
                  <a:spLocks noChangeArrowheads="1"/>
                </p:cNvSpPr>
                <p:nvPr/>
              </p:nvSpPr>
              <p:spPr bwMode="auto">
                <a:xfrm>
                  <a:off x="0" y="5642"/>
                  <a:ext cx="1713"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nvGrpSpPr>
              <p:cNvPr id="67619" name="Group 93"/>
              <p:cNvGrpSpPr>
                <a:grpSpLocks/>
              </p:cNvGrpSpPr>
              <p:nvPr/>
            </p:nvGrpSpPr>
            <p:grpSpPr bwMode="auto">
              <a:xfrm>
                <a:off x="1713" y="5642"/>
                <a:ext cx="2001" cy="403"/>
                <a:chOff x="1713" y="5642"/>
                <a:chExt cx="2001" cy="403"/>
              </a:xfrm>
            </p:grpSpPr>
            <p:sp>
              <p:nvSpPr>
                <p:cNvPr id="67620" name="Rectangle 33"/>
                <p:cNvSpPr>
                  <a:spLocks noChangeArrowheads="1"/>
                </p:cNvSpPr>
                <p:nvPr/>
              </p:nvSpPr>
              <p:spPr bwMode="auto">
                <a:xfrm>
                  <a:off x="1756" y="5642"/>
                  <a:ext cx="1915"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1200" b="0">
                      <a:cs typeface="Times New Roman" panose="02020603050405020304" pitchFamily="18" charset="0"/>
                    </a:rPr>
                    <a:t>[md]</a:t>
                  </a:r>
                </a:p>
                <a:p>
                  <a:pPr>
                    <a:spcBef>
                      <a:spcPct val="0"/>
                    </a:spcBef>
                    <a:buClrTx/>
                    <a:buSzTx/>
                    <a:buFontTx/>
                    <a:buNone/>
                  </a:pPr>
                  <a:endParaRPr lang="en-US" altLang="en-US" sz="2400" b="0"/>
                </a:p>
              </p:txBody>
            </p:sp>
            <p:sp>
              <p:nvSpPr>
                <p:cNvPr id="67621" name="Rectangle 92"/>
                <p:cNvSpPr>
                  <a:spLocks noChangeArrowheads="1"/>
                </p:cNvSpPr>
                <p:nvPr/>
              </p:nvSpPr>
              <p:spPr bwMode="auto">
                <a:xfrm>
                  <a:off x="1713" y="5642"/>
                  <a:ext cx="20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grpSp>
        <p:sp>
          <p:nvSpPr>
            <p:cNvPr id="67589" name="Rectangle 95"/>
            <p:cNvSpPr>
              <a:spLocks noChangeArrowheads="1"/>
            </p:cNvSpPr>
            <p:nvPr/>
          </p:nvSpPr>
          <p:spPr bwMode="auto">
            <a:xfrm>
              <a:off x="-2" y="-2"/>
              <a:ext cx="3718" cy="6049"/>
            </a:xfrm>
            <a:prstGeom prst="rect">
              <a:avLst/>
            </a:prstGeom>
            <a:noFill/>
            <a:ln w="793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grpSp>
      <p:sp>
        <p:nvSpPr>
          <p:cNvPr id="97"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52</a:t>
            </a:fld>
            <a:endParaRPr lang="en-US" dirty="0"/>
          </a:p>
        </p:txBody>
      </p:sp>
    </p:spTree>
    <p:extLst>
      <p:ext uri="{BB962C8B-B14F-4D97-AF65-F5344CB8AC3E}">
        <p14:creationId xmlns:p14="http://schemas.microsoft.com/office/powerpoint/2010/main" val="3419873833"/>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1027"/>
          <p:cNvSpPr>
            <a:spLocks noChangeArrowheads="1"/>
          </p:cNvSpPr>
          <p:nvPr/>
        </p:nvSpPr>
        <p:spPr bwMode="auto">
          <a:xfrm>
            <a:off x="914400" y="2895600"/>
            <a:ext cx="7312025" cy="283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73025" tIns="36512" rIns="73025" bIns="36512" anchor="ctr" anchorCtr="1"/>
          <a:lstStyle>
            <a:lvl1pPr marL="257175" indent="-257175" defTabSz="723900">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503238" indent="-285750" defTabSz="723900">
              <a:spcBef>
                <a:spcPct val="20000"/>
              </a:spcBef>
              <a:buChar char="–"/>
              <a:defRPr sz="2800">
                <a:solidFill>
                  <a:schemeClr val="tx1"/>
                </a:solidFill>
                <a:latin typeface="Arial" panose="020B0604020202020204" pitchFamily="34" charset="0"/>
              </a:defRPr>
            </a:lvl2pPr>
            <a:lvl3pPr marL="760413" indent="-228600" defTabSz="723900">
              <a:spcBef>
                <a:spcPct val="20000"/>
              </a:spcBef>
              <a:buChar char="•"/>
              <a:defRPr sz="2400">
                <a:solidFill>
                  <a:schemeClr val="tx1"/>
                </a:solidFill>
                <a:latin typeface="Arial" panose="020B0604020202020204" pitchFamily="34" charset="0"/>
              </a:defRPr>
            </a:lvl3pPr>
            <a:lvl4pPr marL="1006475" indent="-228600" defTabSz="723900">
              <a:spcBef>
                <a:spcPct val="20000"/>
              </a:spcBef>
              <a:buChar char="–"/>
              <a:defRPr sz="2000">
                <a:solidFill>
                  <a:schemeClr val="tx1"/>
                </a:solidFill>
                <a:latin typeface="Arial" panose="020B0604020202020204" pitchFamily="34" charset="0"/>
              </a:defRPr>
            </a:lvl4pPr>
            <a:lvl5pPr marL="1263650" indent="-228600" defTabSz="723900">
              <a:spcBef>
                <a:spcPct val="20000"/>
              </a:spcBef>
              <a:buChar char="»"/>
              <a:defRPr sz="2000">
                <a:solidFill>
                  <a:schemeClr val="tx1"/>
                </a:solidFill>
                <a:latin typeface="Arial" panose="020B0604020202020204" pitchFamily="34" charset="0"/>
              </a:defRPr>
            </a:lvl5pPr>
            <a:lvl6pPr marL="1720850" indent="-228600" defTabSz="723900" eaLnBrk="0" fontAlgn="base" hangingPunct="0">
              <a:spcBef>
                <a:spcPct val="20000"/>
              </a:spcBef>
              <a:spcAft>
                <a:spcPct val="0"/>
              </a:spcAft>
              <a:buChar char="»"/>
              <a:defRPr sz="2000">
                <a:solidFill>
                  <a:schemeClr val="tx1"/>
                </a:solidFill>
                <a:latin typeface="Arial" panose="020B0604020202020204" pitchFamily="34" charset="0"/>
              </a:defRPr>
            </a:lvl6pPr>
            <a:lvl7pPr marL="2178050" indent="-228600" defTabSz="723900" eaLnBrk="0" fontAlgn="base" hangingPunct="0">
              <a:spcBef>
                <a:spcPct val="20000"/>
              </a:spcBef>
              <a:spcAft>
                <a:spcPct val="0"/>
              </a:spcAft>
              <a:buChar char="»"/>
              <a:defRPr sz="2000">
                <a:solidFill>
                  <a:schemeClr val="tx1"/>
                </a:solidFill>
                <a:latin typeface="Arial" panose="020B0604020202020204" pitchFamily="34" charset="0"/>
              </a:defRPr>
            </a:lvl7pPr>
            <a:lvl8pPr marL="2635250" indent="-228600" defTabSz="723900" eaLnBrk="0" fontAlgn="base" hangingPunct="0">
              <a:spcBef>
                <a:spcPct val="20000"/>
              </a:spcBef>
              <a:spcAft>
                <a:spcPct val="0"/>
              </a:spcAft>
              <a:buChar char="»"/>
              <a:defRPr sz="2000">
                <a:solidFill>
                  <a:schemeClr val="tx1"/>
                </a:solidFill>
                <a:latin typeface="Arial" panose="020B0604020202020204" pitchFamily="34" charset="0"/>
              </a:defRPr>
            </a:lvl8pPr>
            <a:lvl9pPr marL="3092450" indent="-228600" defTabSz="723900" eaLnBrk="0" fontAlgn="base" hangingPunct="0">
              <a:spcBef>
                <a:spcPct val="20000"/>
              </a:spcBef>
              <a:spcAft>
                <a:spcPct val="0"/>
              </a:spcAft>
              <a:buChar char="»"/>
              <a:defRPr sz="2000">
                <a:solidFill>
                  <a:schemeClr val="tx1"/>
                </a:solidFill>
                <a:latin typeface="Arial" panose="020B0604020202020204" pitchFamily="34" charset="0"/>
              </a:defRPr>
            </a:lvl9pPr>
          </a:lstStyle>
          <a:p>
            <a:pPr>
              <a:buClrTx/>
              <a:buSzTx/>
              <a:buFontTx/>
              <a:buChar char="•"/>
            </a:pPr>
            <a:r>
              <a:rPr lang="en-US" altLang="en-US" sz="2400">
                <a:latin typeface="Times New Roman" panose="02020603050405020304" pitchFamily="18" charset="0"/>
              </a:rPr>
              <a:t>A BGP message consists of a prefix and information about that prefix (i.e., local-pref, med, next-hop, originator, etc...).  Each piece of information is encoded as an attribute in a TLV (type-length-value) format.  The attribute length is 4 bytes long, and new attributes can be added by simply appending a new attribute.</a:t>
            </a:r>
          </a:p>
          <a:p>
            <a:pPr>
              <a:buClrTx/>
              <a:buSzTx/>
              <a:buFontTx/>
              <a:buChar char="•"/>
            </a:pPr>
            <a:r>
              <a:rPr lang="en-US" altLang="en-US" sz="2400">
                <a:latin typeface="Times New Roman" panose="02020603050405020304" pitchFamily="18" charset="0"/>
              </a:rPr>
              <a:t>Attributes can be transitive or non-transitive, some are mandatory.</a:t>
            </a:r>
            <a:endParaRPr lang="en-US" altLang="en-US">
              <a:latin typeface="Times New Roman" panose="02020603050405020304" pitchFamily="18" charset="0"/>
            </a:endParaRPr>
          </a:p>
        </p:txBody>
      </p:sp>
      <p:sp>
        <p:nvSpPr>
          <p:cNvPr id="98308" name="Rectangle 1028"/>
          <p:cNvSpPr>
            <a:spLocks noChangeArrowheads="1"/>
          </p:cNvSpPr>
          <p:nvPr/>
        </p:nvSpPr>
        <p:spPr bwMode="auto">
          <a:xfrm>
            <a:off x="1041400" y="1550988"/>
            <a:ext cx="7280275" cy="741362"/>
          </a:xfrm>
          <a:prstGeom prst="rect">
            <a:avLst/>
          </a:prstGeom>
          <a:solidFill>
            <a:schemeClr val="accent1"/>
          </a:solidFill>
          <a:ln w="12700">
            <a:solidFill>
              <a:schemeClr val="hlink"/>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98309" name="Line 1029"/>
          <p:cNvSpPr>
            <a:spLocks noChangeShapeType="1"/>
          </p:cNvSpPr>
          <p:nvPr/>
        </p:nvSpPr>
        <p:spPr bwMode="auto">
          <a:xfrm>
            <a:off x="1789113" y="1557338"/>
            <a:ext cx="0" cy="728662"/>
          </a:xfrm>
          <a:prstGeom prst="line">
            <a:avLst/>
          </a:prstGeom>
          <a:noFill/>
          <a:ln w="25400">
            <a:solidFill>
              <a:schemeClr val="hlink"/>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98310" name="Line 1030"/>
          <p:cNvSpPr>
            <a:spLocks noChangeShapeType="1"/>
          </p:cNvSpPr>
          <p:nvPr/>
        </p:nvSpPr>
        <p:spPr bwMode="auto">
          <a:xfrm>
            <a:off x="2879725" y="1557338"/>
            <a:ext cx="0" cy="728662"/>
          </a:xfrm>
          <a:prstGeom prst="line">
            <a:avLst/>
          </a:prstGeom>
          <a:noFill/>
          <a:ln w="25400">
            <a:solidFill>
              <a:schemeClr val="hlink"/>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98311" name="Line 1031"/>
          <p:cNvSpPr>
            <a:spLocks noChangeShapeType="1"/>
          </p:cNvSpPr>
          <p:nvPr/>
        </p:nvSpPr>
        <p:spPr bwMode="auto">
          <a:xfrm>
            <a:off x="4640263" y="1557338"/>
            <a:ext cx="0" cy="728662"/>
          </a:xfrm>
          <a:prstGeom prst="line">
            <a:avLst/>
          </a:prstGeom>
          <a:noFill/>
          <a:ln w="25400">
            <a:solidFill>
              <a:schemeClr val="hlink"/>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98312" name="Line 1032"/>
          <p:cNvSpPr>
            <a:spLocks noChangeShapeType="1"/>
          </p:cNvSpPr>
          <p:nvPr/>
        </p:nvSpPr>
        <p:spPr bwMode="auto">
          <a:xfrm>
            <a:off x="5813425" y="1557338"/>
            <a:ext cx="0" cy="728662"/>
          </a:xfrm>
          <a:prstGeom prst="line">
            <a:avLst/>
          </a:prstGeom>
          <a:noFill/>
          <a:ln w="25400">
            <a:solidFill>
              <a:schemeClr val="hlink"/>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98313" name="Line 1033"/>
          <p:cNvSpPr>
            <a:spLocks noChangeShapeType="1"/>
          </p:cNvSpPr>
          <p:nvPr/>
        </p:nvSpPr>
        <p:spPr bwMode="auto">
          <a:xfrm>
            <a:off x="6483350" y="1557338"/>
            <a:ext cx="0" cy="728662"/>
          </a:xfrm>
          <a:prstGeom prst="line">
            <a:avLst/>
          </a:prstGeom>
          <a:noFill/>
          <a:ln w="25400">
            <a:solidFill>
              <a:schemeClr val="hlink"/>
            </a:solidFill>
            <a:round/>
            <a:headEnd/>
            <a:tailEnd/>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248842" name="Rectangle 1034"/>
          <p:cNvSpPr>
            <a:spLocks noChangeArrowheads="1"/>
          </p:cNvSpPr>
          <p:nvPr/>
        </p:nvSpPr>
        <p:spPr bwMode="auto">
          <a:xfrm>
            <a:off x="1703388" y="1522413"/>
            <a:ext cx="1268412"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101600" tIns="50800" rIns="101600" bIns="50800">
            <a:spAutoFit/>
          </a:bodyPr>
          <a:lstStyle>
            <a:lvl1pPr defTabSz="1106488">
              <a:defRPr sz="2400">
                <a:solidFill>
                  <a:schemeClr val="tx1"/>
                </a:solidFill>
                <a:latin typeface="Times New Roman" panose="02020603050405020304" pitchFamily="18" charset="0"/>
              </a:defRPr>
            </a:lvl1pPr>
            <a:lvl2pPr marL="503238" defTabSz="1106488">
              <a:defRPr sz="2400">
                <a:solidFill>
                  <a:schemeClr val="tx1"/>
                </a:solidFill>
                <a:latin typeface="Times New Roman" panose="02020603050405020304" pitchFamily="18" charset="0"/>
              </a:defRPr>
            </a:lvl2pPr>
            <a:lvl3pPr marL="1006475" defTabSz="1106488">
              <a:defRPr sz="2400">
                <a:solidFill>
                  <a:schemeClr val="tx1"/>
                </a:solidFill>
                <a:latin typeface="Times New Roman" panose="02020603050405020304" pitchFamily="18" charset="0"/>
              </a:defRPr>
            </a:lvl3pPr>
            <a:lvl4pPr marL="1508125" defTabSz="1106488">
              <a:defRPr sz="2400">
                <a:solidFill>
                  <a:schemeClr val="tx1"/>
                </a:solidFill>
                <a:latin typeface="Times New Roman" panose="02020603050405020304" pitchFamily="18" charset="0"/>
              </a:defRPr>
            </a:lvl4pPr>
            <a:lvl5pPr marL="2011363" defTabSz="1106488">
              <a:defRPr sz="2400">
                <a:solidFill>
                  <a:schemeClr val="tx1"/>
                </a:solidFill>
                <a:latin typeface="Times New Roman" panose="02020603050405020304" pitchFamily="18" charset="0"/>
              </a:defRPr>
            </a:lvl5pPr>
            <a:lvl6pPr marL="2468563" defTabSz="1106488" eaLnBrk="0" fontAlgn="base" hangingPunct="0">
              <a:spcBef>
                <a:spcPct val="0"/>
              </a:spcBef>
              <a:spcAft>
                <a:spcPct val="0"/>
              </a:spcAft>
              <a:defRPr sz="2400">
                <a:solidFill>
                  <a:schemeClr val="tx1"/>
                </a:solidFill>
                <a:latin typeface="Times New Roman" panose="02020603050405020304" pitchFamily="18" charset="0"/>
              </a:defRPr>
            </a:lvl6pPr>
            <a:lvl7pPr marL="2925763" defTabSz="1106488" eaLnBrk="0" fontAlgn="base" hangingPunct="0">
              <a:spcBef>
                <a:spcPct val="0"/>
              </a:spcBef>
              <a:spcAft>
                <a:spcPct val="0"/>
              </a:spcAft>
              <a:defRPr sz="2400">
                <a:solidFill>
                  <a:schemeClr val="tx1"/>
                </a:solidFill>
                <a:latin typeface="Times New Roman" panose="02020603050405020304" pitchFamily="18" charset="0"/>
              </a:defRPr>
            </a:lvl7pPr>
            <a:lvl8pPr marL="3382963" defTabSz="1106488" eaLnBrk="0" fontAlgn="base" hangingPunct="0">
              <a:spcBef>
                <a:spcPct val="0"/>
              </a:spcBef>
              <a:spcAft>
                <a:spcPct val="0"/>
              </a:spcAft>
              <a:defRPr sz="2400">
                <a:solidFill>
                  <a:schemeClr val="tx1"/>
                </a:solidFill>
                <a:latin typeface="Times New Roman" panose="02020603050405020304" pitchFamily="18" charset="0"/>
              </a:defRPr>
            </a:lvl8pPr>
            <a:lvl9pPr marL="3840163" defTabSz="110648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US" altLang="en-US" smtClean="0">
                <a:solidFill>
                  <a:schemeClr val="hlink"/>
                </a:solidFill>
                <a:effectLst>
                  <a:outerShdw blurRad="38100" dist="38100" dir="2700000" algn="tl">
                    <a:srgbClr val="C0C0C0"/>
                  </a:outerShdw>
                </a:effectLst>
                <a:latin typeface="Arial" panose="020B0604020202020204" pitchFamily="34" charset="0"/>
              </a:rPr>
              <a:t>Next Hop</a:t>
            </a:r>
          </a:p>
        </p:txBody>
      </p:sp>
      <p:sp>
        <p:nvSpPr>
          <p:cNvPr id="248843" name="Rectangle 1035"/>
          <p:cNvSpPr>
            <a:spLocks noChangeArrowheads="1"/>
          </p:cNvSpPr>
          <p:nvPr/>
        </p:nvSpPr>
        <p:spPr bwMode="auto">
          <a:xfrm>
            <a:off x="3124200" y="1522413"/>
            <a:ext cx="1268413"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101600" tIns="50800" rIns="101600" bIns="50800">
            <a:spAutoFit/>
          </a:bodyPr>
          <a:lstStyle>
            <a:lvl1pPr defTabSz="1106488">
              <a:defRPr sz="2400">
                <a:solidFill>
                  <a:schemeClr val="tx1"/>
                </a:solidFill>
                <a:latin typeface="Times New Roman" panose="02020603050405020304" pitchFamily="18" charset="0"/>
              </a:defRPr>
            </a:lvl1pPr>
            <a:lvl2pPr marL="503238" defTabSz="1106488">
              <a:defRPr sz="2400">
                <a:solidFill>
                  <a:schemeClr val="tx1"/>
                </a:solidFill>
                <a:latin typeface="Times New Roman" panose="02020603050405020304" pitchFamily="18" charset="0"/>
              </a:defRPr>
            </a:lvl2pPr>
            <a:lvl3pPr marL="1006475" defTabSz="1106488">
              <a:defRPr sz="2400">
                <a:solidFill>
                  <a:schemeClr val="tx1"/>
                </a:solidFill>
                <a:latin typeface="Times New Roman" panose="02020603050405020304" pitchFamily="18" charset="0"/>
              </a:defRPr>
            </a:lvl3pPr>
            <a:lvl4pPr marL="1508125" defTabSz="1106488">
              <a:defRPr sz="2400">
                <a:solidFill>
                  <a:schemeClr val="tx1"/>
                </a:solidFill>
                <a:latin typeface="Times New Roman" panose="02020603050405020304" pitchFamily="18" charset="0"/>
              </a:defRPr>
            </a:lvl4pPr>
            <a:lvl5pPr marL="2011363" defTabSz="1106488">
              <a:defRPr sz="2400">
                <a:solidFill>
                  <a:schemeClr val="tx1"/>
                </a:solidFill>
                <a:latin typeface="Times New Roman" panose="02020603050405020304" pitchFamily="18" charset="0"/>
              </a:defRPr>
            </a:lvl5pPr>
            <a:lvl6pPr marL="2468563" defTabSz="1106488" eaLnBrk="0" fontAlgn="base" hangingPunct="0">
              <a:spcBef>
                <a:spcPct val="0"/>
              </a:spcBef>
              <a:spcAft>
                <a:spcPct val="0"/>
              </a:spcAft>
              <a:defRPr sz="2400">
                <a:solidFill>
                  <a:schemeClr val="tx1"/>
                </a:solidFill>
                <a:latin typeface="Times New Roman" panose="02020603050405020304" pitchFamily="18" charset="0"/>
              </a:defRPr>
            </a:lvl6pPr>
            <a:lvl7pPr marL="2925763" defTabSz="1106488" eaLnBrk="0" fontAlgn="base" hangingPunct="0">
              <a:spcBef>
                <a:spcPct val="0"/>
              </a:spcBef>
              <a:spcAft>
                <a:spcPct val="0"/>
              </a:spcAft>
              <a:defRPr sz="2400">
                <a:solidFill>
                  <a:schemeClr val="tx1"/>
                </a:solidFill>
                <a:latin typeface="Times New Roman" panose="02020603050405020304" pitchFamily="18" charset="0"/>
              </a:defRPr>
            </a:lvl7pPr>
            <a:lvl8pPr marL="3382963" defTabSz="1106488" eaLnBrk="0" fontAlgn="base" hangingPunct="0">
              <a:spcBef>
                <a:spcPct val="0"/>
              </a:spcBef>
              <a:spcAft>
                <a:spcPct val="0"/>
              </a:spcAft>
              <a:defRPr sz="2400">
                <a:solidFill>
                  <a:schemeClr val="tx1"/>
                </a:solidFill>
                <a:latin typeface="Times New Roman" panose="02020603050405020304" pitchFamily="18" charset="0"/>
              </a:defRPr>
            </a:lvl8pPr>
            <a:lvl9pPr marL="3840163" defTabSz="110648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US" altLang="en-US" smtClean="0">
                <a:solidFill>
                  <a:schemeClr val="hlink"/>
                </a:solidFill>
                <a:effectLst>
                  <a:outerShdw blurRad="38100" dist="38100" dir="2700000" algn="tl">
                    <a:srgbClr val="C0C0C0"/>
                  </a:outerShdw>
                </a:effectLst>
                <a:latin typeface="Arial" panose="020B0604020202020204" pitchFamily="34" charset="0"/>
              </a:rPr>
              <a:t>AS Path</a:t>
            </a:r>
          </a:p>
        </p:txBody>
      </p:sp>
      <p:sp>
        <p:nvSpPr>
          <p:cNvPr id="248844" name="Rectangle 1036"/>
          <p:cNvSpPr>
            <a:spLocks noChangeArrowheads="1"/>
          </p:cNvSpPr>
          <p:nvPr/>
        </p:nvSpPr>
        <p:spPr bwMode="auto">
          <a:xfrm>
            <a:off x="7172325" y="1628775"/>
            <a:ext cx="45561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101600" tIns="50800" rIns="101600" bIns="50800">
            <a:spAutoFit/>
          </a:bodyPr>
          <a:lstStyle>
            <a:lvl1pPr defTabSz="1106488">
              <a:defRPr sz="2400">
                <a:solidFill>
                  <a:schemeClr val="tx1"/>
                </a:solidFill>
                <a:latin typeface="Times New Roman" panose="02020603050405020304" pitchFamily="18" charset="0"/>
              </a:defRPr>
            </a:lvl1pPr>
            <a:lvl2pPr marL="503238" defTabSz="1106488">
              <a:defRPr sz="2400">
                <a:solidFill>
                  <a:schemeClr val="tx1"/>
                </a:solidFill>
                <a:latin typeface="Times New Roman" panose="02020603050405020304" pitchFamily="18" charset="0"/>
              </a:defRPr>
            </a:lvl2pPr>
            <a:lvl3pPr marL="1006475" defTabSz="1106488">
              <a:defRPr sz="2400">
                <a:solidFill>
                  <a:schemeClr val="tx1"/>
                </a:solidFill>
                <a:latin typeface="Times New Roman" panose="02020603050405020304" pitchFamily="18" charset="0"/>
              </a:defRPr>
            </a:lvl3pPr>
            <a:lvl4pPr marL="1508125" defTabSz="1106488">
              <a:defRPr sz="2400">
                <a:solidFill>
                  <a:schemeClr val="tx1"/>
                </a:solidFill>
                <a:latin typeface="Times New Roman" panose="02020603050405020304" pitchFamily="18" charset="0"/>
              </a:defRPr>
            </a:lvl4pPr>
            <a:lvl5pPr marL="2011363" defTabSz="1106488">
              <a:defRPr sz="2400">
                <a:solidFill>
                  <a:schemeClr val="tx1"/>
                </a:solidFill>
                <a:latin typeface="Times New Roman" panose="02020603050405020304" pitchFamily="18" charset="0"/>
              </a:defRPr>
            </a:lvl5pPr>
            <a:lvl6pPr marL="2468563" defTabSz="1106488" eaLnBrk="0" fontAlgn="base" hangingPunct="0">
              <a:spcBef>
                <a:spcPct val="0"/>
              </a:spcBef>
              <a:spcAft>
                <a:spcPct val="0"/>
              </a:spcAft>
              <a:defRPr sz="2400">
                <a:solidFill>
                  <a:schemeClr val="tx1"/>
                </a:solidFill>
                <a:latin typeface="Times New Roman" panose="02020603050405020304" pitchFamily="18" charset="0"/>
              </a:defRPr>
            </a:lvl6pPr>
            <a:lvl7pPr marL="2925763" defTabSz="1106488" eaLnBrk="0" fontAlgn="base" hangingPunct="0">
              <a:spcBef>
                <a:spcPct val="0"/>
              </a:spcBef>
              <a:spcAft>
                <a:spcPct val="0"/>
              </a:spcAft>
              <a:defRPr sz="2400">
                <a:solidFill>
                  <a:schemeClr val="tx1"/>
                </a:solidFill>
                <a:latin typeface="Times New Roman" panose="02020603050405020304" pitchFamily="18" charset="0"/>
              </a:defRPr>
            </a:lvl7pPr>
            <a:lvl8pPr marL="3382963" defTabSz="1106488" eaLnBrk="0" fontAlgn="base" hangingPunct="0">
              <a:spcBef>
                <a:spcPct val="0"/>
              </a:spcBef>
              <a:spcAft>
                <a:spcPct val="0"/>
              </a:spcAft>
              <a:defRPr sz="2400">
                <a:solidFill>
                  <a:schemeClr val="tx1"/>
                </a:solidFill>
                <a:latin typeface="Times New Roman" panose="02020603050405020304" pitchFamily="18" charset="0"/>
              </a:defRPr>
            </a:lvl8pPr>
            <a:lvl9pPr marL="3840163" defTabSz="110648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US" altLang="en-US" smtClean="0">
                <a:solidFill>
                  <a:schemeClr val="hlink"/>
                </a:solidFill>
                <a:effectLst>
                  <a:outerShdw blurRad="38100" dist="38100" dir="2700000" algn="tl">
                    <a:srgbClr val="C0C0C0"/>
                  </a:outerShdw>
                </a:effectLst>
                <a:latin typeface="Arial" panose="020B0604020202020204" pitchFamily="34" charset="0"/>
              </a:rPr>
              <a:t>...</a:t>
            </a:r>
          </a:p>
        </p:txBody>
      </p:sp>
      <p:sp>
        <p:nvSpPr>
          <p:cNvPr id="248845" name="Rectangle 1037"/>
          <p:cNvSpPr>
            <a:spLocks noChangeArrowheads="1"/>
          </p:cNvSpPr>
          <p:nvPr/>
        </p:nvSpPr>
        <p:spPr bwMode="auto">
          <a:xfrm>
            <a:off x="5880100" y="1628775"/>
            <a:ext cx="45561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101600" tIns="50800" rIns="101600" bIns="50800">
            <a:spAutoFit/>
          </a:bodyPr>
          <a:lstStyle>
            <a:lvl1pPr defTabSz="1106488">
              <a:defRPr sz="2400">
                <a:solidFill>
                  <a:schemeClr val="tx1"/>
                </a:solidFill>
                <a:latin typeface="Times New Roman" panose="02020603050405020304" pitchFamily="18" charset="0"/>
              </a:defRPr>
            </a:lvl1pPr>
            <a:lvl2pPr marL="503238" defTabSz="1106488">
              <a:defRPr sz="2400">
                <a:solidFill>
                  <a:schemeClr val="tx1"/>
                </a:solidFill>
                <a:latin typeface="Times New Roman" panose="02020603050405020304" pitchFamily="18" charset="0"/>
              </a:defRPr>
            </a:lvl2pPr>
            <a:lvl3pPr marL="1006475" defTabSz="1106488">
              <a:defRPr sz="2400">
                <a:solidFill>
                  <a:schemeClr val="tx1"/>
                </a:solidFill>
                <a:latin typeface="Times New Roman" panose="02020603050405020304" pitchFamily="18" charset="0"/>
              </a:defRPr>
            </a:lvl3pPr>
            <a:lvl4pPr marL="1508125" defTabSz="1106488">
              <a:defRPr sz="2400">
                <a:solidFill>
                  <a:schemeClr val="tx1"/>
                </a:solidFill>
                <a:latin typeface="Times New Roman" panose="02020603050405020304" pitchFamily="18" charset="0"/>
              </a:defRPr>
            </a:lvl4pPr>
            <a:lvl5pPr marL="2011363" defTabSz="1106488">
              <a:defRPr sz="2400">
                <a:solidFill>
                  <a:schemeClr val="tx1"/>
                </a:solidFill>
                <a:latin typeface="Times New Roman" panose="02020603050405020304" pitchFamily="18" charset="0"/>
              </a:defRPr>
            </a:lvl5pPr>
            <a:lvl6pPr marL="2468563" defTabSz="1106488" eaLnBrk="0" fontAlgn="base" hangingPunct="0">
              <a:spcBef>
                <a:spcPct val="0"/>
              </a:spcBef>
              <a:spcAft>
                <a:spcPct val="0"/>
              </a:spcAft>
              <a:defRPr sz="2400">
                <a:solidFill>
                  <a:schemeClr val="tx1"/>
                </a:solidFill>
                <a:latin typeface="Times New Roman" panose="02020603050405020304" pitchFamily="18" charset="0"/>
              </a:defRPr>
            </a:lvl6pPr>
            <a:lvl7pPr marL="2925763" defTabSz="1106488" eaLnBrk="0" fontAlgn="base" hangingPunct="0">
              <a:spcBef>
                <a:spcPct val="0"/>
              </a:spcBef>
              <a:spcAft>
                <a:spcPct val="0"/>
              </a:spcAft>
              <a:defRPr sz="2400">
                <a:solidFill>
                  <a:schemeClr val="tx1"/>
                </a:solidFill>
                <a:latin typeface="Times New Roman" panose="02020603050405020304" pitchFamily="18" charset="0"/>
              </a:defRPr>
            </a:lvl7pPr>
            <a:lvl8pPr marL="3382963" defTabSz="1106488" eaLnBrk="0" fontAlgn="base" hangingPunct="0">
              <a:spcBef>
                <a:spcPct val="0"/>
              </a:spcBef>
              <a:spcAft>
                <a:spcPct val="0"/>
              </a:spcAft>
              <a:defRPr sz="2400">
                <a:solidFill>
                  <a:schemeClr val="tx1"/>
                </a:solidFill>
                <a:latin typeface="Times New Roman" panose="02020603050405020304" pitchFamily="18" charset="0"/>
              </a:defRPr>
            </a:lvl8pPr>
            <a:lvl9pPr marL="3840163" defTabSz="110648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US" altLang="en-US" smtClean="0">
                <a:solidFill>
                  <a:schemeClr val="hlink"/>
                </a:solidFill>
                <a:effectLst>
                  <a:outerShdw blurRad="38100" dist="38100" dir="2700000" algn="tl">
                    <a:srgbClr val="C0C0C0"/>
                  </a:outerShdw>
                </a:effectLst>
                <a:latin typeface="Arial" panose="020B0604020202020204" pitchFamily="34" charset="0"/>
              </a:rPr>
              <a:t>...</a:t>
            </a:r>
          </a:p>
        </p:txBody>
      </p:sp>
      <p:sp>
        <p:nvSpPr>
          <p:cNvPr id="248846" name="Rectangle 1038"/>
          <p:cNvSpPr>
            <a:spLocks noChangeArrowheads="1"/>
          </p:cNvSpPr>
          <p:nvPr/>
        </p:nvSpPr>
        <p:spPr bwMode="auto">
          <a:xfrm>
            <a:off x="4789488" y="1704975"/>
            <a:ext cx="881062"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101600" tIns="50800" rIns="101600" bIns="50800">
            <a:spAutoFit/>
          </a:bodyPr>
          <a:lstStyle>
            <a:lvl1pPr defTabSz="1106488">
              <a:defRPr sz="2400">
                <a:solidFill>
                  <a:schemeClr val="tx1"/>
                </a:solidFill>
                <a:latin typeface="Times New Roman" panose="02020603050405020304" pitchFamily="18" charset="0"/>
              </a:defRPr>
            </a:lvl1pPr>
            <a:lvl2pPr marL="503238" defTabSz="1106488">
              <a:defRPr sz="2400">
                <a:solidFill>
                  <a:schemeClr val="tx1"/>
                </a:solidFill>
                <a:latin typeface="Times New Roman" panose="02020603050405020304" pitchFamily="18" charset="0"/>
              </a:defRPr>
            </a:lvl2pPr>
            <a:lvl3pPr marL="1006475" defTabSz="1106488">
              <a:defRPr sz="2400">
                <a:solidFill>
                  <a:schemeClr val="tx1"/>
                </a:solidFill>
                <a:latin typeface="Times New Roman" panose="02020603050405020304" pitchFamily="18" charset="0"/>
              </a:defRPr>
            </a:lvl3pPr>
            <a:lvl4pPr marL="1508125" defTabSz="1106488">
              <a:defRPr sz="2400">
                <a:solidFill>
                  <a:schemeClr val="tx1"/>
                </a:solidFill>
                <a:latin typeface="Times New Roman" panose="02020603050405020304" pitchFamily="18" charset="0"/>
              </a:defRPr>
            </a:lvl4pPr>
            <a:lvl5pPr marL="2011363" defTabSz="1106488">
              <a:defRPr sz="2400">
                <a:solidFill>
                  <a:schemeClr val="tx1"/>
                </a:solidFill>
                <a:latin typeface="Times New Roman" panose="02020603050405020304" pitchFamily="18" charset="0"/>
              </a:defRPr>
            </a:lvl5pPr>
            <a:lvl6pPr marL="2468563" defTabSz="1106488" eaLnBrk="0" fontAlgn="base" hangingPunct="0">
              <a:spcBef>
                <a:spcPct val="0"/>
              </a:spcBef>
              <a:spcAft>
                <a:spcPct val="0"/>
              </a:spcAft>
              <a:defRPr sz="2400">
                <a:solidFill>
                  <a:schemeClr val="tx1"/>
                </a:solidFill>
                <a:latin typeface="Times New Roman" panose="02020603050405020304" pitchFamily="18" charset="0"/>
              </a:defRPr>
            </a:lvl6pPr>
            <a:lvl7pPr marL="2925763" defTabSz="1106488" eaLnBrk="0" fontAlgn="base" hangingPunct="0">
              <a:spcBef>
                <a:spcPct val="0"/>
              </a:spcBef>
              <a:spcAft>
                <a:spcPct val="0"/>
              </a:spcAft>
              <a:defRPr sz="2400">
                <a:solidFill>
                  <a:schemeClr val="tx1"/>
                </a:solidFill>
                <a:latin typeface="Times New Roman" panose="02020603050405020304" pitchFamily="18" charset="0"/>
              </a:defRPr>
            </a:lvl7pPr>
            <a:lvl8pPr marL="3382963" defTabSz="1106488" eaLnBrk="0" fontAlgn="base" hangingPunct="0">
              <a:spcBef>
                <a:spcPct val="0"/>
              </a:spcBef>
              <a:spcAft>
                <a:spcPct val="0"/>
              </a:spcAft>
              <a:defRPr sz="2400">
                <a:solidFill>
                  <a:schemeClr val="tx1"/>
                </a:solidFill>
                <a:latin typeface="Times New Roman" panose="02020603050405020304" pitchFamily="18" charset="0"/>
              </a:defRPr>
            </a:lvl8pPr>
            <a:lvl9pPr marL="3840163" defTabSz="110648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US" altLang="en-US" smtClean="0">
                <a:solidFill>
                  <a:schemeClr val="hlink"/>
                </a:solidFill>
                <a:effectLst>
                  <a:outerShdw blurRad="38100" dist="38100" dir="2700000" algn="tl">
                    <a:srgbClr val="C0C0C0"/>
                  </a:outerShdw>
                </a:effectLst>
                <a:latin typeface="Arial" panose="020B0604020202020204" pitchFamily="34" charset="0"/>
              </a:rPr>
              <a:t>MED</a:t>
            </a:r>
          </a:p>
        </p:txBody>
      </p:sp>
      <p:sp>
        <p:nvSpPr>
          <p:cNvPr id="248847" name="Rectangle 1039"/>
          <p:cNvSpPr>
            <a:spLocks noChangeArrowheads="1"/>
          </p:cNvSpPr>
          <p:nvPr/>
        </p:nvSpPr>
        <p:spPr bwMode="auto">
          <a:xfrm>
            <a:off x="1190625" y="1628775"/>
            <a:ext cx="455613"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lIns="101600" tIns="50800" rIns="101600" bIns="50800">
            <a:spAutoFit/>
          </a:bodyPr>
          <a:lstStyle>
            <a:lvl1pPr defTabSz="1106488">
              <a:defRPr sz="2400">
                <a:solidFill>
                  <a:schemeClr val="tx1"/>
                </a:solidFill>
                <a:latin typeface="Times New Roman" panose="02020603050405020304" pitchFamily="18" charset="0"/>
              </a:defRPr>
            </a:lvl1pPr>
            <a:lvl2pPr marL="503238" defTabSz="1106488">
              <a:defRPr sz="2400">
                <a:solidFill>
                  <a:schemeClr val="tx1"/>
                </a:solidFill>
                <a:latin typeface="Times New Roman" panose="02020603050405020304" pitchFamily="18" charset="0"/>
              </a:defRPr>
            </a:lvl2pPr>
            <a:lvl3pPr marL="1006475" defTabSz="1106488">
              <a:defRPr sz="2400">
                <a:solidFill>
                  <a:schemeClr val="tx1"/>
                </a:solidFill>
                <a:latin typeface="Times New Roman" panose="02020603050405020304" pitchFamily="18" charset="0"/>
              </a:defRPr>
            </a:lvl3pPr>
            <a:lvl4pPr marL="1508125" defTabSz="1106488">
              <a:defRPr sz="2400">
                <a:solidFill>
                  <a:schemeClr val="tx1"/>
                </a:solidFill>
                <a:latin typeface="Times New Roman" panose="02020603050405020304" pitchFamily="18" charset="0"/>
              </a:defRPr>
            </a:lvl4pPr>
            <a:lvl5pPr marL="2011363" defTabSz="1106488">
              <a:defRPr sz="2400">
                <a:solidFill>
                  <a:schemeClr val="tx1"/>
                </a:solidFill>
                <a:latin typeface="Times New Roman" panose="02020603050405020304" pitchFamily="18" charset="0"/>
              </a:defRPr>
            </a:lvl5pPr>
            <a:lvl6pPr marL="2468563" defTabSz="1106488" eaLnBrk="0" fontAlgn="base" hangingPunct="0">
              <a:spcBef>
                <a:spcPct val="0"/>
              </a:spcBef>
              <a:spcAft>
                <a:spcPct val="0"/>
              </a:spcAft>
              <a:defRPr sz="2400">
                <a:solidFill>
                  <a:schemeClr val="tx1"/>
                </a:solidFill>
                <a:latin typeface="Times New Roman" panose="02020603050405020304" pitchFamily="18" charset="0"/>
              </a:defRPr>
            </a:lvl6pPr>
            <a:lvl7pPr marL="2925763" defTabSz="1106488" eaLnBrk="0" fontAlgn="base" hangingPunct="0">
              <a:spcBef>
                <a:spcPct val="0"/>
              </a:spcBef>
              <a:spcAft>
                <a:spcPct val="0"/>
              </a:spcAft>
              <a:defRPr sz="2400">
                <a:solidFill>
                  <a:schemeClr val="tx1"/>
                </a:solidFill>
                <a:latin typeface="Times New Roman" panose="02020603050405020304" pitchFamily="18" charset="0"/>
              </a:defRPr>
            </a:lvl7pPr>
            <a:lvl8pPr marL="3382963" defTabSz="1106488" eaLnBrk="0" fontAlgn="base" hangingPunct="0">
              <a:spcBef>
                <a:spcPct val="0"/>
              </a:spcBef>
              <a:spcAft>
                <a:spcPct val="0"/>
              </a:spcAft>
              <a:defRPr sz="2400">
                <a:solidFill>
                  <a:schemeClr val="tx1"/>
                </a:solidFill>
                <a:latin typeface="Times New Roman" panose="02020603050405020304" pitchFamily="18" charset="0"/>
              </a:defRPr>
            </a:lvl8pPr>
            <a:lvl9pPr marL="3840163" defTabSz="110648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US" altLang="en-US" smtClean="0">
                <a:solidFill>
                  <a:schemeClr val="hlink"/>
                </a:solidFill>
                <a:effectLst>
                  <a:outerShdw blurRad="38100" dist="38100" dir="2700000" algn="tl">
                    <a:srgbClr val="C0C0C0"/>
                  </a:outerShdw>
                </a:effectLst>
                <a:latin typeface="Arial" panose="020B0604020202020204" pitchFamily="34" charset="0"/>
              </a:rPr>
              <a:t>...</a:t>
            </a:r>
          </a:p>
        </p:txBody>
      </p:sp>
      <p:sp>
        <p:nvSpPr>
          <p:cNvPr id="16" name="Rectangle 2"/>
          <p:cNvSpPr txBox="1">
            <a:spLocks noChangeArrowheads="1"/>
          </p:cNvSpPr>
          <p:nvPr/>
        </p:nvSpPr>
        <p:spPr>
          <a:xfrm>
            <a:off x="549275" y="26276"/>
            <a:ext cx="7772400" cy="609600"/>
          </a:xfrm>
          <a:prstGeom prst="rect">
            <a:avLst/>
          </a:prstGeom>
        </p:spPr>
        <p:txBody>
          <a:bodyPr/>
          <a:lstStyle>
            <a:lvl1pPr algn="l" rtl="0" fontAlgn="base">
              <a:spcBef>
                <a:spcPct val="0"/>
              </a:spcBef>
              <a:spcAft>
                <a:spcPct val="0"/>
              </a:spcAft>
              <a:defRPr sz="3200" cap="small" baseline="0">
                <a:solidFill>
                  <a:schemeClr val="bg1"/>
                </a:solidFill>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a:lstStyle>
          <a:p>
            <a:pPr algn="ctr"/>
            <a:r>
              <a:rPr lang="en-US" altLang="en-US" b="1" kern="0" smtClean="0"/>
              <a:t>Path Attributes</a:t>
            </a:r>
            <a:endParaRPr lang="en-US" altLang="en-US" b="1" kern="0" dirty="0" smtClean="0"/>
          </a:p>
        </p:txBody>
      </p:sp>
      <p:sp>
        <p:nvSpPr>
          <p:cNvPr id="2" name="Slide Number Placeholder 1"/>
          <p:cNvSpPr>
            <a:spLocks noGrp="1"/>
          </p:cNvSpPr>
          <p:nvPr>
            <p:ph type="sldNum" sz="quarter" idx="10"/>
          </p:nvPr>
        </p:nvSpPr>
        <p:spPr/>
        <p:txBody>
          <a:bodyPr/>
          <a:lstStyle/>
          <a:p>
            <a:fld id="{8361A7F4-E54E-4223-9BAA-A5DFCE9EB1E4}" type="slidenum">
              <a:rPr lang="en-US" smtClean="0"/>
              <a:pPr/>
              <a:t>53</a:t>
            </a:fld>
            <a:endParaRPr lang="en-US" dirty="0"/>
          </a:p>
        </p:txBody>
      </p:sp>
    </p:spTree>
    <p:extLst>
      <p:ext uri="{BB962C8B-B14F-4D97-AF65-F5344CB8AC3E}">
        <p14:creationId xmlns:p14="http://schemas.microsoft.com/office/powerpoint/2010/main" val="441643398"/>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Rectangle 3"/>
          <p:cNvSpPr>
            <a:spLocks noGrp="1" noChangeArrowheads="1"/>
          </p:cNvSpPr>
          <p:nvPr>
            <p:ph type="body" idx="1"/>
          </p:nvPr>
        </p:nvSpPr>
        <p:spPr>
          <a:xfrm>
            <a:off x="455613" y="3060700"/>
            <a:ext cx="8224837" cy="2427288"/>
          </a:xfrm>
          <a:noFill/>
        </p:spPr>
        <p:txBody>
          <a:bodyPr lIns="86034" tIns="43016" rIns="86034" bIns="43016"/>
          <a:lstStyle/>
          <a:p>
            <a:r>
              <a:rPr lang="en-GB" altLang="en-US" smtClean="0"/>
              <a:t>Describes the characteristics of prefix</a:t>
            </a:r>
          </a:p>
          <a:p>
            <a:r>
              <a:rPr lang="en-GB" altLang="en-US" smtClean="0"/>
              <a:t>Transitive or non-transitive</a:t>
            </a:r>
          </a:p>
          <a:p>
            <a:r>
              <a:rPr lang="en-GB" altLang="en-US" smtClean="0"/>
              <a:t>Some are mandatory</a:t>
            </a:r>
          </a:p>
        </p:txBody>
      </p:sp>
      <p:sp>
        <p:nvSpPr>
          <p:cNvPr id="99332" name="Rectangle 4"/>
          <p:cNvSpPr>
            <a:spLocks noChangeArrowheads="1"/>
          </p:cNvSpPr>
          <p:nvPr/>
        </p:nvSpPr>
        <p:spPr bwMode="auto">
          <a:xfrm>
            <a:off x="515938" y="1792288"/>
            <a:ext cx="8188325" cy="833437"/>
          </a:xfrm>
          <a:prstGeom prst="rect">
            <a:avLst/>
          </a:prstGeom>
          <a:solidFill>
            <a:schemeClr val="accent1"/>
          </a:solidFill>
          <a:ln w="12699">
            <a:solidFill>
              <a:schemeClr val="hlink"/>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99333" name="Line 5"/>
          <p:cNvSpPr>
            <a:spLocks noChangeShapeType="1"/>
          </p:cNvSpPr>
          <p:nvPr/>
        </p:nvSpPr>
        <p:spPr bwMode="auto">
          <a:xfrm>
            <a:off x="1357313" y="1784350"/>
            <a:ext cx="0" cy="847725"/>
          </a:xfrm>
          <a:prstGeom prst="line">
            <a:avLst/>
          </a:prstGeom>
          <a:noFill/>
          <a:ln w="25399">
            <a:solidFill>
              <a:schemeClr val="hlink"/>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99334" name="Line 6"/>
          <p:cNvSpPr>
            <a:spLocks noChangeShapeType="1"/>
          </p:cNvSpPr>
          <p:nvPr/>
        </p:nvSpPr>
        <p:spPr bwMode="auto">
          <a:xfrm>
            <a:off x="2582863" y="1784350"/>
            <a:ext cx="0" cy="847725"/>
          </a:xfrm>
          <a:prstGeom prst="line">
            <a:avLst/>
          </a:prstGeom>
          <a:noFill/>
          <a:ln w="25399">
            <a:solidFill>
              <a:schemeClr val="hlink"/>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99335" name="Line 7"/>
          <p:cNvSpPr>
            <a:spLocks noChangeShapeType="1"/>
          </p:cNvSpPr>
          <p:nvPr/>
        </p:nvSpPr>
        <p:spPr bwMode="auto">
          <a:xfrm>
            <a:off x="4562475" y="1784350"/>
            <a:ext cx="0" cy="847725"/>
          </a:xfrm>
          <a:prstGeom prst="line">
            <a:avLst/>
          </a:prstGeom>
          <a:noFill/>
          <a:ln w="25399">
            <a:solidFill>
              <a:schemeClr val="hlink"/>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99336" name="Line 8"/>
          <p:cNvSpPr>
            <a:spLocks noChangeShapeType="1"/>
          </p:cNvSpPr>
          <p:nvPr/>
        </p:nvSpPr>
        <p:spPr bwMode="auto">
          <a:xfrm>
            <a:off x="5883275" y="1784350"/>
            <a:ext cx="0" cy="847725"/>
          </a:xfrm>
          <a:prstGeom prst="line">
            <a:avLst/>
          </a:prstGeom>
          <a:noFill/>
          <a:ln w="25399">
            <a:solidFill>
              <a:schemeClr val="hlink"/>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99337" name="Line 9"/>
          <p:cNvSpPr>
            <a:spLocks noChangeShapeType="1"/>
          </p:cNvSpPr>
          <p:nvPr/>
        </p:nvSpPr>
        <p:spPr bwMode="auto">
          <a:xfrm>
            <a:off x="6638925" y="1784350"/>
            <a:ext cx="0" cy="847725"/>
          </a:xfrm>
          <a:prstGeom prst="line">
            <a:avLst/>
          </a:prstGeom>
          <a:noFill/>
          <a:ln w="25399">
            <a:solidFill>
              <a:schemeClr val="hlink"/>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635914" name="Rectangle 10"/>
          <p:cNvSpPr>
            <a:spLocks noChangeArrowheads="1"/>
          </p:cNvSpPr>
          <p:nvPr/>
        </p:nvSpPr>
        <p:spPr bwMode="auto">
          <a:xfrm>
            <a:off x="1260475" y="1758950"/>
            <a:ext cx="1427163" cy="97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9698" tIns="59849" rIns="119698" bIns="59849">
            <a:spAutoFit/>
          </a:bodyPr>
          <a:lstStyle>
            <a:lvl1pPr defTabSz="1303338">
              <a:defRPr sz="2400">
                <a:solidFill>
                  <a:schemeClr val="tx1"/>
                </a:solidFill>
                <a:latin typeface="Times New Roman" panose="02020603050405020304" pitchFamily="18" charset="0"/>
              </a:defRPr>
            </a:lvl1pPr>
            <a:lvl2pPr marL="592138" defTabSz="1303338">
              <a:defRPr sz="2400">
                <a:solidFill>
                  <a:schemeClr val="tx1"/>
                </a:solidFill>
                <a:latin typeface="Times New Roman" panose="02020603050405020304" pitchFamily="18" charset="0"/>
              </a:defRPr>
            </a:lvl2pPr>
            <a:lvl3pPr marL="1185863" defTabSz="1303338">
              <a:defRPr sz="2400">
                <a:solidFill>
                  <a:schemeClr val="tx1"/>
                </a:solidFill>
                <a:latin typeface="Times New Roman" panose="02020603050405020304" pitchFamily="18" charset="0"/>
              </a:defRPr>
            </a:lvl3pPr>
            <a:lvl4pPr marL="1776413" defTabSz="1303338">
              <a:defRPr sz="2400">
                <a:solidFill>
                  <a:schemeClr val="tx1"/>
                </a:solidFill>
                <a:latin typeface="Times New Roman" panose="02020603050405020304" pitchFamily="18" charset="0"/>
              </a:defRPr>
            </a:lvl4pPr>
            <a:lvl5pPr marL="2368550" defTabSz="1303338">
              <a:defRPr sz="2400">
                <a:solidFill>
                  <a:schemeClr val="tx1"/>
                </a:solidFill>
                <a:latin typeface="Times New Roman" panose="02020603050405020304" pitchFamily="18" charset="0"/>
              </a:defRPr>
            </a:lvl5pPr>
            <a:lvl6pPr marL="2825750" defTabSz="1303338" eaLnBrk="0" fontAlgn="base" hangingPunct="0">
              <a:spcBef>
                <a:spcPct val="0"/>
              </a:spcBef>
              <a:spcAft>
                <a:spcPct val="0"/>
              </a:spcAft>
              <a:defRPr sz="2400">
                <a:solidFill>
                  <a:schemeClr val="tx1"/>
                </a:solidFill>
                <a:latin typeface="Times New Roman" panose="02020603050405020304" pitchFamily="18" charset="0"/>
              </a:defRPr>
            </a:lvl6pPr>
            <a:lvl7pPr marL="3282950" defTabSz="1303338" eaLnBrk="0" fontAlgn="base" hangingPunct="0">
              <a:spcBef>
                <a:spcPct val="0"/>
              </a:spcBef>
              <a:spcAft>
                <a:spcPct val="0"/>
              </a:spcAft>
              <a:defRPr sz="2400">
                <a:solidFill>
                  <a:schemeClr val="tx1"/>
                </a:solidFill>
                <a:latin typeface="Times New Roman" panose="02020603050405020304" pitchFamily="18" charset="0"/>
              </a:defRPr>
            </a:lvl7pPr>
            <a:lvl8pPr marL="3740150" defTabSz="1303338" eaLnBrk="0" fontAlgn="base" hangingPunct="0">
              <a:spcBef>
                <a:spcPct val="0"/>
              </a:spcBef>
              <a:spcAft>
                <a:spcPct val="0"/>
              </a:spcAft>
              <a:defRPr sz="2400">
                <a:solidFill>
                  <a:schemeClr val="tx1"/>
                </a:solidFill>
                <a:latin typeface="Times New Roman" panose="02020603050405020304" pitchFamily="18" charset="0"/>
              </a:defRPr>
            </a:lvl8pPr>
            <a:lvl9pPr marL="4197350" defTabSz="130333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GB" altLang="en-US" sz="2800" smtClean="0">
                <a:solidFill>
                  <a:srgbClr val="FAFD00"/>
                </a:solidFill>
                <a:effectLst>
                  <a:outerShdw blurRad="38100" dist="38100" dir="2700000" algn="tl">
                    <a:srgbClr val="C0C0C0"/>
                  </a:outerShdw>
                </a:effectLst>
                <a:latin typeface="Arial" panose="020B0604020202020204" pitchFamily="34" charset="0"/>
              </a:rPr>
              <a:t>Next Hop</a:t>
            </a:r>
          </a:p>
        </p:txBody>
      </p:sp>
      <p:sp>
        <p:nvSpPr>
          <p:cNvPr id="635915" name="Rectangle 11"/>
          <p:cNvSpPr>
            <a:spLocks noChangeArrowheads="1"/>
          </p:cNvSpPr>
          <p:nvPr/>
        </p:nvSpPr>
        <p:spPr bwMode="auto">
          <a:xfrm>
            <a:off x="2857500" y="1758950"/>
            <a:ext cx="1427163" cy="97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9698" tIns="59849" rIns="119698" bIns="59849">
            <a:spAutoFit/>
          </a:bodyPr>
          <a:lstStyle>
            <a:lvl1pPr defTabSz="1303338">
              <a:defRPr sz="2400">
                <a:solidFill>
                  <a:schemeClr val="tx1"/>
                </a:solidFill>
                <a:latin typeface="Times New Roman" panose="02020603050405020304" pitchFamily="18" charset="0"/>
              </a:defRPr>
            </a:lvl1pPr>
            <a:lvl2pPr marL="592138" defTabSz="1303338">
              <a:defRPr sz="2400">
                <a:solidFill>
                  <a:schemeClr val="tx1"/>
                </a:solidFill>
                <a:latin typeface="Times New Roman" panose="02020603050405020304" pitchFamily="18" charset="0"/>
              </a:defRPr>
            </a:lvl2pPr>
            <a:lvl3pPr marL="1185863" defTabSz="1303338">
              <a:defRPr sz="2400">
                <a:solidFill>
                  <a:schemeClr val="tx1"/>
                </a:solidFill>
                <a:latin typeface="Times New Roman" panose="02020603050405020304" pitchFamily="18" charset="0"/>
              </a:defRPr>
            </a:lvl3pPr>
            <a:lvl4pPr marL="1776413" defTabSz="1303338">
              <a:defRPr sz="2400">
                <a:solidFill>
                  <a:schemeClr val="tx1"/>
                </a:solidFill>
                <a:latin typeface="Times New Roman" panose="02020603050405020304" pitchFamily="18" charset="0"/>
              </a:defRPr>
            </a:lvl4pPr>
            <a:lvl5pPr marL="2368550" defTabSz="1303338">
              <a:defRPr sz="2400">
                <a:solidFill>
                  <a:schemeClr val="tx1"/>
                </a:solidFill>
                <a:latin typeface="Times New Roman" panose="02020603050405020304" pitchFamily="18" charset="0"/>
              </a:defRPr>
            </a:lvl5pPr>
            <a:lvl6pPr marL="2825750" defTabSz="1303338" eaLnBrk="0" fontAlgn="base" hangingPunct="0">
              <a:spcBef>
                <a:spcPct val="0"/>
              </a:spcBef>
              <a:spcAft>
                <a:spcPct val="0"/>
              </a:spcAft>
              <a:defRPr sz="2400">
                <a:solidFill>
                  <a:schemeClr val="tx1"/>
                </a:solidFill>
                <a:latin typeface="Times New Roman" panose="02020603050405020304" pitchFamily="18" charset="0"/>
              </a:defRPr>
            </a:lvl6pPr>
            <a:lvl7pPr marL="3282950" defTabSz="1303338" eaLnBrk="0" fontAlgn="base" hangingPunct="0">
              <a:spcBef>
                <a:spcPct val="0"/>
              </a:spcBef>
              <a:spcAft>
                <a:spcPct val="0"/>
              </a:spcAft>
              <a:defRPr sz="2400">
                <a:solidFill>
                  <a:schemeClr val="tx1"/>
                </a:solidFill>
                <a:latin typeface="Times New Roman" panose="02020603050405020304" pitchFamily="18" charset="0"/>
              </a:defRPr>
            </a:lvl7pPr>
            <a:lvl8pPr marL="3740150" defTabSz="1303338" eaLnBrk="0" fontAlgn="base" hangingPunct="0">
              <a:spcBef>
                <a:spcPct val="0"/>
              </a:spcBef>
              <a:spcAft>
                <a:spcPct val="0"/>
              </a:spcAft>
              <a:defRPr sz="2400">
                <a:solidFill>
                  <a:schemeClr val="tx1"/>
                </a:solidFill>
                <a:latin typeface="Times New Roman" panose="02020603050405020304" pitchFamily="18" charset="0"/>
              </a:defRPr>
            </a:lvl8pPr>
            <a:lvl9pPr marL="4197350" defTabSz="130333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GB" altLang="en-US" sz="2800" smtClean="0">
                <a:solidFill>
                  <a:srgbClr val="FAFD00"/>
                </a:solidFill>
                <a:effectLst>
                  <a:outerShdw blurRad="38100" dist="38100" dir="2700000" algn="tl">
                    <a:srgbClr val="C0C0C0"/>
                  </a:outerShdw>
                </a:effectLst>
                <a:latin typeface="Arial" panose="020B0604020202020204" pitchFamily="34" charset="0"/>
              </a:rPr>
              <a:t>AS Path</a:t>
            </a:r>
          </a:p>
        </p:txBody>
      </p:sp>
      <p:sp>
        <p:nvSpPr>
          <p:cNvPr id="635916" name="Rectangle 12"/>
          <p:cNvSpPr>
            <a:spLocks noChangeArrowheads="1"/>
          </p:cNvSpPr>
          <p:nvPr/>
        </p:nvSpPr>
        <p:spPr bwMode="auto">
          <a:xfrm>
            <a:off x="7400925" y="1911350"/>
            <a:ext cx="533400"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698" tIns="59849" rIns="119698" bIns="59849">
            <a:spAutoFit/>
          </a:bodyPr>
          <a:lstStyle>
            <a:lvl1pPr defTabSz="1303338">
              <a:defRPr sz="2400">
                <a:solidFill>
                  <a:schemeClr val="tx1"/>
                </a:solidFill>
                <a:latin typeface="Times New Roman" panose="02020603050405020304" pitchFamily="18" charset="0"/>
              </a:defRPr>
            </a:lvl1pPr>
            <a:lvl2pPr marL="592138" defTabSz="1303338">
              <a:defRPr sz="2400">
                <a:solidFill>
                  <a:schemeClr val="tx1"/>
                </a:solidFill>
                <a:latin typeface="Times New Roman" panose="02020603050405020304" pitchFamily="18" charset="0"/>
              </a:defRPr>
            </a:lvl2pPr>
            <a:lvl3pPr marL="1185863" defTabSz="1303338">
              <a:defRPr sz="2400">
                <a:solidFill>
                  <a:schemeClr val="tx1"/>
                </a:solidFill>
                <a:latin typeface="Times New Roman" panose="02020603050405020304" pitchFamily="18" charset="0"/>
              </a:defRPr>
            </a:lvl3pPr>
            <a:lvl4pPr marL="1776413" defTabSz="1303338">
              <a:defRPr sz="2400">
                <a:solidFill>
                  <a:schemeClr val="tx1"/>
                </a:solidFill>
                <a:latin typeface="Times New Roman" panose="02020603050405020304" pitchFamily="18" charset="0"/>
              </a:defRPr>
            </a:lvl4pPr>
            <a:lvl5pPr marL="2368550" defTabSz="1303338">
              <a:defRPr sz="2400">
                <a:solidFill>
                  <a:schemeClr val="tx1"/>
                </a:solidFill>
                <a:latin typeface="Times New Roman" panose="02020603050405020304" pitchFamily="18" charset="0"/>
              </a:defRPr>
            </a:lvl5pPr>
            <a:lvl6pPr marL="2825750" defTabSz="1303338" eaLnBrk="0" fontAlgn="base" hangingPunct="0">
              <a:spcBef>
                <a:spcPct val="0"/>
              </a:spcBef>
              <a:spcAft>
                <a:spcPct val="0"/>
              </a:spcAft>
              <a:defRPr sz="2400">
                <a:solidFill>
                  <a:schemeClr val="tx1"/>
                </a:solidFill>
                <a:latin typeface="Times New Roman" panose="02020603050405020304" pitchFamily="18" charset="0"/>
              </a:defRPr>
            </a:lvl6pPr>
            <a:lvl7pPr marL="3282950" defTabSz="1303338" eaLnBrk="0" fontAlgn="base" hangingPunct="0">
              <a:spcBef>
                <a:spcPct val="0"/>
              </a:spcBef>
              <a:spcAft>
                <a:spcPct val="0"/>
              </a:spcAft>
              <a:defRPr sz="2400">
                <a:solidFill>
                  <a:schemeClr val="tx1"/>
                </a:solidFill>
                <a:latin typeface="Times New Roman" panose="02020603050405020304" pitchFamily="18" charset="0"/>
              </a:defRPr>
            </a:lvl7pPr>
            <a:lvl8pPr marL="3740150" defTabSz="1303338" eaLnBrk="0" fontAlgn="base" hangingPunct="0">
              <a:spcBef>
                <a:spcPct val="0"/>
              </a:spcBef>
              <a:spcAft>
                <a:spcPct val="0"/>
              </a:spcAft>
              <a:defRPr sz="2400">
                <a:solidFill>
                  <a:schemeClr val="tx1"/>
                </a:solidFill>
                <a:latin typeface="Times New Roman" panose="02020603050405020304" pitchFamily="18" charset="0"/>
              </a:defRPr>
            </a:lvl8pPr>
            <a:lvl9pPr marL="4197350" defTabSz="130333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GB" altLang="en-US" sz="2800" smtClean="0">
                <a:solidFill>
                  <a:srgbClr val="FAFD00"/>
                </a:solidFill>
                <a:effectLst>
                  <a:outerShdw blurRad="38100" dist="38100" dir="2700000" algn="tl">
                    <a:srgbClr val="C0C0C0"/>
                  </a:outerShdw>
                </a:effectLst>
                <a:latin typeface="Arial" panose="020B0604020202020204" pitchFamily="34" charset="0"/>
              </a:rPr>
              <a:t>...</a:t>
            </a:r>
          </a:p>
        </p:txBody>
      </p:sp>
      <p:sp>
        <p:nvSpPr>
          <p:cNvPr id="635917" name="Rectangle 13"/>
          <p:cNvSpPr>
            <a:spLocks noChangeArrowheads="1"/>
          </p:cNvSpPr>
          <p:nvPr/>
        </p:nvSpPr>
        <p:spPr bwMode="auto">
          <a:xfrm>
            <a:off x="5946775" y="1911350"/>
            <a:ext cx="533400"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698" tIns="59849" rIns="119698" bIns="59849">
            <a:spAutoFit/>
          </a:bodyPr>
          <a:lstStyle>
            <a:lvl1pPr defTabSz="1303338">
              <a:defRPr sz="2400">
                <a:solidFill>
                  <a:schemeClr val="tx1"/>
                </a:solidFill>
                <a:latin typeface="Times New Roman" panose="02020603050405020304" pitchFamily="18" charset="0"/>
              </a:defRPr>
            </a:lvl1pPr>
            <a:lvl2pPr marL="592138" defTabSz="1303338">
              <a:defRPr sz="2400">
                <a:solidFill>
                  <a:schemeClr val="tx1"/>
                </a:solidFill>
                <a:latin typeface="Times New Roman" panose="02020603050405020304" pitchFamily="18" charset="0"/>
              </a:defRPr>
            </a:lvl2pPr>
            <a:lvl3pPr marL="1185863" defTabSz="1303338">
              <a:defRPr sz="2400">
                <a:solidFill>
                  <a:schemeClr val="tx1"/>
                </a:solidFill>
                <a:latin typeface="Times New Roman" panose="02020603050405020304" pitchFamily="18" charset="0"/>
              </a:defRPr>
            </a:lvl3pPr>
            <a:lvl4pPr marL="1776413" defTabSz="1303338">
              <a:defRPr sz="2400">
                <a:solidFill>
                  <a:schemeClr val="tx1"/>
                </a:solidFill>
                <a:latin typeface="Times New Roman" panose="02020603050405020304" pitchFamily="18" charset="0"/>
              </a:defRPr>
            </a:lvl4pPr>
            <a:lvl5pPr marL="2368550" defTabSz="1303338">
              <a:defRPr sz="2400">
                <a:solidFill>
                  <a:schemeClr val="tx1"/>
                </a:solidFill>
                <a:latin typeface="Times New Roman" panose="02020603050405020304" pitchFamily="18" charset="0"/>
              </a:defRPr>
            </a:lvl5pPr>
            <a:lvl6pPr marL="2825750" defTabSz="1303338" eaLnBrk="0" fontAlgn="base" hangingPunct="0">
              <a:spcBef>
                <a:spcPct val="0"/>
              </a:spcBef>
              <a:spcAft>
                <a:spcPct val="0"/>
              </a:spcAft>
              <a:defRPr sz="2400">
                <a:solidFill>
                  <a:schemeClr val="tx1"/>
                </a:solidFill>
                <a:latin typeface="Times New Roman" panose="02020603050405020304" pitchFamily="18" charset="0"/>
              </a:defRPr>
            </a:lvl6pPr>
            <a:lvl7pPr marL="3282950" defTabSz="1303338" eaLnBrk="0" fontAlgn="base" hangingPunct="0">
              <a:spcBef>
                <a:spcPct val="0"/>
              </a:spcBef>
              <a:spcAft>
                <a:spcPct val="0"/>
              </a:spcAft>
              <a:defRPr sz="2400">
                <a:solidFill>
                  <a:schemeClr val="tx1"/>
                </a:solidFill>
                <a:latin typeface="Times New Roman" panose="02020603050405020304" pitchFamily="18" charset="0"/>
              </a:defRPr>
            </a:lvl7pPr>
            <a:lvl8pPr marL="3740150" defTabSz="1303338" eaLnBrk="0" fontAlgn="base" hangingPunct="0">
              <a:spcBef>
                <a:spcPct val="0"/>
              </a:spcBef>
              <a:spcAft>
                <a:spcPct val="0"/>
              </a:spcAft>
              <a:defRPr sz="2400">
                <a:solidFill>
                  <a:schemeClr val="tx1"/>
                </a:solidFill>
                <a:latin typeface="Times New Roman" panose="02020603050405020304" pitchFamily="18" charset="0"/>
              </a:defRPr>
            </a:lvl8pPr>
            <a:lvl9pPr marL="4197350" defTabSz="130333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GB" altLang="en-US" sz="2800" smtClean="0">
                <a:solidFill>
                  <a:srgbClr val="FAFD00"/>
                </a:solidFill>
                <a:effectLst>
                  <a:outerShdw blurRad="38100" dist="38100" dir="2700000" algn="tl">
                    <a:srgbClr val="C0C0C0"/>
                  </a:outerShdw>
                </a:effectLst>
                <a:latin typeface="Arial" panose="020B0604020202020204" pitchFamily="34" charset="0"/>
              </a:rPr>
              <a:t>...</a:t>
            </a:r>
          </a:p>
        </p:txBody>
      </p:sp>
      <p:sp>
        <p:nvSpPr>
          <p:cNvPr id="635918" name="Rectangle 14"/>
          <p:cNvSpPr>
            <a:spLocks noChangeArrowheads="1"/>
          </p:cNvSpPr>
          <p:nvPr/>
        </p:nvSpPr>
        <p:spPr bwMode="auto">
          <a:xfrm>
            <a:off x="4714875" y="1965325"/>
            <a:ext cx="1028700"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698" tIns="59849" rIns="119698" bIns="59849">
            <a:spAutoFit/>
          </a:bodyPr>
          <a:lstStyle>
            <a:lvl1pPr defTabSz="1303338">
              <a:defRPr sz="2400">
                <a:solidFill>
                  <a:schemeClr val="tx1"/>
                </a:solidFill>
                <a:latin typeface="Times New Roman" panose="02020603050405020304" pitchFamily="18" charset="0"/>
              </a:defRPr>
            </a:lvl1pPr>
            <a:lvl2pPr marL="592138" defTabSz="1303338">
              <a:defRPr sz="2400">
                <a:solidFill>
                  <a:schemeClr val="tx1"/>
                </a:solidFill>
                <a:latin typeface="Times New Roman" panose="02020603050405020304" pitchFamily="18" charset="0"/>
              </a:defRPr>
            </a:lvl2pPr>
            <a:lvl3pPr marL="1185863" defTabSz="1303338">
              <a:defRPr sz="2400">
                <a:solidFill>
                  <a:schemeClr val="tx1"/>
                </a:solidFill>
                <a:latin typeface="Times New Roman" panose="02020603050405020304" pitchFamily="18" charset="0"/>
              </a:defRPr>
            </a:lvl3pPr>
            <a:lvl4pPr marL="1776413" defTabSz="1303338">
              <a:defRPr sz="2400">
                <a:solidFill>
                  <a:schemeClr val="tx1"/>
                </a:solidFill>
                <a:latin typeface="Times New Roman" panose="02020603050405020304" pitchFamily="18" charset="0"/>
              </a:defRPr>
            </a:lvl4pPr>
            <a:lvl5pPr marL="2368550" defTabSz="1303338">
              <a:defRPr sz="2400">
                <a:solidFill>
                  <a:schemeClr val="tx1"/>
                </a:solidFill>
                <a:latin typeface="Times New Roman" panose="02020603050405020304" pitchFamily="18" charset="0"/>
              </a:defRPr>
            </a:lvl5pPr>
            <a:lvl6pPr marL="2825750" defTabSz="1303338" eaLnBrk="0" fontAlgn="base" hangingPunct="0">
              <a:spcBef>
                <a:spcPct val="0"/>
              </a:spcBef>
              <a:spcAft>
                <a:spcPct val="0"/>
              </a:spcAft>
              <a:defRPr sz="2400">
                <a:solidFill>
                  <a:schemeClr val="tx1"/>
                </a:solidFill>
                <a:latin typeface="Times New Roman" panose="02020603050405020304" pitchFamily="18" charset="0"/>
              </a:defRPr>
            </a:lvl6pPr>
            <a:lvl7pPr marL="3282950" defTabSz="1303338" eaLnBrk="0" fontAlgn="base" hangingPunct="0">
              <a:spcBef>
                <a:spcPct val="0"/>
              </a:spcBef>
              <a:spcAft>
                <a:spcPct val="0"/>
              </a:spcAft>
              <a:defRPr sz="2400">
                <a:solidFill>
                  <a:schemeClr val="tx1"/>
                </a:solidFill>
                <a:latin typeface="Times New Roman" panose="02020603050405020304" pitchFamily="18" charset="0"/>
              </a:defRPr>
            </a:lvl7pPr>
            <a:lvl8pPr marL="3740150" defTabSz="1303338" eaLnBrk="0" fontAlgn="base" hangingPunct="0">
              <a:spcBef>
                <a:spcPct val="0"/>
              </a:spcBef>
              <a:spcAft>
                <a:spcPct val="0"/>
              </a:spcAft>
              <a:defRPr sz="2400">
                <a:solidFill>
                  <a:schemeClr val="tx1"/>
                </a:solidFill>
                <a:latin typeface="Times New Roman" panose="02020603050405020304" pitchFamily="18" charset="0"/>
              </a:defRPr>
            </a:lvl8pPr>
            <a:lvl9pPr marL="4197350" defTabSz="130333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GB" altLang="en-US" sz="2800" smtClean="0">
                <a:solidFill>
                  <a:srgbClr val="FAFD00"/>
                </a:solidFill>
                <a:effectLst>
                  <a:outerShdw blurRad="38100" dist="38100" dir="2700000" algn="tl">
                    <a:srgbClr val="C0C0C0"/>
                  </a:outerShdw>
                </a:effectLst>
                <a:latin typeface="Arial" panose="020B0604020202020204" pitchFamily="34" charset="0"/>
              </a:rPr>
              <a:t>MED</a:t>
            </a:r>
          </a:p>
        </p:txBody>
      </p:sp>
      <p:sp>
        <p:nvSpPr>
          <p:cNvPr id="635919" name="Rectangle 15"/>
          <p:cNvSpPr>
            <a:spLocks noChangeArrowheads="1"/>
          </p:cNvSpPr>
          <p:nvPr/>
        </p:nvSpPr>
        <p:spPr bwMode="auto">
          <a:xfrm>
            <a:off x="669925" y="1911350"/>
            <a:ext cx="533400"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9698" tIns="59849" rIns="119698" bIns="59849">
            <a:spAutoFit/>
          </a:bodyPr>
          <a:lstStyle>
            <a:lvl1pPr defTabSz="1303338">
              <a:defRPr sz="2400">
                <a:solidFill>
                  <a:schemeClr val="tx1"/>
                </a:solidFill>
                <a:latin typeface="Times New Roman" panose="02020603050405020304" pitchFamily="18" charset="0"/>
              </a:defRPr>
            </a:lvl1pPr>
            <a:lvl2pPr marL="592138" defTabSz="1303338">
              <a:defRPr sz="2400">
                <a:solidFill>
                  <a:schemeClr val="tx1"/>
                </a:solidFill>
                <a:latin typeface="Times New Roman" panose="02020603050405020304" pitchFamily="18" charset="0"/>
              </a:defRPr>
            </a:lvl2pPr>
            <a:lvl3pPr marL="1185863" defTabSz="1303338">
              <a:defRPr sz="2400">
                <a:solidFill>
                  <a:schemeClr val="tx1"/>
                </a:solidFill>
                <a:latin typeface="Times New Roman" panose="02020603050405020304" pitchFamily="18" charset="0"/>
              </a:defRPr>
            </a:lvl3pPr>
            <a:lvl4pPr marL="1776413" defTabSz="1303338">
              <a:defRPr sz="2400">
                <a:solidFill>
                  <a:schemeClr val="tx1"/>
                </a:solidFill>
                <a:latin typeface="Times New Roman" panose="02020603050405020304" pitchFamily="18" charset="0"/>
              </a:defRPr>
            </a:lvl4pPr>
            <a:lvl5pPr marL="2368550" defTabSz="1303338">
              <a:defRPr sz="2400">
                <a:solidFill>
                  <a:schemeClr val="tx1"/>
                </a:solidFill>
                <a:latin typeface="Times New Roman" panose="02020603050405020304" pitchFamily="18" charset="0"/>
              </a:defRPr>
            </a:lvl5pPr>
            <a:lvl6pPr marL="2825750" defTabSz="1303338" eaLnBrk="0" fontAlgn="base" hangingPunct="0">
              <a:spcBef>
                <a:spcPct val="0"/>
              </a:spcBef>
              <a:spcAft>
                <a:spcPct val="0"/>
              </a:spcAft>
              <a:defRPr sz="2400">
                <a:solidFill>
                  <a:schemeClr val="tx1"/>
                </a:solidFill>
                <a:latin typeface="Times New Roman" panose="02020603050405020304" pitchFamily="18" charset="0"/>
              </a:defRPr>
            </a:lvl6pPr>
            <a:lvl7pPr marL="3282950" defTabSz="1303338" eaLnBrk="0" fontAlgn="base" hangingPunct="0">
              <a:spcBef>
                <a:spcPct val="0"/>
              </a:spcBef>
              <a:spcAft>
                <a:spcPct val="0"/>
              </a:spcAft>
              <a:defRPr sz="2400">
                <a:solidFill>
                  <a:schemeClr val="tx1"/>
                </a:solidFill>
                <a:latin typeface="Times New Roman" panose="02020603050405020304" pitchFamily="18" charset="0"/>
              </a:defRPr>
            </a:lvl7pPr>
            <a:lvl8pPr marL="3740150" defTabSz="1303338" eaLnBrk="0" fontAlgn="base" hangingPunct="0">
              <a:spcBef>
                <a:spcPct val="0"/>
              </a:spcBef>
              <a:spcAft>
                <a:spcPct val="0"/>
              </a:spcAft>
              <a:defRPr sz="2400">
                <a:solidFill>
                  <a:schemeClr val="tx1"/>
                </a:solidFill>
                <a:latin typeface="Times New Roman" panose="02020603050405020304" pitchFamily="18" charset="0"/>
              </a:defRPr>
            </a:lvl8pPr>
            <a:lvl9pPr marL="4197350" defTabSz="1303338"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GB" altLang="en-US" sz="2800" smtClean="0">
                <a:solidFill>
                  <a:srgbClr val="FAFD00"/>
                </a:solidFill>
                <a:effectLst>
                  <a:outerShdw blurRad="38100" dist="38100" dir="2700000" algn="tl">
                    <a:srgbClr val="C0C0C0"/>
                  </a:outerShdw>
                </a:effectLst>
                <a:latin typeface="Arial" panose="020B0604020202020204" pitchFamily="34" charset="0"/>
              </a:rPr>
              <a:t>...</a:t>
            </a:r>
          </a:p>
        </p:txBody>
      </p:sp>
      <p:sp>
        <p:nvSpPr>
          <p:cNvPr id="17"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54</a:t>
            </a:fld>
            <a:endParaRPr lang="en-US" dirty="0"/>
          </a:p>
        </p:txBody>
      </p:sp>
    </p:spTree>
    <p:extLst>
      <p:ext uri="{BB962C8B-B14F-4D97-AF65-F5344CB8AC3E}">
        <p14:creationId xmlns:p14="http://schemas.microsoft.com/office/powerpoint/2010/main" val="2936917629"/>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ChangeArrowheads="1"/>
          </p:cNvSpPr>
          <p:nvPr/>
        </p:nvSpPr>
        <p:spPr bwMode="auto">
          <a:xfrm>
            <a:off x="6084888" y="3254375"/>
            <a:ext cx="2830512" cy="514350"/>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01379" name="Rectangle 3"/>
          <p:cNvSpPr>
            <a:spLocks noGrp="1" noChangeArrowheads="1"/>
          </p:cNvSpPr>
          <p:nvPr>
            <p:ph type="body" idx="1"/>
          </p:nvPr>
        </p:nvSpPr>
        <p:spPr>
          <a:xfrm>
            <a:off x="0" y="1541463"/>
            <a:ext cx="4770438" cy="2968625"/>
          </a:xfrm>
          <a:noFill/>
        </p:spPr>
        <p:txBody>
          <a:bodyPr lIns="86034" tIns="43016" rIns="86034" bIns="43016"/>
          <a:lstStyle/>
          <a:p>
            <a:r>
              <a:rPr lang="en-GB" altLang="en-US" sz="2800" smtClean="0"/>
              <a:t>Sequence of ASes a route has traversed</a:t>
            </a:r>
          </a:p>
          <a:p>
            <a:r>
              <a:rPr lang="en-GB" altLang="en-US" sz="2800" smtClean="0"/>
              <a:t>Loop detection</a:t>
            </a:r>
          </a:p>
          <a:p>
            <a:r>
              <a:rPr lang="en-GB" altLang="en-US" sz="2800" smtClean="0"/>
              <a:t>Apply policy</a:t>
            </a:r>
          </a:p>
        </p:txBody>
      </p:sp>
      <p:sp>
        <p:nvSpPr>
          <p:cNvPr id="101381" name="Line 5"/>
          <p:cNvSpPr>
            <a:spLocks noChangeShapeType="1"/>
          </p:cNvSpPr>
          <p:nvPr/>
        </p:nvSpPr>
        <p:spPr bwMode="auto">
          <a:xfrm flipV="1">
            <a:off x="3328988" y="4244975"/>
            <a:ext cx="831850" cy="936625"/>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01382" name="Line 6"/>
          <p:cNvSpPr>
            <a:spLocks noChangeShapeType="1"/>
          </p:cNvSpPr>
          <p:nvPr/>
        </p:nvSpPr>
        <p:spPr bwMode="auto">
          <a:xfrm flipH="1" flipV="1">
            <a:off x="4860925" y="3957638"/>
            <a:ext cx="1149350" cy="647700"/>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01383" name="Line 7"/>
          <p:cNvSpPr>
            <a:spLocks noChangeShapeType="1"/>
          </p:cNvSpPr>
          <p:nvPr/>
        </p:nvSpPr>
        <p:spPr bwMode="auto">
          <a:xfrm>
            <a:off x="6584950" y="2589213"/>
            <a:ext cx="1212850" cy="0"/>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01384" name="Line 8"/>
          <p:cNvSpPr>
            <a:spLocks noChangeShapeType="1"/>
          </p:cNvSpPr>
          <p:nvPr/>
        </p:nvSpPr>
        <p:spPr bwMode="auto">
          <a:xfrm flipV="1">
            <a:off x="4799013" y="2517775"/>
            <a:ext cx="830262" cy="935038"/>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pic>
        <p:nvPicPr>
          <p:cNvPr id="101385" name="Picture 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6488" y="4978400"/>
            <a:ext cx="182562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386"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5663" y="3303588"/>
            <a:ext cx="182880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387"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3188" y="2016125"/>
            <a:ext cx="182562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388"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2163" y="1992313"/>
            <a:ext cx="1827212" cy="1103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389"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70538" y="3886200"/>
            <a:ext cx="182562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1390" name="Line 14"/>
          <p:cNvSpPr>
            <a:spLocks noChangeShapeType="1"/>
          </p:cNvSpPr>
          <p:nvPr/>
        </p:nvSpPr>
        <p:spPr bwMode="auto">
          <a:xfrm flipH="1">
            <a:off x="4095750" y="5611813"/>
            <a:ext cx="958850" cy="0"/>
          </a:xfrm>
          <a:prstGeom prst="line">
            <a:avLst/>
          </a:prstGeom>
          <a:noFill/>
          <a:ln w="25399">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1391" name="Rectangle 15"/>
          <p:cNvSpPr>
            <a:spLocks noChangeArrowheads="1"/>
          </p:cNvSpPr>
          <p:nvPr/>
        </p:nvSpPr>
        <p:spPr bwMode="auto">
          <a:xfrm>
            <a:off x="4676775" y="5189538"/>
            <a:ext cx="3003550" cy="920750"/>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01392" name="Rectangle 16"/>
          <p:cNvSpPr>
            <a:spLocks noChangeArrowheads="1"/>
          </p:cNvSpPr>
          <p:nvPr/>
        </p:nvSpPr>
        <p:spPr bwMode="auto">
          <a:xfrm>
            <a:off x="7458075" y="2251075"/>
            <a:ext cx="127476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611188">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611188">
              <a:spcBef>
                <a:spcPct val="20000"/>
              </a:spcBef>
              <a:buChar char="–"/>
              <a:defRPr sz="2800">
                <a:solidFill>
                  <a:schemeClr val="tx1"/>
                </a:solidFill>
                <a:latin typeface="Arial" panose="020B0604020202020204" pitchFamily="34" charset="0"/>
              </a:defRPr>
            </a:lvl2pPr>
            <a:lvl3pPr marL="1143000" indent="-228600" defTabSz="611188">
              <a:spcBef>
                <a:spcPct val="20000"/>
              </a:spcBef>
              <a:buChar char="•"/>
              <a:defRPr sz="2400">
                <a:solidFill>
                  <a:schemeClr val="tx1"/>
                </a:solidFill>
                <a:latin typeface="Arial" panose="020B0604020202020204" pitchFamily="34" charset="0"/>
              </a:defRPr>
            </a:lvl3pPr>
            <a:lvl4pPr marL="1600200" indent="-228600" defTabSz="611188">
              <a:spcBef>
                <a:spcPct val="20000"/>
              </a:spcBef>
              <a:buChar char="–"/>
              <a:defRPr sz="2000">
                <a:solidFill>
                  <a:schemeClr val="tx1"/>
                </a:solidFill>
                <a:latin typeface="Arial" panose="020B0604020202020204" pitchFamily="34" charset="0"/>
              </a:defRPr>
            </a:lvl4pPr>
            <a:lvl5pPr marL="2057400" indent="-228600" defTabSz="611188">
              <a:spcBef>
                <a:spcPct val="20000"/>
              </a:spcBef>
              <a:buChar char="»"/>
              <a:defRPr sz="2000">
                <a:solidFill>
                  <a:schemeClr val="tx1"/>
                </a:solidFill>
                <a:latin typeface="Arial" panose="020B0604020202020204" pitchFamily="34" charset="0"/>
              </a:defRPr>
            </a:lvl5pPr>
            <a:lvl6pPr marL="25146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100</a:t>
            </a:r>
          </a:p>
        </p:txBody>
      </p:sp>
      <p:sp>
        <p:nvSpPr>
          <p:cNvPr id="101393" name="Rectangle 17"/>
          <p:cNvSpPr>
            <a:spLocks noChangeArrowheads="1"/>
          </p:cNvSpPr>
          <p:nvPr/>
        </p:nvSpPr>
        <p:spPr bwMode="auto">
          <a:xfrm>
            <a:off x="3798888" y="3732213"/>
            <a:ext cx="11112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611188">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611188">
              <a:spcBef>
                <a:spcPct val="20000"/>
              </a:spcBef>
              <a:buChar char="–"/>
              <a:defRPr sz="2800">
                <a:solidFill>
                  <a:schemeClr val="tx1"/>
                </a:solidFill>
                <a:latin typeface="Arial" panose="020B0604020202020204" pitchFamily="34" charset="0"/>
              </a:defRPr>
            </a:lvl2pPr>
            <a:lvl3pPr marL="1143000" indent="-228600" defTabSz="611188">
              <a:spcBef>
                <a:spcPct val="20000"/>
              </a:spcBef>
              <a:buChar char="•"/>
              <a:defRPr sz="2400">
                <a:solidFill>
                  <a:schemeClr val="tx1"/>
                </a:solidFill>
                <a:latin typeface="Arial" panose="020B0604020202020204" pitchFamily="34" charset="0"/>
              </a:defRPr>
            </a:lvl3pPr>
            <a:lvl4pPr marL="1600200" indent="-228600" defTabSz="611188">
              <a:spcBef>
                <a:spcPct val="20000"/>
              </a:spcBef>
              <a:buChar char="–"/>
              <a:defRPr sz="2000">
                <a:solidFill>
                  <a:schemeClr val="tx1"/>
                </a:solidFill>
                <a:latin typeface="Arial" panose="020B0604020202020204" pitchFamily="34" charset="0"/>
              </a:defRPr>
            </a:lvl4pPr>
            <a:lvl5pPr marL="2057400" indent="-228600" defTabSz="611188">
              <a:spcBef>
                <a:spcPct val="20000"/>
              </a:spcBef>
              <a:buChar char="»"/>
              <a:defRPr sz="2000">
                <a:solidFill>
                  <a:schemeClr val="tx1"/>
                </a:solidFill>
                <a:latin typeface="Arial" panose="020B0604020202020204" pitchFamily="34" charset="0"/>
              </a:defRPr>
            </a:lvl5pPr>
            <a:lvl6pPr marL="25146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300</a:t>
            </a:r>
          </a:p>
        </p:txBody>
      </p:sp>
      <p:sp>
        <p:nvSpPr>
          <p:cNvPr id="101394" name="Rectangle 18"/>
          <p:cNvSpPr>
            <a:spLocks noChangeArrowheads="1"/>
          </p:cNvSpPr>
          <p:nvPr/>
        </p:nvSpPr>
        <p:spPr bwMode="auto">
          <a:xfrm>
            <a:off x="5437188" y="2251075"/>
            <a:ext cx="14065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611188">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611188">
              <a:spcBef>
                <a:spcPct val="20000"/>
              </a:spcBef>
              <a:buChar char="–"/>
              <a:defRPr sz="2800">
                <a:solidFill>
                  <a:schemeClr val="tx1"/>
                </a:solidFill>
                <a:latin typeface="Arial" panose="020B0604020202020204" pitchFamily="34" charset="0"/>
              </a:defRPr>
            </a:lvl2pPr>
            <a:lvl3pPr marL="1143000" indent="-228600" defTabSz="611188">
              <a:spcBef>
                <a:spcPct val="20000"/>
              </a:spcBef>
              <a:buChar char="•"/>
              <a:defRPr sz="2400">
                <a:solidFill>
                  <a:schemeClr val="tx1"/>
                </a:solidFill>
                <a:latin typeface="Arial" panose="020B0604020202020204" pitchFamily="34" charset="0"/>
              </a:defRPr>
            </a:lvl3pPr>
            <a:lvl4pPr marL="1600200" indent="-228600" defTabSz="611188">
              <a:spcBef>
                <a:spcPct val="20000"/>
              </a:spcBef>
              <a:buChar char="–"/>
              <a:defRPr sz="2000">
                <a:solidFill>
                  <a:schemeClr val="tx1"/>
                </a:solidFill>
                <a:latin typeface="Arial" panose="020B0604020202020204" pitchFamily="34" charset="0"/>
              </a:defRPr>
            </a:lvl4pPr>
            <a:lvl5pPr marL="2057400" indent="-228600" defTabSz="611188">
              <a:spcBef>
                <a:spcPct val="20000"/>
              </a:spcBef>
              <a:buChar char="»"/>
              <a:defRPr sz="2000">
                <a:solidFill>
                  <a:schemeClr val="tx1"/>
                </a:solidFill>
                <a:latin typeface="Arial" panose="020B0604020202020204" pitchFamily="34" charset="0"/>
              </a:defRPr>
            </a:lvl5pPr>
            <a:lvl6pPr marL="25146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200</a:t>
            </a:r>
          </a:p>
        </p:txBody>
      </p:sp>
      <p:sp>
        <p:nvSpPr>
          <p:cNvPr id="101395" name="Rectangle 19"/>
          <p:cNvSpPr>
            <a:spLocks noChangeArrowheads="1"/>
          </p:cNvSpPr>
          <p:nvPr/>
        </p:nvSpPr>
        <p:spPr bwMode="auto">
          <a:xfrm>
            <a:off x="2697163" y="5378450"/>
            <a:ext cx="1147762" cy="30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611188">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611188">
              <a:spcBef>
                <a:spcPct val="20000"/>
              </a:spcBef>
              <a:buChar char="–"/>
              <a:defRPr sz="2800">
                <a:solidFill>
                  <a:schemeClr val="tx1"/>
                </a:solidFill>
                <a:latin typeface="Arial" panose="020B0604020202020204" pitchFamily="34" charset="0"/>
              </a:defRPr>
            </a:lvl2pPr>
            <a:lvl3pPr marL="1143000" indent="-228600" defTabSz="611188">
              <a:spcBef>
                <a:spcPct val="20000"/>
              </a:spcBef>
              <a:buChar char="•"/>
              <a:defRPr sz="2400">
                <a:solidFill>
                  <a:schemeClr val="tx1"/>
                </a:solidFill>
                <a:latin typeface="Arial" panose="020B0604020202020204" pitchFamily="34" charset="0"/>
              </a:defRPr>
            </a:lvl3pPr>
            <a:lvl4pPr marL="1600200" indent="-228600" defTabSz="611188">
              <a:spcBef>
                <a:spcPct val="20000"/>
              </a:spcBef>
              <a:buChar char="–"/>
              <a:defRPr sz="2000">
                <a:solidFill>
                  <a:schemeClr val="tx1"/>
                </a:solidFill>
                <a:latin typeface="Arial" panose="020B0604020202020204" pitchFamily="34" charset="0"/>
              </a:defRPr>
            </a:lvl4pPr>
            <a:lvl5pPr marL="2057400" indent="-228600" defTabSz="611188">
              <a:spcBef>
                <a:spcPct val="20000"/>
              </a:spcBef>
              <a:buChar char="»"/>
              <a:defRPr sz="2000">
                <a:solidFill>
                  <a:schemeClr val="tx1"/>
                </a:solidFill>
                <a:latin typeface="Arial" panose="020B0604020202020204" pitchFamily="34" charset="0"/>
              </a:defRPr>
            </a:lvl5pPr>
            <a:lvl6pPr marL="25146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500</a:t>
            </a:r>
          </a:p>
        </p:txBody>
      </p:sp>
      <p:sp>
        <p:nvSpPr>
          <p:cNvPr id="101396" name="Rectangle 20"/>
          <p:cNvSpPr>
            <a:spLocks noChangeArrowheads="1"/>
          </p:cNvSpPr>
          <p:nvPr/>
        </p:nvSpPr>
        <p:spPr bwMode="auto">
          <a:xfrm>
            <a:off x="5865813" y="4194175"/>
            <a:ext cx="1292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611188">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611188">
              <a:spcBef>
                <a:spcPct val="20000"/>
              </a:spcBef>
              <a:buChar char="–"/>
              <a:defRPr sz="2800">
                <a:solidFill>
                  <a:schemeClr val="tx1"/>
                </a:solidFill>
                <a:latin typeface="Arial" panose="020B0604020202020204" pitchFamily="34" charset="0"/>
              </a:defRPr>
            </a:lvl2pPr>
            <a:lvl3pPr marL="1143000" indent="-228600" defTabSz="611188">
              <a:spcBef>
                <a:spcPct val="20000"/>
              </a:spcBef>
              <a:buChar char="•"/>
              <a:defRPr sz="2400">
                <a:solidFill>
                  <a:schemeClr val="tx1"/>
                </a:solidFill>
                <a:latin typeface="Arial" panose="020B0604020202020204" pitchFamily="34" charset="0"/>
              </a:defRPr>
            </a:lvl3pPr>
            <a:lvl4pPr marL="1600200" indent="-228600" defTabSz="611188">
              <a:spcBef>
                <a:spcPct val="20000"/>
              </a:spcBef>
              <a:buChar char="–"/>
              <a:defRPr sz="2000">
                <a:solidFill>
                  <a:schemeClr val="tx1"/>
                </a:solidFill>
                <a:latin typeface="Arial" panose="020B0604020202020204" pitchFamily="34" charset="0"/>
              </a:defRPr>
            </a:lvl4pPr>
            <a:lvl5pPr marL="2057400" indent="-228600" defTabSz="611188">
              <a:spcBef>
                <a:spcPct val="20000"/>
              </a:spcBef>
              <a:buChar char="»"/>
              <a:defRPr sz="2000">
                <a:solidFill>
                  <a:schemeClr val="tx1"/>
                </a:solidFill>
                <a:latin typeface="Arial" panose="020B0604020202020204" pitchFamily="34" charset="0"/>
              </a:defRPr>
            </a:lvl5pPr>
            <a:lvl6pPr marL="25146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400</a:t>
            </a:r>
          </a:p>
        </p:txBody>
      </p:sp>
      <p:sp>
        <p:nvSpPr>
          <p:cNvPr id="101397" name="Rectangle 21"/>
          <p:cNvSpPr>
            <a:spLocks noChangeArrowheads="1"/>
          </p:cNvSpPr>
          <p:nvPr/>
        </p:nvSpPr>
        <p:spPr bwMode="auto">
          <a:xfrm>
            <a:off x="5413375" y="2573338"/>
            <a:ext cx="1452563"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611188">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611188">
              <a:spcBef>
                <a:spcPct val="20000"/>
              </a:spcBef>
              <a:buChar char="–"/>
              <a:defRPr sz="2800">
                <a:solidFill>
                  <a:schemeClr val="tx1"/>
                </a:solidFill>
                <a:latin typeface="Arial" panose="020B0604020202020204" pitchFamily="34" charset="0"/>
              </a:defRPr>
            </a:lvl2pPr>
            <a:lvl3pPr marL="1143000" indent="-228600" defTabSz="611188">
              <a:spcBef>
                <a:spcPct val="20000"/>
              </a:spcBef>
              <a:buChar char="•"/>
              <a:defRPr sz="2400">
                <a:solidFill>
                  <a:schemeClr val="tx1"/>
                </a:solidFill>
                <a:latin typeface="Arial" panose="020B0604020202020204" pitchFamily="34" charset="0"/>
              </a:defRPr>
            </a:lvl3pPr>
            <a:lvl4pPr marL="1600200" indent="-228600" defTabSz="611188">
              <a:spcBef>
                <a:spcPct val="20000"/>
              </a:spcBef>
              <a:buChar char="–"/>
              <a:defRPr sz="2000">
                <a:solidFill>
                  <a:schemeClr val="tx1"/>
                </a:solidFill>
                <a:latin typeface="Arial" panose="020B0604020202020204" pitchFamily="34" charset="0"/>
              </a:defRPr>
            </a:lvl4pPr>
            <a:lvl5pPr marL="2057400" indent="-228600" defTabSz="611188">
              <a:spcBef>
                <a:spcPct val="20000"/>
              </a:spcBef>
              <a:buChar char="»"/>
              <a:defRPr sz="2000">
                <a:solidFill>
                  <a:schemeClr val="tx1"/>
                </a:solidFill>
                <a:latin typeface="Arial" panose="020B0604020202020204" pitchFamily="34" charset="0"/>
              </a:defRPr>
            </a:lvl5pPr>
            <a:lvl6pPr marL="25146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1600"/>
              <a:t>170.10.0.0/16</a:t>
            </a:r>
          </a:p>
        </p:txBody>
      </p:sp>
      <p:sp>
        <p:nvSpPr>
          <p:cNvPr id="101398" name="Rectangle 22"/>
          <p:cNvSpPr>
            <a:spLocks noChangeArrowheads="1"/>
          </p:cNvSpPr>
          <p:nvPr/>
        </p:nvSpPr>
        <p:spPr bwMode="auto">
          <a:xfrm>
            <a:off x="7367588" y="2573338"/>
            <a:ext cx="1452562"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611188">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611188">
              <a:spcBef>
                <a:spcPct val="20000"/>
              </a:spcBef>
              <a:buChar char="–"/>
              <a:defRPr sz="2800">
                <a:solidFill>
                  <a:schemeClr val="tx1"/>
                </a:solidFill>
                <a:latin typeface="Arial" panose="020B0604020202020204" pitchFamily="34" charset="0"/>
              </a:defRPr>
            </a:lvl2pPr>
            <a:lvl3pPr marL="1143000" indent="-228600" defTabSz="611188">
              <a:spcBef>
                <a:spcPct val="20000"/>
              </a:spcBef>
              <a:buChar char="•"/>
              <a:defRPr sz="2400">
                <a:solidFill>
                  <a:schemeClr val="tx1"/>
                </a:solidFill>
                <a:latin typeface="Arial" panose="020B0604020202020204" pitchFamily="34" charset="0"/>
              </a:defRPr>
            </a:lvl3pPr>
            <a:lvl4pPr marL="1600200" indent="-228600" defTabSz="611188">
              <a:spcBef>
                <a:spcPct val="20000"/>
              </a:spcBef>
              <a:buChar char="–"/>
              <a:defRPr sz="2000">
                <a:solidFill>
                  <a:schemeClr val="tx1"/>
                </a:solidFill>
                <a:latin typeface="Arial" panose="020B0604020202020204" pitchFamily="34" charset="0"/>
              </a:defRPr>
            </a:lvl4pPr>
            <a:lvl5pPr marL="2057400" indent="-228600" defTabSz="611188">
              <a:spcBef>
                <a:spcPct val="20000"/>
              </a:spcBef>
              <a:buChar char="»"/>
              <a:defRPr sz="2000">
                <a:solidFill>
                  <a:schemeClr val="tx1"/>
                </a:solidFill>
                <a:latin typeface="Arial" panose="020B0604020202020204" pitchFamily="34" charset="0"/>
              </a:defRPr>
            </a:lvl5pPr>
            <a:lvl6pPr marL="25146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1600"/>
              <a:t>180.10.0.0/16</a:t>
            </a:r>
          </a:p>
        </p:txBody>
      </p:sp>
      <p:sp>
        <p:nvSpPr>
          <p:cNvPr id="101399" name="Rectangle 23"/>
          <p:cNvSpPr>
            <a:spLocks noChangeArrowheads="1"/>
          </p:cNvSpPr>
          <p:nvPr/>
        </p:nvSpPr>
        <p:spPr bwMode="auto">
          <a:xfrm>
            <a:off x="5784850" y="4516438"/>
            <a:ext cx="1454150"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611188">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611188">
              <a:spcBef>
                <a:spcPct val="20000"/>
              </a:spcBef>
              <a:buChar char="–"/>
              <a:defRPr sz="2800">
                <a:solidFill>
                  <a:schemeClr val="tx1"/>
                </a:solidFill>
                <a:latin typeface="Arial" panose="020B0604020202020204" pitchFamily="34" charset="0"/>
              </a:defRPr>
            </a:lvl2pPr>
            <a:lvl3pPr marL="1143000" indent="-228600" defTabSz="611188">
              <a:spcBef>
                <a:spcPct val="20000"/>
              </a:spcBef>
              <a:buChar char="•"/>
              <a:defRPr sz="2400">
                <a:solidFill>
                  <a:schemeClr val="tx1"/>
                </a:solidFill>
                <a:latin typeface="Arial" panose="020B0604020202020204" pitchFamily="34" charset="0"/>
              </a:defRPr>
            </a:lvl3pPr>
            <a:lvl4pPr marL="1600200" indent="-228600" defTabSz="611188">
              <a:spcBef>
                <a:spcPct val="20000"/>
              </a:spcBef>
              <a:buChar char="–"/>
              <a:defRPr sz="2000">
                <a:solidFill>
                  <a:schemeClr val="tx1"/>
                </a:solidFill>
                <a:latin typeface="Arial" panose="020B0604020202020204" pitchFamily="34" charset="0"/>
              </a:defRPr>
            </a:lvl4pPr>
            <a:lvl5pPr marL="2057400" indent="-228600" defTabSz="611188">
              <a:spcBef>
                <a:spcPct val="20000"/>
              </a:spcBef>
              <a:buChar char="»"/>
              <a:defRPr sz="2000">
                <a:solidFill>
                  <a:schemeClr val="tx1"/>
                </a:solidFill>
                <a:latin typeface="Arial" panose="020B0604020202020204" pitchFamily="34" charset="0"/>
              </a:defRPr>
            </a:lvl5pPr>
            <a:lvl6pPr marL="25146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1600"/>
              <a:t>150.10.0.0/16</a:t>
            </a:r>
          </a:p>
        </p:txBody>
      </p:sp>
      <p:sp>
        <p:nvSpPr>
          <p:cNvPr id="101400" name="Rectangle 24"/>
          <p:cNvSpPr>
            <a:spLocks noChangeArrowheads="1"/>
          </p:cNvSpPr>
          <p:nvPr/>
        </p:nvSpPr>
        <p:spPr bwMode="auto">
          <a:xfrm>
            <a:off x="4475163" y="5294313"/>
            <a:ext cx="3276600"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611188">
              <a:spcBef>
                <a:spcPct val="20000"/>
              </a:spcBef>
              <a:buClr>
                <a:schemeClr val="accent1"/>
              </a:buClr>
              <a:buSzPct val="80000"/>
              <a:buFont typeface="Wingdings" panose="05000000000000000000" pitchFamily="2" charset="2"/>
              <a:buChar char="n"/>
              <a:tabLst>
                <a:tab pos="1104900" algn="l"/>
                <a:tab pos="1544638" algn="l"/>
                <a:tab pos="2019300" algn="l"/>
              </a:tabLst>
              <a:defRPr sz="3200">
                <a:solidFill>
                  <a:schemeClr val="tx1"/>
                </a:solidFill>
                <a:latin typeface="Arial" panose="020B0604020202020204" pitchFamily="34" charset="0"/>
              </a:defRPr>
            </a:lvl1pPr>
            <a:lvl2pPr marL="742950" indent="-285750" defTabSz="611188">
              <a:spcBef>
                <a:spcPct val="20000"/>
              </a:spcBef>
              <a:buChar char="–"/>
              <a:tabLst>
                <a:tab pos="1104900" algn="l"/>
                <a:tab pos="1544638" algn="l"/>
                <a:tab pos="2019300" algn="l"/>
              </a:tabLst>
              <a:defRPr sz="2800">
                <a:solidFill>
                  <a:schemeClr val="tx1"/>
                </a:solidFill>
                <a:latin typeface="Arial" panose="020B0604020202020204" pitchFamily="34" charset="0"/>
              </a:defRPr>
            </a:lvl2pPr>
            <a:lvl3pPr marL="1143000" indent="-228600" defTabSz="611188">
              <a:spcBef>
                <a:spcPct val="20000"/>
              </a:spcBef>
              <a:buChar char="•"/>
              <a:tabLst>
                <a:tab pos="1104900" algn="l"/>
                <a:tab pos="1544638" algn="l"/>
                <a:tab pos="2019300" algn="l"/>
              </a:tabLst>
              <a:defRPr sz="2400">
                <a:solidFill>
                  <a:schemeClr val="tx1"/>
                </a:solidFill>
                <a:latin typeface="Arial" panose="020B0604020202020204" pitchFamily="34" charset="0"/>
              </a:defRPr>
            </a:lvl3pPr>
            <a:lvl4pPr marL="1600200" indent="-228600" defTabSz="611188">
              <a:spcBef>
                <a:spcPct val="20000"/>
              </a:spcBef>
              <a:buChar char="–"/>
              <a:tabLst>
                <a:tab pos="1104900" algn="l"/>
                <a:tab pos="1544638" algn="l"/>
                <a:tab pos="2019300" algn="l"/>
              </a:tabLst>
              <a:defRPr sz="2000">
                <a:solidFill>
                  <a:schemeClr val="tx1"/>
                </a:solidFill>
                <a:latin typeface="Arial" panose="020B0604020202020204" pitchFamily="34" charset="0"/>
              </a:defRPr>
            </a:lvl4pPr>
            <a:lvl5pPr marL="2057400" indent="-228600" defTabSz="611188">
              <a:spcBef>
                <a:spcPct val="20000"/>
              </a:spcBef>
              <a:buChar char="»"/>
              <a:tabLst>
                <a:tab pos="1104900" algn="l"/>
                <a:tab pos="1544638" algn="l"/>
                <a:tab pos="2019300" algn="l"/>
              </a:tabLst>
              <a:defRPr sz="2000">
                <a:solidFill>
                  <a:schemeClr val="tx1"/>
                </a:solidFill>
                <a:latin typeface="Arial" panose="020B0604020202020204" pitchFamily="34" charset="0"/>
              </a:defRPr>
            </a:lvl5pPr>
            <a:lvl6pPr marL="2514600" indent="-228600" defTabSz="611188" eaLnBrk="0" fontAlgn="base" hangingPunct="0">
              <a:spcBef>
                <a:spcPct val="20000"/>
              </a:spcBef>
              <a:spcAft>
                <a:spcPct val="0"/>
              </a:spcAft>
              <a:buChar char="»"/>
              <a:tabLst>
                <a:tab pos="1104900" algn="l"/>
                <a:tab pos="1544638" algn="l"/>
                <a:tab pos="2019300" algn="l"/>
              </a:tabLst>
              <a:defRPr sz="2000">
                <a:solidFill>
                  <a:schemeClr val="tx1"/>
                </a:solidFill>
                <a:latin typeface="Arial" panose="020B0604020202020204" pitchFamily="34" charset="0"/>
              </a:defRPr>
            </a:lvl6pPr>
            <a:lvl7pPr marL="2971800" indent="-228600" defTabSz="611188" eaLnBrk="0" fontAlgn="base" hangingPunct="0">
              <a:spcBef>
                <a:spcPct val="20000"/>
              </a:spcBef>
              <a:spcAft>
                <a:spcPct val="0"/>
              </a:spcAft>
              <a:buChar char="»"/>
              <a:tabLst>
                <a:tab pos="1104900" algn="l"/>
                <a:tab pos="1544638" algn="l"/>
                <a:tab pos="2019300" algn="l"/>
              </a:tabLst>
              <a:defRPr sz="2000">
                <a:solidFill>
                  <a:schemeClr val="tx1"/>
                </a:solidFill>
                <a:latin typeface="Arial" panose="020B0604020202020204" pitchFamily="34" charset="0"/>
              </a:defRPr>
            </a:lvl7pPr>
            <a:lvl8pPr marL="3429000" indent="-228600" defTabSz="611188" eaLnBrk="0" fontAlgn="base" hangingPunct="0">
              <a:spcBef>
                <a:spcPct val="20000"/>
              </a:spcBef>
              <a:spcAft>
                <a:spcPct val="0"/>
              </a:spcAft>
              <a:buChar char="»"/>
              <a:tabLst>
                <a:tab pos="1104900" algn="l"/>
                <a:tab pos="1544638" algn="l"/>
                <a:tab pos="2019300" algn="l"/>
              </a:tabLst>
              <a:defRPr sz="2000">
                <a:solidFill>
                  <a:schemeClr val="tx1"/>
                </a:solidFill>
                <a:latin typeface="Arial" panose="020B0604020202020204" pitchFamily="34" charset="0"/>
              </a:defRPr>
            </a:lvl8pPr>
            <a:lvl9pPr marL="3886200" indent="-228600" defTabSz="611188" eaLnBrk="0" fontAlgn="base" hangingPunct="0">
              <a:spcBef>
                <a:spcPct val="20000"/>
              </a:spcBef>
              <a:spcAft>
                <a:spcPct val="0"/>
              </a:spcAft>
              <a:buChar char="»"/>
              <a:tabLst>
                <a:tab pos="1104900" algn="l"/>
                <a:tab pos="1544638" algn="l"/>
                <a:tab pos="2019300" algn="l"/>
              </a:tabLst>
              <a:defRPr sz="2000">
                <a:solidFill>
                  <a:schemeClr val="tx1"/>
                </a:solidFill>
                <a:latin typeface="Arial" panose="020B0604020202020204" pitchFamily="34" charset="0"/>
              </a:defRPr>
            </a:lvl9pPr>
          </a:lstStyle>
          <a:p>
            <a:pPr>
              <a:lnSpc>
                <a:spcPct val="90000"/>
              </a:lnSpc>
              <a:spcBef>
                <a:spcPct val="30000"/>
              </a:spcBef>
              <a:buClrTx/>
              <a:buSzTx/>
              <a:buFontTx/>
              <a:buNone/>
            </a:pPr>
            <a:r>
              <a:rPr lang="en-GB" altLang="en-US" sz="1600"/>
              <a:t>180.10.0.0/16	300  200 100</a:t>
            </a:r>
          </a:p>
          <a:p>
            <a:pPr>
              <a:lnSpc>
                <a:spcPct val="90000"/>
              </a:lnSpc>
              <a:spcBef>
                <a:spcPct val="30000"/>
              </a:spcBef>
              <a:buClrTx/>
              <a:buSzTx/>
              <a:buFontTx/>
              <a:buNone/>
            </a:pPr>
            <a:r>
              <a:rPr lang="en-GB" altLang="en-US" sz="1600"/>
              <a:t>170.10.0.0/16	300  200</a:t>
            </a:r>
          </a:p>
          <a:p>
            <a:pPr>
              <a:lnSpc>
                <a:spcPct val="90000"/>
              </a:lnSpc>
              <a:spcBef>
                <a:spcPct val="30000"/>
              </a:spcBef>
              <a:buClrTx/>
              <a:buSzTx/>
              <a:buFontTx/>
              <a:buNone/>
            </a:pPr>
            <a:r>
              <a:rPr lang="en-GB" altLang="en-US" sz="1600"/>
              <a:t>150.10.0.0/16	300  400</a:t>
            </a:r>
          </a:p>
        </p:txBody>
      </p:sp>
      <p:sp>
        <p:nvSpPr>
          <p:cNvPr id="101401" name="Rectangle 25"/>
          <p:cNvSpPr>
            <a:spLocks noChangeArrowheads="1"/>
          </p:cNvSpPr>
          <p:nvPr/>
        </p:nvSpPr>
        <p:spPr bwMode="auto">
          <a:xfrm>
            <a:off x="6084888" y="3254375"/>
            <a:ext cx="274955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8552" tIns="39277" rIns="78552" bIns="39277">
            <a:spAutoFit/>
          </a:bodyPr>
          <a:lstStyle>
            <a:lvl1pPr defTabSz="611188">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611188">
              <a:spcBef>
                <a:spcPct val="20000"/>
              </a:spcBef>
              <a:buChar char="–"/>
              <a:defRPr sz="2800">
                <a:solidFill>
                  <a:schemeClr val="tx1"/>
                </a:solidFill>
                <a:latin typeface="Arial" panose="020B0604020202020204" pitchFamily="34" charset="0"/>
              </a:defRPr>
            </a:lvl2pPr>
            <a:lvl3pPr marL="1143000" indent="-228600" defTabSz="611188">
              <a:spcBef>
                <a:spcPct val="20000"/>
              </a:spcBef>
              <a:buChar char="•"/>
              <a:defRPr sz="2400">
                <a:solidFill>
                  <a:schemeClr val="tx1"/>
                </a:solidFill>
                <a:latin typeface="Arial" panose="020B0604020202020204" pitchFamily="34" charset="0"/>
              </a:defRPr>
            </a:lvl3pPr>
            <a:lvl4pPr marL="1600200" indent="-228600" defTabSz="611188">
              <a:spcBef>
                <a:spcPct val="20000"/>
              </a:spcBef>
              <a:buChar char="–"/>
              <a:defRPr sz="2000">
                <a:solidFill>
                  <a:schemeClr val="tx1"/>
                </a:solidFill>
                <a:latin typeface="Arial" panose="020B0604020202020204" pitchFamily="34" charset="0"/>
              </a:defRPr>
            </a:lvl4pPr>
            <a:lvl5pPr marL="2057400" indent="-228600" defTabSz="611188">
              <a:spcBef>
                <a:spcPct val="20000"/>
              </a:spcBef>
              <a:buChar char="»"/>
              <a:defRPr sz="2000">
                <a:solidFill>
                  <a:schemeClr val="tx1"/>
                </a:solidFill>
                <a:latin typeface="Arial" panose="020B0604020202020204" pitchFamily="34" charset="0"/>
              </a:defRPr>
            </a:lvl5pPr>
            <a:lvl6pPr marL="25146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611188"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1600"/>
              <a:t>180.10.0.0/16   300  200  100</a:t>
            </a:r>
          </a:p>
          <a:p>
            <a:pPr>
              <a:spcBef>
                <a:spcPct val="0"/>
              </a:spcBef>
              <a:buClrTx/>
              <a:buSzTx/>
              <a:buFontTx/>
              <a:buNone/>
            </a:pPr>
            <a:r>
              <a:rPr lang="en-GB" altLang="en-US" sz="1600"/>
              <a:t>170.10.0.0/16   300  200 </a:t>
            </a:r>
          </a:p>
        </p:txBody>
      </p:sp>
      <p:sp>
        <p:nvSpPr>
          <p:cNvPr id="101402" name="Arc 26"/>
          <p:cNvSpPr>
            <a:spLocks/>
          </p:cNvSpPr>
          <p:nvPr/>
        </p:nvSpPr>
        <p:spPr bwMode="auto">
          <a:xfrm>
            <a:off x="7204075" y="3814763"/>
            <a:ext cx="444500" cy="650875"/>
          </a:xfrm>
          <a:custGeom>
            <a:avLst/>
            <a:gdLst>
              <a:gd name="T0" fmla="*/ 0 w 21600"/>
              <a:gd name="T1" fmla="*/ 19558402 h 21600"/>
              <a:gd name="T2" fmla="*/ 9110809 w 21600"/>
              <a:gd name="T3" fmla="*/ 0 h 21600"/>
              <a:gd name="T4" fmla="*/ 9147234 w 21600"/>
              <a:gd name="T5" fmla="*/ 19612883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540"/>
                </a:moveTo>
                <a:cubicBezTo>
                  <a:pt x="33" y="9667"/>
                  <a:pt x="9641" y="47"/>
                  <a:pt x="21514" y="0"/>
                </a:cubicBezTo>
              </a:path>
              <a:path w="21600" h="21600" stroke="0" extrusionOk="0">
                <a:moveTo>
                  <a:pt x="0" y="21540"/>
                </a:moveTo>
                <a:cubicBezTo>
                  <a:pt x="33" y="9667"/>
                  <a:pt x="9641" y="47"/>
                  <a:pt x="21514" y="0"/>
                </a:cubicBezTo>
                <a:lnTo>
                  <a:pt x="21600" y="21600"/>
                </a:lnTo>
                <a:lnTo>
                  <a:pt x="0" y="21540"/>
                </a:lnTo>
                <a:close/>
              </a:path>
            </a:pathLst>
          </a:custGeom>
          <a:noFill/>
          <a:ln w="25399"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Attributes: </a:t>
            </a:r>
            <a:r>
              <a:rPr lang="en-US" altLang="en-US" b="1" dirty="0" err="1" smtClean="0"/>
              <a:t>as_path</a:t>
            </a:r>
            <a:endParaRPr lang="en-US" altLang="en-US" b="1"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55</a:t>
            </a:fld>
            <a:endParaRPr lang="en-US" dirty="0"/>
          </a:p>
        </p:txBody>
      </p:sp>
    </p:spTree>
    <p:extLst>
      <p:ext uri="{BB962C8B-B14F-4D97-AF65-F5344CB8AC3E}">
        <p14:creationId xmlns:p14="http://schemas.microsoft.com/office/powerpoint/2010/main" val="1264297070"/>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33" name="Rectangle 9"/>
          <p:cNvSpPr>
            <a:spLocks noGrp="1" noChangeArrowheads="1"/>
          </p:cNvSpPr>
          <p:nvPr>
            <p:ph type="body" idx="1"/>
          </p:nvPr>
        </p:nvSpPr>
        <p:spPr>
          <a:xfrm>
            <a:off x="3524305" y="4693046"/>
            <a:ext cx="5545137" cy="1712913"/>
          </a:xfrm>
          <a:noFill/>
        </p:spPr>
        <p:txBody>
          <a:bodyPr lIns="74812" tIns="37405" rIns="74812" bIns="37405"/>
          <a:lstStyle/>
          <a:p>
            <a:pPr marL="265113" indent="-265113" defTabSz="652463"/>
            <a:r>
              <a:rPr lang="en-GB" altLang="en-US" sz="2800" dirty="0" smtClean="0"/>
              <a:t>Next hop to reach a network</a:t>
            </a:r>
          </a:p>
          <a:p>
            <a:pPr marL="265113" indent="-265113" defTabSz="652463"/>
            <a:r>
              <a:rPr lang="en-GB" altLang="en-US" sz="2800" dirty="0" smtClean="0"/>
              <a:t>Usually a local network is the next hop in </a:t>
            </a:r>
            <a:r>
              <a:rPr lang="en-GB" altLang="en-US" sz="2800" dirty="0" err="1" smtClean="0"/>
              <a:t>eBGP</a:t>
            </a:r>
            <a:r>
              <a:rPr lang="en-GB" altLang="en-US" sz="2800" dirty="0" smtClean="0"/>
              <a:t> session</a:t>
            </a:r>
          </a:p>
        </p:txBody>
      </p:sp>
      <p:grpSp>
        <p:nvGrpSpPr>
          <p:cNvPr id="3" name="Group 2"/>
          <p:cNvGrpSpPr/>
          <p:nvPr/>
        </p:nvGrpSpPr>
        <p:grpSpPr>
          <a:xfrm>
            <a:off x="381000" y="1025127"/>
            <a:ext cx="7740650" cy="4560888"/>
            <a:chOff x="600075" y="1524000"/>
            <a:chExt cx="7740650" cy="4560888"/>
          </a:xfrm>
        </p:grpSpPr>
        <p:sp>
          <p:nvSpPr>
            <p:cNvPr id="103426" name="Rectangle 2"/>
            <p:cNvSpPr>
              <a:spLocks noChangeArrowheads="1"/>
            </p:cNvSpPr>
            <p:nvPr/>
          </p:nvSpPr>
          <p:spPr bwMode="auto">
            <a:xfrm>
              <a:off x="4219575" y="4114800"/>
              <a:ext cx="2943225" cy="638175"/>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lIns="400768" tIns="204466" rIns="400768" bIns="204466">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03427" name="Rectangle 3"/>
            <p:cNvSpPr>
              <a:spLocks noChangeArrowheads="1"/>
            </p:cNvSpPr>
            <p:nvPr/>
          </p:nvSpPr>
          <p:spPr bwMode="auto">
            <a:xfrm>
              <a:off x="4167188" y="3946525"/>
              <a:ext cx="2930525" cy="89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1600"/>
                <a:t>150.10.0.0/16   150.10.1.1</a:t>
              </a:r>
            </a:p>
            <a:p>
              <a:pPr>
                <a:spcBef>
                  <a:spcPct val="0"/>
                </a:spcBef>
                <a:buClrTx/>
                <a:buSzTx/>
                <a:buFontTx/>
                <a:buNone/>
              </a:pPr>
              <a:r>
                <a:rPr lang="en-GB" altLang="en-US" sz="1600"/>
                <a:t>160.10.0.0/16   150.10.1.1</a:t>
              </a:r>
            </a:p>
          </p:txBody>
        </p:sp>
        <p:sp>
          <p:nvSpPr>
            <p:cNvPr id="103428" name="Rectangle 4"/>
            <p:cNvSpPr>
              <a:spLocks noChangeArrowheads="1"/>
            </p:cNvSpPr>
            <p:nvPr/>
          </p:nvSpPr>
          <p:spPr bwMode="auto">
            <a:xfrm>
              <a:off x="4924425" y="1676400"/>
              <a:ext cx="1095375" cy="304800"/>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lIns="400768" tIns="204466" rIns="400768" bIns="204466">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03429" name="Rectangle 5"/>
            <p:cNvSpPr>
              <a:spLocks noChangeArrowheads="1"/>
            </p:cNvSpPr>
            <p:nvPr/>
          </p:nvSpPr>
          <p:spPr bwMode="auto">
            <a:xfrm>
              <a:off x="4572000" y="1524000"/>
              <a:ext cx="1760538"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SzTx/>
                <a:buFontTx/>
                <a:buNone/>
              </a:pPr>
              <a:r>
                <a:rPr lang="en-GB" altLang="en-US" sz="1600"/>
                <a:t>150.10.1.2</a:t>
              </a:r>
            </a:p>
          </p:txBody>
        </p:sp>
        <p:sp>
          <p:nvSpPr>
            <p:cNvPr id="103430" name="Rectangle 6"/>
            <p:cNvSpPr>
              <a:spLocks noChangeArrowheads="1"/>
            </p:cNvSpPr>
            <p:nvPr/>
          </p:nvSpPr>
          <p:spPr bwMode="auto">
            <a:xfrm>
              <a:off x="3727450" y="1676400"/>
              <a:ext cx="1073150" cy="304800"/>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lIns="400768" tIns="204466" rIns="400768" bIns="204466">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03431" name="Rectangle 7"/>
            <p:cNvSpPr>
              <a:spLocks noChangeArrowheads="1"/>
            </p:cNvSpPr>
            <p:nvPr/>
          </p:nvSpPr>
          <p:spPr bwMode="auto">
            <a:xfrm>
              <a:off x="3376613" y="1524000"/>
              <a:ext cx="1624012"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SzTx/>
                <a:buFontTx/>
                <a:buNone/>
              </a:pPr>
              <a:r>
                <a:rPr lang="en-GB" altLang="en-US" sz="1600"/>
                <a:t>150.10.1.1</a:t>
              </a:r>
            </a:p>
          </p:txBody>
        </p:sp>
        <p:sp>
          <p:nvSpPr>
            <p:cNvPr id="103434" name="Line 10"/>
            <p:cNvSpPr>
              <a:spLocks noChangeShapeType="1"/>
            </p:cNvSpPr>
            <p:nvPr/>
          </p:nvSpPr>
          <p:spPr bwMode="auto">
            <a:xfrm flipV="1">
              <a:off x="1798638" y="3484563"/>
              <a:ext cx="1049337" cy="1184275"/>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lIns="400768" tIns="204466" rIns="400768" bIns="204466">
              <a:spAutoFit/>
            </a:bodyPr>
            <a:lstStyle/>
            <a:p>
              <a:endParaRPr lang="en-US"/>
            </a:p>
          </p:txBody>
        </p:sp>
        <p:sp>
          <p:nvSpPr>
            <p:cNvPr id="103435" name="Line 11"/>
            <p:cNvSpPr>
              <a:spLocks noChangeShapeType="1"/>
            </p:cNvSpPr>
            <p:nvPr/>
          </p:nvSpPr>
          <p:spPr bwMode="auto">
            <a:xfrm>
              <a:off x="3751263" y="2903538"/>
              <a:ext cx="2101850" cy="0"/>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lIns="400768" tIns="204466" rIns="400768" bIns="204466">
              <a:spAutoFit/>
            </a:bodyPr>
            <a:lstStyle/>
            <a:p>
              <a:endParaRPr lang="en-US"/>
            </a:p>
          </p:txBody>
        </p:sp>
        <p:pic>
          <p:nvPicPr>
            <p:cNvPr id="103436" name="Picture 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0075" y="4298950"/>
              <a:ext cx="2782888" cy="178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37" name="Picture 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1413" y="2028825"/>
              <a:ext cx="2784475" cy="178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38" name="Picture 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6250" y="1981200"/>
              <a:ext cx="2784475" cy="178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3439" name="Rectangle 15"/>
            <p:cNvSpPr>
              <a:spLocks noChangeArrowheads="1"/>
            </p:cNvSpPr>
            <p:nvPr/>
          </p:nvSpPr>
          <p:spPr bwMode="auto">
            <a:xfrm>
              <a:off x="1206500" y="5164138"/>
              <a:ext cx="2105025"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SzTx/>
                <a:buFontTx/>
                <a:buNone/>
              </a:pPr>
              <a:r>
                <a:rPr lang="en-GB" altLang="en-US" sz="1900"/>
                <a:t>160.10.0.0/16</a:t>
              </a:r>
            </a:p>
          </p:txBody>
        </p:sp>
        <p:sp>
          <p:nvSpPr>
            <p:cNvPr id="103440" name="Rectangle 16"/>
            <p:cNvSpPr>
              <a:spLocks noChangeArrowheads="1"/>
            </p:cNvSpPr>
            <p:nvPr/>
          </p:nvSpPr>
          <p:spPr bwMode="auto">
            <a:xfrm>
              <a:off x="1524000" y="2819400"/>
              <a:ext cx="2281238"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SzTx/>
                <a:buFontTx/>
                <a:buNone/>
              </a:pPr>
              <a:r>
                <a:rPr lang="en-GB" altLang="en-US" sz="1900" dirty="0"/>
                <a:t>150.10.0.0/16</a:t>
              </a:r>
            </a:p>
          </p:txBody>
        </p:sp>
        <p:sp>
          <p:nvSpPr>
            <p:cNvPr id="103441" name="Line 17"/>
            <p:cNvSpPr>
              <a:spLocks noChangeShapeType="1"/>
            </p:cNvSpPr>
            <p:nvPr/>
          </p:nvSpPr>
          <p:spPr bwMode="auto">
            <a:xfrm flipH="1">
              <a:off x="4051300" y="2044700"/>
              <a:ext cx="149225" cy="846138"/>
            </a:xfrm>
            <a:prstGeom prst="line">
              <a:avLst/>
            </a:prstGeom>
            <a:noFill/>
            <a:ln w="25399">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p>
              <a:endParaRPr lang="en-US"/>
            </a:p>
          </p:txBody>
        </p:sp>
        <p:sp>
          <p:nvSpPr>
            <p:cNvPr id="103442" name="Line 18"/>
            <p:cNvSpPr>
              <a:spLocks noChangeShapeType="1"/>
            </p:cNvSpPr>
            <p:nvPr/>
          </p:nvSpPr>
          <p:spPr bwMode="auto">
            <a:xfrm>
              <a:off x="5253038" y="2044700"/>
              <a:ext cx="223837" cy="846138"/>
            </a:xfrm>
            <a:prstGeom prst="line">
              <a:avLst/>
            </a:prstGeom>
            <a:noFill/>
            <a:ln w="25399">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p>
              <a:endParaRPr lang="en-US"/>
            </a:p>
          </p:txBody>
        </p:sp>
        <p:sp>
          <p:nvSpPr>
            <p:cNvPr id="103443" name="Rectangle 19"/>
            <p:cNvSpPr>
              <a:spLocks noChangeArrowheads="1"/>
            </p:cNvSpPr>
            <p:nvPr/>
          </p:nvSpPr>
          <p:spPr bwMode="auto">
            <a:xfrm>
              <a:off x="1216025" y="4865688"/>
              <a:ext cx="1557338"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100</a:t>
              </a:r>
            </a:p>
          </p:txBody>
        </p:sp>
        <p:sp>
          <p:nvSpPr>
            <p:cNvPr id="103444" name="Rectangle 20"/>
            <p:cNvSpPr>
              <a:spLocks noChangeArrowheads="1"/>
            </p:cNvSpPr>
            <p:nvPr/>
          </p:nvSpPr>
          <p:spPr bwMode="auto">
            <a:xfrm>
              <a:off x="6215063" y="2705100"/>
              <a:ext cx="1557337"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300</a:t>
              </a:r>
            </a:p>
          </p:txBody>
        </p:sp>
        <p:sp>
          <p:nvSpPr>
            <p:cNvPr id="103445" name="Rectangle 21"/>
            <p:cNvSpPr>
              <a:spLocks noChangeArrowheads="1"/>
            </p:cNvSpPr>
            <p:nvPr/>
          </p:nvSpPr>
          <p:spPr bwMode="auto">
            <a:xfrm>
              <a:off x="1758950" y="2486025"/>
              <a:ext cx="1557338"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200</a:t>
              </a:r>
            </a:p>
          </p:txBody>
        </p:sp>
        <p:sp>
          <p:nvSpPr>
            <p:cNvPr id="103446" name="Line 22"/>
            <p:cNvSpPr>
              <a:spLocks noChangeShapeType="1"/>
            </p:cNvSpPr>
            <p:nvPr/>
          </p:nvSpPr>
          <p:spPr bwMode="auto">
            <a:xfrm flipV="1">
              <a:off x="5556250" y="3060700"/>
              <a:ext cx="296863" cy="1054100"/>
            </a:xfrm>
            <a:prstGeom prst="line">
              <a:avLst/>
            </a:prstGeom>
            <a:noFill/>
            <a:ln w="25399">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400768" tIns="204466" rIns="400768" bIns="204466">
              <a:spAutoFit/>
            </a:bodyPr>
            <a:lstStyle/>
            <a:p>
              <a:endParaRPr lang="en-US"/>
            </a:p>
          </p:txBody>
        </p:sp>
        <p:pic>
          <p:nvPicPr>
            <p:cNvPr id="103447"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59425" y="2701925"/>
              <a:ext cx="698500"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48"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17875" y="2701925"/>
              <a:ext cx="696913"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0025" name="Rectangle 25"/>
            <p:cNvSpPr>
              <a:spLocks noChangeArrowheads="1"/>
            </p:cNvSpPr>
            <p:nvPr/>
          </p:nvSpPr>
          <p:spPr bwMode="auto">
            <a:xfrm>
              <a:off x="3198813" y="2667000"/>
              <a:ext cx="974725"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900" smtClean="0">
                  <a:solidFill>
                    <a:schemeClr val="bg1"/>
                  </a:solidFill>
                  <a:effectLst>
                    <a:outerShdw blurRad="38100" dist="38100" dir="2700000" algn="tl">
                      <a:srgbClr val="C0C0C0"/>
                    </a:outerShdw>
                  </a:effectLst>
                  <a:latin typeface="Arial" panose="020B0604020202020204" pitchFamily="34" charset="0"/>
                </a:rPr>
                <a:t>A</a:t>
              </a:r>
            </a:p>
          </p:txBody>
        </p:sp>
        <p:sp>
          <p:nvSpPr>
            <p:cNvPr id="640026" name="Rectangle 26"/>
            <p:cNvSpPr>
              <a:spLocks noChangeArrowheads="1"/>
            </p:cNvSpPr>
            <p:nvPr/>
          </p:nvSpPr>
          <p:spPr bwMode="auto">
            <a:xfrm>
              <a:off x="5449888" y="2667000"/>
              <a:ext cx="974725"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00768" tIns="204466" rIns="400768" bIns="204466">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900" smtClean="0">
                  <a:solidFill>
                    <a:schemeClr val="bg1"/>
                  </a:solidFill>
                  <a:effectLst>
                    <a:outerShdw blurRad="38100" dist="38100" dir="2700000" algn="tl">
                      <a:srgbClr val="C0C0C0"/>
                    </a:outerShdw>
                  </a:effectLst>
                  <a:latin typeface="Arial" panose="020B0604020202020204" pitchFamily="34" charset="0"/>
                </a:rPr>
                <a:t>B</a:t>
              </a:r>
            </a:p>
          </p:txBody>
        </p:sp>
      </p:grpSp>
      <p:sp>
        <p:nvSpPr>
          <p:cNvPr id="103451" name="Rectangle 27"/>
          <p:cNvSpPr>
            <a:spLocks noChangeArrowheads="1"/>
          </p:cNvSpPr>
          <p:nvPr/>
        </p:nvSpPr>
        <p:spPr bwMode="auto">
          <a:xfrm>
            <a:off x="8610600" y="6623050"/>
            <a:ext cx="290513"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6034" tIns="43016" rIns="86034" bIns="43016">
            <a:spAutoFit/>
          </a:bodyPr>
          <a:lstStyle>
            <a:lvl1pPr defTabSz="852488">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52488">
              <a:spcBef>
                <a:spcPct val="20000"/>
              </a:spcBef>
              <a:buChar char="–"/>
              <a:defRPr sz="2800">
                <a:solidFill>
                  <a:schemeClr val="tx1"/>
                </a:solidFill>
                <a:latin typeface="Arial" panose="020B0604020202020204" pitchFamily="34" charset="0"/>
              </a:defRPr>
            </a:lvl2pPr>
            <a:lvl3pPr marL="1143000" indent="-228600" defTabSz="852488">
              <a:spcBef>
                <a:spcPct val="20000"/>
              </a:spcBef>
              <a:buChar char="•"/>
              <a:defRPr sz="2400">
                <a:solidFill>
                  <a:schemeClr val="tx1"/>
                </a:solidFill>
                <a:latin typeface="Arial" panose="020B0604020202020204" pitchFamily="34" charset="0"/>
              </a:defRPr>
            </a:lvl3pPr>
            <a:lvl4pPr marL="1600200" indent="-228600" defTabSz="852488">
              <a:spcBef>
                <a:spcPct val="20000"/>
              </a:spcBef>
              <a:buChar char="–"/>
              <a:defRPr sz="2000">
                <a:solidFill>
                  <a:schemeClr val="tx1"/>
                </a:solidFill>
                <a:latin typeface="Arial" panose="020B0604020202020204" pitchFamily="34" charset="0"/>
              </a:defRPr>
            </a:lvl4pPr>
            <a:lvl5pPr marL="2057400" indent="-228600" defTabSz="852488">
              <a:spcBef>
                <a:spcPct val="20000"/>
              </a:spcBef>
              <a:buChar char="»"/>
              <a:defRPr sz="2000">
                <a:solidFill>
                  <a:schemeClr val="tx1"/>
                </a:solidFill>
                <a:latin typeface="Arial" panose="020B0604020202020204" pitchFamily="34" charset="0"/>
              </a:defRPr>
            </a:lvl5pPr>
            <a:lvl6pPr marL="2514600" indent="-228600" defTabSz="8524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524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524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52488"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900" b="0"/>
              <a:t>20</a:t>
            </a:r>
          </a:p>
        </p:txBody>
      </p:sp>
      <p:sp>
        <p:nvSpPr>
          <p:cNvPr id="29"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 </a:t>
            </a:r>
            <a:r>
              <a:rPr lang="en-US" altLang="en-US" b="1" dirty="0" err="1" smtClean="0"/>
              <a:t>next_hop</a:t>
            </a:r>
            <a:endParaRPr lang="en-US" altLang="en-US" b="1"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56</a:t>
            </a:fld>
            <a:endParaRPr lang="en-US" dirty="0"/>
          </a:p>
        </p:txBody>
      </p:sp>
    </p:spTree>
    <p:extLst>
      <p:ext uri="{BB962C8B-B14F-4D97-AF65-F5344CB8AC3E}">
        <p14:creationId xmlns:p14="http://schemas.microsoft.com/office/powerpoint/2010/main" val="4025870345"/>
      </p:ext>
    </p:extLst>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3"/>
          <p:cNvSpPr>
            <a:spLocks noGrp="1" noChangeArrowheads="1"/>
          </p:cNvSpPr>
          <p:nvPr>
            <p:ph type="body" idx="1"/>
          </p:nvPr>
        </p:nvSpPr>
        <p:spPr>
          <a:xfrm>
            <a:off x="533400" y="1590675"/>
            <a:ext cx="8208963" cy="4657725"/>
          </a:xfrm>
          <a:noFill/>
        </p:spPr>
        <p:txBody>
          <a:bodyPr lIns="86034" tIns="43016" rIns="86034" bIns="43016"/>
          <a:lstStyle/>
          <a:p>
            <a:r>
              <a:rPr lang="en-GB" altLang="en-US" dirty="0" smtClean="0"/>
              <a:t>IGP should carry route to next hops</a:t>
            </a:r>
          </a:p>
          <a:p>
            <a:r>
              <a:rPr lang="en-GB" altLang="en-US" dirty="0" smtClean="0"/>
              <a:t>Recursive route look-up</a:t>
            </a:r>
          </a:p>
          <a:p>
            <a:r>
              <a:rPr lang="en-GB" altLang="en-US" dirty="0" smtClean="0"/>
              <a:t>Unlinks BGP from actual physical topology</a:t>
            </a:r>
          </a:p>
          <a:p>
            <a:r>
              <a:rPr lang="en-GB" altLang="en-US" dirty="0" smtClean="0"/>
              <a:t>Allows IGP to make intelligent forwarding decision</a:t>
            </a:r>
          </a:p>
        </p:txBody>
      </p:sp>
      <p:sp>
        <p:nvSpPr>
          <p:cNvPr id="5"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 </a:t>
            </a:r>
            <a:r>
              <a:rPr lang="en-US" altLang="en-US" b="1" dirty="0" err="1" smtClean="0"/>
              <a:t>next_hop</a:t>
            </a:r>
            <a:endParaRPr lang="en-US" altLang="en-US" b="1"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57</a:t>
            </a:fld>
            <a:endParaRPr lang="en-US" dirty="0"/>
          </a:p>
        </p:txBody>
      </p:sp>
    </p:spTree>
    <p:extLst>
      <p:ext uri="{BB962C8B-B14F-4D97-AF65-F5344CB8AC3E}">
        <p14:creationId xmlns:p14="http://schemas.microsoft.com/office/powerpoint/2010/main" val="2357021938"/>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515143" y="1143000"/>
            <a:ext cx="8113713" cy="4884737"/>
            <a:chOff x="530225" y="1522413"/>
            <a:chExt cx="8113713" cy="4884737"/>
          </a:xfrm>
        </p:grpSpPr>
        <p:sp>
          <p:nvSpPr>
            <p:cNvPr id="107522" name="Line 2"/>
            <p:cNvSpPr>
              <a:spLocks noChangeShapeType="1"/>
            </p:cNvSpPr>
            <p:nvPr/>
          </p:nvSpPr>
          <p:spPr bwMode="auto">
            <a:xfrm flipV="1">
              <a:off x="3230563" y="4459288"/>
              <a:ext cx="385762" cy="460375"/>
            </a:xfrm>
            <a:prstGeom prst="line">
              <a:avLst/>
            </a:prstGeom>
            <a:noFill/>
            <a:ln w="25399">
              <a:solidFill>
                <a:schemeClr val="tx1"/>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523" name="Line 3"/>
            <p:cNvSpPr>
              <a:spLocks noChangeShapeType="1"/>
            </p:cNvSpPr>
            <p:nvPr/>
          </p:nvSpPr>
          <p:spPr bwMode="auto">
            <a:xfrm>
              <a:off x="5395913" y="4491038"/>
              <a:ext cx="465137" cy="428625"/>
            </a:xfrm>
            <a:prstGeom prst="line">
              <a:avLst/>
            </a:prstGeom>
            <a:noFill/>
            <a:ln w="25399">
              <a:solidFill>
                <a:schemeClr val="tx1"/>
              </a:solidFill>
              <a:round/>
              <a:headEnd type="none" w="sm" len="sm"/>
              <a:tailEnd type="stealth" w="med" len="lg"/>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07524" name="Line 4"/>
            <p:cNvSpPr>
              <a:spLocks noChangeShapeType="1"/>
            </p:cNvSpPr>
            <p:nvPr/>
          </p:nvSpPr>
          <p:spPr bwMode="auto">
            <a:xfrm flipH="1" flipV="1">
              <a:off x="5334000" y="2463800"/>
              <a:ext cx="1052513" cy="1185863"/>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07525" name="Line 5"/>
            <p:cNvSpPr>
              <a:spLocks noChangeShapeType="1"/>
            </p:cNvSpPr>
            <p:nvPr/>
          </p:nvSpPr>
          <p:spPr bwMode="auto">
            <a:xfrm flipV="1">
              <a:off x="2706688" y="2547938"/>
              <a:ext cx="1049337" cy="1187450"/>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07526" name="Line 6"/>
            <p:cNvSpPr>
              <a:spLocks noChangeShapeType="1"/>
            </p:cNvSpPr>
            <p:nvPr/>
          </p:nvSpPr>
          <p:spPr bwMode="auto">
            <a:xfrm flipV="1">
              <a:off x="5635625" y="3990975"/>
              <a:ext cx="1049338" cy="1184275"/>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07527" name="Line 7"/>
            <p:cNvSpPr>
              <a:spLocks noChangeShapeType="1"/>
            </p:cNvSpPr>
            <p:nvPr/>
          </p:nvSpPr>
          <p:spPr bwMode="auto">
            <a:xfrm flipH="1" flipV="1">
              <a:off x="2632075" y="4243388"/>
              <a:ext cx="749300" cy="846137"/>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pic>
          <p:nvPicPr>
            <p:cNvPr id="107528" name="Picture 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925" y="2892425"/>
              <a:ext cx="2900363" cy="175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29" name="Picture 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7525" y="1522413"/>
              <a:ext cx="2901950" cy="175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30" name="Picture 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43575" y="2892425"/>
              <a:ext cx="2900363" cy="175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31"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1650" y="4649788"/>
              <a:ext cx="2903538" cy="175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7533" name="Rectangle 13"/>
            <p:cNvSpPr>
              <a:spLocks noChangeArrowheads="1"/>
            </p:cNvSpPr>
            <p:nvPr/>
          </p:nvSpPr>
          <p:spPr bwMode="auto">
            <a:xfrm>
              <a:off x="4094163" y="5378450"/>
              <a:ext cx="9525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400"/>
                <a:t>AS 400</a:t>
              </a:r>
            </a:p>
          </p:txBody>
        </p:sp>
        <p:sp>
          <p:nvSpPr>
            <p:cNvPr id="107534" name="Rectangle 14"/>
            <p:cNvSpPr>
              <a:spLocks noChangeArrowheads="1"/>
            </p:cNvSpPr>
            <p:nvPr/>
          </p:nvSpPr>
          <p:spPr bwMode="auto">
            <a:xfrm>
              <a:off x="1208088" y="3597275"/>
              <a:ext cx="1604962"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400"/>
                <a:t>AS 200</a:t>
              </a:r>
            </a:p>
          </p:txBody>
        </p:sp>
        <p:sp>
          <p:nvSpPr>
            <p:cNvPr id="107535" name="Line 15"/>
            <p:cNvSpPr>
              <a:spLocks noChangeShapeType="1"/>
            </p:cNvSpPr>
            <p:nvPr/>
          </p:nvSpPr>
          <p:spPr bwMode="auto">
            <a:xfrm>
              <a:off x="3908425" y="5175250"/>
              <a:ext cx="1201738" cy="0"/>
            </a:xfrm>
            <a:prstGeom prst="line">
              <a:avLst/>
            </a:prstGeom>
            <a:noFill/>
            <a:ln w="25399">
              <a:solidFill>
                <a:schemeClr val="accent2"/>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536" name="Line 16"/>
            <p:cNvSpPr>
              <a:spLocks noChangeShapeType="1"/>
            </p:cNvSpPr>
            <p:nvPr/>
          </p:nvSpPr>
          <p:spPr bwMode="auto">
            <a:xfrm>
              <a:off x="3519488" y="5343525"/>
              <a:ext cx="603250" cy="677863"/>
            </a:xfrm>
            <a:prstGeom prst="line">
              <a:avLst/>
            </a:prstGeom>
            <a:noFill/>
            <a:ln w="25399">
              <a:solidFill>
                <a:schemeClr val="accent2"/>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537" name="Line 17"/>
            <p:cNvSpPr>
              <a:spLocks noChangeShapeType="1"/>
            </p:cNvSpPr>
            <p:nvPr/>
          </p:nvSpPr>
          <p:spPr bwMode="auto">
            <a:xfrm flipH="1">
              <a:off x="4970463" y="5343525"/>
              <a:ext cx="601662" cy="677863"/>
            </a:xfrm>
            <a:prstGeom prst="line">
              <a:avLst/>
            </a:prstGeom>
            <a:noFill/>
            <a:ln w="25399">
              <a:solidFill>
                <a:schemeClr val="accent2"/>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7538" name="Rectangle 18"/>
            <p:cNvSpPr>
              <a:spLocks noChangeArrowheads="1"/>
            </p:cNvSpPr>
            <p:nvPr/>
          </p:nvSpPr>
          <p:spPr bwMode="auto">
            <a:xfrm>
              <a:off x="3783013" y="2328863"/>
              <a:ext cx="157321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645" tIns="46758" rIns="91645" bIns="46758" anchor="ctr" anchorCtr="1">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1900"/>
                <a:t>160.10.0.0/16</a:t>
              </a:r>
            </a:p>
          </p:txBody>
        </p:sp>
        <p:sp>
          <p:nvSpPr>
            <p:cNvPr id="107539" name="Rectangle 19"/>
            <p:cNvSpPr>
              <a:spLocks noChangeArrowheads="1"/>
            </p:cNvSpPr>
            <p:nvPr/>
          </p:nvSpPr>
          <p:spPr bwMode="auto">
            <a:xfrm>
              <a:off x="4090988" y="1992313"/>
              <a:ext cx="954087"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400"/>
                <a:t>AS 100</a:t>
              </a:r>
            </a:p>
          </p:txBody>
        </p:sp>
        <p:sp>
          <p:nvSpPr>
            <p:cNvPr id="107540" name="Rectangle 20"/>
            <p:cNvSpPr>
              <a:spLocks noChangeArrowheads="1"/>
            </p:cNvSpPr>
            <p:nvPr/>
          </p:nvSpPr>
          <p:spPr bwMode="auto">
            <a:xfrm>
              <a:off x="6511925" y="3597275"/>
              <a:ext cx="12652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400"/>
                <a:t>AS 300</a:t>
              </a:r>
            </a:p>
          </p:txBody>
        </p:sp>
        <p:sp>
          <p:nvSpPr>
            <p:cNvPr id="107541" name="Rectangle 21"/>
            <p:cNvSpPr>
              <a:spLocks noChangeArrowheads="1"/>
            </p:cNvSpPr>
            <p:nvPr/>
          </p:nvSpPr>
          <p:spPr bwMode="auto">
            <a:xfrm>
              <a:off x="534988" y="5551488"/>
              <a:ext cx="2235200" cy="495300"/>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07542" name="Rectangle 22"/>
            <p:cNvSpPr>
              <a:spLocks noChangeArrowheads="1"/>
            </p:cNvSpPr>
            <p:nvPr/>
          </p:nvSpPr>
          <p:spPr bwMode="auto">
            <a:xfrm>
              <a:off x="530225" y="5532438"/>
              <a:ext cx="2171700"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645" tIns="46758" rIns="91645" bIns="46758">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1600"/>
                <a:t>    160.10.0.0/16    500</a:t>
              </a:r>
            </a:p>
            <a:p>
              <a:pPr>
                <a:spcBef>
                  <a:spcPct val="0"/>
                </a:spcBef>
                <a:buClrTx/>
                <a:buSzTx/>
                <a:buFontTx/>
                <a:buNone/>
              </a:pPr>
              <a:r>
                <a:rPr lang="en-GB" altLang="en-US" sz="1600"/>
                <a:t>&gt;  160.10.0.0/16    800</a:t>
              </a:r>
            </a:p>
          </p:txBody>
        </p:sp>
        <p:sp>
          <p:nvSpPr>
            <p:cNvPr id="107543" name="Rectangle 23"/>
            <p:cNvSpPr>
              <a:spLocks noChangeArrowheads="1"/>
            </p:cNvSpPr>
            <p:nvPr/>
          </p:nvSpPr>
          <p:spPr bwMode="auto">
            <a:xfrm>
              <a:off x="3519488" y="4235450"/>
              <a:ext cx="436562" cy="323850"/>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07544" name="Rectangle 24"/>
            <p:cNvSpPr>
              <a:spLocks noChangeArrowheads="1"/>
            </p:cNvSpPr>
            <p:nvPr/>
          </p:nvSpPr>
          <p:spPr bwMode="auto">
            <a:xfrm>
              <a:off x="3511550" y="4246563"/>
              <a:ext cx="506413"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645" tIns="46758" rIns="91645" bIns="46758">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1600"/>
                <a:t>500</a:t>
              </a:r>
            </a:p>
          </p:txBody>
        </p:sp>
        <p:sp>
          <p:nvSpPr>
            <p:cNvPr id="107545" name="Rectangle 25"/>
            <p:cNvSpPr>
              <a:spLocks noChangeArrowheads="1"/>
            </p:cNvSpPr>
            <p:nvPr/>
          </p:nvSpPr>
          <p:spPr bwMode="auto">
            <a:xfrm>
              <a:off x="5092700" y="4251325"/>
              <a:ext cx="436563" cy="323850"/>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07546" name="Rectangle 26"/>
            <p:cNvSpPr>
              <a:spLocks noChangeArrowheads="1"/>
            </p:cNvSpPr>
            <p:nvPr/>
          </p:nvSpPr>
          <p:spPr bwMode="auto">
            <a:xfrm>
              <a:off x="5080000" y="4264025"/>
              <a:ext cx="508000"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645" tIns="46758" rIns="91645" bIns="46758">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1600"/>
                <a:t>800</a:t>
              </a:r>
            </a:p>
          </p:txBody>
        </p:sp>
        <p:pic>
          <p:nvPicPr>
            <p:cNvPr id="107547" name="Picture 2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46325" y="4141788"/>
              <a:ext cx="696913"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48" name="Picture 2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73413" y="4945063"/>
              <a:ext cx="69850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49" name="Picture 2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44975" y="5900738"/>
              <a:ext cx="700088"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50" name="Picture 3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33975" y="4945063"/>
              <a:ext cx="696913"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51" name="Picture 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75375" y="4141788"/>
              <a:ext cx="696913"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4128" name="Rectangle 32"/>
            <p:cNvSpPr>
              <a:spLocks noChangeArrowheads="1"/>
            </p:cNvSpPr>
            <p:nvPr/>
          </p:nvSpPr>
          <p:spPr bwMode="auto">
            <a:xfrm>
              <a:off x="6451600" y="4292600"/>
              <a:ext cx="152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800" smtClean="0">
                  <a:solidFill>
                    <a:schemeClr val="bg1"/>
                  </a:solidFill>
                  <a:effectLst>
                    <a:outerShdw blurRad="38100" dist="38100" dir="2700000" algn="tl">
                      <a:srgbClr val="C0C0C0"/>
                    </a:outerShdw>
                  </a:effectLst>
                  <a:latin typeface="Arial" panose="020B0604020202020204" pitchFamily="34" charset="0"/>
                </a:rPr>
                <a:t>E</a:t>
              </a:r>
            </a:p>
          </p:txBody>
        </p:sp>
        <p:sp>
          <p:nvSpPr>
            <p:cNvPr id="644129" name="Rectangle 33"/>
            <p:cNvSpPr>
              <a:spLocks noChangeArrowheads="1"/>
            </p:cNvSpPr>
            <p:nvPr/>
          </p:nvSpPr>
          <p:spPr bwMode="auto">
            <a:xfrm>
              <a:off x="5399088" y="5102225"/>
              <a:ext cx="1651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800" smtClean="0">
                  <a:solidFill>
                    <a:schemeClr val="bg1"/>
                  </a:solidFill>
                  <a:effectLst>
                    <a:outerShdw blurRad="38100" dist="38100" dir="2700000" algn="tl">
                      <a:srgbClr val="C0C0C0"/>
                    </a:outerShdw>
                  </a:effectLst>
                  <a:latin typeface="Arial" panose="020B0604020202020204" pitchFamily="34" charset="0"/>
                </a:rPr>
                <a:t>B</a:t>
              </a:r>
            </a:p>
          </p:txBody>
        </p:sp>
        <p:sp>
          <p:nvSpPr>
            <p:cNvPr id="644130" name="Rectangle 34"/>
            <p:cNvSpPr>
              <a:spLocks noChangeArrowheads="1"/>
            </p:cNvSpPr>
            <p:nvPr/>
          </p:nvSpPr>
          <p:spPr bwMode="auto">
            <a:xfrm>
              <a:off x="4510088" y="6070600"/>
              <a:ext cx="1651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800" smtClean="0">
                  <a:solidFill>
                    <a:schemeClr val="bg1"/>
                  </a:solidFill>
                  <a:effectLst>
                    <a:outerShdw blurRad="38100" dist="38100" dir="2700000" algn="tl">
                      <a:srgbClr val="C0C0C0"/>
                    </a:outerShdw>
                  </a:effectLst>
                  <a:latin typeface="Arial" panose="020B0604020202020204" pitchFamily="34" charset="0"/>
                </a:rPr>
                <a:t>C</a:t>
              </a:r>
            </a:p>
          </p:txBody>
        </p:sp>
        <p:sp>
          <p:nvSpPr>
            <p:cNvPr id="644131" name="Rectangle 35"/>
            <p:cNvSpPr>
              <a:spLocks noChangeArrowheads="1"/>
            </p:cNvSpPr>
            <p:nvPr/>
          </p:nvSpPr>
          <p:spPr bwMode="auto">
            <a:xfrm>
              <a:off x="3440113" y="5102225"/>
              <a:ext cx="1651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800" smtClean="0">
                  <a:solidFill>
                    <a:schemeClr val="bg1"/>
                  </a:solidFill>
                  <a:effectLst>
                    <a:outerShdw blurRad="38100" dist="38100" dir="2700000" algn="tl">
                      <a:srgbClr val="C0C0C0"/>
                    </a:outerShdw>
                  </a:effectLst>
                  <a:latin typeface="Arial" panose="020B0604020202020204" pitchFamily="34" charset="0"/>
                </a:rPr>
                <a:t>A</a:t>
              </a:r>
            </a:p>
          </p:txBody>
        </p:sp>
        <p:sp>
          <p:nvSpPr>
            <p:cNvPr id="644132" name="Rectangle 36"/>
            <p:cNvSpPr>
              <a:spLocks noChangeArrowheads="1"/>
            </p:cNvSpPr>
            <p:nvPr/>
          </p:nvSpPr>
          <p:spPr bwMode="auto">
            <a:xfrm>
              <a:off x="2619375" y="4292600"/>
              <a:ext cx="1651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800" smtClean="0">
                  <a:solidFill>
                    <a:schemeClr val="bg1"/>
                  </a:solidFill>
                  <a:effectLst>
                    <a:outerShdw blurRad="38100" dist="38100" dir="2700000" algn="tl">
                      <a:srgbClr val="C0C0C0"/>
                    </a:outerShdw>
                  </a:effectLst>
                  <a:latin typeface="Arial" panose="020B0604020202020204" pitchFamily="34" charset="0"/>
                </a:rPr>
                <a:t>D</a:t>
              </a:r>
            </a:p>
          </p:txBody>
        </p:sp>
      </p:grpSp>
      <p:sp>
        <p:nvSpPr>
          <p:cNvPr id="39"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 local preference</a:t>
            </a:r>
          </a:p>
        </p:txBody>
      </p:sp>
      <p:sp>
        <p:nvSpPr>
          <p:cNvPr id="3" name="Slide Number Placeholder 2"/>
          <p:cNvSpPr>
            <a:spLocks noGrp="1"/>
          </p:cNvSpPr>
          <p:nvPr>
            <p:ph type="sldNum" sz="quarter" idx="10"/>
          </p:nvPr>
        </p:nvSpPr>
        <p:spPr/>
        <p:txBody>
          <a:bodyPr/>
          <a:lstStyle/>
          <a:p>
            <a:fld id="{1C0FA7A3-0FBF-4EC3-BE45-825983E95E58}" type="slidenum">
              <a:rPr lang="en-US" smtClean="0"/>
              <a:pPr/>
              <a:t>58</a:t>
            </a:fld>
            <a:endParaRPr lang="en-US" dirty="0"/>
          </a:p>
        </p:txBody>
      </p:sp>
    </p:spTree>
    <p:extLst>
      <p:ext uri="{BB962C8B-B14F-4D97-AF65-F5344CB8AC3E}">
        <p14:creationId xmlns:p14="http://schemas.microsoft.com/office/powerpoint/2010/main" val="3456869175"/>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Grp="1" noChangeArrowheads="1"/>
          </p:cNvSpPr>
          <p:nvPr>
            <p:ph type="body" idx="1"/>
          </p:nvPr>
        </p:nvSpPr>
        <p:spPr>
          <a:xfrm>
            <a:off x="468586" y="1219200"/>
            <a:ext cx="8483600" cy="4192587"/>
          </a:xfrm>
          <a:noFill/>
        </p:spPr>
        <p:txBody>
          <a:bodyPr lIns="86034" tIns="43016" rIns="86034" bIns="43016"/>
          <a:lstStyle/>
          <a:p>
            <a:r>
              <a:rPr lang="en-GB" altLang="en-US" dirty="0" smtClean="0"/>
              <a:t>Local to an AS – non-transitive</a:t>
            </a:r>
          </a:p>
          <a:p>
            <a:pPr lvl="1"/>
            <a:r>
              <a:rPr lang="en-GB" altLang="en-US" dirty="0" smtClean="0"/>
              <a:t>local preference set to 100 when heard from neighbouring AS</a:t>
            </a:r>
          </a:p>
          <a:p>
            <a:r>
              <a:rPr lang="en-GB" altLang="en-US" dirty="0" smtClean="0"/>
              <a:t>Used to influence BGP path selection</a:t>
            </a:r>
          </a:p>
          <a:p>
            <a:pPr lvl="1"/>
            <a:r>
              <a:rPr lang="en-GB" altLang="en-US" dirty="0" smtClean="0"/>
              <a:t>determines best path for outbound traffic</a:t>
            </a:r>
          </a:p>
          <a:p>
            <a:r>
              <a:rPr lang="en-GB" altLang="en-US" dirty="0" smtClean="0"/>
              <a:t>Path with highest local preference wins</a:t>
            </a:r>
          </a:p>
        </p:txBody>
      </p:sp>
      <p:sp>
        <p:nvSpPr>
          <p:cNvPr id="5"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 local preference</a:t>
            </a:r>
          </a:p>
        </p:txBody>
      </p:sp>
      <p:sp>
        <p:nvSpPr>
          <p:cNvPr id="2" name="Slide Number Placeholder 1"/>
          <p:cNvSpPr>
            <a:spLocks noGrp="1"/>
          </p:cNvSpPr>
          <p:nvPr>
            <p:ph type="sldNum" sz="quarter" idx="10"/>
          </p:nvPr>
        </p:nvSpPr>
        <p:spPr/>
        <p:txBody>
          <a:bodyPr/>
          <a:lstStyle/>
          <a:p>
            <a:fld id="{1C0FA7A3-0FBF-4EC3-BE45-825983E95E58}" type="slidenum">
              <a:rPr lang="en-US" smtClean="0"/>
              <a:pPr/>
              <a:t>59</a:t>
            </a:fld>
            <a:endParaRPr lang="en-US" dirty="0"/>
          </a:p>
        </p:txBody>
      </p:sp>
    </p:spTree>
    <p:extLst>
      <p:ext uri="{BB962C8B-B14F-4D97-AF65-F5344CB8AC3E}">
        <p14:creationId xmlns:p14="http://schemas.microsoft.com/office/powerpoint/2010/main" val="1336374946"/>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Rectangle 3"/>
          <p:cNvSpPr>
            <a:spLocks noGrp="1" noChangeArrowheads="1"/>
          </p:cNvSpPr>
          <p:nvPr>
            <p:ph type="body" idx="1"/>
          </p:nvPr>
        </p:nvSpPr>
        <p:spPr>
          <a:xfrm>
            <a:off x="488950" y="1066800"/>
            <a:ext cx="8655050" cy="4662487"/>
          </a:xfrm>
          <a:noFill/>
        </p:spPr>
        <p:txBody>
          <a:bodyPr lIns="86034" tIns="43016" rIns="86034" bIns="43016"/>
          <a:lstStyle/>
          <a:p>
            <a:r>
              <a:rPr lang="en-GB" altLang="en-US" sz="3600" dirty="0" smtClean="0"/>
              <a:t>Inter-AS – non-transitive</a:t>
            </a:r>
          </a:p>
          <a:p>
            <a:pPr lvl="1"/>
            <a:r>
              <a:rPr lang="en-GB" altLang="en-US" dirty="0" smtClean="0"/>
              <a:t>metric reset to 0 on announcement to next AS</a:t>
            </a:r>
          </a:p>
          <a:p>
            <a:r>
              <a:rPr lang="en-GB" altLang="en-US" sz="3600" dirty="0" smtClean="0"/>
              <a:t>Used to convey the relative preference of entry points</a:t>
            </a:r>
          </a:p>
          <a:p>
            <a:pPr lvl="1"/>
            <a:r>
              <a:rPr lang="en-GB" altLang="en-US" dirty="0" smtClean="0"/>
              <a:t>determines best path for inbound traffic</a:t>
            </a:r>
            <a:endParaRPr lang="en-GB" altLang="en-US" sz="3200" dirty="0" smtClean="0"/>
          </a:p>
          <a:p>
            <a:r>
              <a:rPr lang="en-GB" altLang="en-US" sz="3600" dirty="0" smtClean="0"/>
              <a:t>Comparable if paths are from same AS</a:t>
            </a:r>
          </a:p>
          <a:p>
            <a:r>
              <a:rPr lang="en-GB" altLang="en-US" sz="3600" dirty="0" smtClean="0"/>
              <a:t>IGP metric can be conveyed as MED</a:t>
            </a:r>
          </a:p>
        </p:txBody>
      </p:sp>
      <p:sp>
        <p:nvSpPr>
          <p:cNvPr id="5" name="Rectangle 2"/>
          <p:cNvSpPr txBox="1">
            <a:spLocks noChangeArrowheads="1"/>
          </p:cNvSpPr>
          <p:nvPr/>
        </p:nvSpPr>
        <p:spPr bwMode="auto">
          <a:xfrm>
            <a:off x="533400" y="0"/>
            <a:ext cx="7772400" cy="609600"/>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lvl1pPr algn="l" rtl="0" fontAlgn="base">
              <a:spcBef>
                <a:spcPct val="0"/>
              </a:spcBef>
              <a:spcAft>
                <a:spcPct val="0"/>
              </a:spcAft>
              <a:defRPr sz="3600" b="0" cap="small" baseline="0">
                <a:solidFill>
                  <a:schemeClr val="bg1"/>
                </a:solidFill>
                <a:effectLst>
                  <a:outerShdw blurRad="38100" dist="38100" dir="2700000" algn="tl">
                    <a:srgbClr val="000000">
                      <a:alpha val="43137"/>
                    </a:srgbClr>
                  </a:outerShdw>
                </a:effectLst>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a:lstStyle>
          <a:p>
            <a:pPr algn="ctr"/>
            <a:r>
              <a:rPr lang="en-US" altLang="en-US" sz="3200" b="1" kern="0" dirty="0" smtClean="0"/>
              <a:t>Path Attribute: multi-exit discriminator (med)</a:t>
            </a:r>
          </a:p>
        </p:txBody>
      </p:sp>
      <p:sp>
        <p:nvSpPr>
          <p:cNvPr id="2" name="Slide Number Placeholder 1"/>
          <p:cNvSpPr>
            <a:spLocks noGrp="1"/>
          </p:cNvSpPr>
          <p:nvPr>
            <p:ph type="sldNum" sz="quarter" idx="10"/>
          </p:nvPr>
        </p:nvSpPr>
        <p:spPr/>
        <p:txBody>
          <a:bodyPr/>
          <a:lstStyle/>
          <a:p>
            <a:fld id="{1C0FA7A3-0FBF-4EC3-BE45-825983E95E58}" type="slidenum">
              <a:rPr lang="en-US" smtClean="0"/>
              <a:pPr/>
              <a:t>60</a:t>
            </a:fld>
            <a:endParaRPr lang="en-US" dirty="0"/>
          </a:p>
        </p:txBody>
      </p:sp>
    </p:spTree>
    <p:extLst>
      <p:ext uri="{BB962C8B-B14F-4D97-AF65-F5344CB8AC3E}">
        <p14:creationId xmlns:p14="http://schemas.microsoft.com/office/powerpoint/2010/main" val="453647763"/>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711994" y="990600"/>
            <a:ext cx="7720012" cy="5278438"/>
            <a:chOff x="712788" y="1492250"/>
            <a:chExt cx="7720012" cy="5278438"/>
          </a:xfrm>
        </p:grpSpPr>
        <p:sp>
          <p:nvSpPr>
            <p:cNvPr id="111618" name="Rectangle 2"/>
            <p:cNvSpPr>
              <a:spLocks noChangeArrowheads="1"/>
            </p:cNvSpPr>
            <p:nvPr/>
          </p:nvSpPr>
          <p:spPr bwMode="auto">
            <a:xfrm>
              <a:off x="712788" y="6256338"/>
              <a:ext cx="1885950"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11619" name="Rectangle 3"/>
            <p:cNvSpPr>
              <a:spLocks noChangeArrowheads="1"/>
            </p:cNvSpPr>
            <p:nvPr/>
          </p:nvSpPr>
          <p:spPr bwMode="auto">
            <a:xfrm>
              <a:off x="3111500" y="6256338"/>
              <a:ext cx="2916238"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pic>
          <p:nvPicPr>
            <p:cNvPr id="111621"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0700" y="4546600"/>
              <a:ext cx="3340100" cy="202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22"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0700" y="1492250"/>
              <a:ext cx="334010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1623" name="Line 7"/>
            <p:cNvSpPr>
              <a:spLocks noChangeShapeType="1"/>
            </p:cNvSpPr>
            <p:nvPr/>
          </p:nvSpPr>
          <p:spPr bwMode="auto">
            <a:xfrm>
              <a:off x="4419600" y="4968875"/>
              <a:ext cx="695325" cy="0"/>
            </a:xfrm>
            <a:prstGeom prst="line">
              <a:avLst/>
            </a:prstGeom>
            <a:noFill/>
            <a:ln w="25399">
              <a:solidFill>
                <a:srgbClr val="FF8086"/>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11624" name="Line 8"/>
            <p:cNvSpPr>
              <a:spLocks noChangeShapeType="1"/>
            </p:cNvSpPr>
            <p:nvPr/>
          </p:nvSpPr>
          <p:spPr bwMode="auto">
            <a:xfrm flipV="1">
              <a:off x="4098925" y="3530600"/>
              <a:ext cx="604838" cy="1363663"/>
            </a:xfrm>
            <a:prstGeom prst="line">
              <a:avLst/>
            </a:prstGeom>
            <a:noFill/>
            <a:ln w="25399">
              <a:solidFill>
                <a:srgbClr val="FFA380"/>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11625" name="Rectangle 9"/>
            <p:cNvSpPr>
              <a:spLocks noChangeArrowheads="1"/>
            </p:cNvSpPr>
            <p:nvPr/>
          </p:nvSpPr>
          <p:spPr bwMode="auto">
            <a:xfrm>
              <a:off x="4189413" y="5884863"/>
              <a:ext cx="122078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112077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1120775">
                <a:spcBef>
                  <a:spcPct val="20000"/>
                </a:spcBef>
                <a:buChar char="–"/>
                <a:defRPr sz="2800">
                  <a:solidFill>
                    <a:schemeClr val="tx1"/>
                  </a:solidFill>
                  <a:latin typeface="Arial" panose="020B0604020202020204" pitchFamily="34" charset="0"/>
                </a:defRPr>
              </a:lvl2pPr>
              <a:lvl3pPr marL="1143000" indent="-228600" defTabSz="1120775">
                <a:spcBef>
                  <a:spcPct val="20000"/>
                </a:spcBef>
                <a:buChar char="•"/>
                <a:defRPr sz="2400">
                  <a:solidFill>
                    <a:schemeClr val="tx1"/>
                  </a:solidFill>
                  <a:latin typeface="Arial" panose="020B0604020202020204" pitchFamily="34" charset="0"/>
                </a:defRPr>
              </a:lvl3pPr>
              <a:lvl4pPr marL="1600200" indent="-228600" defTabSz="1120775">
                <a:spcBef>
                  <a:spcPct val="20000"/>
                </a:spcBef>
                <a:buChar char="–"/>
                <a:defRPr sz="2000">
                  <a:solidFill>
                    <a:schemeClr val="tx1"/>
                  </a:solidFill>
                  <a:latin typeface="Arial" panose="020B0604020202020204" pitchFamily="34" charset="0"/>
                </a:defRPr>
              </a:lvl4pPr>
              <a:lvl5pPr marL="2057400" indent="-228600" defTabSz="1120775">
                <a:spcBef>
                  <a:spcPct val="20000"/>
                </a:spcBef>
                <a:buChar char="»"/>
                <a:defRPr sz="2000">
                  <a:solidFill>
                    <a:schemeClr val="tx1"/>
                  </a:solidFill>
                  <a:latin typeface="Arial" panose="020B0604020202020204" pitchFamily="34" charset="0"/>
                </a:defRPr>
              </a:lvl5pPr>
              <a:lvl6pPr marL="25146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400"/>
                <a:t>AS 201</a:t>
              </a:r>
            </a:p>
          </p:txBody>
        </p:sp>
        <p:sp>
          <p:nvSpPr>
            <p:cNvPr id="111626" name="Rectangle 10"/>
            <p:cNvSpPr>
              <a:spLocks noChangeArrowheads="1"/>
            </p:cNvSpPr>
            <p:nvPr/>
          </p:nvSpPr>
          <p:spPr bwMode="auto">
            <a:xfrm>
              <a:off x="4230688" y="2312988"/>
              <a:ext cx="1255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112077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1120775">
                <a:spcBef>
                  <a:spcPct val="20000"/>
                </a:spcBef>
                <a:buChar char="–"/>
                <a:defRPr sz="2800">
                  <a:solidFill>
                    <a:schemeClr val="tx1"/>
                  </a:solidFill>
                  <a:latin typeface="Arial" panose="020B0604020202020204" pitchFamily="34" charset="0"/>
                </a:defRPr>
              </a:lvl2pPr>
              <a:lvl3pPr marL="1143000" indent="-228600" defTabSz="1120775">
                <a:spcBef>
                  <a:spcPct val="20000"/>
                </a:spcBef>
                <a:buChar char="•"/>
                <a:defRPr sz="2400">
                  <a:solidFill>
                    <a:schemeClr val="tx1"/>
                  </a:solidFill>
                  <a:latin typeface="Arial" panose="020B0604020202020204" pitchFamily="34" charset="0"/>
                </a:defRPr>
              </a:lvl3pPr>
              <a:lvl4pPr marL="1600200" indent="-228600" defTabSz="1120775">
                <a:spcBef>
                  <a:spcPct val="20000"/>
                </a:spcBef>
                <a:buChar char="–"/>
                <a:defRPr sz="2000">
                  <a:solidFill>
                    <a:schemeClr val="tx1"/>
                  </a:solidFill>
                  <a:latin typeface="Arial" panose="020B0604020202020204" pitchFamily="34" charset="0"/>
                </a:defRPr>
              </a:lvl4pPr>
              <a:lvl5pPr marL="2057400" indent="-228600" defTabSz="1120775">
                <a:spcBef>
                  <a:spcPct val="20000"/>
                </a:spcBef>
                <a:buChar char="»"/>
                <a:defRPr sz="2000">
                  <a:solidFill>
                    <a:schemeClr val="tx1"/>
                  </a:solidFill>
                  <a:latin typeface="Arial" panose="020B0604020202020204" pitchFamily="34" charset="0"/>
                </a:defRPr>
              </a:lvl5pPr>
              <a:lvl6pPr marL="25146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400"/>
                <a:t>AS 200</a:t>
              </a:r>
            </a:p>
          </p:txBody>
        </p:sp>
        <p:sp>
          <p:nvSpPr>
            <p:cNvPr id="111627" name="Line 11"/>
            <p:cNvSpPr>
              <a:spLocks noChangeShapeType="1"/>
            </p:cNvSpPr>
            <p:nvPr/>
          </p:nvSpPr>
          <p:spPr bwMode="auto">
            <a:xfrm flipH="1" flipV="1">
              <a:off x="4770438" y="3530600"/>
              <a:ext cx="495300" cy="1144588"/>
            </a:xfrm>
            <a:prstGeom prst="line">
              <a:avLst/>
            </a:prstGeom>
            <a:noFill/>
            <a:ln w="25399">
              <a:solidFill>
                <a:srgbClr val="FFA380"/>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11628" name="Rectangle 12"/>
            <p:cNvSpPr>
              <a:spLocks noChangeArrowheads="1"/>
            </p:cNvSpPr>
            <p:nvPr/>
          </p:nvSpPr>
          <p:spPr bwMode="auto">
            <a:xfrm>
              <a:off x="4540250" y="5381625"/>
              <a:ext cx="1597025"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737" tIns="54239" rIns="104737" bIns="54239">
              <a:spAutoFit/>
            </a:bodyPr>
            <a:lstStyle>
              <a:lvl1pPr defTabSz="112077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1120775">
                <a:spcBef>
                  <a:spcPct val="20000"/>
                </a:spcBef>
                <a:buChar char="–"/>
                <a:defRPr sz="2800">
                  <a:solidFill>
                    <a:schemeClr val="tx1"/>
                  </a:solidFill>
                  <a:latin typeface="Arial" panose="020B0604020202020204" pitchFamily="34" charset="0"/>
                </a:defRPr>
              </a:lvl2pPr>
              <a:lvl3pPr marL="1143000" indent="-228600" defTabSz="1120775">
                <a:spcBef>
                  <a:spcPct val="20000"/>
                </a:spcBef>
                <a:buChar char="•"/>
                <a:defRPr sz="2400">
                  <a:solidFill>
                    <a:schemeClr val="tx1"/>
                  </a:solidFill>
                  <a:latin typeface="Arial" panose="020B0604020202020204" pitchFamily="34" charset="0"/>
                </a:defRPr>
              </a:lvl3pPr>
              <a:lvl4pPr marL="1600200" indent="-228600" defTabSz="1120775">
                <a:spcBef>
                  <a:spcPct val="20000"/>
                </a:spcBef>
                <a:buChar char="–"/>
                <a:defRPr sz="2000">
                  <a:solidFill>
                    <a:schemeClr val="tx1"/>
                  </a:solidFill>
                  <a:latin typeface="Arial" panose="020B0604020202020204" pitchFamily="34" charset="0"/>
                </a:defRPr>
              </a:lvl4pPr>
              <a:lvl5pPr marL="2057400" indent="-228600" defTabSz="1120775">
                <a:spcBef>
                  <a:spcPct val="20000"/>
                </a:spcBef>
                <a:buChar char="»"/>
                <a:defRPr sz="2000">
                  <a:solidFill>
                    <a:schemeClr val="tx1"/>
                  </a:solidFill>
                  <a:latin typeface="Arial" panose="020B0604020202020204" pitchFamily="34" charset="0"/>
                </a:defRPr>
              </a:lvl5pPr>
              <a:lvl6pPr marL="25146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12077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SzTx/>
                <a:buFontTx/>
                <a:buNone/>
              </a:pPr>
              <a:r>
                <a:rPr lang="en-GB" altLang="en-US" sz="1900"/>
                <a:t>192.68.1.0/24</a:t>
              </a:r>
            </a:p>
          </p:txBody>
        </p:sp>
        <p:sp>
          <p:nvSpPr>
            <p:cNvPr id="111629" name="Arc 13"/>
            <p:cNvSpPr>
              <a:spLocks/>
            </p:cNvSpPr>
            <p:nvPr/>
          </p:nvSpPr>
          <p:spPr bwMode="auto">
            <a:xfrm>
              <a:off x="3125788" y="4068763"/>
              <a:ext cx="1081087" cy="560387"/>
            </a:xfrm>
            <a:custGeom>
              <a:avLst/>
              <a:gdLst>
                <a:gd name="T0" fmla="*/ 0 w 21636"/>
                <a:gd name="T1" fmla="*/ 0 h 21600"/>
                <a:gd name="T2" fmla="*/ 54018723 w 21636"/>
                <a:gd name="T3" fmla="*/ 14492153 h 21600"/>
                <a:gd name="T4" fmla="*/ 89891 w 21636"/>
                <a:gd name="T5" fmla="*/ 14538592 h 21600"/>
                <a:gd name="T6" fmla="*/ 0 60000 65536"/>
                <a:gd name="T7" fmla="*/ 0 60000 65536"/>
                <a:gd name="T8" fmla="*/ 0 60000 65536"/>
              </a:gdLst>
              <a:ahLst/>
              <a:cxnLst>
                <a:cxn ang="T6">
                  <a:pos x="T0" y="T1"/>
                </a:cxn>
                <a:cxn ang="T7">
                  <a:pos x="T2" y="T3"/>
                </a:cxn>
                <a:cxn ang="T8">
                  <a:pos x="T4" y="T5"/>
                </a:cxn>
              </a:cxnLst>
              <a:rect l="0" t="0" r="r" b="b"/>
              <a:pathLst>
                <a:path w="21636" h="21600" fill="none" extrusionOk="0">
                  <a:moveTo>
                    <a:pt x="0" y="0"/>
                  </a:moveTo>
                  <a:cubicBezTo>
                    <a:pt x="12" y="0"/>
                    <a:pt x="24" y="0"/>
                    <a:pt x="36" y="0"/>
                  </a:cubicBezTo>
                  <a:cubicBezTo>
                    <a:pt x="11938" y="0"/>
                    <a:pt x="21597" y="9628"/>
                    <a:pt x="21635" y="21531"/>
                  </a:cubicBezTo>
                </a:path>
                <a:path w="21636" h="21600" stroke="0" extrusionOk="0">
                  <a:moveTo>
                    <a:pt x="0" y="0"/>
                  </a:moveTo>
                  <a:cubicBezTo>
                    <a:pt x="12" y="0"/>
                    <a:pt x="24" y="0"/>
                    <a:pt x="36" y="0"/>
                  </a:cubicBezTo>
                  <a:cubicBezTo>
                    <a:pt x="11938" y="0"/>
                    <a:pt x="21597" y="9628"/>
                    <a:pt x="21635" y="21531"/>
                  </a:cubicBezTo>
                  <a:lnTo>
                    <a:pt x="36" y="21600"/>
                  </a:lnTo>
                  <a:lnTo>
                    <a:pt x="0" y="0"/>
                  </a:lnTo>
                  <a:close/>
                </a:path>
              </a:pathLst>
            </a:custGeom>
            <a:noFill/>
            <a:ln w="25399" cap="rnd">
              <a:solidFill>
                <a:schemeClr val="bg2"/>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30" name="Arc 14"/>
            <p:cNvSpPr>
              <a:spLocks/>
            </p:cNvSpPr>
            <p:nvPr/>
          </p:nvSpPr>
          <p:spPr bwMode="auto">
            <a:xfrm>
              <a:off x="5289550" y="4068763"/>
              <a:ext cx="949325" cy="560387"/>
            </a:xfrm>
            <a:custGeom>
              <a:avLst/>
              <a:gdLst>
                <a:gd name="T0" fmla="*/ 0 w 21600"/>
                <a:gd name="T1" fmla="*/ 14492153 h 21600"/>
                <a:gd name="T2" fmla="*/ 41643855 w 21600"/>
                <a:gd name="T3" fmla="*/ 0 h 21600"/>
                <a:gd name="T4" fmla="*/ 41723054 w 21600"/>
                <a:gd name="T5" fmla="*/ 1453859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531"/>
                  </a:moveTo>
                  <a:cubicBezTo>
                    <a:pt x="38" y="9644"/>
                    <a:pt x="9672" y="22"/>
                    <a:pt x="21559" y="0"/>
                  </a:cubicBezTo>
                </a:path>
                <a:path w="21600" h="21600" stroke="0" extrusionOk="0">
                  <a:moveTo>
                    <a:pt x="0" y="21531"/>
                  </a:moveTo>
                  <a:cubicBezTo>
                    <a:pt x="38" y="9644"/>
                    <a:pt x="9672" y="22"/>
                    <a:pt x="21559" y="0"/>
                  </a:cubicBezTo>
                  <a:lnTo>
                    <a:pt x="21600" y="21600"/>
                  </a:lnTo>
                  <a:lnTo>
                    <a:pt x="0" y="21531"/>
                  </a:lnTo>
                  <a:close/>
                </a:path>
              </a:pathLst>
            </a:custGeom>
            <a:noFill/>
            <a:ln w="25399" cap="rnd">
              <a:solidFill>
                <a:schemeClr val="bg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11631"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56175" y="4721225"/>
              <a:ext cx="80327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32" name="Picture 1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22688" y="4721225"/>
              <a:ext cx="801687"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1633" name="Picture 1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32288" y="3144838"/>
              <a:ext cx="801687"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8210" name="Rectangle 18"/>
            <p:cNvSpPr>
              <a:spLocks noChangeArrowheads="1"/>
            </p:cNvSpPr>
            <p:nvPr/>
          </p:nvSpPr>
          <p:spPr bwMode="auto">
            <a:xfrm>
              <a:off x="4635500" y="3360738"/>
              <a:ext cx="19208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1120775">
                <a:defRPr sz="2400">
                  <a:solidFill>
                    <a:schemeClr val="tx1"/>
                  </a:solidFill>
                  <a:latin typeface="Times New Roman" panose="02020603050405020304" pitchFamily="18" charset="0"/>
                </a:defRPr>
              </a:lvl1pPr>
              <a:lvl2pPr marL="519113" defTabSz="1120775">
                <a:defRPr sz="2400">
                  <a:solidFill>
                    <a:schemeClr val="tx1"/>
                  </a:solidFill>
                  <a:latin typeface="Times New Roman" panose="02020603050405020304" pitchFamily="18" charset="0"/>
                </a:defRPr>
              </a:lvl2pPr>
              <a:lvl3pPr marL="1042988" defTabSz="1120775">
                <a:defRPr sz="2400">
                  <a:solidFill>
                    <a:schemeClr val="tx1"/>
                  </a:solidFill>
                  <a:latin typeface="Times New Roman" panose="02020603050405020304" pitchFamily="18" charset="0"/>
                </a:defRPr>
              </a:lvl3pPr>
              <a:lvl4pPr marL="1563688" defTabSz="1120775">
                <a:defRPr sz="2400">
                  <a:solidFill>
                    <a:schemeClr val="tx1"/>
                  </a:solidFill>
                  <a:latin typeface="Times New Roman" panose="02020603050405020304" pitchFamily="18" charset="0"/>
                </a:defRPr>
              </a:lvl4pPr>
              <a:lvl5pPr marL="2082800" defTabSz="1120775">
                <a:defRPr sz="2400">
                  <a:solidFill>
                    <a:schemeClr val="tx1"/>
                  </a:solidFill>
                  <a:latin typeface="Times New Roman" panose="02020603050405020304" pitchFamily="18" charset="0"/>
                </a:defRPr>
              </a:lvl5pPr>
              <a:lvl6pPr marL="2540000" defTabSz="1120775" eaLnBrk="0" fontAlgn="base" hangingPunct="0">
                <a:spcBef>
                  <a:spcPct val="0"/>
                </a:spcBef>
                <a:spcAft>
                  <a:spcPct val="0"/>
                </a:spcAft>
                <a:defRPr sz="2400">
                  <a:solidFill>
                    <a:schemeClr val="tx1"/>
                  </a:solidFill>
                  <a:latin typeface="Times New Roman" panose="02020603050405020304" pitchFamily="18" charset="0"/>
                </a:defRPr>
              </a:lvl6pPr>
              <a:lvl7pPr marL="2997200" defTabSz="1120775" eaLnBrk="0" fontAlgn="base" hangingPunct="0">
                <a:spcBef>
                  <a:spcPct val="0"/>
                </a:spcBef>
                <a:spcAft>
                  <a:spcPct val="0"/>
                </a:spcAft>
                <a:defRPr sz="2400">
                  <a:solidFill>
                    <a:schemeClr val="tx1"/>
                  </a:solidFill>
                  <a:latin typeface="Times New Roman" panose="02020603050405020304" pitchFamily="18" charset="0"/>
                </a:defRPr>
              </a:lvl7pPr>
              <a:lvl8pPr marL="3454400" defTabSz="1120775" eaLnBrk="0" fontAlgn="base" hangingPunct="0">
                <a:spcBef>
                  <a:spcPct val="0"/>
                </a:spcBef>
                <a:spcAft>
                  <a:spcPct val="0"/>
                </a:spcAft>
                <a:defRPr sz="2400">
                  <a:solidFill>
                    <a:schemeClr val="tx1"/>
                  </a:solidFill>
                  <a:latin typeface="Times New Roman" panose="02020603050405020304" pitchFamily="18" charset="0"/>
                </a:defRPr>
              </a:lvl8pPr>
              <a:lvl9pPr marL="3911600" defTabSz="112077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2100" smtClean="0">
                  <a:solidFill>
                    <a:schemeClr val="bg1"/>
                  </a:solidFill>
                  <a:effectLst>
                    <a:outerShdw blurRad="38100" dist="38100" dir="2700000" algn="tl">
                      <a:srgbClr val="C0C0C0"/>
                    </a:outerShdw>
                  </a:effectLst>
                  <a:latin typeface="Arial" panose="020B0604020202020204" pitchFamily="34" charset="0"/>
                </a:rPr>
                <a:t>C</a:t>
              </a:r>
            </a:p>
          </p:txBody>
        </p:sp>
        <p:sp>
          <p:nvSpPr>
            <p:cNvPr id="648211" name="Rectangle 19"/>
            <p:cNvSpPr>
              <a:spLocks noChangeArrowheads="1"/>
            </p:cNvSpPr>
            <p:nvPr/>
          </p:nvSpPr>
          <p:spPr bwMode="auto">
            <a:xfrm>
              <a:off x="4029075" y="4886325"/>
              <a:ext cx="19208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1120775">
                <a:defRPr sz="2400">
                  <a:solidFill>
                    <a:schemeClr val="tx1"/>
                  </a:solidFill>
                  <a:latin typeface="Times New Roman" panose="02020603050405020304" pitchFamily="18" charset="0"/>
                </a:defRPr>
              </a:lvl1pPr>
              <a:lvl2pPr marL="519113" defTabSz="1120775">
                <a:defRPr sz="2400">
                  <a:solidFill>
                    <a:schemeClr val="tx1"/>
                  </a:solidFill>
                  <a:latin typeface="Times New Roman" panose="02020603050405020304" pitchFamily="18" charset="0"/>
                </a:defRPr>
              </a:lvl2pPr>
              <a:lvl3pPr marL="1042988" defTabSz="1120775">
                <a:defRPr sz="2400">
                  <a:solidFill>
                    <a:schemeClr val="tx1"/>
                  </a:solidFill>
                  <a:latin typeface="Times New Roman" panose="02020603050405020304" pitchFamily="18" charset="0"/>
                </a:defRPr>
              </a:lvl3pPr>
              <a:lvl4pPr marL="1563688" defTabSz="1120775">
                <a:defRPr sz="2400">
                  <a:solidFill>
                    <a:schemeClr val="tx1"/>
                  </a:solidFill>
                  <a:latin typeface="Times New Roman" panose="02020603050405020304" pitchFamily="18" charset="0"/>
                </a:defRPr>
              </a:lvl4pPr>
              <a:lvl5pPr marL="2082800" defTabSz="1120775">
                <a:defRPr sz="2400">
                  <a:solidFill>
                    <a:schemeClr val="tx1"/>
                  </a:solidFill>
                  <a:latin typeface="Times New Roman" panose="02020603050405020304" pitchFamily="18" charset="0"/>
                </a:defRPr>
              </a:lvl5pPr>
              <a:lvl6pPr marL="2540000" defTabSz="1120775" eaLnBrk="0" fontAlgn="base" hangingPunct="0">
                <a:spcBef>
                  <a:spcPct val="0"/>
                </a:spcBef>
                <a:spcAft>
                  <a:spcPct val="0"/>
                </a:spcAft>
                <a:defRPr sz="2400">
                  <a:solidFill>
                    <a:schemeClr val="tx1"/>
                  </a:solidFill>
                  <a:latin typeface="Times New Roman" panose="02020603050405020304" pitchFamily="18" charset="0"/>
                </a:defRPr>
              </a:lvl6pPr>
              <a:lvl7pPr marL="2997200" defTabSz="1120775" eaLnBrk="0" fontAlgn="base" hangingPunct="0">
                <a:spcBef>
                  <a:spcPct val="0"/>
                </a:spcBef>
                <a:spcAft>
                  <a:spcPct val="0"/>
                </a:spcAft>
                <a:defRPr sz="2400">
                  <a:solidFill>
                    <a:schemeClr val="tx1"/>
                  </a:solidFill>
                  <a:latin typeface="Times New Roman" panose="02020603050405020304" pitchFamily="18" charset="0"/>
                </a:defRPr>
              </a:lvl7pPr>
              <a:lvl8pPr marL="3454400" defTabSz="1120775" eaLnBrk="0" fontAlgn="base" hangingPunct="0">
                <a:spcBef>
                  <a:spcPct val="0"/>
                </a:spcBef>
                <a:spcAft>
                  <a:spcPct val="0"/>
                </a:spcAft>
                <a:defRPr sz="2400">
                  <a:solidFill>
                    <a:schemeClr val="tx1"/>
                  </a:solidFill>
                  <a:latin typeface="Times New Roman" panose="02020603050405020304" pitchFamily="18" charset="0"/>
                </a:defRPr>
              </a:lvl8pPr>
              <a:lvl9pPr marL="3911600" defTabSz="112077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2100" smtClean="0">
                  <a:solidFill>
                    <a:schemeClr val="bg1"/>
                  </a:solidFill>
                  <a:effectLst>
                    <a:outerShdw blurRad="38100" dist="38100" dir="2700000" algn="tl">
                      <a:srgbClr val="C0C0C0"/>
                    </a:outerShdw>
                  </a:effectLst>
                  <a:latin typeface="Arial" panose="020B0604020202020204" pitchFamily="34" charset="0"/>
                </a:rPr>
                <a:t>A</a:t>
              </a:r>
            </a:p>
          </p:txBody>
        </p:sp>
        <p:sp>
          <p:nvSpPr>
            <p:cNvPr id="648212" name="Rectangle 20"/>
            <p:cNvSpPr>
              <a:spLocks noChangeArrowheads="1"/>
            </p:cNvSpPr>
            <p:nvPr/>
          </p:nvSpPr>
          <p:spPr bwMode="auto">
            <a:xfrm>
              <a:off x="5262563" y="4886325"/>
              <a:ext cx="19208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1120775">
                <a:defRPr sz="2400">
                  <a:solidFill>
                    <a:schemeClr val="tx1"/>
                  </a:solidFill>
                  <a:latin typeface="Times New Roman" panose="02020603050405020304" pitchFamily="18" charset="0"/>
                </a:defRPr>
              </a:lvl1pPr>
              <a:lvl2pPr marL="519113" defTabSz="1120775">
                <a:defRPr sz="2400">
                  <a:solidFill>
                    <a:schemeClr val="tx1"/>
                  </a:solidFill>
                  <a:latin typeface="Times New Roman" panose="02020603050405020304" pitchFamily="18" charset="0"/>
                </a:defRPr>
              </a:lvl2pPr>
              <a:lvl3pPr marL="1042988" defTabSz="1120775">
                <a:defRPr sz="2400">
                  <a:solidFill>
                    <a:schemeClr val="tx1"/>
                  </a:solidFill>
                  <a:latin typeface="Times New Roman" panose="02020603050405020304" pitchFamily="18" charset="0"/>
                </a:defRPr>
              </a:lvl3pPr>
              <a:lvl4pPr marL="1563688" defTabSz="1120775">
                <a:defRPr sz="2400">
                  <a:solidFill>
                    <a:schemeClr val="tx1"/>
                  </a:solidFill>
                  <a:latin typeface="Times New Roman" panose="02020603050405020304" pitchFamily="18" charset="0"/>
                </a:defRPr>
              </a:lvl4pPr>
              <a:lvl5pPr marL="2082800" defTabSz="1120775">
                <a:defRPr sz="2400">
                  <a:solidFill>
                    <a:schemeClr val="tx1"/>
                  </a:solidFill>
                  <a:latin typeface="Times New Roman" panose="02020603050405020304" pitchFamily="18" charset="0"/>
                </a:defRPr>
              </a:lvl5pPr>
              <a:lvl6pPr marL="2540000" defTabSz="1120775" eaLnBrk="0" fontAlgn="base" hangingPunct="0">
                <a:spcBef>
                  <a:spcPct val="0"/>
                </a:spcBef>
                <a:spcAft>
                  <a:spcPct val="0"/>
                </a:spcAft>
                <a:defRPr sz="2400">
                  <a:solidFill>
                    <a:schemeClr val="tx1"/>
                  </a:solidFill>
                  <a:latin typeface="Times New Roman" panose="02020603050405020304" pitchFamily="18" charset="0"/>
                </a:defRPr>
              </a:lvl6pPr>
              <a:lvl7pPr marL="2997200" defTabSz="1120775" eaLnBrk="0" fontAlgn="base" hangingPunct="0">
                <a:spcBef>
                  <a:spcPct val="0"/>
                </a:spcBef>
                <a:spcAft>
                  <a:spcPct val="0"/>
                </a:spcAft>
                <a:defRPr sz="2400">
                  <a:solidFill>
                    <a:schemeClr val="tx1"/>
                  </a:solidFill>
                  <a:latin typeface="Times New Roman" panose="02020603050405020304" pitchFamily="18" charset="0"/>
                </a:defRPr>
              </a:lvl7pPr>
              <a:lvl8pPr marL="3454400" defTabSz="1120775" eaLnBrk="0" fontAlgn="base" hangingPunct="0">
                <a:spcBef>
                  <a:spcPct val="0"/>
                </a:spcBef>
                <a:spcAft>
                  <a:spcPct val="0"/>
                </a:spcAft>
                <a:defRPr sz="2400">
                  <a:solidFill>
                    <a:schemeClr val="tx1"/>
                  </a:solidFill>
                  <a:latin typeface="Times New Roman" panose="02020603050405020304" pitchFamily="18" charset="0"/>
                </a:defRPr>
              </a:lvl8pPr>
              <a:lvl9pPr marL="3911600" defTabSz="112077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2100" smtClean="0">
                  <a:solidFill>
                    <a:schemeClr val="bg1"/>
                  </a:solidFill>
                  <a:effectLst>
                    <a:outerShdw blurRad="38100" dist="38100" dir="2700000" algn="tl">
                      <a:srgbClr val="C0C0C0"/>
                    </a:outerShdw>
                  </a:effectLst>
                  <a:latin typeface="Arial" panose="020B0604020202020204" pitchFamily="34" charset="0"/>
                </a:rPr>
                <a:t>B</a:t>
              </a:r>
            </a:p>
          </p:txBody>
        </p:sp>
        <p:sp>
          <p:nvSpPr>
            <p:cNvPr id="111637" name="Rectangle 21"/>
            <p:cNvSpPr>
              <a:spLocks noChangeArrowheads="1"/>
            </p:cNvSpPr>
            <p:nvPr/>
          </p:nvSpPr>
          <p:spPr bwMode="auto">
            <a:xfrm>
              <a:off x="6200775" y="3854450"/>
              <a:ext cx="2230438" cy="425450"/>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11638" name="Rectangle 22"/>
            <p:cNvSpPr>
              <a:spLocks noChangeArrowheads="1"/>
            </p:cNvSpPr>
            <p:nvPr/>
          </p:nvSpPr>
          <p:spPr bwMode="auto">
            <a:xfrm>
              <a:off x="6340475" y="3940175"/>
              <a:ext cx="209232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47" tIns="54239" rIns="110347" bIns="54239">
              <a:spAutoFit/>
            </a:bodyPr>
            <a:lstStyle>
              <a:lvl1pPr defTabSz="1092200">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1092200">
                <a:spcBef>
                  <a:spcPct val="20000"/>
                </a:spcBef>
                <a:buChar char="–"/>
                <a:defRPr sz="2800">
                  <a:solidFill>
                    <a:schemeClr val="tx1"/>
                  </a:solidFill>
                  <a:latin typeface="Arial" panose="020B0604020202020204" pitchFamily="34" charset="0"/>
                </a:defRPr>
              </a:lvl2pPr>
              <a:lvl3pPr marL="1143000" indent="-228600" defTabSz="1092200">
                <a:spcBef>
                  <a:spcPct val="20000"/>
                </a:spcBef>
                <a:buChar char="•"/>
                <a:defRPr sz="2400">
                  <a:solidFill>
                    <a:schemeClr val="tx1"/>
                  </a:solidFill>
                  <a:latin typeface="Arial" panose="020B0604020202020204" pitchFamily="34" charset="0"/>
                </a:defRPr>
              </a:lvl3pPr>
              <a:lvl4pPr marL="1600200" indent="-228600" defTabSz="1092200">
                <a:spcBef>
                  <a:spcPct val="20000"/>
                </a:spcBef>
                <a:buChar char="–"/>
                <a:defRPr sz="2000">
                  <a:solidFill>
                    <a:schemeClr val="tx1"/>
                  </a:solidFill>
                  <a:latin typeface="Arial" panose="020B0604020202020204" pitchFamily="34" charset="0"/>
                </a:defRPr>
              </a:lvl4pPr>
              <a:lvl5pPr marL="2057400" indent="-228600" defTabSz="1092200">
                <a:spcBef>
                  <a:spcPct val="20000"/>
                </a:spcBef>
                <a:buChar char="»"/>
                <a:defRPr sz="2000">
                  <a:solidFill>
                    <a:schemeClr val="tx1"/>
                  </a:solidFill>
                  <a:latin typeface="Arial" panose="020B0604020202020204" pitchFamily="34" charset="0"/>
                </a:defRPr>
              </a:lvl5pPr>
              <a:lvl6pPr marL="2514600" indent="-228600" defTabSz="10922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0922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0922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0922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1600"/>
                <a:t>192.68.1.0/24    1000</a:t>
              </a:r>
            </a:p>
          </p:txBody>
        </p:sp>
        <p:sp>
          <p:nvSpPr>
            <p:cNvPr id="111639" name="Rectangle 23"/>
            <p:cNvSpPr>
              <a:spLocks noChangeArrowheads="1"/>
            </p:cNvSpPr>
            <p:nvPr/>
          </p:nvSpPr>
          <p:spPr bwMode="auto">
            <a:xfrm>
              <a:off x="866775" y="3854450"/>
              <a:ext cx="2230438" cy="425450"/>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11640" name="Rectangle 24"/>
            <p:cNvSpPr>
              <a:spLocks noChangeArrowheads="1"/>
            </p:cNvSpPr>
            <p:nvPr/>
          </p:nvSpPr>
          <p:spPr bwMode="auto">
            <a:xfrm>
              <a:off x="901700" y="3940175"/>
              <a:ext cx="21478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0347" tIns="54239" rIns="110347" bIns="54239">
              <a:spAutoFit/>
            </a:bodyPr>
            <a:lstStyle>
              <a:lvl1pPr defTabSz="1092200">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1092200">
                <a:spcBef>
                  <a:spcPct val="20000"/>
                </a:spcBef>
                <a:buChar char="–"/>
                <a:defRPr sz="2800">
                  <a:solidFill>
                    <a:schemeClr val="tx1"/>
                  </a:solidFill>
                  <a:latin typeface="Arial" panose="020B0604020202020204" pitchFamily="34" charset="0"/>
                </a:defRPr>
              </a:lvl2pPr>
              <a:lvl3pPr marL="1143000" indent="-228600" defTabSz="1092200">
                <a:spcBef>
                  <a:spcPct val="20000"/>
                </a:spcBef>
                <a:buChar char="•"/>
                <a:defRPr sz="2400">
                  <a:solidFill>
                    <a:schemeClr val="tx1"/>
                  </a:solidFill>
                  <a:latin typeface="Arial" panose="020B0604020202020204" pitchFamily="34" charset="0"/>
                </a:defRPr>
              </a:lvl3pPr>
              <a:lvl4pPr marL="1600200" indent="-228600" defTabSz="1092200">
                <a:spcBef>
                  <a:spcPct val="20000"/>
                </a:spcBef>
                <a:buChar char="–"/>
                <a:defRPr sz="2000">
                  <a:solidFill>
                    <a:schemeClr val="tx1"/>
                  </a:solidFill>
                  <a:latin typeface="Arial" panose="020B0604020202020204" pitchFamily="34" charset="0"/>
                </a:defRPr>
              </a:lvl4pPr>
              <a:lvl5pPr marL="2057400" indent="-228600" defTabSz="1092200">
                <a:spcBef>
                  <a:spcPct val="20000"/>
                </a:spcBef>
                <a:buChar char="»"/>
                <a:defRPr sz="2000">
                  <a:solidFill>
                    <a:schemeClr val="tx1"/>
                  </a:solidFill>
                  <a:latin typeface="Arial" panose="020B0604020202020204" pitchFamily="34" charset="0"/>
                </a:defRPr>
              </a:lvl5pPr>
              <a:lvl6pPr marL="2514600" indent="-228600" defTabSz="10922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0922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0922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0922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1600"/>
                <a:t>192.68.1.0/24     2000</a:t>
              </a:r>
            </a:p>
          </p:txBody>
        </p:sp>
      </p:grpSp>
      <p:sp>
        <p:nvSpPr>
          <p:cNvPr id="25" name="Rectangle 2"/>
          <p:cNvSpPr txBox="1">
            <a:spLocks noChangeArrowheads="1"/>
          </p:cNvSpPr>
          <p:nvPr/>
        </p:nvSpPr>
        <p:spPr bwMode="auto">
          <a:xfrm>
            <a:off x="533400" y="0"/>
            <a:ext cx="7772400" cy="609600"/>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lvl1pPr algn="l" rtl="0" fontAlgn="base">
              <a:spcBef>
                <a:spcPct val="0"/>
              </a:spcBef>
              <a:spcAft>
                <a:spcPct val="0"/>
              </a:spcAft>
              <a:defRPr sz="3600" b="0" cap="small" baseline="0">
                <a:solidFill>
                  <a:schemeClr val="bg1"/>
                </a:solidFill>
                <a:effectLst>
                  <a:outerShdw blurRad="38100" dist="38100" dir="2700000" algn="tl">
                    <a:srgbClr val="000000">
                      <a:alpha val="43137"/>
                    </a:srgbClr>
                  </a:outerShdw>
                </a:effectLst>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a:lstStyle>
          <a:p>
            <a:pPr algn="ctr"/>
            <a:r>
              <a:rPr lang="en-US" altLang="en-US" sz="3200" b="1" kern="0" dirty="0" smtClean="0"/>
              <a:t>Path Attribute: multi-exit discriminator (med)</a:t>
            </a:r>
          </a:p>
        </p:txBody>
      </p:sp>
      <p:sp>
        <p:nvSpPr>
          <p:cNvPr id="2" name="Slide Number Placeholder 1"/>
          <p:cNvSpPr>
            <a:spLocks noGrp="1"/>
          </p:cNvSpPr>
          <p:nvPr>
            <p:ph type="sldNum" sz="quarter" idx="10"/>
          </p:nvPr>
        </p:nvSpPr>
        <p:spPr/>
        <p:txBody>
          <a:bodyPr/>
          <a:lstStyle/>
          <a:p>
            <a:fld id="{1C0FA7A3-0FBF-4EC3-BE45-825983E95E58}" type="slidenum">
              <a:rPr lang="en-US" smtClean="0"/>
              <a:pPr/>
              <a:t>61</a:t>
            </a:fld>
            <a:endParaRPr lang="en-US" dirty="0"/>
          </a:p>
        </p:txBody>
      </p:sp>
    </p:spTree>
    <p:extLst>
      <p:ext uri="{BB962C8B-B14F-4D97-AF65-F5344CB8AC3E}">
        <p14:creationId xmlns:p14="http://schemas.microsoft.com/office/powerpoint/2010/main" val="792280475"/>
      </p:ext>
    </p:extLst>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p:cNvSpPr>
            <a:spLocks noGrp="1" noChangeArrowheads="1"/>
          </p:cNvSpPr>
          <p:nvPr>
            <p:ph type="body" idx="1"/>
          </p:nvPr>
        </p:nvSpPr>
        <p:spPr>
          <a:xfrm>
            <a:off x="228600" y="1447800"/>
            <a:ext cx="8382000" cy="4953000"/>
          </a:xfrm>
          <a:noFill/>
        </p:spPr>
        <p:txBody>
          <a:bodyPr/>
          <a:lstStyle/>
          <a:p>
            <a:pPr marL="257175" indent="-257175" defTabSz="723900"/>
            <a:r>
              <a:rPr lang="en-US" altLang="en-US" dirty="0" smtClean="0"/>
              <a:t>set metric-type internal</a:t>
            </a:r>
          </a:p>
          <a:p>
            <a:pPr marL="503238" lvl="1" defTabSz="723900"/>
            <a:r>
              <a:rPr lang="en-US" altLang="en-US" dirty="0"/>
              <a:t>E</a:t>
            </a:r>
            <a:r>
              <a:rPr lang="en-US" altLang="en-US" dirty="0" smtClean="0"/>
              <a:t>nables BGP to advertise a MED which corresponds to the IGP metric values.</a:t>
            </a:r>
          </a:p>
          <a:p>
            <a:pPr marL="503238" lvl="1" defTabSz="723900"/>
            <a:r>
              <a:rPr lang="en-US" altLang="en-US" dirty="0"/>
              <a:t>C</a:t>
            </a:r>
            <a:r>
              <a:rPr lang="en-US" altLang="en-US" dirty="0" smtClean="0"/>
              <a:t>hanges are monitored (and re-advertised if needed) every 600s.</a:t>
            </a:r>
          </a:p>
          <a:p>
            <a:pPr marL="503238" lvl="1" defTabSz="723900"/>
            <a:r>
              <a:rPr lang="en-US" altLang="en-US" dirty="0" smtClean="0"/>
              <a:t>	</a:t>
            </a:r>
            <a:r>
              <a:rPr lang="en-US" altLang="en-US" dirty="0" err="1" smtClean="0"/>
              <a:t>bgp</a:t>
            </a:r>
            <a:r>
              <a:rPr lang="en-US" altLang="en-US" dirty="0" smtClean="0"/>
              <a:t> dynamic-med-interval &lt;secs&gt;</a:t>
            </a:r>
          </a:p>
        </p:txBody>
      </p:sp>
      <p:sp>
        <p:nvSpPr>
          <p:cNvPr id="4" name="Rectangle 2"/>
          <p:cNvSpPr txBox="1">
            <a:spLocks noChangeArrowheads="1"/>
          </p:cNvSpPr>
          <p:nvPr/>
        </p:nvSpPr>
        <p:spPr bwMode="auto">
          <a:xfrm>
            <a:off x="533400" y="0"/>
            <a:ext cx="7772400" cy="609600"/>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lvl1pPr algn="l" rtl="0" fontAlgn="base">
              <a:spcBef>
                <a:spcPct val="0"/>
              </a:spcBef>
              <a:spcAft>
                <a:spcPct val="0"/>
              </a:spcAft>
              <a:defRPr sz="3600" b="0" cap="small" baseline="0">
                <a:solidFill>
                  <a:schemeClr val="bg1"/>
                </a:solidFill>
                <a:effectLst>
                  <a:outerShdw blurRad="38100" dist="38100" dir="2700000" algn="tl">
                    <a:srgbClr val="000000">
                      <a:alpha val="43137"/>
                    </a:srgbClr>
                  </a:outerShdw>
                </a:effectLst>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a:lstStyle>
          <a:p>
            <a:pPr algn="ctr"/>
            <a:r>
              <a:rPr lang="en-US" altLang="en-US" sz="3200" b="1" kern="0" dirty="0" smtClean="0"/>
              <a:t>Path Attribute: med and </a:t>
            </a:r>
            <a:r>
              <a:rPr lang="en-US" altLang="en-US" sz="3200" b="1" kern="0" dirty="0" err="1" smtClean="0"/>
              <a:t>igp</a:t>
            </a:r>
            <a:r>
              <a:rPr lang="en-US" altLang="en-US" sz="3200" b="1" kern="0" dirty="0" smtClean="0"/>
              <a:t> metric</a:t>
            </a:r>
          </a:p>
        </p:txBody>
      </p:sp>
      <p:sp>
        <p:nvSpPr>
          <p:cNvPr id="2" name="Slide Number Placeholder 1"/>
          <p:cNvSpPr>
            <a:spLocks noGrp="1"/>
          </p:cNvSpPr>
          <p:nvPr>
            <p:ph type="sldNum" sz="quarter" idx="10"/>
          </p:nvPr>
        </p:nvSpPr>
        <p:spPr/>
        <p:txBody>
          <a:bodyPr/>
          <a:lstStyle/>
          <a:p>
            <a:fld id="{1C0FA7A3-0FBF-4EC3-BE45-825983E95E58}" type="slidenum">
              <a:rPr lang="en-US" smtClean="0"/>
              <a:pPr/>
              <a:t>62</a:t>
            </a:fld>
            <a:endParaRPr lang="en-US" dirty="0"/>
          </a:p>
        </p:txBody>
      </p:sp>
    </p:spTree>
    <p:extLst>
      <p:ext uri="{BB962C8B-B14F-4D97-AF65-F5344CB8AC3E}">
        <p14:creationId xmlns:p14="http://schemas.microsoft.com/office/powerpoint/2010/main" val="4237762376"/>
      </p:ext>
    </p:extLst>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p:cNvSpPr>
            <a:spLocks noGrp="1" noChangeArrowheads="1"/>
          </p:cNvSpPr>
          <p:nvPr>
            <p:ph type="body" idx="1"/>
          </p:nvPr>
        </p:nvSpPr>
        <p:spPr>
          <a:xfrm>
            <a:off x="549166" y="1219200"/>
            <a:ext cx="8886825" cy="4497387"/>
          </a:xfrm>
          <a:noFill/>
        </p:spPr>
        <p:txBody>
          <a:bodyPr lIns="86034" tIns="43016" rIns="86034" bIns="43016"/>
          <a:lstStyle/>
          <a:p>
            <a:r>
              <a:rPr lang="en-GB" altLang="en-US" sz="2900" dirty="0" smtClean="0"/>
              <a:t>Used to group destinations</a:t>
            </a:r>
          </a:p>
          <a:p>
            <a:r>
              <a:rPr lang="en-GB" altLang="en-US" sz="2900" dirty="0" smtClean="0"/>
              <a:t>Represented as two 16 bit integers</a:t>
            </a:r>
          </a:p>
          <a:p>
            <a:r>
              <a:rPr lang="en-GB" altLang="en-US" sz="2900" dirty="0" smtClean="0"/>
              <a:t>Each destination could be member of multiple communities</a:t>
            </a:r>
          </a:p>
          <a:p>
            <a:r>
              <a:rPr lang="en-GB" altLang="en-US" sz="2900" dirty="0" smtClean="0"/>
              <a:t>Community attribute carried across AS’s</a:t>
            </a:r>
          </a:p>
          <a:p>
            <a:r>
              <a:rPr lang="en-GB" altLang="en-US" sz="2900" dirty="0" smtClean="0"/>
              <a:t>Useful in applying policies</a:t>
            </a:r>
          </a:p>
        </p:txBody>
      </p:sp>
      <p:sp>
        <p:nvSpPr>
          <p:cNvPr id="5"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 community</a:t>
            </a:r>
          </a:p>
        </p:txBody>
      </p:sp>
      <p:sp>
        <p:nvSpPr>
          <p:cNvPr id="2" name="Slide Number Placeholder 1"/>
          <p:cNvSpPr>
            <a:spLocks noGrp="1"/>
          </p:cNvSpPr>
          <p:nvPr>
            <p:ph type="sldNum" sz="quarter" idx="10"/>
          </p:nvPr>
        </p:nvSpPr>
        <p:spPr/>
        <p:txBody>
          <a:bodyPr/>
          <a:lstStyle/>
          <a:p>
            <a:fld id="{1C0FA7A3-0FBF-4EC3-BE45-825983E95E58}" type="slidenum">
              <a:rPr lang="en-US" smtClean="0"/>
              <a:pPr/>
              <a:t>63</a:t>
            </a:fld>
            <a:endParaRPr lang="en-US" dirty="0"/>
          </a:p>
        </p:txBody>
      </p:sp>
    </p:spTree>
    <p:extLst>
      <p:ext uri="{BB962C8B-B14F-4D97-AF65-F5344CB8AC3E}">
        <p14:creationId xmlns:p14="http://schemas.microsoft.com/office/powerpoint/2010/main" val="2906954103"/>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536028" y="1219200"/>
            <a:ext cx="7985125" cy="4583113"/>
            <a:chOff x="563563" y="1666875"/>
            <a:chExt cx="7985125" cy="4583113"/>
          </a:xfrm>
        </p:grpSpPr>
        <p:pic>
          <p:nvPicPr>
            <p:cNvPr id="118786" name="Picture 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6300" y="2763838"/>
              <a:ext cx="2366963" cy="207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8787" name="Rectangle 3"/>
            <p:cNvSpPr>
              <a:spLocks noChangeArrowheads="1"/>
            </p:cNvSpPr>
            <p:nvPr/>
          </p:nvSpPr>
          <p:spPr bwMode="auto">
            <a:xfrm>
              <a:off x="1752600" y="4244975"/>
              <a:ext cx="2192338" cy="414338"/>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18788" name="Rectangle 4"/>
            <p:cNvSpPr>
              <a:spLocks noChangeArrowheads="1"/>
            </p:cNvSpPr>
            <p:nvPr/>
          </p:nvSpPr>
          <p:spPr bwMode="auto">
            <a:xfrm>
              <a:off x="1752600" y="4294188"/>
              <a:ext cx="2232025"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645" tIns="46758" rIns="91645" bIns="46758" anchor="ctr" anchorCtr="1">
              <a:spAutoFit/>
            </a:bodyPr>
            <a:lstStyle>
              <a:lvl1pPr defTabSz="847725">
                <a:spcBef>
                  <a:spcPct val="20000"/>
                </a:spcBef>
                <a:buClr>
                  <a:schemeClr val="accent1"/>
                </a:buClr>
                <a:buSzPct val="80000"/>
                <a:buFont typeface="Wingdings" panose="05000000000000000000" pitchFamily="2" charset="2"/>
                <a:buChar char="n"/>
                <a:tabLst>
                  <a:tab pos="1479550" algn="l"/>
                </a:tabLst>
                <a:defRPr sz="3200">
                  <a:solidFill>
                    <a:schemeClr val="tx1"/>
                  </a:solidFill>
                  <a:latin typeface="Arial" panose="020B0604020202020204" pitchFamily="34" charset="0"/>
                </a:defRPr>
              </a:lvl1pPr>
              <a:lvl2pPr marL="742950" indent="-285750" defTabSz="847725">
                <a:spcBef>
                  <a:spcPct val="20000"/>
                </a:spcBef>
                <a:buChar char="–"/>
                <a:tabLst>
                  <a:tab pos="1479550" algn="l"/>
                </a:tabLst>
                <a:defRPr sz="2800">
                  <a:solidFill>
                    <a:schemeClr val="tx1"/>
                  </a:solidFill>
                  <a:latin typeface="Arial" panose="020B0604020202020204" pitchFamily="34" charset="0"/>
                </a:defRPr>
              </a:lvl2pPr>
              <a:lvl3pPr marL="1143000" indent="-228600" defTabSz="847725">
                <a:spcBef>
                  <a:spcPct val="20000"/>
                </a:spcBef>
                <a:buChar char="•"/>
                <a:tabLst>
                  <a:tab pos="1479550" algn="l"/>
                </a:tabLst>
                <a:defRPr sz="2400">
                  <a:solidFill>
                    <a:schemeClr val="tx1"/>
                  </a:solidFill>
                  <a:latin typeface="Arial" panose="020B0604020202020204" pitchFamily="34" charset="0"/>
                </a:defRPr>
              </a:lvl3pPr>
              <a:lvl4pPr marL="1600200" indent="-228600" defTabSz="847725">
                <a:spcBef>
                  <a:spcPct val="20000"/>
                </a:spcBef>
                <a:buChar char="–"/>
                <a:tabLst>
                  <a:tab pos="1479550" algn="l"/>
                </a:tabLst>
                <a:defRPr sz="2000">
                  <a:solidFill>
                    <a:schemeClr val="tx1"/>
                  </a:solidFill>
                  <a:latin typeface="Arial" panose="020B0604020202020204" pitchFamily="34" charset="0"/>
                </a:defRPr>
              </a:lvl4pPr>
              <a:lvl5pPr marL="2057400" indent="-228600" defTabSz="847725">
                <a:spcBef>
                  <a:spcPct val="20000"/>
                </a:spcBef>
                <a:buChar char="»"/>
                <a:tabLst>
                  <a:tab pos="1479550" algn="l"/>
                </a:tabLst>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9pPr>
            </a:lstStyle>
            <a:p>
              <a:pPr>
                <a:lnSpc>
                  <a:spcPct val="90000"/>
                </a:lnSpc>
                <a:spcBef>
                  <a:spcPct val="30000"/>
                </a:spcBef>
                <a:buClrTx/>
                <a:buSzTx/>
                <a:buFontTx/>
                <a:buNone/>
              </a:pPr>
              <a:r>
                <a:rPr lang="en-GB" altLang="en-US" sz="1600"/>
                <a:t>160.10.0.0/16	300:1</a:t>
              </a:r>
            </a:p>
          </p:txBody>
        </p:sp>
        <p:pic>
          <p:nvPicPr>
            <p:cNvPr id="118789"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1825" y="4906963"/>
              <a:ext cx="2220913" cy="134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8790"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4138" y="2165350"/>
              <a:ext cx="2014537" cy="1217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8792" name="Line 8"/>
            <p:cNvSpPr>
              <a:spLocks noChangeShapeType="1"/>
            </p:cNvSpPr>
            <p:nvPr/>
          </p:nvSpPr>
          <p:spPr bwMode="auto">
            <a:xfrm flipH="1" flipV="1">
              <a:off x="5191125" y="4279900"/>
              <a:ext cx="788988" cy="1077913"/>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18793" name="Line 9"/>
            <p:cNvSpPr>
              <a:spLocks noChangeShapeType="1"/>
            </p:cNvSpPr>
            <p:nvPr/>
          </p:nvSpPr>
          <p:spPr bwMode="auto">
            <a:xfrm flipV="1">
              <a:off x="4162425" y="4238625"/>
              <a:ext cx="1030288" cy="1198563"/>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18794" name="Rectangle 10"/>
            <p:cNvSpPr>
              <a:spLocks noChangeArrowheads="1"/>
            </p:cNvSpPr>
            <p:nvPr/>
          </p:nvSpPr>
          <p:spPr bwMode="auto">
            <a:xfrm>
              <a:off x="6456363" y="5387975"/>
              <a:ext cx="10112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200</a:t>
              </a:r>
            </a:p>
          </p:txBody>
        </p:sp>
        <p:sp>
          <p:nvSpPr>
            <p:cNvPr id="118795" name="Line 11"/>
            <p:cNvSpPr>
              <a:spLocks noChangeShapeType="1"/>
            </p:cNvSpPr>
            <p:nvPr/>
          </p:nvSpPr>
          <p:spPr bwMode="auto">
            <a:xfrm flipV="1">
              <a:off x="4849813" y="2779713"/>
              <a:ext cx="1285875" cy="171450"/>
            </a:xfrm>
            <a:prstGeom prst="line">
              <a:avLst/>
            </a:prstGeom>
            <a:noFill/>
            <a:ln w="25399">
              <a:solidFill>
                <a:schemeClr val="bg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18796" name="Group 12"/>
            <p:cNvGrpSpPr>
              <a:grpSpLocks/>
            </p:cNvGrpSpPr>
            <p:nvPr/>
          </p:nvGrpSpPr>
          <p:grpSpPr bwMode="auto">
            <a:xfrm>
              <a:off x="4198938" y="1998663"/>
              <a:ext cx="2312987" cy="631825"/>
              <a:chOff x="2627" y="907"/>
              <a:chExt cx="1182" cy="354"/>
            </a:xfrm>
          </p:grpSpPr>
          <p:sp>
            <p:nvSpPr>
              <p:cNvPr id="118836" name="Rectangle 13"/>
              <p:cNvSpPr>
                <a:spLocks noChangeArrowheads="1"/>
              </p:cNvSpPr>
              <p:nvPr/>
            </p:nvSpPr>
            <p:spPr bwMode="auto">
              <a:xfrm>
                <a:off x="2670" y="907"/>
                <a:ext cx="1085" cy="319"/>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lIns="91645" tIns="46758" rIns="91645" bIns="46758" anchor="ctr" anchorCtr="1">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18837" name="Rectangle 14"/>
              <p:cNvSpPr>
                <a:spLocks noChangeArrowheads="1"/>
              </p:cNvSpPr>
              <p:nvPr/>
            </p:nvSpPr>
            <p:spPr bwMode="auto">
              <a:xfrm>
                <a:off x="2627" y="929"/>
                <a:ext cx="1182" cy="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645" tIns="46758" rIns="91645" bIns="46758" anchor="ctr" anchorCtr="1">
                <a:spAutoFit/>
              </a:bodyPr>
              <a:lstStyle>
                <a:lvl1pPr defTabSz="847725">
                  <a:spcBef>
                    <a:spcPct val="20000"/>
                  </a:spcBef>
                  <a:buClr>
                    <a:schemeClr val="accent1"/>
                  </a:buClr>
                  <a:buSzPct val="80000"/>
                  <a:buFont typeface="Wingdings" panose="05000000000000000000" pitchFamily="2" charset="2"/>
                  <a:buChar char="n"/>
                  <a:tabLst>
                    <a:tab pos="1479550" algn="l"/>
                  </a:tabLst>
                  <a:defRPr sz="3200">
                    <a:solidFill>
                      <a:schemeClr val="tx1"/>
                    </a:solidFill>
                    <a:latin typeface="Arial" panose="020B0604020202020204" pitchFamily="34" charset="0"/>
                  </a:defRPr>
                </a:lvl1pPr>
                <a:lvl2pPr marL="742950" indent="-285750" defTabSz="847725">
                  <a:spcBef>
                    <a:spcPct val="20000"/>
                  </a:spcBef>
                  <a:buChar char="–"/>
                  <a:tabLst>
                    <a:tab pos="1479550" algn="l"/>
                  </a:tabLst>
                  <a:defRPr sz="2800">
                    <a:solidFill>
                      <a:schemeClr val="tx1"/>
                    </a:solidFill>
                    <a:latin typeface="Arial" panose="020B0604020202020204" pitchFamily="34" charset="0"/>
                  </a:defRPr>
                </a:lvl2pPr>
                <a:lvl3pPr marL="1143000" indent="-228600" defTabSz="847725">
                  <a:spcBef>
                    <a:spcPct val="20000"/>
                  </a:spcBef>
                  <a:buChar char="•"/>
                  <a:tabLst>
                    <a:tab pos="1479550" algn="l"/>
                  </a:tabLst>
                  <a:defRPr sz="2400">
                    <a:solidFill>
                      <a:schemeClr val="tx1"/>
                    </a:solidFill>
                    <a:latin typeface="Arial" panose="020B0604020202020204" pitchFamily="34" charset="0"/>
                  </a:defRPr>
                </a:lvl3pPr>
                <a:lvl4pPr marL="1600200" indent="-228600" defTabSz="847725">
                  <a:spcBef>
                    <a:spcPct val="20000"/>
                  </a:spcBef>
                  <a:buChar char="–"/>
                  <a:tabLst>
                    <a:tab pos="1479550" algn="l"/>
                  </a:tabLst>
                  <a:defRPr sz="2000">
                    <a:solidFill>
                      <a:schemeClr val="tx1"/>
                    </a:solidFill>
                    <a:latin typeface="Arial" panose="020B0604020202020204" pitchFamily="34" charset="0"/>
                  </a:defRPr>
                </a:lvl4pPr>
                <a:lvl5pPr marL="2057400" indent="-228600" defTabSz="847725">
                  <a:spcBef>
                    <a:spcPct val="20000"/>
                  </a:spcBef>
                  <a:buChar char="»"/>
                  <a:tabLst>
                    <a:tab pos="1479550" algn="l"/>
                  </a:tabLst>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9pPr>
              </a:lstStyle>
              <a:p>
                <a:pPr>
                  <a:lnSpc>
                    <a:spcPct val="90000"/>
                  </a:lnSpc>
                  <a:spcBef>
                    <a:spcPct val="30000"/>
                  </a:spcBef>
                  <a:buClrTx/>
                  <a:buSzTx/>
                  <a:buFontTx/>
                  <a:buNone/>
                </a:pPr>
                <a:r>
                  <a:rPr lang="en-GB" altLang="en-US" sz="1600"/>
                  <a:t>160.10.0.0/16	300:1</a:t>
                </a:r>
              </a:p>
              <a:p>
                <a:pPr>
                  <a:lnSpc>
                    <a:spcPct val="90000"/>
                  </a:lnSpc>
                  <a:spcBef>
                    <a:spcPct val="30000"/>
                  </a:spcBef>
                  <a:buClrTx/>
                  <a:buSzTx/>
                  <a:buFontTx/>
                  <a:buNone/>
                </a:pPr>
                <a:r>
                  <a:rPr lang="en-GB" altLang="en-US" sz="1600"/>
                  <a:t>170.10.0.0/16	300:1</a:t>
                </a:r>
              </a:p>
            </p:txBody>
          </p:sp>
        </p:grpSp>
        <p:sp>
          <p:nvSpPr>
            <p:cNvPr id="118797" name="Rectangle 15"/>
            <p:cNvSpPr>
              <a:spLocks noChangeArrowheads="1"/>
            </p:cNvSpPr>
            <p:nvPr/>
          </p:nvSpPr>
          <p:spPr bwMode="auto">
            <a:xfrm>
              <a:off x="6215063" y="4244975"/>
              <a:ext cx="2062162" cy="414338"/>
            </a:xfrm>
            <a:prstGeom prst="rect">
              <a:avLst/>
            </a:prstGeom>
            <a:solidFill>
              <a:srgbClr val="FFE59B"/>
            </a:solidFill>
            <a:ln w="12699">
              <a:solidFill>
                <a:schemeClr val="tx1"/>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18798" name="Rectangle 16"/>
            <p:cNvSpPr>
              <a:spLocks noChangeArrowheads="1"/>
            </p:cNvSpPr>
            <p:nvPr/>
          </p:nvSpPr>
          <p:spPr bwMode="auto">
            <a:xfrm>
              <a:off x="5994400" y="4329113"/>
              <a:ext cx="25542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645" tIns="46758" rIns="91645" bIns="46758" anchor="ctr" anchorCtr="1">
              <a:spAutoFit/>
            </a:bodyPr>
            <a:lstStyle>
              <a:lvl1pPr defTabSz="847725">
                <a:spcBef>
                  <a:spcPct val="20000"/>
                </a:spcBef>
                <a:buClr>
                  <a:schemeClr val="accent1"/>
                </a:buClr>
                <a:buSzPct val="80000"/>
                <a:buFont typeface="Wingdings" panose="05000000000000000000" pitchFamily="2" charset="2"/>
                <a:buChar char="n"/>
                <a:tabLst>
                  <a:tab pos="1611313" algn="l"/>
                </a:tabLst>
                <a:defRPr sz="3200">
                  <a:solidFill>
                    <a:schemeClr val="tx1"/>
                  </a:solidFill>
                  <a:latin typeface="Arial" panose="020B0604020202020204" pitchFamily="34" charset="0"/>
                </a:defRPr>
              </a:lvl1pPr>
              <a:lvl2pPr marL="742950" indent="-285750" defTabSz="847725">
                <a:spcBef>
                  <a:spcPct val="20000"/>
                </a:spcBef>
                <a:buChar char="–"/>
                <a:tabLst>
                  <a:tab pos="1611313" algn="l"/>
                </a:tabLst>
                <a:defRPr sz="2800">
                  <a:solidFill>
                    <a:schemeClr val="tx1"/>
                  </a:solidFill>
                  <a:latin typeface="Arial" panose="020B0604020202020204" pitchFamily="34" charset="0"/>
                </a:defRPr>
              </a:lvl2pPr>
              <a:lvl3pPr marL="1143000" indent="-228600" defTabSz="847725">
                <a:spcBef>
                  <a:spcPct val="20000"/>
                </a:spcBef>
                <a:buChar char="•"/>
                <a:tabLst>
                  <a:tab pos="1611313" algn="l"/>
                </a:tabLst>
                <a:defRPr sz="2400">
                  <a:solidFill>
                    <a:schemeClr val="tx1"/>
                  </a:solidFill>
                  <a:latin typeface="Arial" panose="020B0604020202020204" pitchFamily="34" charset="0"/>
                </a:defRPr>
              </a:lvl3pPr>
              <a:lvl4pPr marL="1600200" indent="-228600" defTabSz="847725">
                <a:spcBef>
                  <a:spcPct val="20000"/>
                </a:spcBef>
                <a:buChar char="–"/>
                <a:tabLst>
                  <a:tab pos="1611313" algn="l"/>
                </a:tabLst>
                <a:defRPr sz="2000">
                  <a:solidFill>
                    <a:schemeClr val="tx1"/>
                  </a:solidFill>
                  <a:latin typeface="Arial" panose="020B0604020202020204" pitchFamily="34" charset="0"/>
                </a:defRPr>
              </a:lvl4pPr>
              <a:lvl5pPr marL="2057400" indent="-228600" defTabSz="847725">
                <a:spcBef>
                  <a:spcPct val="20000"/>
                </a:spcBef>
                <a:buChar char="»"/>
                <a:tabLst>
                  <a:tab pos="1611313" algn="l"/>
                </a:tabLst>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tabLst>
                  <a:tab pos="1611313" algn="l"/>
                </a:tabLst>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tabLst>
                  <a:tab pos="1611313" algn="l"/>
                </a:tabLst>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tabLst>
                  <a:tab pos="1611313" algn="l"/>
                </a:tabLst>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tabLst>
                  <a:tab pos="1611313" algn="l"/>
                </a:tabLst>
                <a:defRPr sz="2000">
                  <a:solidFill>
                    <a:schemeClr val="tx1"/>
                  </a:solidFill>
                  <a:latin typeface="Arial" panose="020B0604020202020204" pitchFamily="34" charset="0"/>
                </a:defRPr>
              </a:lvl9pPr>
            </a:lstStyle>
            <a:p>
              <a:pPr>
                <a:lnSpc>
                  <a:spcPct val="90000"/>
                </a:lnSpc>
                <a:spcBef>
                  <a:spcPct val="30000"/>
                </a:spcBef>
                <a:buClrTx/>
                <a:buSzTx/>
                <a:buFontTx/>
                <a:buNone/>
              </a:pPr>
              <a:r>
                <a:rPr lang="en-GB" altLang="en-US" sz="1600"/>
                <a:t>170.10.0.0/16    300:1</a:t>
              </a:r>
            </a:p>
          </p:txBody>
        </p:sp>
        <p:sp>
          <p:nvSpPr>
            <p:cNvPr id="118799" name="Line 17"/>
            <p:cNvSpPr>
              <a:spLocks noChangeShapeType="1"/>
            </p:cNvSpPr>
            <p:nvPr/>
          </p:nvSpPr>
          <p:spPr bwMode="auto">
            <a:xfrm>
              <a:off x="4251325" y="3379788"/>
              <a:ext cx="1035050" cy="785812"/>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18800" name="Line 18"/>
            <p:cNvSpPr>
              <a:spLocks noChangeShapeType="1"/>
            </p:cNvSpPr>
            <p:nvPr/>
          </p:nvSpPr>
          <p:spPr bwMode="auto">
            <a:xfrm>
              <a:off x="2020888" y="2524125"/>
              <a:ext cx="2057400" cy="769938"/>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18801" name="Line 19"/>
            <p:cNvSpPr>
              <a:spLocks noChangeShapeType="1"/>
            </p:cNvSpPr>
            <p:nvPr/>
          </p:nvSpPr>
          <p:spPr bwMode="auto">
            <a:xfrm flipV="1">
              <a:off x="4251325" y="2906713"/>
              <a:ext cx="2225675" cy="387350"/>
            </a:xfrm>
            <a:prstGeom prst="line">
              <a:avLst/>
            </a:prstGeom>
            <a:noFill/>
            <a:ln w="25399">
              <a:solidFill>
                <a:schemeClr val="accent2"/>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18802" name="Rectangle 20"/>
            <p:cNvSpPr>
              <a:spLocks noChangeArrowheads="1"/>
            </p:cNvSpPr>
            <p:nvPr/>
          </p:nvSpPr>
          <p:spPr bwMode="auto">
            <a:xfrm>
              <a:off x="7197725" y="2616200"/>
              <a:ext cx="10318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400</a:t>
              </a:r>
            </a:p>
          </p:txBody>
        </p:sp>
        <p:pic>
          <p:nvPicPr>
            <p:cNvPr id="118803" name="Picture 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38713" y="4030663"/>
              <a:ext cx="696912"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8804" name="Group 22"/>
            <p:cNvGrpSpPr>
              <a:grpSpLocks/>
            </p:cNvGrpSpPr>
            <p:nvPr/>
          </p:nvGrpSpPr>
          <p:grpSpPr bwMode="auto">
            <a:xfrm>
              <a:off x="3736975" y="3173413"/>
              <a:ext cx="698500" cy="485775"/>
              <a:chOff x="2273" y="1565"/>
              <a:chExt cx="391" cy="272"/>
            </a:xfrm>
          </p:grpSpPr>
          <p:pic>
            <p:nvPicPr>
              <p:cNvPr id="118834"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3" y="1565"/>
                <a:ext cx="39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384" name="Rectangle 24"/>
              <p:cNvSpPr>
                <a:spLocks noChangeArrowheads="1"/>
              </p:cNvSpPr>
              <p:nvPr/>
            </p:nvSpPr>
            <p:spPr bwMode="auto">
              <a:xfrm>
                <a:off x="2430" y="1683"/>
                <a:ext cx="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800" smtClean="0">
                    <a:solidFill>
                      <a:schemeClr val="bg1"/>
                    </a:solidFill>
                    <a:effectLst>
                      <a:outerShdw blurRad="38100" dist="38100" dir="2700000" algn="tl">
                        <a:srgbClr val="C0C0C0"/>
                      </a:outerShdw>
                    </a:effectLst>
                    <a:latin typeface="Arial" panose="020B0604020202020204" pitchFamily="34" charset="0"/>
                  </a:rPr>
                  <a:t>D</a:t>
                </a:r>
              </a:p>
            </p:txBody>
          </p:sp>
        </p:grpSp>
        <p:sp>
          <p:nvSpPr>
            <p:cNvPr id="655385" name="Rectangle 25"/>
            <p:cNvSpPr>
              <a:spLocks noChangeArrowheads="1"/>
            </p:cNvSpPr>
            <p:nvPr/>
          </p:nvSpPr>
          <p:spPr bwMode="auto">
            <a:xfrm>
              <a:off x="5219700" y="4219575"/>
              <a:ext cx="1651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800" smtClean="0">
                  <a:solidFill>
                    <a:schemeClr val="bg1"/>
                  </a:solidFill>
                  <a:effectLst>
                    <a:outerShdw blurRad="38100" dist="38100" dir="2700000" algn="tl">
                      <a:srgbClr val="C0C0C0"/>
                    </a:outerShdw>
                  </a:effectLst>
                  <a:latin typeface="Arial" panose="020B0604020202020204" pitchFamily="34" charset="0"/>
                </a:rPr>
                <a:t>C</a:t>
              </a:r>
            </a:p>
          </p:txBody>
        </p:sp>
        <p:grpSp>
          <p:nvGrpSpPr>
            <p:cNvPr id="118806" name="Group 26"/>
            <p:cNvGrpSpPr>
              <a:grpSpLocks/>
            </p:cNvGrpSpPr>
            <p:nvPr/>
          </p:nvGrpSpPr>
          <p:grpSpPr bwMode="auto">
            <a:xfrm>
              <a:off x="6437313" y="2659063"/>
              <a:ext cx="696912" cy="457200"/>
              <a:chOff x="3785" y="1277"/>
              <a:chExt cx="391" cy="256"/>
            </a:xfrm>
          </p:grpSpPr>
          <p:pic>
            <p:nvPicPr>
              <p:cNvPr id="118832" name="Picture 2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85" y="1277"/>
                <a:ext cx="39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388" name="Rectangle 28"/>
              <p:cNvSpPr>
                <a:spLocks noChangeArrowheads="1"/>
              </p:cNvSpPr>
              <p:nvPr/>
            </p:nvSpPr>
            <p:spPr bwMode="auto">
              <a:xfrm>
                <a:off x="3944" y="1379"/>
                <a:ext cx="85"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800" smtClean="0">
                    <a:solidFill>
                      <a:schemeClr val="bg1"/>
                    </a:solidFill>
                    <a:effectLst>
                      <a:outerShdw blurRad="38100" dist="38100" dir="2700000" algn="tl">
                        <a:srgbClr val="C0C0C0"/>
                      </a:outerShdw>
                    </a:effectLst>
                    <a:latin typeface="Arial" panose="020B0604020202020204" pitchFamily="34" charset="0"/>
                  </a:rPr>
                  <a:t>E</a:t>
                </a:r>
              </a:p>
            </p:txBody>
          </p:sp>
        </p:grpSp>
        <p:grpSp>
          <p:nvGrpSpPr>
            <p:cNvPr id="118807" name="Group 29"/>
            <p:cNvGrpSpPr>
              <a:grpSpLocks/>
            </p:cNvGrpSpPr>
            <p:nvPr/>
          </p:nvGrpSpPr>
          <p:grpSpPr bwMode="auto">
            <a:xfrm>
              <a:off x="5580063" y="5065713"/>
              <a:ext cx="698500" cy="461962"/>
              <a:chOff x="3305" y="2625"/>
              <a:chExt cx="391" cy="258"/>
            </a:xfrm>
          </p:grpSpPr>
          <p:pic>
            <p:nvPicPr>
              <p:cNvPr id="118830" name="Picture 3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05" y="2625"/>
                <a:ext cx="39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391" name="Rectangle 31"/>
              <p:cNvSpPr>
                <a:spLocks noChangeArrowheads="1"/>
              </p:cNvSpPr>
              <p:nvPr/>
            </p:nvSpPr>
            <p:spPr bwMode="auto">
              <a:xfrm>
                <a:off x="3454" y="2730"/>
                <a:ext cx="92"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800" smtClean="0">
                    <a:solidFill>
                      <a:schemeClr val="bg1"/>
                    </a:solidFill>
                    <a:effectLst>
                      <a:outerShdw blurRad="38100" dist="38100" dir="2700000" algn="tl">
                        <a:srgbClr val="C0C0C0"/>
                      </a:outerShdw>
                    </a:effectLst>
                    <a:latin typeface="Arial" panose="020B0604020202020204" pitchFamily="34" charset="0"/>
                  </a:rPr>
                  <a:t>B</a:t>
                </a:r>
              </a:p>
            </p:txBody>
          </p:sp>
        </p:grpSp>
        <p:sp>
          <p:nvSpPr>
            <p:cNvPr id="118808" name="Rectangle 32"/>
            <p:cNvSpPr>
              <a:spLocks noChangeArrowheads="1"/>
            </p:cNvSpPr>
            <p:nvPr/>
          </p:nvSpPr>
          <p:spPr bwMode="auto">
            <a:xfrm>
              <a:off x="6373813" y="5805488"/>
              <a:ext cx="1427162"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476" tIns="54239" rIns="108476" bIns="54239">
              <a:spAutoFit/>
            </a:bodyPr>
            <a:lstStyle>
              <a:lvl1pPr defTabSz="10763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1076325">
                <a:spcBef>
                  <a:spcPct val="20000"/>
                </a:spcBef>
                <a:buChar char="–"/>
                <a:defRPr sz="2800">
                  <a:solidFill>
                    <a:schemeClr val="tx1"/>
                  </a:solidFill>
                  <a:latin typeface="Arial" panose="020B0604020202020204" pitchFamily="34" charset="0"/>
                </a:defRPr>
              </a:lvl2pPr>
              <a:lvl3pPr marL="1143000" indent="-228600" defTabSz="1076325">
                <a:spcBef>
                  <a:spcPct val="20000"/>
                </a:spcBef>
                <a:buChar char="•"/>
                <a:defRPr sz="2400">
                  <a:solidFill>
                    <a:schemeClr val="tx1"/>
                  </a:solidFill>
                  <a:latin typeface="Arial" panose="020B0604020202020204" pitchFamily="34" charset="0"/>
                </a:defRPr>
              </a:lvl3pPr>
              <a:lvl4pPr marL="1600200" indent="-228600" defTabSz="1076325">
                <a:spcBef>
                  <a:spcPct val="20000"/>
                </a:spcBef>
                <a:buChar char="–"/>
                <a:defRPr sz="2000">
                  <a:solidFill>
                    <a:schemeClr val="tx1"/>
                  </a:solidFill>
                  <a:latin typeface="Arial" panose="020B0604020202020204" pitchFamily="34" charset="0"/>
                </a:defRPr>
              </a:lvl4pPr>
              <a:lvl5pPr marL="2057400" indent="-228600" defTabSz="1076325">
                <a:spcBef>
                  <a:spcPct val="20000"/>
                </a:spcBef>
                <a:buChar char="»"/>
                <a:defRPr sz="2000">
                  <a:solidFill>
                    <a:schemeClr val="tx1"/>
                  </a:solidFill>
                  <a:latin typeface="Arial" panose="020B0604020202020204" pitchFamily="34" charset="0"/>
                </a:defRPr>
              </a:lvl5pPr>
              <a:lvl6pPr marL="25146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1600"/>
                <a:t>170.10.0.0/16</a:t>
              </a:r>
            </a:p>
          </p:txBody>
        </p:sp>
        <p:pic>
          <p:nvPicPr>
            <p:cNvPr id="118809"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0863" y="4906963"/>
              <a:ext cx="2219325" cy="134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8810" name="Rectangle 34"/>
            <p:cNvSpPr>
              <a:spLocks noChangeArrowheads="1"/>
            </p:cNvSpPr>
            <p:nvPr/>
          </p:nvSpPr>
          <p:spPr bwMode="auto">
            <a:xfrm>
              <a:off x="3338513" y="5387975"/>
              <a:ext cx="100488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100</a:t>
              </a:r>
            </a:p>
          </p:txBody>
        </p:sp>
        <p:grpSp>
          <p:nvGrpSpPr>
            <p:cNvPr id="118811" name="Group 35"/>
            <p:cNvGrpSpPr>
              <a:grpSpLocks/>
            </p:cNvGrpSpPr>
            <p:nvPr/>
          </p:nvGrpSpPr>
          <p:grpSpPr bwMode="auto">
            <a:xfrm>
              <a:off x="4210050" y="5048250"/>
              <a:ext cx="696913" cy="479425"/>
              <a:chOff x="2537" y="2615"/>
              <a:chExt cx="391" cy="268"/>
            </a:xfrm>
          </p:grpSpPr>
          <p:pic>
            <p:nvPicPr>
              <p:cNvPr id="118828"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37" y="2615"/>
                <a:ext cx="39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397" name="Rectangle 37"/>
              <p:cNvSpPr>
                <a:spLocks noChangeArrowheads="1"/>
              </p:cNvSpPr>
              <p:nvPr/>
            </p:nvSpPr>
            <p:spPr bwMode="auto">
              <a:xfrm>
                <a:off x="2689" y="2730"/>
                <a:ext cx="86"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800" smtClean="0">
                    <a:solidFill>
                      <a:schemeClr val="bg1"/>
                    </a:solidFill>
                    <a:effectLst>
                      <a:outerShdw blurRad="38100" dist="38100" dir="2700000" algn="tl">
                        <a:srgbClr val="C0C0C0"/>
                      </a:outerShdw>
                    </a:effectLst>
                    <a:latin typeface="Arial" panose="020B0604020202020204" pitchFamily="34" charset="0"/>
                  </a:rPr>
                  <a:t>A</a:t>
                </a:r>
              </a:p>
            </p:txBody>
          </p:sp>
        </p:grpSp>
        <p:sp>
          <p:nvSpPr>
            <p:cNvPr id="118812" name="Rectangle 38"/>
            <p:cNvSpPr>
              <a:spLocks noChangeArrowheads="1"/>
            </p:cNvSpPr>
            <p:nvPr/>
          </p:nvSpPr>
          <p:spPr bwMode="auto">
            <a:xfrm>
              <a:off x="3544888" y="5770563"/>
              <a:ext cx="1433512" cy="239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10763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1076325">
                <a:spcBef>
                  <a:spcPct val="20000"/>
                </a:spcBef>
                <a:buChar char="–"/>
                <a:defRPr sz="2800">
                  <a:solidFill>
                    <a:schemeClr val="tx1"/>
                  </a:solidFill>
                  <a:latin typeface="Arial" panose="020B0604020202020204" pitchFamily="34" charset="0"/>
                </a:defRPr>
              </a:lvl2pPr>
              <a:lvl3pPr marL="1143000" indent="-228600" defTabSz="1076325">
                <a:spcBef>
                  <a:spcPct val="20000"/>
                </a:spcBef>
                <a:buChar char="•"/>
                <a:defRPr sz="2400">
                  <a:solidFill>
                    <a:schemeClr val="tx1"/>
                  </a:solidFill>
                  <a:latin typeface="Arial" panose="020B0604020202020204" pitchFamily="34" charset="0"/>
                </a:defRPr>
              </a:lvl3pPr>
              <a:lvl4pPr marL="1600200" indent="-228600" defTabSz="1076325">
                <a:spcBef>
                  <a:spcPct val="20000"/>
                </a:spcBef>
                <a:buChar char="–"/>
                <a:defRPr sz="2000">
                  <a:solidFill>
                    <a:schemeClr val="tx1"/>
                  </a:solidFill>
                  <a:latin typeface="Arial" panose="020B0604020202020204" pitchFamily="34" charset="0"/>
                </a:defRPr>
              </a:lvl4pPr>
              <a:lvl5pPr marL="2057400" indent="-228600" defTabSz="1076325">
                <a:spcBef>
                  <a:spcPct val="20000"/>
                </a:spcBef>
                <a:buChar char="»"/>
                <a:defRPr sz="2000">
                  <a:solidFill>
                    <a:schemeClr val="tx1"/>
                  </a:solidFill>
                  <a:latin typeface="Arial" panose="020B0604020202020204" pitchFamily="34" charset="0"/>
                </a:defRPr>
              </a:lvl5pPr>
              <a:lvl6pPr marL="25146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1600"/>
                <a:t>160.10.0.0/16</a:t>
              </a:r>
            </a:p>
          </p:txBody>
        </p:sp>
        <p:sp>
          <p:nvSpPr>
            <p:cNvPr id="118813" name="Rectangle 39"/>
            <p:cNvSpPr>
              <a:spLocks noChangeArrowheads="1"/>
            </p:cNvSpPr>
            <p:nvPr/>
          </p:nvSpPr>
          <p:spPr bwMode="auto">
            <a:xfrm>
              <a:off x="4948238" y="3390900"/>
              <a:ext cx="62865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ISP 1</a:t>
              </a:r>
            </a:p>
          </p:txBody>
        </p:sp>
        <p:grpSp>
          <p:nvGrpSpPr>
            <p:cNvPr id="118814" name="Group 40"/>
            <p:cNvGrpSpPr>
              <a:grpSpLocks/>
            </p:cNvGrpSpPr>
            <p:nvPr/>
          </p:nvGrpSpPr>
          <p:grpSpPr bwMode="auto">
            <a:xfrm>
              <a:off x="2657475" y="3290888"/>
              <a:ext cx="3673475" cy="1055687"/>
              <a:chOff x="1668" y="1631"/>
              <a:chExt cx="2057" cy="591"/>
            </a:xfrm>
          </p:grpSpPr>
          <p:sp>
            <p:nvSpPr>
              <p:cNvPr id="118825" name="Arc 41"/>
              <p:cNvSpPr>
                <a:spLocks/>
              </p:cNvSpPr>
              <p:nvPr/>
            </p:nvSpPr>
            <p:spPr bwMode="auto">
              <a:xfrm>
                <a:off x="3329" y="2206"/>
                <a:ext cx="396" cy="16"/>
              </a:xfrm>
              <a:custGeom>
                <a:avLst/>
                <a:gdLst>
                  <a:gd name="T0" fmla="*/ 0 w 21600"/>
                  <a:gd name="T1" fmla="*/ 0 h 21600"/>
                  <a:gd name="T2" fmla="*/ 7 w 21600"/>
                  <a:gd name="T3" fmla="*/ 0 h 21600"/>
                  <a:gd name="T4" fmla="*/ 7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600"/>
                    </a:moveTo>
                    <a:cubicBezTo>
                      <a:pt x="0" y="9692"/>
                      <a:pt x="9637" y="30"/>
                      <a:pt x="21545" y="0"/>
                    </a:cubicBezTo>
                  </a:path>
                  <a:path w="21600" h="21600" stroke="0" extrusionOk="0">
                    <a:moveTo>
                      <a:pt x="0" y="21600"/>
                    </a:moveTo>
                    <a:cubicBezTo>
                      <a:pt x="0" y="9692"/>
                      <a:pt x="9637" y="30"/>
                      <a:pt x="21545" y="0"/>
                    </a:cubicBezTo>
                    <a:lnTo>
                      <a:pt x="21600" y="21600"/>
                    </a:lnTo>
                    <a:lnTo>
                      <a:pt x="0" y="21600"/>
                    </a:lnTo>
                    <a:close/>
                  </a:path>
                </a:pathLst>
              </a:custGeom>
              <a:noFill/>
              <a:ln w="25399" cap="rnd">
                <a:solidFill>
                  <a:srgbClr val="02825A"/>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8826" name="Arc 42"/>
              <p:cNvSpPr>
                <a:spLocks/>
              </p:cNvSpPr>
              <p:nvPr/>
            </p:nvSpPr>
            <p:spPr bwMode="auto">
              <a:xfrm>
                <a:off x="2416" y="2206"/>
                <a:ext cx="577" cy="16"/>
              </a:xfrm>
              <a:custGeom>
                <a:avLst/>
                <a:gdLst>
                  <a:gd name="T0" fmla="*/ 0 w 22239"/>
                  <a:gd name="T1" fmla="*/ 0 h 21600"/>
                  <a:gd name="T2" fmla="*/ 15 w 22239"/>
                  <a:gd name="T3" fmla="*/ 0 h 21600"/>
                  <a:gd name="T4" fmla="*/ 1 w 22239"/>
                  <a:gd name="T5" fmla="*/ 0 h 21600"/>
                  <a:gd name="T6" fmla="*/ 0 60000 65536"/>
                  <a:gd name="T7" fmla="*/ 0 60000 65536"/>
                  <a:gd name="T8" fmla="*/ 0 60000 65536"/>
                </a:gdLst>
                <a:ahLst/>
                <a:cxnLst>
                  <a:cxn ang="T6">
                    <a:pos x="T0" y="T1"/>
                  </a:cxn>
                  <a:cxn ang="T7">
                    <a:pos x="T2" y="T3"/>
                  </a:cxn>
                  <a:cxn ang="T8">
                    <a:pos x="T4" y="T5"/>
                  </a:cxn>
                </a:cxnLst>
                <a:rect l="0" t="0" r="r" b="b"/>
                <a:pathLst>
                  <a:path w="22239" h="21600" fill="none" extrusionOk="0">
                    <a:moveTo>
                      <a:pt x="0" y="15"/>
                    </a:moveTo>
                    <a:cubicBezTo>
                      <a:pt x="269" y="5"/>
                      <a:pt x="539" y="0"/>
                      <a:pt x="809" y="0"/>
                    </a:cubicBezTo>
                    <a:cubicBezTo>
                      <a:pt x="11692" y="0"/>
                      <a:pt x="20876" y="8097"/>
                      <a:pt x="22238" y="18895"/>
                    </a:cubicBezTo>
                  </a:path>
                  <a:path w="22239" h="21600" stroke="0" extrusionOk="0">
                    <a:moveTo>
                      <a:pt x="0" y="15"/>
                    </a:moveTo>
                    <a:cubicBezTo>
                      <a:pt x="269" y="5"/>
                      <a:pt x="539" y="0"/>
                      <a:pt x="809" y="0"/>
                    </a:cubicBezTo>
                    <a:cubicBezTo>
                      <a:pt x="11692" y="0"/>
                      <a:pt x="20876" y="8097"/>
                      <a:pt x="22238" y="18895"/>
                    </a:cubicBezTo>
                    <a:lnTo>
                      <a:pt x="809" y="21600"/>
                    </a:lnTo>
                    <a:lnTo>
                      <a:pt x="0" y="15"/>
                    </a:lnTo>
                    <a:close/>
                  </a:path>
                </a:pathLst>
              </a:custGeom>
              <a:noFill/>
              <a:ln w="25399" cap="rnd">
                <a:solidFill>
                  <a:srgbClr val="02825A"/>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8827" name="Arc 43"/>
              <p:cNvSpPr>
                <a:spLocks/>
              </p:cNvSpPr>
              <p:nvPr/>
            </p:nvSpPr>
            <p:spPr bwMode="auto">
              <a:xfrm>
                <a:off x="1668" y="1631"/>
                <a:ext cx="556" cy="15"/>
              </a:xfrm>
              <a:custGeom>
                <a:avLst/>
                <a:gdLst>
                  <a:gd name="T0" fmla="*/ 4 w 21430"/>
                  <a:gd name="T1" fmla="*/ 0 h 20856"/>
                  <a:gd name="T2" fmla="*/ 14 w 21430"/>
                  <a:gd name="T3" fmla="*/ 0 h 20856"/>
                  <a:gd name="T4" fmla="*/ 0 w 21430"/>
                  <a:gd name="T5" fmla="*/ 0 h 20856"/>
                  <a:gd name="T6" fmla="*/ 0 60000 65536"/>
                  <a:gd name="T7" fmla="*/ 0 60000 65536"/>
                  <a:gd name="T8" fmla="*/ 0 60000 65536"/>
                </a:gdLst>
                <a:ahLst/>
                <a:cxnLst>
                  <a:cxn ang="T6">
                    <a:pos x="T0" y="T1"/>
                  </a:cxn>
                  <a:cxn ang="T7">
                    <a:pos x="T2" y="T3"/>
                  </a:cxn>
                  <a:cxn ang="T8">
                    <a:pos x="T4" y="T5"/>
                  </a:cxn>
                </a:cxnLst>
                <a:rect l="0" t="0" r="r" b="b"/>
                <a:pathLst>
                  <a:path w="21430" h="20856" fill="none" extrusionOk="0">
                    <a:moveTo>
                      <a:pt x="5619" y="-1"/>
                    </a:moveTo>
                    <a:cubicBezTo>
                      <a:pt x="14084" y="2280"/>
                      <a:pt x="20331" y="9452"/>
                      <a:pt x="21429" y="18151"/>
                    </a:cubicBezTo>
                  </a:path>
                  <a:path w="21430" h="20856" stroke="0" extrusionOk="0">
                    <a:moveTo>
                      <a:pt x="5619" y="-1"/>
                    </a:moveTo>
                    <a:cubicBezTo>
                      <a:pt x="14084" y="2280"/>
                      <a:pt x="20331" y="9452"/>
                      <a:pt x="21429" y="18151"/>
                    </a:cubicBezTo>
                    <a:lnTo>
                      <a:pt x="0" y="20856"/>
                    </a:lnTo>
                    <a:lnTo>
                      <a:pt x="5619" y="-1"/>
                    </a:lnTo>
                    <a:close/>
                  </a:path>
                </a:pathLst>
              </a:custGeom>
              <a:noFill/>
              <a:ln w="25399" cap="rnd">
                <a:solidFill>
                  <a:srgbClr val="02825A"/>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18815" name="Rectangle 44"/>
            <p:cNvSpPr>
              <a:spLocks noChangeArrowheads="1"/>
            </p:cNvSpPr>
            <p:nvPr/>
          </p:nvSpPr>
          <p:spPr bwMode="auto">
            <a:xfrm>
              <a:off x="685800" y="3130550"/>
              <a:ext cx="2060575" cy="414338"/>
            </a:xfrm>
            <a:prstGeom prst="rect">
              <a:avLst/>
            </a:prstGeom>
            <a:solidFill>
              <a:schemeClr val="accent2"/>
            </a:solidFill>
            <a:ln w="12699">
              <a:solidFill>
                <a:schemeClr val="tx1"/>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18816" name="Rectangle 45"/>
            <p:cNvSpPr>
              <a:spLocks noChangeArrowheads="1"/>
            </p:cNvSpPr>
            <p:nvPr/>
          </p:nvSpPr>
          <p:spPr bwMode="auto">
            <a:xfrm>
              <a:off x="563563" y="3214688"/>
              <a:ext cx="23066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645" tIns="46758" rIns="91645" bIns="46758" anchor="ctr" anchorCtr="1">
              <a:spAutoFit/>
            </a:bodyPr>
            <a:lstStyle>
              <a:lvl1pPr defTabSz="847725">
                <a:spcBef>
                  <a:spcPct val="20000"/>
                </a:spcBef>
                <a:buClr>
                  <a:schemeClr val="accent1"/>
                </a:buClr>
                <a:buSzPct val="80000"/>
                <a:buFont typeface="Wingdings" panose="05000000000000000000" pitchFamily="2" charset="2"/>
                <a:buChar char="n"/>
                <a:tabLst>
                  <a:tab pos="1479550" algn="l"/>
                </a:tabLst>
                <a:defRPr sz="3200">
                  <a:solidFill>
                    <a:schemeClr val="tx1"/>
                  </a:solidFill>
                  <a:latin typeface="Arial" panose="020B0604020202020204" pitchFamily="34" charset="0"/>
                </a:defRPr>
              </a:lvl1pPr>
              <a:lvl2pPr marL="742950" indent="-285750" defTabSz="847725">
                <a:spcBef>
                  <a:spcPct val="20000"/>
                </a:spcBef>
                <a:buChar char="–"/>
                <a:tabLst>
                  <a:tab pos="1479550" algn="l"/>
                </a:tabLst>
                <a:defRPr sz="2800">
                  <a:solidFill>
                    <a:schemeClr val="tx1"/>
                  </a:solidFill>
                  <a:latin typeface="Arial" panose="020B0604020202020204" pitchFamily="34" charset="0"/>
                </a:defRPr>
              </a:lvl2pPr>
              <a:lvl3pPr marL="1143000" indent="-228600" defTabSz="847725">
                <a:spcBef>
                  <a:spcPct val="20000"/>
                </a:spcBef>
                <a:buChar char="•"/>
                <a:tabLst>
                  <a:tab pos="1479550" algn="l"/>
                </a:tabLst>
                <a:defRPr sz="2400">
                  <a:solidFill>
                    <a:schemeClr val="tx1"/>
                  </a:solidFill>
                  <a:latin typeface="Arial" panose="020B0604020202020204" pitchFamily="34" charset="0"/>
                </a:defRPr>
              </a:lvl3pPr>
              <a:lvl4pPr marL="1600200" indent="-228600" defTabSz="847725">
                <a:spcBef>
                  <a:spcPct val="20000"/>
                </a:spcBef>
                <a:buChar char="–"/>
                <a:tabLst>
                  <a:tab pos="1479550" algn="l"/>
                </a:tabLst>
                <a:defRPr sz="2000">
                  <a:solidFill>
                    <a:schemeClr val="tx1"/>
                  </a:solidFill>
                  <a:latin typeface="Arial" panose="020B0604020202020204" pitchFamily="34" charset="0"/>
                </a:defRPr>
              </a:lvl4pPr>
              <a:lvl5pPr marL="2057400" indent="-228600" defTabSz="847725">
                <a:spcBef>
                  <a:spcPct val="20000"/>
                </a:spcBef>
                <a:buChar char="»"/>
                <a:tabLst>
                  <a:tab pos="1479550" algn="l"/>
                </a:tabLst>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tabLst>
                  <a:tab pos="1479550" algn="l"/>
                </a:tabLst>
                <a:defRPr sz="2000">
                  <a:solidFill>
                    <a:schemeClr val="tx1"/>
                  </a:solidFill>
                  <a:latin typeface="Arial" panose="020B0604020202020204" pitchFamily="34" charset="0"/>
                </a:defRPr>
              </a:lvl9pPr>
            </a:lstStyle>
            <a:p>
              <a:pPr>
                <a:lnSpc>
                  <a:spcPct val="90000"/>
                </a:lnSpc>
                <a:spcBef>
                  <a:spcPct val="30000"/>
                </a:spcBef>
                <a:buClrTx/>
                <a:buSzTx/>
                <a:buFontTx/>
                <a:buNone/>
              </a:pPr>
              <a:r>
                <a:rPr lang="en-GB" altLang="en-US" sz="1600"/>
                <a:t>200.10.0.0/16	300:9</a:t>
              </a:r>
            </a:p>
          </p:txBody>
        </p:sp>
        <p:grpSp>
          <p:nvGrpSpPr>
            <p:cNvPr id="118817" name="Group 46"/>
            <p:cNvGrpSpPr>
              <a:grpSpLocks/>
            </p:cNvGrpSpPr>
            <p:nvPr/>
          </p:nvGrpSpPr>
          <p:grpSpPr bwMode="auto">
            <a:xfrm>
              <a:off x="820738" y="1666875"/>
              <a:ext cx="1962150" cy="1370013"/>
              <a:chOff x="460" y="934"/>
              <a:chExt cx="1099" cy="768"/>
            </a:xfrm>
          </p:grpSpPr>
          <p:pic>
            <p:nvPicPr>
              <p:cNvPr id="118819"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 y="934"/>
                <a:ext cx="1099"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8820" name="Group 48"/>
              <p:cNvGrpSpPr>
                <a:grpSpLocks/>
              </p:cNvGrpSpPr>
              <p:nvPr/>
            </p:nvGrpSpPr>
            <p:grpSpPr bwMode="auto">
              <a:xfrm>
                <a:off x="845" y="1250"/>
                <a:ext cx="391" cy="266"/>
                <a:chOff x="1025" y="1037"/>
                <a:chExt cx="391" cy="266"/>
              </a:xfrm>
            </p:grpSpPr>
            <p:pic>
              <p:nvPicPr>
                <p:cNvPr id="118823" name="Picture 4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5" y="1037"/>
                  <a:ext cx="391" cy="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410" name="Rectangle 50"/>
                <p:cNvSpPr>
                  <a:spLocks noChangeArrowheads="1"/>
                </p:cNvSpPr>
                <p:nvPr/>
              </p:nvSpPr>
              <p:spPr bwMode="auto">
                <a:xfrm>
                  <a:off x="1185" y="1149"/>
                  <a:ext cx="85"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defRPr sz="2400">
                      <a:solidFill>
                        <a:schemeClr val="tx1"/>
                      </a:solidFill>
                      <a:latin typeface="Times New Roman" panose="02020603050405020304" pitchFamily="18" charset="0"/>
                    </a:defRPr>
                  </a:lvl1pPr>
                  <a:lvl2pPr marL="452438" defTabSz="847725">
                    <a:defRPr sz="2400">
                      <a:solidFill>
                        <a:schemeClr val="tx1"/>
                      </a:solidFill>
                      <a:latin typeface="Times New Roman" panose="02020603050405020304" pitchFamily="18" charset="0"/>
                    </a:defRPr>
                  </a:lvl2pPr>
                  <a:lvl3pPr marL="906463" defTabSz="847725">
                    <a:defRPr sz="2400">
                      <a:solidFill>
                        <a:schemeClr val="tx1"/>
                      </a:solidFill>
                      <a:latin typeface="Times New Roman" panose="02020603050405020304" pitchFamily="18" charset="0"/>
                    </a:defRPr>
                  </a:lvl3pPr>
                  <a:lvl4pPr marL="1358900" defTabSz="847725">
                    <a:defRPr sz="2400">
                      <a:solidFill>
                        <a:schemeClr val="tx1"/>
                      </a:solidFill>
                      <a:latin typeface="Times New Roman" panose="02020603050405020304" pitchFamily="18" charset="0"/>
                    </a:defRPr>
                  </a:lvl4pPr>
                  <a:lvl5pPr marL="1811338" defTabSz="847725">
                    <a:defRPr sz="2400">
                      <a:solidFill>
                        <a:schemeClr val="tx1"/>
                      </a:solidFill>
                      <a:latin typeface="Times New Roman" panose="02020603050405020304" pitchFamily="18" charset="0"/>
                    </a:defRPr>
                  </a:lvl5pPr>
                  <a:lvl6pPr marL="2268538" defTabSz="847725" eaLnBrk="0" fontAlgn="base" hangingPunct="0">
                    <a:spcBef>
                      <a:spcPct val="0"/>
                    </a:spcBef>
                    <a:spcAft>
                      <a:spcPct val="0"/>
                    </a:spcAft>
                    <a:defRPr sz="2400">
                      <a:solidFill>
                        <a:schemeClr val="tx1"/>
                      </a:solidFill>
                      <a:latin typeface="Times New Roman" panose="02020603050405020304" pitchFamily="18" charset="0"/>
                    </a:defRPr>
                  </a:lvl6pPr>
                  <a:lvl7pPr marL="2725738" defTabSz="847725" eaLnBrk="0" fontAlgn="base" hangingPunct="0">
                    <a:spcBef>
                      <a:spcPct val="0"/>
                    </a:spcBef>
                    <a:spcAft>
                      <a:spcPct val="0"/>
                    </a:spcAft>
                    <a:defRPr sz="2400">
                      <a:solidFill>
                        <a:schemeClr val="tx1"/>
                      </a:solidFill>
                      <a:latin typeface="Times New Roman" panose="02020603050405020304" pitchFamily="18" charset="0"/>
                    </a:defRPr>
                  </a:lvl7pPr>
                  <a:lvl8pPr marL="3182938" defTabSz="847725" eaLnBrk="0" fontAlgn="base" hangingPunct="0">
                    <a:spcBef>
                      <a:spcPct val="0"/>
                    </a:spcBef>
                    <a:spcAft>
                      <a:spcPct val="0"/>
                    </a:spcAft>
                    <a:defRPr sz="2400">
                      <a:solidFill>
                        <a:schemeClr val="tx1"/>
                      </a:solidFill>
                      <a:latin typeface="Times New Roman" panose="02020603050405020304" pitchFamily="18" charset="0"/>
                    </a:defRPr>
                  </a:lvl8pPr>
                  <a:lvl9pPr marL="3640138" defTabSz="847725"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800" smtClean="0">
                      <a:solidFill>
                        <a:schemeClr val="bg1"/>
                      </a:solidFill>
                      <a:effectLst>
                        <a:outerShdw blurRad="38100" dist="38100" dir="2700000" algn="tl">
                          <a:srgbClr val="C0C0C0"/>
                        </a:outerShdw>
                      </a:effectLst>
                      <a:latin typeface="Arial" panose="020B0604020202020204" pitchFamily="34" charset="0"/>
                    </a:rPr>
                    <a:t>X</a:t>
                  </a:r>
                </a:p>
              </p:txBody>
            </p:sp>
          </p:grpSp>
          <p:sp>
            <p:nvSpPr>
              <p:cNvPr id="118821" name="Rectangle 51"/>
              <p:cNvSpPr>
                <a:spLocks noChangeArrowheads="1"/>
              </p:cNvSpPr>
              <p:nvPr/>
            </p:nvSpPr>
            <p:spPr bwMode="auto">
              <a:xfrm>
                <a:off x="851" y="1036"/>
                <a:ext cx="35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ISP 2</a:t>
                </a:r>
              </a:p>
            </p:txBody>
          </p:sp>
          <p:sp>
            <p:nvSpPr>
              <p:cNvPr id="118822" name="Rectangle 52"/>
              <p:cNvSpPr>
                <a:spLocks noChangeArrowheads="1"/>
              </p:cNvSpPr>
              <p:nvPr/>
            </p:nvSpPr>
            <p:spPr bwMode="auto">
              <a:xfrm>
                <a:off x="624" y="1536"/>
                <a:ext cx="802"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lvl1pPr defTabSz="10763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1076325">
                  <a:spcBef>
                    <a:spcPct val="20000"/>
                  </a:spcBef>
                  <a:buChar char="–"/>
                  <a:defRPr sz="2800">
                    <a:solidFill>
                      <a:schemeClr val="tx1"/>
                    </a:solidFill>
                    <a:latin typeface="Arial" panose="020B0604020202020204" pitchFamily="34" charset="0"/>
                  </a:defRPr>
                </a:lvl2pPr>
                <a:lvl3pPr marL="1143000" indent="-228600" defTabSz="1076325">
                  <a:spcBef>
                    <a:spcPct val="20000"/>
                  </a:spcBef>
                  <a:buChar char="•"/>
                  <a:defRPr sz="2400">
                    <a:solidFill>
                      <a:schemeClr val="tx1"/>
                    </a:solidFill>
                    <a:latin typeface="Arial" panose="020B0604020202020204" pitchFamily="34" charset="0"/>
                  </a:defRPr>
                </a:lvl3pPr>
                <a:lvl4pPr marL="1600200" indent="-228600" defTabSz="1076325">
                  <a:spcBef>
                    <a:spcPct val="20000"/>
                  </a:spcBef>
                  <a:buChar char="–"/>
                  <a:defRPr sz="2000">
                    <a:solidFill>
                      <a:schemeClr val="tx1"/>
                    </a:solidFill>
                    <a:latin typeface="Arial" panose="020B0604020202020204" pitchFamily="34" charset="0"/>
                  </a:defRPr>
                </a:lvl4pPr>
                <a:lvl5pPr marL="2057400" indent="-228600" defTabSz="1076325">
                  <a:spcBef>
                    <a:spcPct val="20000"/>
                  </a:spcBef>
                  <a:buChar char="»"/>
                  <a:defRPr sz="2000">
                    <a:solidFill>
                      <a:schemeClr val="tx1"/>
                    </a:solidFill>
                    <a:latin typeface="Arial" panose="020B0604020202020204" pitchFamily="34" charset="0"/>
                  </a:defRPr>
                </a:lvl5pPr>
                <a:lvl6pPr marL="25146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1600"/>
                  <a:t>200.10.0.0/16</a:t>
                </a:r>
              </a:p>
            </p:txBody>
          </p:sp>
        </p:grpSp>
        <p:sp>
          <p:nvSpPr>
            <p:cNvPr id="118818" name="Rectangle 53"/>
            <p:cNvSpPr>
              <a:spLocks noChangeArrowheads="1"/>
            </p:cNvSpPr>
            <p:nvPr/>
          </p:nvSpPr>
          <p:spPr bwMode="auto">
            <a:xfrm>
              <a:off x="3581400" y="3733800"/>
              <a:ext cx="100488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847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47725">
                <a:spcBef>
                  <a:spcPct val="20000"/>
                </a:spcBef>
                <a:buChar char="–"/>
                <a:defRPr sz="2800">
                  <a:solidFill>
                    <a:schemeClr val="tx1"/>
                  </a:solidFill>
                  <a:latin typeface="Arial" panose="020B0604020202020204" pitchFamily="34" charset="0"/>
                </a:defRPr>
              </a:lvl2pPr>
              <a:lvl3pPr marL="1143000" indent="-228600" defTabSz="847725">
                <a:spcBef>
                  <a:spcPct val="20000"/>
                </a:spcBef>
                <a:buChar char="•"/>
                <a:defRPr sz="2400">
                  <a:solidFill>
                    <a:schemeClr val="tx1"/>
                  </a:solidFill>
                  <a:latin typeface="Arial" panose="020B0604020202020204" pitchFamily="34" charset="0"/>
                </a:defRPr>
              </a:lvl3pPr>
              <a:lvl4pPr marL="1600200" indent="-228600" defTabSz="847725">
                <a:spcBef>
                  <a:spcPct val="20000"/>
                </a:spcBef>
                <a:buChar char="–"/>
                <a:defRPr sz="2000">
                  <a:solidFill>
                    <a:schemeClr val="tx1"/>
                  </a:solidFill>
                  <a:latin typeface="Arial" panose="020B0604020202020204" pitchFamily="34" charset="0"/>
                </a:defRPr>
              </a:lvl4pPr>
              <a:lvl5pPr marL="2057400" indent="-228600" defTabSz="847725">
                <a:spcBef>
                  <a:spcPct val="20000"/>
                </a:spcBef>
                <a:buChar char="»"/>
                <a:defRPr sz="2000">
                  <a:solidFill>
                    <a:schemeClr val="tx1"/>
                  </a:solidFill>
                  <a:latin typeface="Arial" panose="020B0604020202020204" pitchFamily="34" charset="0"/>
                </a:defRPr>
              </a:lvl5pPr>
              <a:lvl6pPr marL="25146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47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100"/>
                <a:t>AS 300</a:t>
              </a:r>
            </a:p>
          </p:txBody>
        </p:sp>
      </p:grpSp>
      <p:sp>
        <p:nvSpPr>
          <p:cNvPr id="55" name="Rectangle 2"/>
          <p:cNvSpPr>
            <a:spLocks noGrp="1" noChangeArrowheads="1"/>
          </p:cNvSpPr>
          <p:nvPr>
            <p:ph type="title"/>
          </p:nvPr>
        </p:nvSpPr>
        <p:spPr>
          <a:xfrm>
            <a:off x="533400" y="0"/>
            <a:ext cx="7772400" cy="609600"/>
          </a:xfrm>
        </p:spPr>
        <p:txBody>
          <a:bodyPr/>
          <a:lstStyle/>
          <a:p>
            <a:pPr algn="ctr" eaLnBrk="1" hangingPunct="1"/>
            <a:r>
              <a:rPr lang="en-US" altLang="en-US" b="1" dirty="0" smtClean="0"/>
              <a:t>Path Attribute: community</a:t>
            </a:r>
          </a:p>
        </p:txBody>
      </p:sp>
      <p:sp>
        <p:nvSpPr>
          <p:cNvPr id="2" name="Slide Number Placeholder 1"/>
          <p:cNvSpPr>
            <a:spLocks noGrp="1"/>
          </p:cNvSpPr>
          <p:nvPr>
            <p:ph type="sldNum" sz="quarter" idx="10"/>
          </p:nvPr>
        </p:nvSpPr>
        <p:spPr/>
        <p:txBody>
          <a:bodyPr/>
          <a:lstStyle/>
          <a:p>
            <a:fld id="{CDC70ED7-27EA-4514-903C-D4A37184F7C2}" type="slidenum">
              <a:rPr lang="en-US" smtClean="0"/>
              <a:pPr/>
              <a:t>64</a:t>
            </a:fld>
            <a:endParaRPr lang="en-US" dirty="0"/>
          </a:p>
        </p:txBody>
      </p:sp>
    </p:spTree>
    <p:extLst>
      <p:ext uri="{BB962C8B-B14F-4D97-AF65-F5344CB8AC3E}">
        <p14:creationId xmlns:p14="http://schemas.microsoft.com/office/powerpoint/2010/main" val="1384792476"/>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itle 3"/>
          <p:cNvSpPr>
            <a:spLocks noGrp="1"/>
          </p:cNvSpPr>
          <p:nvPr>
            <p:ph type="title"/>
          </p:nvPr>
        </p:nvSpPr>
        <p:spPr/>
        <p:txBody>
          <a:bodyPr/>
          <a:lstStyle/>
          <a:p>
            <a:r>
              <a:rPr lang="en-US" altLang="en-US" smtClean="0"/>
              <a:t>Weight</a:t>
            </a:r>
          </a:p>
        </p:txBody>
      </p:sp>
      <p:sp>
        <p:nvSpPr>
          <p:cNvPr id="176131" name="Content Placeholder 4"/>
          <p:cNvSpPr>
            <a:spLocks noGrp="1"/>
          </p:cNvSpPr>
          <p:nvPr>
            <p:ph idx="1"/>
          </p:nvPr>
        </p:nvSpPr>
        <p:spPr/>
        <p:txBody>
          <a:bodyPr/>
          <a:lstStyle/>
          <a:p>
            <a:r>
              <a:rPr lang="en-US" altLang="en-US" i="1" dirty="0" smtClean="0"/>
              <a:t>Weight</a:t>
            </a:r>
            <a:r>
              <a:rPr lang="en-US" altLang="en-US" dirty="0" smtClean="0"/>
              <a:t> is a Cisco-defined attribute that is local to a router. The weight attribute is not advertised to neighboring routers. If the router learns about more than one route to the same destination, the route with the highest weight will be preferred. </a:t>
            </a:r>
          </a:p>
        </p:txBody>
      </p:sp>
      <p:sp>
        <p:nvSpPr>
          <p:cNvPr id="2" name="Slide Number Placeholder 1"/>
          <p:cNvSpPr>
            <a:spLocks noGrp="1"/>
          </p:cNvSpPr>
          <p:nvPr>
            <p:ph type="sldNum" sz="quarter" idx="10"/>
          </p:nvPr>
        </p:nvSpPr>
        <p:spPr/>
        <p:txBody>
          <a:bodyPr/>
          <a:lstStyle/>
          <a:p>
            <a:fld id="{1C0FA7A3-0FBF-4EC3-BE45-825983E95E58}" type="slidenum">
              <a:rPr lang="en-US" smtClean="0"/>
              <a:pPr/>
              <a:t>65</a:t>
            </a:fld>
            <a:endParaRPr lang="en-US" dirty="0"/>
          </a:p>
        </p:txBody>
      </p:sp>
    </p:spTree>
    <p:extLst>
      <p:ext uri="{BB962C8B-B14F-4D97-AF65-F5344CB8AC3E}">
        <p14:creationId xmlns:p14="http://schemas.microsoft.com/office/powerpoint/2010/main" val="2914626063"/>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Title 3"/>
          <p:cNvSpPr>
            <a:spLocks noGrp="1"/>
          </p:cNvSpPr>
          <p:nvPr>
            <p:ph type="title"/>
          </p:nvPr>
        </p:nvSpPr>
        <p:spPr/>
        <p:txBody>
          <a:bodyPr/>
          <a:lstStyle/>
          <a:p>
            <a:r>
              <a:rPr lang="en-US" altLang="en-US" smtClean="0"/>
              <a:t>Weight</a:t>
            </a:r>
          </a:p>
        </p:txBody>
      </p:sp>
      <p:sp>
        <p:nvSpPr>
          <p:cNvPr id="176131" name="Content Placeholder 4"/>
          <p:cNvSpPr>
            <a:spLocks noGrp="1"/>
          </p:cNvSpPr>
          <p:nvPr>
            <p:ph idx="1"/>
          </p:nvPr>
        </p:nvSpPr>
        <p:spPr>
          <a:xfrm>
            <a:off x="381000" y="685800"/>
            <a:ext cx="8382000" cy="4953000"/>
          </a:xfrm>
        </p:spPr>
        <p:txBody>
          <a:bodyPr/>
          <a:lstStyle/>
          <a:p>
            <a:r>
              <a:rPr lang="en-US" altLang="en-US" dirty="0"/>
              <a:t>In Figure 39-2, Router A is receiving an advertisement for network 172.16.1.0 from routers B and C. </a:t>
            </a:r>
            <a:endParaRPr lang="en-US" altLang="en-US" dirty="0" smtClean="0"/>
          </a:p>
          <a:p>
            <a:r>
              <a:rPr lang="en-US" altLang="en-US" dirty="0" smtClean="0"/>
              <a:t>When </a:t>
            </a:r>
            <a:r>
              <a:rPr lang="en-US" altLang="en-US" dirty="0"/>
              <a:t>Router A receives the advertisement from Router B, the associated weight is set to 50. When Router A receives the advertisement from Router C, the associated weight is set to 100. </a:t>
            </a:r>
            <a:endParaRPr lang="en-US" altLang="en-US" dirty="0" smtClean="0"/>
          </a:p>
          <a:p>
            <a:r>
              <a:rPr lang="en-US" altLang="en-US" dirty="0" smtClean="0"/>
              <a:t>Both </a:t>
            </a:r>
            <a:r>
              <a:rPr lang="en-US" altLang="en-US" dirty="0"/>
              <a:t>paths for network 172.16.1.0 will be in the BGP routing table, with their respective weights. The route with the highest weight will be installed in the IP routing table. </a:t>
            </a:r>
          </a:p>
        </p:txBody>
      </p:sp>
      <p:sp>
        <p:nvSpPr>
          <p:cNvPr id="2" name="Slide Number Placeholder 1"/>
          <p:cNvSpPr>
            <a:spLocks noGrp="1"/>
          </p:cNvSpPr>
          <p:nvPr>
            <p:ph type="sldNum" sz="quarter" idx="10"/>
          </p:nvPr>
        </p:nvSpPr>
        <p:spPr/>
        <p:txBody>
          <a:bodyPr/>
          <a:lstStyle/>
          <a:p>
            <a:fld id="{1C0FA7A3-0FBF-4EC3-BE45-825983E95E58}" type="slidenum">
              <a:rPr lang="en-US" smtClean="0"/>
              <a:pPr/>
              <a:t>66</a:t>
            </a:fld>
            <a:endParaRPr lang="en-US" dirty="0"/>
          </a:p>
        </p:txBody>
      </p:sp>
    </p:spTree>
    <p:extLst>
      <p:ext uri="{BB962C8B-B14F-4D97-AF65-F5344CB8AC3E}">
        <p14:creationId xmlns:p14="http://schemas.microsoft.com/office/powerpoint/2010/main" val="935426954"/>
      </p:ext>
    </p:extLst>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itle 3"/>
          <p:cNvSpPr>
            <a:spLocks noGrp="1"/>
          </p:cNvSpPr>
          <p:nvPr>
            <p:ph type="title"/>
          </p:nvPr>
        </p:nvSpPr>
        <p:spPr/>
        <p:txBody>
          <a:bodyPr/>
          <a:lstStyle/>
          <a:p>
            <a:r>
              <a:rPr lang="en-US" altLang="en-US" smtClean="0"/>
              <a:t>Weight</a:t>
            </a:r>
          </a:p>
        </p:txBody>
      </p:sp>
      <p:pic>
        <p:nvPicPr>
          <p:cNvPr id="177155"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30338" y="2247900"/>
            <a:ext cx="6592887" cy="346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0"/>
          </p:nvPr>
        </p:nvSpPr>
        <p:spPr/>
        <p:txBody>
          <a:bodyPr/>
          <a:lstStyle/>
          <a:p>
            <a:fld id="{1C0FA7A3-0FBF-4EC3-BE45-825983E95E58}" type="slidenum">
              <a:rPr lang="en-US" smtClean="0"/>
              <a:pPr/>
              <a:t>67</a:t>
            </a:fld>
            <a:endParaRPr lang="en-US" dirty="0"/>
          </a:p>
        </p:txBody>
      </p:sp>
    </p:spTree>
    <p:extLst>
      <p:ext uri="{BB962C8B-B14F-4D97-AF65-F5344CB8AC3E}">
        <p14:creationId xmlns:p14="http://schemas.microsoft.com/office/powerpoint/2010/main" val="2568814838"/>
      </p:ext>
    </p:extLst>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533400" y="0"/>
            <a:ext cx="7772400" cy="609600"/>
          </a:xfrm>
        </p:spPr>
        <p:txBody>
          <a:bodyPr/>
          <a:lstStyle/>
          <a:p>
            <a:pPr algn="ctr" eaLnBrk="1" hangingPunct="1"/>
            <a:r>
              <a:rPr lang="en-US" altLang="en-US" sz="4000" b="1" dirty="0" err="1"/>
              <a:t>b</a:t>
            </a:r>
            <a:r>
              <a:rPr lang="en-US" altLang="en-US" sz="4000" b="1" dirty="0" err="1" smtClean="0"/>
              <a:t>gp</a:t>
            </a:r>
            <a:r>
              <a:rPr lang="en-US" altLang="en-US" sz="4000" b="1" dirty="0" smtClean="0"/>
              <a:t> routing</a:t>
            </a:r>
          </a:p>
        </p:txBody>
      </p:sp>
      <p:pic>
        <p:nvPicPr>
          <p:cNvPr id="5" name="Picture 4" descr="fi9708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71600"/>
            <a:ext cx="7086600" cy="3810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0"/>
          </p:nvPr>
        </p:nvSpPr>
        <p:spPr/>
        <p:txBody>
          <a:bodyPr/>
          <a:lstStyle/>
          <a:p>
            <a:fld id="{1C0FA7A3-0FBF-4EC3-BE45-825983E95E58}" type="slidenum">
              <a:rPr lang="en-US" smtClean="0"/>
              <a:pPr/>
              <a:t>68</a:t>
            </a:fld>
            <a:endParaRPr lang="en-US" dirty="0"/>
          </a:p>
        </p:txBody>
      </p:sp>
    </p:spTree>
    <p:extLst>
      <p:ext uri="{BB962C8B-B14F-4D97-AF65-F5344CB8AC3E}">
        <p14:creationId xmlns:p14="http://schemas.microsoft.com/office/powerpoint/2010/main" val="3659162617"/>
      </p:ext>
    </p:extLst>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body" idx="1"/>
          </p:nvPr>
        </p:nvSpPr>
        <p:spPr>
          <a:xfrm>
            <a:off x="423041" y="990600"/>
            <a:ext cx="8229600" cy="5410200"/>
          </a:xfrm>
        </p:spPr>
        <p:txBody>
          <a:bodyPr/>
          <a:lstStyle/>
          <a:p>
            <a:pPr eaLnBrk="1" hangingPunct="1">
              <a:lnSpc>
                <a:spcPct val="80000"/>
              </a:lnSpc>
            </a:pPr>
            <a:r>
              <a:rPr lang="en-US" altLang="en-US" sz="2000" dirty="0" smtClean="0"/>
              <a:t>BGP selects only one path as the best path. </a:t>
            </a:r>
          </a:p>
          <a:p>
            <a:pPr eaLnBrk="1" hangingPunct="1">
              <a:lnSpc>
                <a:spcPct val="80000"/>
              </a:lnSpc>
            </a:pPr>
            <a:r>
              <a:rPr lang="en-US" altLang="en-US" sz="2000" dirty="0" smtClean="0"/>
              <a:t>When the path is selected, BGP puts the selected path in its routing table and propagates the path to its neighbors. </a:t>
            </a:r>
          </a:p>
          <a:p>
            <a:pPr eaLnBrk="1" hangingPunct="1">
              <a:lnSpc>
                <a:spcPct val="80000"/>
              </a:lnSpc>
            </a:pPr>
            <a:r>
              <a:rPr lang="en-US" altLang="en-US" sz="2000" dirty="0" smtClean="0"/>
              <a:t>BGP uses the following criteria, in the order presented, to select a path for a destination:</a:t>
            </a:r>
          </a:p>
          <a:p>
            <a:pPr eaLnBrk="1" hangingPunct="1">
              <a:lnSpc>
                <a:spcPct val="80000"/>
              </a:lnSpc>
              <a:buFontTx/>
              <a:buNone/>
            </a:pPr>
            <a:endParaRPr lang="en-US" altLang="en-US" sz="2000" dirty="0" smtClean="0"/>
          </a:p>
          <a:p>
            <a:pPr eaLnBrk="1" hangingPunct="1">
              <a:lnSpc>
                <a:spcPct val="80000"/>
              </a:lnSpc>
              <a:buFontTx/>
              <a:buAutoNum type="arabicPeriod"/>
            </a:pPr>
            <a:r>
              <a:rPr lang="en-US" altLang="en-US" sz="2000" dirty="0" smtClean="0"/>
              <a:t>If the path specifies a next hop that is inaccessible, drop the update</a:t>
            </a:r>
          </a:p>
          <a:p>
            <a:pPr eaLnBrk="1" hangingPunct="1">
              <a:lnSpc>
                <a:spcPct val="80000"/>
              </a:lnSpc>
              <a:buFontTx/>
              <a:buNone/>
            </a:pPr>
            <a:endParaRPr lang="en-US" altLang="en-US" sz="2000" dirty="0" smtClean="0"/>
          </a:p>
          <a:p>
            <a:pPr eaLnBrk="1" hangingPunct="1">
              <a:lnSpc>
                <a:spcPct val="80000"/>
              </a:lnSpc>
              <a:buFontTx/>
              <a:buNone/>
            </a:pPr>
            <a:r>
              <a:rPr lang="en-US" altLang="en-US" sz="2000" dirty="0" smtClean="0"/>
              <a:t>2. Prefer the path with the </a:t>
            </a:r>
            <a:r>
              <a:rPr lang="en-US" altLang="en-US" sz="2000" b="1" dirty="0" smtClean="0"/>
              <a:t>largest weight</a:t>
            </a:r>
            <a:r>
              <a:rPr lang="en-US" altLang="en-US" sz="2000" dirty="0" smtClean="0"/>
              <a:t>.</a:t>
            </a:r>
          </a:p>
          <a:p>
            <a:pPr eaLnBrk="1" hangingPunct="1">
              <a:lnSpc>
                <a:spcPct val="80000"/>
              </a:lnSpc>
              <a:buFontTx/>
              <a:buNone/>
            </a:pPr>
            <a:endParaRPr lang="en-US" altLang="en-US" sz="2000" dirty="0" smtClean="0"/>
          </a:p>
          <a:p>
            <a:pPr eaLnBrk="1" hangingPunct="1">
              <a:lnSpc>
                <a:spcPct val="80000"/>
              </a:lnSpc>
              <a:buFontTx/>
              <a:buNone/>
            </a:pPr>
            <a:r>
              <a:rPr lang="en-US" altLang="en-US" sz="2000" dirty="0" smtClean="0"/>
              <a:t>3. If the weights are the same, prefer the path with the </a:t>
            </a:r>
            <a:r>
              <a:rPr lang="en-US" altLang="en-US" sz="2000" b="1" dirty="0" smtClean="0"/>
              <a:t>largest local preference</a:t>
            </a:r>
            <a:r>
              <a:rPr lang="en-US" altLang="en-US" sz="2000" dirty="0" smtClean="0"/>
              <a:t>.</a:t>
            </a:r>
          </a:p>
          <a:p>
            <a:pPr eaLnBrk="1" hangingPunct="1">
              <a:lnSpc>
                <a:spcPct val="80000"/>
              </a:lnSpc>
              <a:buFontTx/>
              <a:buNone/>
            </a:pPr>
            <a:endParaRPr lang="en-US" altLang="en-US" sz="2000" dirty="0" smtClean="0"/>
          </a:p>
          <a:p>
            <a:pPr eaLnBrk="1" hangingPunct="1">
              <a:lnSpc>
                <a:spcPct val="80000"/>
              </a:lnSpc>
              <a:buFontTx/>
              <a:buNone/>
            </a:pPr>
            <a:r>
              <a:rPr lang="en-US" altLang="en-US" sz="2000" dirty="0" smtClean="0"/>
              <a:t>4. If the local preferences are the same, prefer the </a:t>
            </a:r>
            <a:r>
              <a:rPr lang="en-US" altLang="en-US" sz="2000" b="1" dirty="0" smtClean="0"/>
              <a:t>path that was originated by BGP</a:t>
            </a:r>
            <a:r>
              <a:rPr lang="en-US" altLang="en-US" sz="2000" dirty="0" smtClean="0"/>
              <a:t> running on this router.</a:t>
            </a:r>
          </a:p>
          <a:p>
            <a:pPr eaLnBrk="1" hangingPunct="1">
              <a:lnSpc>
                <a:spcPct val="80000"/>
              </a:lnSpc>
              <a:buFontTx/>
              <a:buNone/>
            </a:pPr>
            <a:endParaRPr lang="en-US" altLang="en-US" sz="2000" dirty="0" smtClean="0"/>
          </a:p>
          <a:p>
            <a:pPr eaLnBrk="1" hangingPunct="1">
              <a:lnSpc>
                <a:spcPct val="80000"/>
              </a:lnSpc>
              <a:buFontTx/>
              <a:buNone/>
            </a:pPr>
            <a:r>
              <a:rPr lang="en-US" altLang="en-US" sz="2000" dirty="0" smtClean="0"/>
              <a:t>5. If no route was originated, prefer the route that has the </a:t>
            </a:r>
            <a:r>
              <a:rPr lang="en-US" altLang="en-US" sz="2000" b="1" dirty="0" smtClean="0"/>
              <a:t>shortest </a:t>
            </a:r>
            <a:r>
              <a:rPr lang="en-US" altLang="en-US" sz="2000" b="1" dirty="0" err="1" smtClean="0"/>
              <a:t>AS_path</a:t>
            </a:r>
            <a:r>
              <a:rPr lang="en-US" altLang="en-US" sz="2000" dirty="0" smtClean="0"/>
              <a:t>.</a:t>
            </a:r>
          </a:p>
          <a:p>
            <a:pPr eaLnBrk="1" hangingPunct="1">
              <a:lnSpc>
                <a:spcPct val="80000"/>
              </a:lnSpc>
              <a:buFontTx/>
              <a:buNone/>
            </a:pPr>
            <a:endParaRPr lang="en-US" altLang="en-US" sz="2000" dirty="0" smtClean="0"/>
          </a:p>
          <a:p>
            <a:pPr eaLnBrk="1" hangingPunct="1">
              <a:lnSpc>
                <a:spcPct val="80000"/>
              </a:lnSpc>
              <a:buFontTx/>
              <a:buNone/>
            </a:pPr>
            <a:endParaRPr lang="en-US" altLang="en-US" sz="2000" dirty="0" smtClean="0"/>
          </a:p>
        </p:txBody>
      </p:sp>
      <p:sp>
        <p:nvSpPr>
          <p:cNvPr id="5" name="Rectangle 2"/>
          <p:cNvSpPr>
            <a:spLocks noGrp="1" noChangeArrowheads="1"/>
          </p:cNvSpPr>
          <p:nvPr>
            <p:ph type="title"/>
          </p:nvPr>
        </p:nvSpPr>
        <p:spPr>
          <a:xfrm>
            <a:off x="457200" y="120650"/>
            <a:ext cx="8229600" cy="488950"/>
          </a:xfrm>
        </p:spPr>
        <p:txBody>
          <a:bodyPr/>
          <a:lstStyle/>
          <a:p>
            <a:pPr algn="ctr" eaLnBrk="1" hangingPunct="1"/>
            <a:r>
              <a:rPr lang="en-US" altLang="en-US" sz="2800" b="1" dirty="0" smtClean="0"/>
              <a:t>BGP Route Selection Algorithm</a:t>
            </a:r>
          </a:p>
        </p:txBody>
      </p:sp>
      <p:sp>
        <p:nvSpPr>
          <p:cNvPr id="2" name="Slide Number Placeholder 1"/>
          <p:cNvSpPr>
            <a:spLocks noGrp="1"/>
          </p:cNvSpPr>
          <p:nvPr>
            <p:ph type="sldNum" sz="quarter" idx="10"/>
          </p:nvPr>
        </p:nvSpPr>
        <p:spPr/>
        <p:txBody>
          <a:bodyPr/>
          <a:lstStyle/>
          <a:p>
            <a:fld id="{1C0FA7A3-0FBF-4EC3-BE45-825983E95E58}" type="slidenum">
              <a:rPr lang="en-US" smtClean="0"/>
              <a:pPr/>
              <a:t>69</a:t>
            </a:fld>
            <a:endParaRPr lang="en-US" dirty="0"/>
          </a:p>
        </p:txBody>
      </p:sp>
    </p:spTree>
    <p:extLst>
      <p:ext uri="{BB962C8B-B14F-4D97-AF65-F5344CB8AC3E}">
        <p14:creationId xmlns:p14="http://schemas.microsoft.com/office/powerpoint/2010/main" val="837891222"/>
      </p:ext>
    </p:extLst>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457200" y="120650"/>
            <a:ext cx="8229600" cy="488950"/>
          </a:xfrm>
        </p:spPr>
        <p:txBody>
          <a:bodyPr/>
          <a:lstStyle/>
          <a:p>
            <a:pPr algn="ctr" eaLnBrk="1" hangingPunct="1"/>
            <a:r>
              <a:rPr lang="en-US" altLang="en-US" sz="2800" b="1" dirty="0" smtClean="0"/>
              <a:t>BGP Route Selection Algorithm</a:t>
            </a:r>
          </a:p>
        </p:txBody>
      </p:sp>
      <p:sp>
        <p:nvSpPr>
          <p:cNvPr id="2" name="Content Placeholder 1"/>
          <p:cNvSpPr>
            <a:spLocks noGrp="1"/>
          </p:cNvSpPr>
          <p:nvPr>
            <p:ph idx="1"/>
          </p:nvPr>
        </p:nvSpPr>
        <p:spPr/>
        <p:txBody>
          <a:bodyPr/>
          <a:lstStyle/>
          <a:p>
            <a:pPr eaLnBrk="1" hangingPunct="1">
              <a:lnSpc>
                <a:spcPct val="80000"/>
              </a:lnSpc>
              <a:buFontTx/>
              <a:buNone/>
            </a:pPr>
            <a:r>
              <a:rPr lang="en-US" altLang="en-US" sz="2400" dirty="0" smtClean="0"/>
              <a:t>6.  </a:t>
            </a:r>
            <a:r>
              <a:rPr lang="en-US" altLang="en-US" sz="2400" dirty="0"/>
              <a:t>If all paths have the same </a:t>
            </a:r>
            <a:r>
              <a:rPr lang="en-US" altLang="en-US" sz="2400" dirty="0" err="1"/>
              <a:t>AS_path</a:t>
            </a:r>
            <a:r>
              <a:rPr lang="en-US" altLang="en-US" sz="2400" dirty="0"/>
              <a:t> length, prefer the path with the </a:t>
            </a:r>
            <a:r>
              <a:rPr lang="en-US" altLang="en-US" sz="2400" b="1" dirty="0"/>
              <a:t>lowest origin</a:t>
            </a:r>
            <a:r>
              <a:rPr lang="en-US" altLang="en-US" sz="2400" dirty="0"/>
              <a:t> type (where IGP is lower than EGP, and EGP is lower than Incomplete).</a:t>
            </a:r>
          </a:p>
          <a:p>
            <a:pPr eaLnBrk="1" hangingPunct="1">
              <a:lnSpc>
                <a:spcPct val="80000"/>
              </a:lnSpc>
              <a:buFontTx/>
              <a:buNone/>
            </a:pPr>
            <a:endParaRPr lang="en-US" altLang="en-US" sz="2400" dirty="0"/>
          </a:p>
          <a:p>
            <a:pPr eaLnBrk="1" hangingPunct="1">
              <a:lnSpc>
                <a:spcPct val="80000"/>
              </a:lnSpc>
              <a:buFontTx/>
              <a:buNone/>
            </a:pPr>
            <a:r>
              <a:rPr lang="en-US" altLang="en-US" sz="2400" dirty="0"/>
              <a:t>7. If the origin codes are the same, prefer the path with the </a:t>
            </a:r>
            <a:r>
              <a:rPr lang="en-US" altLang="en-US" sz="2400" b="1" dirty="0"/>
              <a:t>lowest MED attribute</a:t>
            </a:r>
            <a:r>
              <a:rPr lang="en-US" altLang="en-US" sz="2400" dirty="0"/>
              <a:t>.</a:t>
            </a:r>
          </a:p>
          <a:p>
            <a:pPr eaLnBrk="1" hangingPunct="1">
              <a:lnSpc>
                <a:spcPct val="80000"/>
              </a:lnSpc>
              <a:buFontTx/>
              <a:buNone/>
            </a:pPr>
            <a:endParaRPr lang="en-US" altLang="en-US" sz="2400" dirty="0"/>
          </a:p>
          <a:p>
            <a:pPr eaLnBrk="1" hangingPunct="1">
              <a:lnSpc>
                <a:spcPct val="80000"/>
              </a:lnSpc>
              <a:buFontTx/>
              <a:buNone/>
            </a:pPr>
            <a:r>
              <a:rPr lang="en-US" altLang="en-US" sz="2400" dirty="0"/>
              <a:t>8. If the paths have the same MED, prefer the </a:t>
            </a:r>
            <a:r>
              <a:rPr lang="en-US" altLang="en-US" sz="2400" b="1" dirty="0"/>
              <a:t>external path</a:t>
            </a:r>
            <a:r>
              <a:rPr lang="en-US" altLang="en-US" sz="2400" dirty="0"/>
              <a:t> over the internal path.</a:t>
            </a:r>
          </a:p>
          <a:p>
            <a:pPr eaLnBrk="1" hangingPunct="1">
              <a:lnSpc>
                <a:spcPct val="80000"/>
              </a:lnSpc>
              <a:buFontTx/>
              <a:buNone/>
            </a:pPr>
            <a:endParaRPr lang="en-US" altLang="en-US" sz="2400" dirty="0"/>
          </a:p>
          <a:p>
            <a:pPr eaLnBrk="1" hangingPunct="1">
              <a:lnSpc>
                <a:spcPct val="80000"/>
              </a:lnSpc>
              <a:buFontTx/>
              <a:buNone/>
            </a:pPr>
            <a:r>
              <a:rPr lang="en-US" altLang="en-US" sz="2400" dirty="0"/>
              <a:t>9. If the paths are still the same, prefer the path through the </a:t>
            </a:r>
            <a:r>
              <a:rPr lang="en-US" altLang="en-US" sz="2400" b="1" dirty="0"/>
              <a:t>closest IGP neighbor</a:t>
            </a:r>
            <a:r>
              <a:rPr lang="en-US" altLang="en-US" sz="2400" dirty="0"/>
              <a:t>.</a:t>
            </a:r>
          </a:p>
          <a:p>
            <a:pPr eaLnBrk="1" hangingPunct="1">
              <a:lnSpc>
                <a:spcPct val="80000"/>
              </a:lnSpc>
              <a:buFontTx/>
              <a:buNone/>
            </a:pPr>
            <a:endParaRPr lang="en-US" altLang="en-US" sz="2400" dirty="0"/>
          </a:p>
          <a:p>
            <a:pPr eaLnBrk="1" hangingPunct="1">
              <a:lnSpc>
                <a:spcPct val="80000"/>
              </a:lnSpc>
              <a:buFontTx/>
              <a:buNone/>
            </a:pPr>
            <a:r>
              <a:rPr lang="en-US" altLang="en-US" sz="2400" dirty="0"/>
              <a:t>10. Prefer the path with the lowest IP address, as specified by the BGP </a:t>
            </a:r>
            <a:r>
              <a:rPr lang="en-US" altLang="en-US" sz="2400" b="1" dirty="0"/>
              <a:t>router ID</a:t>
            </a:r>
            <a:r>
              <a:rPr lang="en-US" altLang="en-US" sz="2400" dirty="0"/>
              <a:t>.</a:t>
            </a:r>
          </a:p>
          <a:p>
            <a:endParaRPr lang="en-US" sz="2400" dirty="0"/>
          </a:p>
        </p:txBody>
      </p:sp>
      <p:sp>
        <p:nvSpPr>
          <p:cNvPr id="3" name="Slide Number Placeholder 2"/>
          <p:cNvSpPr>
            <a:spLocks noGrp="1"/>
          </p:cNvSpPr>
          <p:nvPr>
            <p:ph type="sldNum" sz="quarter" idx="10"/>
          </p:nvPr>
        </p:nvSpPr>
        <p:spPr/>
        <p:txBody>
          <a:bodyPr/>
          <a:lstStyle/>
          <a:p>
            <a:fld id="{1C0FA7A3-0FBF-4EC3-BE45-825983E95E58}" type="slidenum">
              <a:rPr lang="en-US" smtClean="0"/>
              <a:pPr/>
              <a:t>70</a:t>
            </a:fld>
            <a:endParaRPr lang="en-US" dirty="0"/>
          </a:p>
        </p:txBody>
      </p:sp>
    </p:spTree>
    <p:extLst>
      <p:ext uri="{BB962C8B-B14F-4D97-AF65-F5344CB8AC3E}">
        <p14:creationId xmlns:p14="http://schemas.microsoft.com/office/powerpoint/2010/main" val="3426857513"/>
      </p:ext>
    </p:extLst>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1828800" y="0"/>
            <a:ext cx="7772400" cy="609600"/>
          </a:xfrm>
        </p:spPr>
        <p:txBody>
          <a:bodyPr/>
          <a:lstStyle/>
          <a:p>
            <a:pPr eaLnBrk="1" hangingPunct="1"/>
            <a:r>
              <a:rPr lang="en-US" altLang="en-US" dirty="0" smtClean="0"/>
              <a:t>The Route Map Command</a:t>
            </a:r>
          </a:p>
        </p:txBody>
      </p:sp>
      <p:sp>
        <p:nvSpPr>
          <p:cNvPr id="78851" name="Rectangle 3"/>
          <p:cNvSpPr>
            <a:spLocks noGrp="1" noChangeArrowheads="1"/>
          </p:cNvSpPr>
          <p:nvPr>
            <p:ph type="body" idx="1"/>
          </p:nvPr>
        </p:nvSpPr>
        <p:spPr>
          <a:xfrm>
            <a:off x="533400" y="838200"/>
            <a:ext cx="8229600" cy="4572000"/>
          </a:xfrm>
        </p:spPr>
        <p:txBody>
          <a:bodyPr/>
          <a:lstStyle/>
          <a:p>
            <a:pPr eaLnBrk="1" hangingPunct="1">
              <a:lnSpc>
                <a:spcPct val="90000"/>
              </a:lnSpc>
            </a:pPr>
            <a:r>
              <a:rPr lang="en-US" altLang="en-US" dirty="0" smtClean="0">
                <a:cs typeface="Times New Roman" panose="02020603050405020304" pitchFamily="18" charset="0"/>
              </a:rPr>
              <a:t>Router(</a:t>
            </a:r>
            <a:r>
              <a:rPr lang="en-US" altLang="en-US" dirty="0" err="1" smtClean="0">
                <a:cs typeface="Times New Roman" panose="02020603050405020304" pitchFamily="18" charset="0"/>
              </a:rPr>
              <a:t>config</a:t>
            </a:r>
            <a:r>
              <a:rPr lang="en-US" altLang="en-US" dirty="0" smtClean="0">
                <a:cs typeface="Times New Roman" panose="02020603050405020304" pitchFamily="18" charset="0"/>
              </a:rPr>
              <a:t>)#</a:t>
            </a:r>
            <a:r>
              <a:rPr lang="en-US" altLang="en-US" b="1" dirty="0" smtClean="0">
                <a:cs typeface="Times New Roman" panose="02020603050405020304" pitchFamily="18" charset="0"/>
              </a:rPr>
              <a:t>route-map</a:t>
            </a:r>
            <a:r>
              <a:rPr lang="en-US" altLang="en-US" dirty="0" smtClean="0">
                <a:cs typeface="Times New Roman" panose="02020603050405020304" pitchFamily="18" charset="0"/>
              </a:rPr>
              <a:t> </a:t>
            </a:r>
            <a:r>
              <a:rPr lang="en-US" altLang="en-US" i="1" dirty="0" smtClean="0">
                <a:cs typeface="Times New Roman" panose="02020603050405020304" pitchFamily="18" charset="0"/>
              </a:rPr>
              <a:t>map-tag</a:t>
            </a:r>
            <a:r>
              <a:rPr lang="en-US" altLang="en-US" dirty="0" smtClean="0">
                <a:cs typeface="Times New Roman" panose="02020603050405020304" pitchFamily="18" charset="0"/>
              </a:rPr>
              <a:t> [</a:t>
            </a:r>
            <a:r>
              <a:rPr lang="en-US" altLang="en-US" b="1" dirty="0" smtClean="0">
                <a:cs typeface="Times New Roman" panose="02020603050405020304" pitchFamily="18" charset="0"/>
              </a:rPr>
              <a:t>permit</a:t>
            </a:r>
            <a:r>
              <a:rPr lang="en-US" altLang="en-US" dirty="0" smtClean="0">
                <a:cs typeface="Times New Roman" panose="02020603050405020304" pitchFamily="18" charset="0"/>
              </a:rPr>
              <a:t> | </a:t>
            </a:r>
            <a:r>
              <a:rPr lang="en-US" altLang="en-US" b="1" dirty="0" smtClean="0">
                <a:cs typeface="Times New Roman" panose="02020603050405020304" pitchFamily="18" charset="0"/>
              </a:rPr>
              <a:t>deny</a:t>
            </a:r>
            <a:r>
              <a:rPr lang="en-US" altLang="en-US" dirty="0" smtClean="0">
                <a:cs typeface="Times New Roman" panose="02020603050405020304" pitchFamily="18" charset="0"/>
              </a:rPr>
              <a:t>] [</a:t>
            </a:r>
            <a:r>
              <a:rPr lang="en-US" altLang="en-US" i="1" dirty="0" smtClean="0">
                <a:cs typeface="Times New Roman" panose="02020603050405020304" pitchFamily="18" charset="0"/>
              </a:rPr>
              <a:t>sequence</a:t>
            </a:r>
            <a:r>
              <a:rPr lang="en-US" altLang="en-US" b="1" i="1" dirty="0" smtClean="0">
                <a:cs typeface="Times New Roman" panose="02020603050405020304" pitchFamily="18" charset="0"/>
              </a:rPr>
              <a:t>-</a:t>
            </a:r>
            <a:r>
              <a:rPr lang="en-US" altLang="en-US" i="1" dirty="0" smtClean="0">
                <a:cs typeface="Times New Roman" panose="02020603050405020304" pitchFamily="18" charset="0"/>
              </a:rPr>
              <a:t>number</a:t>
            </a:r>
            <a:r>
              <a:rPr lang="en-US" altLang="en-US" dirty="0" smtClean="0">
                <a:cs typeface="Times New Roman" panose="02020603050405020304" pitchFamily="18" charset="0"/>
              </a:rPr>
              <a:t>]</a:t>
            </a:r>
            <a:r>
              <a:rPr lang="en-US" altLang="en-US" dirty="0" smtClean="0"/>
              <a:t> </a:t>
            </a:r>
          </a:p>
          <a:p>
            <a:pPr eaLnBrk="1" hangingPunct="1">
              <a:lnSpc>
                <a:spcPct val="90000"/>
              </a:lnSpc>
            </a:pPr>
            <a:endParaRPr lang="en-US" altLang="en-US" dirty="0" smtClean="0">
              <a:solidFill>
                <a:schemeClr val="accent2"/>
              </a:solidFill>
              <a:cs typeface="Times New Roman" panose="02020603050405020304" pitchFamily="18" charset="0"/>
            </a:endParaRPr>
          </a:p>
          <a:p>
            <a:pPr eaLnBrk="1" hangingPunct="1">
              <a:lnSpc>
                <a:spcPct val="90000"/>
              </a:lnSpc>
            </a:pPr>
            <a:r>
              <a:rPr lang="en-US" altLang="en-US" sz="2400" dirty="0" smtClean="0">
                <a:cs typeface="Times New Roman" panose="02020603050405020304" pitchFamily="18" charset="0"/>
              </a:rPr>
              <a:t>BGP input and output policies are defined, generally, using route maps. </a:t>
            </a:r>
          </a:p>
          <a:p>
            <a:pPr eaLnBrk="1" hangingPunct="1">
              <a:lnSpc>
                <a:spcPct val="90000"/>
              </a:lnSpc>
            </a:pPr>
            <a:r>
              <a:rPr lang="en-US" altLang="en-US" sz="2400" dirty="0" smtClean="0">
                <a:cs typeface="Times New Roman" panose="02020603050405020304" pitchFamily="18" charset="0"/>
              </a:rPr>
              <a:t>Route maps are used with BGP to control and modify routing information and to define the conditions by which routes are redistributed between routing domains.</a:t>
            </a:r>
          </a:p>
          <a:p>
            <a:pPr eaLnBrk="1" hangingPunct="1">
              <a:lnSpc>
                <a:spcPct val="90000"/>
              </a:lnSpc>
            </a:pPr>
            <a:r>
              <a:rPr lang="en-US" altLang="en-US" sz="2400" dirty="0" smtClean="0">
                <a:cs typeface="Times New Roman" panose="02020603050405020304" pitchFamily="18" charset="0"/>
              </a:rPr>
              <a:t>Note that</a:t>
            </a:r>
            <a:r>
              <a:rPr lang="en-US" altLang="en-US" sz="2400" i="1" dirty="0" smtClean="0">
                <a:cs typeface="Times New Roman" panose="02020603050405020304" pitchFamily="18" charset="0"/>
              </a:rPr>
              <a:t> map-tag</a:t>
            </a:r>
            <a:r>
              <a:rPr lang="en-US" altLang="en-US" sz="2400" dirty="0" smtClean="0">
                <a:cs typeface="Times New Roman" panose="02020603050405020304" pitchFamily="18" charset="0"/>
              </a:rPr>
              <a:t> is a name that identifies the route map; the </a:t>
            </a:r>
            <a:r>
              <a:rPr lang="en-US" altLang="en-US" sz="2400" i="1" dirty="0" smtClean="0">
                <a:cs typeface="Times New Roman" panose="02020603050405020304" pitchFamily="18" charset="0"/>
              </a:rPr>
              <a:t>sequence-number</a:t>
            </a:r>
            <a:r>
              <a:rPr lang="en-US" altLang="en-US" sz="2400" dirty="0" smtClean="0">
                <a:cs typeface="Times New Roman" panose="02020603050405020304" pitchFamily="18" charset="0"/>
              </a:rPr>
              <a:t> indicates the position that an instance of the route map is to have in relation to other instances of the same route map. </a:t>
            </a:r>
          </a:p>
          <a:p>
            <a:pPr eaLnBrk="1" hangingPunct="1">
              <a:lnSpc>
                <a:spcPct val="90000"/>
              </a:lnSpc>
            </a:pPr>
            <a:r>
              <a:rPr lang="en-US" altLang="en-US" sz="2400" dirty="0" smtClean="0">
                <a:cs typeface="Times New Roman" panose="02020603050405020304" pitchFamily="18" charset="0"/>
              </a:rPr>
              <a:t>Instances are ordered sequentially, starting with the number 10 by default.</a:t>
            </a:r>
            <a:r>
              <a:rPr lang="en-US" altLang="en-US" sz="2400" dirty="0" smtClean="0"/>
              <a:t> </a:t>
            </a:r>
          </a:p>
        </p:txBody>
      </p:sp>
      <p:sp>
        <p:nvSpPr>
          <p:cNvPr id="2" name="Slide Number Placeholder 1"/>
          <p:cNvSpPr>
            <a:spLocks noGrp="1"/>
          </p:cNvSpPr>
          <p:nvPr>
            <p:ph type="sldNum" sz="quarter" idx="10"/>
          </p:nvPr>
        </p:nvSpPr>
        <p:spPr/>
        <p:txBody>
          <a:bodyPr/>
          <a:lstStyle/>
          <a:p>
            <a:fld id="{1C0FA7A3-0FBF-4EC3-BE45-825983E95E58}" type="slidenum">
              <a:rPr lang="en-US" smtClean="0"/>
              <a:pPr/>
              <a:t>71</a:t>
            </a:fld>
            <a:endParaRPr lang="en-US" dirty="0"/>
          </a:p>
        </p:txBody>
      </p:sp>
    </p:spTree>
    <p:extLst>
      <p:ext uri="{BB962C8B-B14F-4D97-AF65-F5344CB8AC3E}">
        <p14:creationId xmlns:p14="http://schemas.microsoft.com/office/powerpoint/2010/main" val="2433559113"/>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algn="ctr" eaLnBrk="1" hangingPunct="1"/>
            <a:r>
              <a:rPr lang="en-US" altLang="en-US" dirty="0" smtClean="0"/>
              <a:t>Implementing Policy</a:t>
            </a:r>
          </a:p>
        </p:txBody>
      </p:sp>
      <p:sp>
        <p:nvSpPr>
          <p:cNvPr id="80899" name="Rectangle 3"/>
          <p:cNvSpPr>
            <a:spLocks noGrp="1" noChangeArrowheads="1"/>
          </p:cNvSpPr>
          <p:nvPr>
            <p:ph type="body" idx="1"/>
          </p:nvPr>
        </p:nvSpPr>
        <p:spPr/>
        <p:txBody>
          <a:bodyPr/>
          <a:lstStyle/>
          <a:p>
            <a:pPr eaLnBrk="1" hangingPunct="1"/>
            <a:r>
              <a:rPr lang="en-US" altLang="en-US" sz="2800" dirty="0" smtClean="0">
                <a:cs typeface="Times New Roman" panose="02020603050405020304" pitchFamily="18" charset="0"/>
              </a:rPr>
              <a:t>Traffic inside and outside an AS always flows according to the road map laid out by routes.</a:t>
            </a:r>
          </a:p>
          <a:p>
            <a:pPr eaLnBrk="1" hangingPunct="1"/>
            <a:r>
              <a:rPr lang="en-US" altLang="en-US" sz="2800" dirty="0" smtClean="0">
                <a:cs typeface="Times New Roman" panose="02020603050405020304" pitchFamily="18" charset="0"/>
              </a:rPr>
              <a:t> Altering the routes changes traffic behavior. </a:t>
            </a:r>
          </a:p>
          <a:p>
            <a:pPr lvl="1" eaLnBrk="1" hangingPunct="1"/>
            <a:r>
              <a:rPr lang="en-US" altLang="en-US" sz="2400" dirty="0" smtClean="0">
                <a:cs typeface="Times New Roman" panose="02020603050405020304" pitchFamily="18" charset="0"/>
              </a:rPr>
              <a:t>How do I prevent my private networks from being advertised? </a:t>
            </a:r>
          </a:p>
          <a:p>
            <a:pPr lvl="1" eaLnBrk="1" hangingPunct="1"/>
            <a:r>
              <a:rPr lang="en-US" altLang="en-US" sz="2400" dirty="0" smtClean="0">
                <a:cs typeface="Times New Roman" panose="02020603050405020304" pitchFamily="18" charset="0"/>
              </a:rPr>
              <a:t>How do I filter routing updates coming from a particular neighbor? </a:t>
            </a:r>
          </a:p>
          <a:p>
            <a:pPr lvl="1" eaLnBrk="1" hangingPunct="1"/>
            <a:r>
              <a:rPr lang="en-US" altLang="en-US" sz="2400" dirty="0" smtClean="0">
                <a:cs typeface="Times New Roman" panose="02020603050405020304" pitchFamily="18" charset="0"/>
              </a:rPr>
              <a:t>How do I make sure that I use this link or this provider rather than another one? </a:t>
            </a:r>
            <a:endParaRPr lang="en-US" altLang="en-US" sz="2400"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72</a:t>
            </a:fld>
            <a:endParaRPr lang="en-US" dirty="0"/>
          </a:p>
        </p:txBody>
      </p:sp>
    </p:spTree>
    <p:extLst>
      <p:ext uri="{BB962C8B-B14F-4D97-AF65-F5344CB8AC3E}">
        <p14:creationId xmlns:p14="http://schemas.microsoft.com/office/powerpoint/2010/main" val="2535927739"/>
      </p:ext>
    </p:extLst>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algn="ctr" eaLnBrk="1" hangingPunct="1"/>
            <a:r>
              <a:rPr lang="en-US" altLang="en-US" dirty="0" smtClean="0"/>
              <a:t>Using BGP Attributes</a:t>
            </a:r>
          </a:p>
        </p:txBody>
      </p:sp>
      <p:sp>
        <p:nvSpPr>
          <p:cNvPr id="81923" name="Rectangle 3"/>
          <p:cNvSpPr>
            <a:spLocks noGrp="1" noChangeArrowheads="1"/>
          </p:cNvSpPr>
          <p:nvPr>
            <p:ph type="body" idx="1"/>
          </p:nvPr>
        </p:nvSpPr>
        <p:spPr>
          <a:xfrm>
            <a:off x="381000" y="1295400"/>
            <a:ext cx="8382000" cy="4953000"/>
          </a:xfrm>
        </p:spPr>
        <p:txBody>
          <a:bodyPr/>
          <a:lstStyle/>
          <a:p>
            <a:pPr eaLnBrk="1" hangingPunct="1">
              <a:lnSpc>
                <a:spcPct val="90000"/>
              </a:lnSpc>
            </a:pPr>
            <a:r>
              <a:rPr lang="en-US" altLang="en-US" sz="2800" dirty="0" smtClean="0">
                <a:cs typeface="Times New Roman" panose="02020603050405020304" pitchFamily="18" charset="0"/>
              </a:rPr>
              <a:t>When a BGP speaker receives updates from multiple autonomous systems that describe different paths to the same destination, it must choose the single best path for reaching that destination. </a:t>
            </a:r>
          </a:p>
          <a:p>
            <a:pPr lvl="1" eaLnBrk="1" hangingPunct="1">
              <a:lnSpc>
                <a:spcPct val="90000"/>
              </a:lnSpc>
            </a:pPr>
            <a:r>
              <a:rPr lang="en-US" altLang="en-US" sz="2400" dirty="0" smtClean="0">
                <a:cs typeface="Times New Roman" panose="02020603050405020304" pitchFamily="18" charset="0"/>
              </a:rPr>
              <a:t>Once chosen, BGP propagates the best path to its neighbors. </a:t>
            </a:r>
          </a:p>
          <a:p>
            <a:pPr lvl="1" eaLnBrk="1" hangingPunct="1">
              <a:lnSpc>
                <a:spcPct val="90000"/>
              </a:lnSpc>
            </a:pPr>
            <a:r>
              <a:rPr lang="en-US" altLang="en-US" sz="2400" dirty="0" smtClean="0">
                <a:cs typeface="Times New Roman" panose="02020603050405020304" pitchFamily="18" charset="0"/>
              </a:rPr>
              <a:t>The decision is based on the value of attributes (such as NEXT_HOP or LOCAL_PREF) that the update contains and other configurable BGP factors. </a:t>
            </a:r>
          </a:p>
        </p:txBody>
      </p:sp>
      <p:sp>
        <p:nvSpPr>
          <p:cNvPr id="2" name="Slide Number Placeholder 1"/>
          <p:cNvSpPr>
            <a:spLocks noGrp="1"/>
          </p:cNvSpPr>
          <p:nvPr>
            <p:ph type="sldNum" sz="quarter" idx="10"/>
          </p:nvPr>
        </p:nvSpPr>
        <p:spPr/>
        <p:txBody>
          <a:bodyPr/>
          <a:lstStyle/>
          <a:p>
            <a:fld id="{1C0FA7A3-0FBF-4EC3-BE45-825983E95E58}" type="slidenum">
              <a:rPr lang="en-US" smtClean="0"/>
              <a:pPr/>
              <a:t>73</a:t>
            </a:fld>
            <a:endParaRPr lang="en-US" dirty="0"/>
          </a:p>
        </p:txBody>
      </p:sp>
    </p:spTree>
    <p:extLst>
      <p:ext uri="{BB962C8B-B14F-4D97-AF65-F5344CB8AC3E}">
        <p14:creationId xmlns:p14="http://schemas.microsoft.com/office/powerpoint/2010/main" val="2579867414"/>
      </p:ext>
    </p:extLst>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noFill/>
        </p:spPr>
        <p:txBody>
          <a:bodyPr lIns="86034" tIns="43016" rIns="86034" bIns="43016"/>
          <a:lstStyle/>
          <a:p>
            <a:pPr algn="ctr"/>
            <a:r>
              <a:rPr lang="en-GB" altLang="en-US" dirty="0" smtClean="0"/>
              <a:t>BGP Scaling Techniques</a:t>
            </a:r>
          </a:p>
        </p:txBody>
      </p:sp>
      <p:sp>
        <p:nvSpPr>
          <p:cNvPr id="120835" name="Rectangle 3"/>
          <p:cNvSpPr>
            <a:spLocks noGrp="1" noChangeArrowheads="1"/>
          </p:cNvSpPr>
          <p:nvPr>
            <p:ph type="body" idx="1"/>
          </p:nvPr>
        </p:nvSpPr>
        <p:spPr>
          <a:xfrm>
            <a:off x="604837" y="1066800"/>
            <a:ext cx="7934325" cy="4192587"/>
          </a:xfrm>
          <a:noFill/>
        </p:spPr>
        <p:txBody>
          <a:bodyPr lIns="86034" tIns="43016" rIns="86034" bIns="43016"/>
          <a:lstStyle/>
          <a:p>
            <a:pPr>
              <a:spcBef>
                <a:spcPct val="40000"/>
              </a:spcBef>
            </a:pPr>
            <a:r>
              <a:rPr lang="en-US" altLang="en-US" dirty="0" smtClean="0"/>
              <a:t>Dynamic</a:t>
            </a:r>
            <a:r>
              <a:rPr lang="en-GB" altLang="en-US" dirty="0" smtClean="0"/>
              <a:t> reconfiguration</a:t>
            </a:r>
            <a:endParaRPr lang="en-US" altLang="en-US" dirty="0" smtClean="0"/>
          </a:p>
          <a:p>
            <a:pPr>
              <a:spcBef>
                <a:spcPct val="40000"/>
              </a:spcBef>
            </a:pPr>
            <a:r>
              <a:rPr lang="en-GB" altLang="en-US" dirty="0" smtClean="0"/>
              <a:t>Peer groups</a:t>
            </a:r>
          </a:p>
          <a:p>
            <a:pPr>
              <a:spcBef>
                <a:spcPct val="40000"/>
              </a:spcBef>
            </a:pPr>
            <a:r>
              <a:rPr lang="en-GB" altLang="en-US" dirty="0" smtClean="0"/>
              <a:t>Route flap damping</a:t>
            </a:r>
          </a:p>
          <a:p>
            <a:pPr>
              <a:spcBef>
                <a:spcPct val="40000"/>
              </a:spcBef>
            </a:pPr>
            <a:r>
              <a:rPr lang="en-GB" altLang="en-US" dirty="0" smtClean="0"/>
              <a:t>Route reflectors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74</a:t>
            </a:fld>
            <a:endParaRPr lang="en-US" dirty="0"/>
          </a:p>
        </p:txBody>
      </p:sp>
    </p:spTree>
    <p:extLst>
      <p:ext uri="{BB962C8B-B14F-4D97-AF65-F5344CB8AC3E}">
        <p14:creationId xmlns:p14="http://schemas.microsoft.com/office/powerpoint/2010/main" val="2901864448"/>
      </p:ext>
    </p:extLst>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p:cNvSpPr>
            <a:spLocks noGrp="1" noChangeArrowheads="1"/>
          </p:cNvSpPr>
          <p:nvPr>
            <p:ph type="body" idx="1"/>
          </p:nvPr>
        </p:nvSpPr>
        <p:spPr>
          <a:xfrm>
            <a:off x="495300" y="990600"/>
            <a:ext cx="8153400" cy="4749800"/>
          </a:xfrm>
          <a:noFill/>
        </p:spPr>
        <p:txBody>
          <a:bodyPr lIns="86034" tIns="43016" rIns="86034" bIns="43016"/>
          <a:lstStyle/>
          <a:p>
            <a:pPr>
              <a:lnSpc>
                <a:spcPct val="85000"/>
              </a:lnSpc>
              <a:buFont typeface="Arial" panose="020B0604020202020204" pitchFamily="34" charset="0"/>
              <a:buNone/>
            </a:pPr>
            <a:r>
              <a:rPr lang="en-GB" altLang="en-US" dirty="0" smtClean="0"/>
              <a:t>Problem:</a:t>
            </a:r>
          </a:p>
          <a:p>
            <a:pPr>
              <a:lnSpc>
                <a:spcPct val="85000"/>
              </a:lnSpc>
            </a:pPr>
            <a:r>
              <a:rPr lang="en-GB" altLang="en-US" dirty="0" smtClean="0"/>
              <a:t>Hard BGP peer clear required after every policy change because the router does not store prefixes that are denied by a filter.</a:t>
            </a:r>
          </a:p>
          <a:p>
            <a:pPr>
              <a:lnSpc>
                <a:spcPct val="85000"/>
              </a:lnSpc>
            </a:pPr>
            <a:r>
              <a:rPr lang="en-GB" altLang="en-US" dirty="0" smtClean="0"/>
              <a:t>Hard BGP peer clearing consumes CPU and affects connectivity for all networks.</a:t>
            </a:r>
          </a:p>
          <a:p>
            <a:pPr>
              <a:lnSpc>
                <a:spcPct val="85000"/>
              </a:lnSpc>
              <a:buFont typeface="Arial" panose="020B0604020202020204" pitchFamily="34" charset="0"/>
              <a:buNone/>
            </a:pPr>
            <a:r>
              <a:rPr lang="en-GB" altLang="en-US" dirty="0" smtClean="0"/>
              <a:t>Solution:</a:t>
            </a:r>
          </a:p>
          <a:p>
            <a:pPr>
              <a:lnSpc>
                <a:spcPct val="85000"/>
              </a:lnSpc>
            </a:pPr>
            <a:r>
              <a:rPr lang="en-GB" altLang="en-US" dirty="0" smtClean="0"/>
              <a:t>Soft-reconfiguration</a:t>
            </a:r>
          </a:p>
        </p:txBody>
      </p:sp>
      <p:sp>
        <p:nvSpPr>
          <p:cNvPr id="5" name="Rectangle 2"/>
          <p:cNvSpPr>
            <a:spLocks noGrp="1" noChangeArrowheads="1"/>
          </p:cNvSpPr>
          <p:nvPr>
            <p:ph type="title"/>
          </p:nvPr>
        </p:nvSpPr>
        <p:spPr>
          <a:xfrm>
            <a:off x="228600" y="122237"/>
            <a:ext cx="8686800" cy="563563"/>
          </a:xfrm>
          <a:noFill/>
        </p:spPr>
        <p:txBody>
          <a:bodyPr lIns="86034" tIns="43016" rIns="86034" bIns="43016"/>
          <a:lstStyle/>
          <a:p>
            <a:pPr algn="ctr"/>
            <a:r>
              <a:rPr lang="en-GB" altLang="en-US" dirty="0" smtClean="0"/>
              <a:t>BGP Dynamic Reconfiguration: Soft </a:t>
            </a:r>
            <a:r>
              <a:rPr lang="en-GB" altLang="en-US" dirty="0" err="1"/>
              <a:t>R</a:t>
            </a:r>
            <a:r>
              <a:rPr lang="en-GB" altLang="en-US" dirty="0" err="1" smtClean="0"/>
              <a:t>econfig</a:t>
            </a:r>
            <a:endParaRPr lang="en-GB"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75</a:t>
            </a:fld>
            <a:endParaRPr lang="en-US" dirty="0"/>
          </a:p>
        </p:txBody>
      </p:sp>
    </p:spTree>
    <p:extLst>
      <p:ext uri="{BB962C8B-B14F-4D97-AF65-F5344CB8AC3E}">
        <p14:creationId xmlns:p14="http://schemas.microsoft.com/office/powerpoint/2010/main" val="3389261266"/>
      </p:ext>
    </p:extLst>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Rectangle 3"/>
          <p:cNvSpPr>
            <a:spLocks noGrp="1" noChangeArrowheads="1"/>
          </p:cNvSpPr>
          <p:nvPr>
            <p:ph type="body" idx="1"/>
          </p:nvPr>
        </p:nvSpPr>
        <p:spPr>
          <a:xfrm>
            <a:off x="441434" y="1219200"/>
            <a:ext cx="8686800" cy="3571875"/>
          </a:xfrm>
          <a:noFill/>
        </p:spPr>
        <p:txBody>
          <a:bodyPr lIns="86034" tIns="43016" rIns="86034" bIns="43016"/>
          <a:lstStyle/>
          <a:p>
            <a:r>
              <a:rPr lang="en-GB" altLang="en-US" sz="2800" dirty="0" smtClean="0"/>
              <a:t>New policy is activated without tearing down and restarting the peering session</a:t>
            </a:r>
          </a:p>
          <a:p>
            <a:r>
              <a:rPr lang="en-GB" altLang="en-US" sz="2800" dirty="0" smtClean="0"/>
              <a:t>Per-neighbour basis</a:t>
            </a:r>
          </a:p>
          <a:p>
            <a:r>
              <a:rPr lang="en-GB" altLang="en-US" sz="2800" dirty="0" smtClean="0"/>
              <a:t>Use more memory to keep prefixes whose attributes have been changed or have not been accepted</a:t>
            </a:r>
          </a:p>
        </p:txBody>
      </p:sp>
      <p:sp>
        <p:nvSpPr>
          <p:cNvPr id="7" name="Rectangle 2"/>
          <p:cNvSpPr>
            <a:spLocks noGrp="1" noChangeArrowheads="1"/>
          </p:cNvSpPr>
          <p:nvPr>
            <p:ph type="title"/>
          </p:nvPr>
        </p:nvSpPr>
        <p:spPr>
          <a:xfrm>
            <a:off x="228600" y="122237"/>
            <a:ext cx="8686800" cy="563563"/>
          </a:xfrm>
          <a:noFill/>
        </p:spPr>
        <p:txBody>
          <a:bodyPr lIns="86034" tIns="43016" rIns="86034" bIns="43016"/>
          <a:lstStyle/>
          <a:p>
            <a:pPr algn="ctr"/>
            <a:r>
              <a:rPr lang="en-GB" altLang="en-US" dirty="0" smtClean="0"/>
              <a:t>BGP Dynamic Reconfiguration: Soft </a:t>
            </a:r>
            <a:r>
              <a:rPr lang="en-GB" altLang="en-US" dirty="0" err="1" smtClean="0"/>
              <a:t>Reconfig</a:t>
            </a:r>
            <a:endParaRPr lang="en-GB"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76</a:t>
            </a:fld>
            <a:endParaRPr lang="en-US" dirty="0"/>
          </a:p>
        </p:txBody>
      </p:sp>
    </p:spTree>
    <p:extLst>
      <p:ext uri="{BB962C8B-B14F-4D97-AF65-F5344CB8AC3E}">
        <p14:creationId xmlns:p14="http://schemas.microsoft.com/office/powerpoint/2010/main" val="3869937920"/>
      </p:ext>
    </p:extLst>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3"/>
          <p:cNvSpPr>
            <a:spLocks noGrp="1" noChangeArrowheads="1"/>
          </p:cNvSpPr>
          <p:nvPr>
            <p:ph type="body" idx="1"/>
          </p:nvPr>
        </p:nvSpPr>
        <p:spPr/>
        <p:txBody>
          <a:bodyPr/>
          <a:lstStyle/>
          <a:p>
            <a:r>
              <a:rPr lang="en-US" altLang="en-US" sz="2600" dirty="0" smtClean="0"/>
              <a:t>Facilitates non-disruptive policy changes</a:t>
            </a:r>
          </a:p>
          <a:p>
            <a:r>
              <a:rPr lang="en-US" altLang="en-US" sz="2600" dirty="0" smtClean="0"/>
              <a:t>No configuration is needed</a:t>
            </a:r>
          </a:p>
          <a:p>
            <a:r>
              <a:rPr lang="en-US" altLang="en-US" sz="2600" dirty="0" smtClean="0"/>
              <a:t>No additional memory is used</a:t>
            </a:r>
          </a:p>
          <a:p>
            <a:r>
              <a:rPr lang="en-US" altLang="en-US" sz="2600" dirty="0" smtClean="0"/>
              <a:t>Requires peering routers to support “route refresh capability” – RFC2918</a:t>
            </a:r>
          </a:p>
          <a:p>
            <a:r>
              <a:rPr lang="en-US" altLang="en-US" sz="2600" dirty="0" smtClean="0"/>
              <a:t>clear </a:t>
            </a:r>
            <a:r>
              <a:rPr lang="en-US" altLang="en-US" sz="2600" dirty="0" err="1" smtClean="0"/>
              <a:t>ip</a:t>
            </a:r>
            <a:r>
              <a:rPr lang="en-US" altLang="en-US" sz="2600" dirty="0" smtClean="0"/>
              <a:t> </a:t>
            </a:r>
            <a:r>
              <a:rPr lang="en-US" altLang="en-US" sz="2600" dirty="0" err="1" smtClean="0"/>
              <a:t>bgp</a:t>
            </a:r>
            <a:r>
              <a:rPr lang="en-US" altLang="en-US" sz="2600" dirty="0" smtClean="0"/>
              <a:t> </a:t>
            </a:r>
            <a:r>
              <a:rPr lang="en-US" altLang="en-US" sz="2600" dirty="0" err="1" smtClean="0"/>
              <a:t>x.x.x.x</a:t>
            </a:r>
            <a:r>
              <a:rPr lang="en-US" altLang="en-US" sz="2600" dirty="0" smtClean="0"/>
              <a:t> in tells peer to resend full BGP announcement</a:t>
            </a:r>
          </a:p>
          <a:p>
            <a:r>
              <a:rPr lang="en-GB" altLang="en-US" sz="2600" dirty="0"/>
              <a:t>Use Route Refresh capability if supported</a:t>
            </a:r>
          </a:p>
          <a:p>
            <a:pPr lvl="1"/>
            <a:r>
              <a:rPr lang="en-GB" altLang="en-US" sz="2200" dirty="0"/>
              <a:t>find out from “show </a:t>
            </a:r>
            <a:r>
              <a:rPr lang="en-GB" altLang="en-US" sz="2200" dirty="0" err="1"/>
              <a:t>ip</a:t>
            </a:r>
            <a:r>
              <a:rPr lang="en-GB" altLang="en-US" sz="2200" dirty="0"/>
              <a:t> </a:t>
            </a:r>
            <a:r>
              <a:rPr lang="en-GB" altLang="en-US" sz="2200" dirty="0" err="1"/>
              <a:t>bgp</a:t>
            </a:r>
            <a:r>
              <a:rPr lang="en-GB" altLang="en-US" sz="2200" dirty="0"/>
              <a:t> </a:t>
            </a:r>
            <a:r>
              <a:rPr lang="en-GB" altLang="en-US" sz="2200" dirty="0" err="1"/>
              <a:t>neighbor</a:t>
            </a:r>
            <a:r>
              <a:rPr lang="en-GB" altLang="en-US" sz="2200" dirty="0"/>
              <a:t>”</a:t>
            </a:r>
          </a:p>
          <a:p>
            <a:pPr lvl="1"/>
            <a:r>
              <a:rPr lang="en-GB" altLang="en-US" sz="2200" dirty="0"/>
              <a:t>uses much less memory</a:t>
            </a:r>
          </a:p>
          <a:p>
            <a:r>
              <a:rPr lang="en-GB" altLang="en-US" sz="2600" dirty="0"/>
              <a:t>Otherwise use Soft Reconfiguration</a:t>
            </a:r>
          </a:p>
          <a:p>
            <a:endParaRPr lang="en-US" altLang="en-US" sz="2600" dirty="0" smtClean="0"/>
          </a:p>
        </p:txBody>
      </p:sp>
      <p:sp>
        <p:nvSpPr>
          <p:cNvPr id="5" name="Rectangle 2"/>
          <p:cNvSpPr>
            <a:spLocks noGrp="1" noChangeArrowheads="1"/>
          </p:cNvSpPr>
          <p:nvPr>
            <p:ph type="title"/>
          </p:nvPr>
        </p:nvSpPr>
        <p:spPr>
          <a:xfrm>
            <a:off x="228600" y="122237"/>
            <a:ext cx="8686800" cy="563563"/>
          </a:xfrm>
          <a:noFill/>
        </p:spPr>
        <p:txBody>
          <a:bodyPr lIns="86034" tIns="43016" rIns="86034" bIns="43016"/>
          <a:lstStyle/>
          <a:p>
            <a:pPr algn="ctr"/>
            <a:r>
              <a:rPr lang="en-GB" altLang="en-US" dirty="0" smtClean="0"/>
              <a:t>BGP Dynamic Reconfiguration: RT Refresh</a:t>
            </a:r>
          </a:p>
        </p:txBody>
      </p:sp>
      <p:sp>
        <p:nvSpPr>
          <p:cNvPr id="2" name="Slide Number Placeholder 1"/>
          <p:cNvSpPr>
            <a:spLocks noGrp="1"/>
          </p:cNvSpPr>
          <p:nvPr>
            <p:ph type="sldNum" sz="quarter" idx="10"/>
          </p:nvPr>
        </p:nvSpPr>
        <p:spPr/>
        <p:txBody>
          <a:bodyPr/>
          <a:lstStyle/>
          <a:p>
            <a:fld id="{1C0FA7A3-0FBF-4EC3-BE45-825983E95E58}" type="slidenum">
              <a:rPr lang="en-US" smtClean="0"/>
              <a:pPr/>
              <a:t>77</a:t>
            </a:fld>
            <a:endParaRPr lang="en-US" dirty="0"/>
          </a:p>
        </p:txBody>
      </p:sp>
    </p:spTree>
    <p:extLst>
      <p:ext uri="{BB962C8B-B14F-4D97-AF65-F5344CB8AC3E}">
        <p14:creationId xmlns:p14="http://schemas.microsoft.com/office/powerpoint/2010/main" val="196469864"/>
      </p:ext>
    </p:extLst>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noFill/>
        </p:spPr>
        <p:txBody>
          <a:bodyPr lIns="86034" tIns="43016" rIns="86034" bIns="43016"/>
          <a:lstStyle/>
          <a:p>
            <a:pPr algn="ctr"/>
            <a:r>
              <a:rPr lang="en-GB" altLang="en-US" dirty="0" smtClean="0"/>
              <a:t>BGP Peer Groups</a:t>
            </a:r>
          </a:p>
        </p:txBody>
      </p:sp>
      <p:sp>
        <p:nvSpPr>
          <p:cNvPr id="132099" name="Rectangle 3"/>
          <p:cNvSpPr>
            <a:spLocks noGrp="1" noChangeArrowheads="1"/>
          </p:cNvSpPr>
          <p:nvPr>
            <p:ph type="body" idx="1"/>
          </p:nvPr>
        </p:nvSpPr>
        <p:spPr>
          <a:xfrm>
            <a:off x="470338" y="990600"/>
            <a:ext cx="8458200" cy="3871913"/>
          </a:xfrm>
          <a:noFill/>
        </p:spPr>
        <p:txBody>
          <a:bodyPr lIns="86034" tIns="43016" rIns="86034" bIns="43016"/>
          <a:lstStyle/>
          <a:p>
            <a:pPr>
              <a:lnSpc>
                <a:spcPct val="85000"/>
              </a:lnSpc>
              <a:buFont typeface="Arial" panose="020B0604020202020204" pitchFamily="34" charset="0"/>
              <a:buNone/>
            </a:pPr>
            <a:r>
              <a:rPr lang="en-GB" altLang="en-US" dirty="0" smtClean="0"/>
              <a:t>Without peer groups</a:t>
            </a:r>
          </a:p>
          <a:p>
            <a:pPr>
              <a:lnSpc>
                <a:spcPct val="85000"/>
              </a:lnSpc>
            </a:pPr>
            <a:r>
              <a:rPr lang="en-GB" altLang="en-US" dirty="0" err="1" smtClean="0"/>
              <a:t>iBGP</a:t>
            </a:r>
            <a:r>
              <a:rPr lang="en-GB" altLang="en-US" dirty="0" smtClean="0"/>
              <a:t> neighbours receive same update</a:t>
            </a:r>
          </a:p>
          <a:p>
            <a:pPr>
              <a:lnSpc>
                <a:spcPct val="85000"/>
              </a:lnSpc>
            </a:pPr>
            <a:r>
              <a:rPr lang="en-GB" altLang="en-US" dirty="0" smtClean="0"/>
              <a:t>Large </a:t>
            </a:r>
            <a:r>
              <a:rPr lang="en-GB" altLang="en-US" dirty="0" err="1" smtClean="0"/>
              <a:t>iBGP</a:t>
            </a:r>
            <a:r>
              <a:rPr lang="en-GB" altLang="en-US" dirty="0" smtClean="0"/>
              <a:t> mesh slow to build</a:t>
            </a:r>
          </a:p>
          <a:p>
            <a:pPr>
              <a:lnSpc>
                <a:spcPct val="85000"/>
              </a:lnSpc>
            </a:pPr>
            <a:r>
              <a:rPr lang="en-GB" altLang="en-US" dirty="0" smtClean="0"/>
              <a:t>Router CPU wasted on repeat calculations</a:t>
            </a:r>
          </a:p>
          <a:p>
            <a:pPr>
              <a:lnSpc>
                <a:spcPct val="85000"/>
              </a:lnSpc>
              <a:buFont typeface="Arial" panose="020B0604020202020204" pitchFamily="34" charset="0"/>
              <a:buNone/>
            </a:pPr>
            <a:r>
              <a:rPr lang="en-GB" altLang="en-US" dirty="0" smtClean="0"/>
              <a:t>Solution – peer groups!</a:t>
            </a:r>
          </a:p>
          <a:p>
            <a:pPr>
              <a:lnSpc>
                <a:spcPct val="85000"/>
              </a:lnSpc>
            </a:pPr>
            <a:r>
              <a:rPr lang="en-GB" altLang="en-US" dirty="0" smtClean="0"/>
              <a:t>Group peers with same outbound policy</a:t>
            </a:r>
          </a:p>
          <a:p>
            <a:pPr>
              <a:lnSpc>
                <a:spcPct val="85000"/>
              </a:lnSpc>
            </a:pPr>
            <a:r>
              <a:rPr lang="en-GB" altLang="en-US" dirty="0" smtClean="0"/>
              <a:t>Updates are generated once per group</a:t>
            </a:r>
          </a:p>
        </p:txBody>
      </p:sp>
      <p:sp>
        <p:nvSpPr>
          <p:cNvPr id="2" name="Slide Number Placeholder 1"/>
          <p:cNvSpPr>
            <a:spLocks noGrp="1"/>
          </p:cNvSpPr>
          <p:nvPr>
            <p:ph type="sldNum" sz="quarter" idx="10"/>
          </p:nvPr>
        </p:nvSpPr>
        <p:spPr/>
        <p:txBody>
          <a:bodyPr/>
          <a:lstStyle/>
          <a:p>
            <a:fld id="{1C0FA7A3-0FBF-4EC3-BE45-825983E95E58}" type="slidenum">
              <a:rPr lang="en-US" smtClean="0"/>
              <a:pPr/>
              <a:t>78</a:t>
            </a:fld>
            <a:endParaRPr lang="en-US" dirty="0"/>
          </a:p>
        </p:txBody>
      </p:sp>
    </p:spTree>
    <p:extLst>
      <p:ext uri="{BB962C8B-B14F-4D97-AF65-F5344CB8AC3E}">
        <p14:creationId xmlns:p14="http://schemas.microsoft.com/office/powerpoint/2010/main" val="485889251"/>
      </p:ext>
    </p:extLst>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noFill/>
        </p:spPr>
        <p:txBody>
          <a:bodyPr lIns="86034" tIns="43016" rIns="86034" bIns="43016"/>
          <a:lstStyle/>
          <a:p>
            <a:pPr algn="ctr"/>
            <a:r>
              <a:rPr lang="en-GB" altLang="en-US" dirty="0" smtClean="0"/>
              <a:t>BGP Peer Groups - Advantages</a:t>
            </a:r>
          </a:p>
        </p:txBody>
      </p:sp>
      <p:sp>
        <p:nvSpPr>
          <p:cNvPr id="134147" name="Rectangle 3"/>
          <p:cNvSpPr>
            <a:spLocks noGrp="1" noChangeArrowheads="1"/>
          </p:cNvSpPr>
          <p:nvPr>
            <p:ph type="body" idx="1"/>
          </p:nvPr>
        </p:nvSpPr>
        <p:spPr>
          <a:noFill/>
        </p:spPr>
        <p:txBody>
          <a:bodyPr lIns="86034" tIns="43016" rIns="86034" bIns="43016"/>
          <a:lstStyle/>
          <a:p>
            <a:pPr>
              <a:lnSpc>
                <a:spcPct val="85000"/>
              </a:lnSpc>
            </a:pPr>
            <a:r>
              <a:rPr lang="en-GB" altLang="en-US" dirty="0" smtClean="0"/>
              <a:t>Makes configuration easier</a:t>
            </a:r>
          </a:p>
          <a:p>
            <a:pPr>
              <a:lnSpc>
                <a:spcPct val="85000"/>
              </a:lnSpc>
            </a:pPr>
            <a:r>
              <a:rPr lang="en-GB" altLang="en-US" dirty="0" smtClean="0"/>
              <a:t>Makes configuration less prone to error</a:t>
            </a:r>
          </a:p>
          <a:p>
            <a:pPr>
              <a:lnSpc>
                <a:spcPct val="85000"/>
              </a:lnSpc>
            </a:pPr>
            <a:r>
              <a:rPr lang="en-GB" altLang="en-US" dirty="0" smtClean="0"/>
              <a:t>Makes configuration more readable</a:t>
            </a:r>
          </a:p>
          <a:p>
            <a:pPr>
              <a:lnSpc>
                <a:spcPct val="85000"/>
              </a:lnSpc>
            </a:pPr>
            <a:r>
              <a:rPr lang="en-GB" altLang="en-US" dirty="0" smtClean="0"/>
              <a:t>Lower router CPU load</a:t>
            </a:r>
          </a:p>
          <a:p>
            <a:pPr>
              <a:lnSpc>
                <a:spcPct val="85000"/>
              </a:lnSpc>
            </a:pPr>
            <a:r>
              <a:rPr lang="en-GB" altLang="en-US" dirty="0" err="1" smtClean="0"/>
              <a:t>iBGP</a:t>
            </a:r>
            <a:r>
              <a:rPr lang="en-GB" altLang="en-US" dirty="0" smtClean="0"/>
              <a:t> mesh builds more quickly</a:t>
            </a:r>
          </a:p>
          <a:p>
            <a:pPr>
              <a:lnSpc>
                <a:spcPct val="85000"/>
              </a:lnSpc>
            </a:pPr>
            <a:r>
              <a:rPr lang="en-GB" altLang="en-US" dirty="0" smtClean="0"/>
              <a:t>Members can have different inbound policy</a:t>
            </a:r>
          </a:p>
          <a:p>
            <a:pPr>
              <a:lnSpc>
                <a:spcPct val="85000"/>
              </a:lnSpc>
            </a:pPr>
            <a:r>
              <a:rPr lang="en-GB" altLang="en-US" dirty="0" smtClean="0"/>
              <a:t>Can be used for </a:t>
            </a:r>
            <a:r>
              <a:rPr lang="en-GB" altLang="en-US" dirty="0" err="1" smtClean="0"/>
              <a:t>eBGP</a:t>
            </a:r>
            <a:r>
              <a:rPr lang="en-GB" altLang="en-US" dirty="0" smtClean="0"/>
              <a:t> neighbours too!</a:t>
            </a:r>
          </a:p>
        </p:txBody>
      </p:sp>
      <p:sp>
        <p:nvSpPr>
          <p:cNvPr id="2" name="Slide Number Placeholder 1"/>
          <p:cNvSpPr>
            <a:spLocks noGrp="1"/>
          </p:cNvSpPr>
          <p:nvPr>
            <p:ph type="sldNum" sz="quarter" idx="10"/>
          </p:nvPr>
        </p:nvSpPr>
        <p:spPr/>
        <p:txBody>
          <a:bodyPr/>
          <a:lstStyle/>
          <a:p>
            <a:fld id="{1C0FA7A3-0FBF-4EC3-BE45-825983E95E58}" type="slidenum">
              <a:rPr lang="en-US" smtClean="0"/>
              <a:pPr/>
              <a:t>79</a:t>
            </a:fld>
            <a:endParaRPr lang="en-US" dirty="0"/>
          </a:p>
        </p:txBody>
      </p:sp>
    </p:spTree>
    <p:extLst>
      <p:ext uri="{BB962C8B-B14F-4D97-AF65-F5344CB8AC3E}">
        <p14:creationId xmlns:p14="http://schemas.microsoft.com/office/powerpoint/2010/main" val="39828121"/>
      </p:ext>
    </p:extLst>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noFill/>
        </p:spPr>
        <p:txBody>
          <a:bodyPr lIns="86034" tIns="43016" rIns="86034" bIns="43016"/>
          <a:lstStyle/>
          <a:p>
            <a:pPr algn="ctr"/>
            <a:r>
              <a:rPr lang="en-GB" altLang="en-US" dirty="0" smtClean="0"/>
              <a:t>BGP Route Flap Damping</a:t>
            </a:r>
          </a:p>
        </p:txBody>
      </p:sp>
      <p:sp>
        <p:nvSpPr>
          <p:cNvPr id="138243" name="Rectangle 3"/>
          <p:cNvSpPr>
            <a:spLocks noGrp="1" noChangeArrowheads="1"/>
          </p:cNvSpPr>
          <p:nvPr>
            <p:ph type="body" idx="1"/>
          </p:nvPr>
        </p:nvSpPr>
        <p:spPr>
          <a:xfrm>
            <a:off x="542651" y="1066800"/>
            <a:ext cx="8335963" cy="4192587"/>
          </a:xfrm>
          <a:noFill/>
        </p:spPr>
        <p:txBody>
          <a:bodyPr lIns="86034" tIns="43016" rIns="86034" bIns="43016"/>
          <a:lstStyle/>
          <a:p>
            <a:r>
              <a:rPr lang="en-GB" altLang="en-US" dirty="0" smtClean="0"/>
              <a:t>Route flap</a:t>
            </a:r>
          </a:p>
          <a:p>
            <a:pPr lvl="1"/>
            <a:r>
              <a:rPr lang="en-GB" altLang="en-US" sz="2400" dirty="0" smtClean="0"/>
              <a:t>Going up and down of path or change in attribute</a:t>
            </a:r>
          </a:p>
          <a:p>
            <a:pPr lvl="2"/>
            <a:r>
              <a:rPr lang="en-GB" altLang="en-US" dirty="0" smtClean="0"/>
              <a:t>BGP WITHDRAW followed by UPDATE = 1 flap</a:t>
            </a:r>
          </a:p>
          <a:p>
            <a:pPr lvl="2"/>
            <a:r>
              <a:rPr lang="en-GB" altLang="en-US" dirty="0" err="1" smtClean="0"/>
              <a:t>eBGP</a:t>
            </a:r>
            <a:r>
              <a:rPr lang="en-GB" altLang="en-US" dirty="0" smtClean="0"/>
              <a:t> neighbour going down/up is NOT a flap</a:t>
            </a:r>
          </a:p>
          <a:p>
            <a:pPr lvl="1"/>
            <a:r>
              <a:rPr lang="en-GB" altLang="en-US" sz="2400" dirty="0" smtClean="0"/>
              <a:t>Ripples through the entire Internet</a:t>
            </a:r>
          </a:p>
          <a:p>
            <a:pPr lvl="1"/>
            <a:r>
              <a:rPr lang="en-GB" altLang="en-US" sz="2400" dirty="0" smtClean="0"/>
              <a:t>Wastes CPU</a:t>
            </a:r>
          </a:p>
          <a:p>
            <a:r>
              <a:rPr lang="en-GB" altLang="en-US" dirty="0" smtClean="0"/>
              <a:t>Damping aims to reduce scope of route flap propagation</a:t>
            </a:r>
          </a:p>
        </p:txBody>
      </p:sp>
      <p:sp>
        <p:nvSpPr>
          <p:cNvPr id="2" name="Slide Number Placeholder 1"/>
          <p:cNvSpPr>
            <a:spLocks noGrp="1"/>
          </p:cNvSpPr>
          <p:nvPr>
            <p:ph type="sldNum" sz="quarter" idx="10"/>
          </p:nvPr>
        </p:nvSpPr>
        <p:spPr/>
        <p:txBody>
          <a:bodyPr/>
          <a:lstStyle/>
          <a:p>
            <a:fld id="{1C0FA7A3-0FBF-4EC3-BE45-825983E95E58}" type="slidenum">
              <a:rPr lang="en-US" smtClean="0"/>
              <a:pPr/>
              <a:t>80</a:t>
            </a:fld>
            <a:endParaRPr lang="en-US" dirty="0"/>
          </a:p>
        </p:txBody>
      </p:sp>
    </p:spTree>
    <p:extLst>
      <p:ext uri="{BB962C8B-B14F-4D97-AF65-F5344CB8AC3E}">
        <p14:creationId xmlns:p14="http://schemas.microsoft.com/office/powerpoint/2010/main" val="2759268814"/>
      </p:ext>
    </p:extLst>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p:cNvSpPr>
            <a:spLocks noGrp="1" noChangeArrowheads="1"/>
          </p:cNvSpPr>
          <p:nvPr>
            <p:ph type="body" idx="1"/>
          </p:nvPr>
        </p:nvSpPr>
        <p:spPr>
          <a:noFill/>
        </p:spPr>
        <p:txBody>
          <a:bodyPr lIns="86034" tIns="43016" rIns="86034" bIns="43016"/>
          <a:lstStyle/>
          <a:p>
            <a:r>
              <a:rPr lang="en-GB" altLang="en-US" smtClean="0"/>
              <a:t>Requirements</a:t>
            </a:r>
          </a:p>
          <a:p>
            <a:pPr lvl="1"/>
            <a:r>
              <a:rPr lang="en-GB" altLang="en-US" smtClean="0"/>
              <a:t>Fast convergence for normal route changes</a:t>
            </a:r>
          </a:p>
          <a:p>
            <a:pPr lvl="1"/>
            <a:r>
              <a:rPr lang="en-GB" altLang="en-US" smtClean="0"/>
              <a:t>History predicts future behaviour</a:t>
            </a:r>
          </a:p>
          <a:p>
            <a:pPr lvl="1"/>
            <a:r>
              <a:rPr lang="en-GB" altLang="en-US" smtClean="0"/>
              <a:t>Suppress oscillating routes </a:t>
            </a:r>
          </a:p>
          <a:p>
            <a:pPr lvl="1"/>
            <a:r>
              <a:rPr lang="en-GB" altLang="en-US" smtClean="0"/>
              <a:t>Advertise stable routes</a:t>
            </a:r>
          </a:p>
          <a:p>
            <a:r>
              <a:rPr lang="en-US" altLang="en-US" smtClean="0"/>
              <a:t>I</a:t>
            </a:r>
            <a:r>
              <a:rPr lang="en-GB" altLang="en-US" smtClean="0"/>
              <a:t>mplementation </a:t>
            </a:r>
            <a:r>
              <a:rPr lang="en-US" altLang="en-US" smtClean="0"/>
              <a:t>described in</a:t>
            </a:r>
            <a:r>
              <a:rPr lang="en-GB" altLang="en-US" smtClean="0"/>
              <a:t> RFC2439</a:t>
            </a:r>
          </a:p>
        </p:txBody>
      </p:sp>
      <p:sp>
        <p:nvSpPr>
          <p:cNvPr id="5" name="Rectangle 2"/>
          <p:cNvSpPr>
            <a:spLocks noGrp="1" noChangeArrowheads="1"/>
          </p:cNvSpPr>
          <p:nvPr>
            <p:ph type="title"/>
          </p:nvPr>
        </p:nvSpPr>
        <p:spPr>
          <a:xfrm>
            <a:off x="228600" y="122237"/>
            <a:ext cx="8686800" cy="563563"/>
          </a:xfrm>
          <a:noFill/>
        </p:spPr>
        <p:txBody>
          <a:bodyPr lIns="86034" tIns="43016" rIns="86034" bIns="43016"/>
          <a:lstStyle/>
          <a:p>
            <a:pPr algn="ctr"/>
            <a:r>
              <a:rPr lang="en-GB" altLang="en-US" dirty="0" smtClean="0"/>
              <a:t>BGP Route Flap Damping</a:t>
            </a:r>
          </a:p>
        </p:txBody>
      </p:sp>
      <p:sp>
        <p:nvSpPr>
          <p:cNvPr id="2" name="Slide Number Placeholder 1"/>
          <p:cNvSpPr>
            <a:spLocks noGrp="1"/>
          </p:cNvSpPr>
          <p:nvPr>
            <p:ph type="sldNum" sz="quarter" idx="10"/>
          </p:nvPr>
        </p:nvSpPr>
        <p:spPr/>
        <p:txBody>
          <a:bodyPr/>
          <a:lstStyle/>
          <a:p>
            <a:fld id="{1C0FA7A3-0FBF-4EC3-BE45-825983E95E58}" type="slidenum">
              <a:rPr lang="en-US" smtClean="0"/>
              <a:pPr/>
              <a:t>81</a:t>
            </a:fld>
            <a:endParaRPr lang="en-US" dirty="0"/>
          </a:p>
        </p:txBody>
      </p:sp>
    </p:spTree>
    <p:extLst>
      <p:ext uri="{BB962C8B-B14F-4D97-AF65-F5344CB8AC3E}">
        <p14:creationId xmlns:p14="http://schemas.microsoft.com/office/powerpoint/2010/main" val="3708816332"/>
      </p:ext>
    </p:extLst>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3"/>
          <p:cNvSpPr>
            <a:spLocks noGrp="1" noChangeArrowheads="1"/>
          </p:cNvSpPr>
          <p:nvPr>
            <p:ph type="body" idx="1"/>
          </p:nvPr>
        </p:nvSpPr>
        <p:spPr/>
        <p:txBody>
          <a:bodyPr/>
          <a:lstStyle/>
          <a:p>
            <a:pPr>
              <a:lnSpc>
                <a:spcPct val="85000"/>
              </a:lnSpc>
              <a:buClr>
                <a:schemeClr val="folHlink"/>
              </a:buClr>
            </a:pPr>
            <a:r>
              <a:rPr lang="en-GB" altLang="en-US" dirty="0" smtClean="0"/>
              <a:t>Add penalty (1000) for each flap</a:t>
            </a:r>
            <a:endParaRPr lang="en-US" altLang="en-US" dirty="0" smtClean="0"/>
          </a:p>
          <a:p>
            <a:pPr lvl="1">
              <a:lnSpc>
                <a:spcPct val="85000"/>
              </a:lnSpc>
              <a:buClr>
                <a:schemeClr val="folHlink"/>
              </a:buClr>
            </a:pPr>
            <a:r>
              <a:rPr lang="en-US" altLang="en-US" dirty="0" smtClean="0"/>
              <a:t>Change in attribute gets penalty of 500</a:t>
            </a:r>
            <a:endParaRPr lang="en-GB" altLang="en-US" dirty="0" smtClean="0"/>
          </a:p>
          <a:p>
            <a:pPr>
              <a:lnSpc>
                <a:spcPct val="85000"/>
              </a:lnSpc>
              <a:buClr>
                <a:schemeClr val="folHlink"/>
              </a:buClr>
            </a:pPr>
            <a:r>
              <a:rPr lang="en-GB" altLang="en-US" dirty="0" smtClean="0"/>
              <a:t>Exponentially decay penalty</a:t>
            </a:r>
          </a:p>
          <a:p>
            <a:pPr lvl="1">
              <a:lnSpc>
                <a:spcPct val="85000"/>
              </a:lnSpc>
              <a:buClr>
                <a:schemeClr val="folHlink"/>
              </a:buClr>
            </a:pPr>
            <a:r>
              <a:rPr lang="en-GB" altLang="en-US" dirty="0" smtClean="0"/>
              <a:t>half life determines decay rate</a:t>
            </a:r>
          </a:p>
          <a:p>
            <a:pPr>
              <a:lnSpc>
                <a:spcPct val="85000"/>
              </a:lnSpc>
              <a:buClr>
                <a:schemeClr val="folHlink"/>
              </a:buClr>
            </a:pPr>
            <a:r>
              <a:rPr lang="en-GB" altLang="en-US" dirty="0" smtClean="0"/>
              <a:t>Penalty above suppress-limit</a:t>
            </a:r>
          </a:p>
          <a:p>
            <a:pPr lvl="1">
              <a:lnSpc>
                <a:spcPct val="85000"/>
              </a:lnSpc>
              <a:buClr>
                <a:schemeClr val="folHlink"/>
              </a:buClr>
            </a:pPr>
            <a:r>
              <a:rPr lang="en-GB" altLang="en-US" dirty="0" smtClean="0"/>
              <a:t>do not advertise route to BGP peers</a:t>
            </a:r>
          </a:p>
          <a:p>
            <a:pPr>
              <a:lnSpc>
                <a:spcPct val="85000"/>
              </a:lnSpc>
              <a:buClr>
                <a:schemeClr val="folHlink"/>
              </a:buClr>
            </a:pPr>
            <a:r>
              <a:rPr lang="en-GB" altLang="en-US" dirty="0" smtClean="0"/>
              <a:t>Penalty decayed below reuse-limit</a:t>
            </a:r>
          </a:p>
          <a:p>
            <a:pPr lvl="1">
              <a:lnSpc>
                <a:spcPct val="85000"/>
              </a:lnSpc>
              <a:buClr>
                <a:schemeClr val="folHlink"/>
              </a:buClr>
            </a:pPr>
            <a:r>
              <a:rPr lang="en-GB" altLang="en-US" dirty="0" smtClean="0"/>
              <a:t>re-advertise route to BGP peers</a:t>
            </a:r>
            <a:endParaRPr lang="en-US" altLang="en-US" dirty="0" smtClean="0"/>
          </a:p>
          <a:p>
            <a:pPr lvl="1">
              <a:lnSpc>
                <a:spcPct val="85000"/>
              </a:lnSpc>
              <a:buClr>
                <a:schemeClr val="folHlink"/>
              </a:buClr>
            </a:pPr>
            <a:r>
              <a:rPr lang="en-US" altLang="en-US" dirty="0" smtClean="0"/>
              <a:t>penalty reset to zero when it is half of reuse-limit</a:t>
            </a:r>
            <a:endParaRPr lang="en-GB" altLang="en-US" dirty="0" smtClean="0"/>
          </a:p>
        </p:txBody>
      </p:sp>
      <p:sp>
        <p:nvSpPr>
          <p:cNvPr id="5" name="Rectangle 2"/>
          <p:cNvSpPr>
            <a:spLocks noGrp="1" noChangeArrowheads="1"/>
          </p:cNvSpPr>
          <p:nvPr>
            <p:ph type="title"/>
          </p:nvPr>
        </p:nvSpPr>
        <p:spPr>
          <a:xfrm>
            <a:off x="228600" y="122237"/>
            <a:ext cx="8686800" cy="563563"/>
          </a:xfrm>
          <a:noFill/>
        </p:spPr>
        <p:txBody>
          <a:bodyPr lIns="86034" tIns="43016" rIns="86034" bIns="43016"/>
          <a:lstStyle/>
          <a:p>
            <a:pPr algn="ctr"/>
            <a:r>
              <a:rPr lang="en-GB" altLang="en-US" dirty="0" smtClean="0"/>
              <a:t>BGP Route Flap Damping Operation</a:t>
            </a:r>
          </a:p>
        </p:txBody>
      </p:sp>
      <p:sp>
        <p:nvSpPr>
          <p:cNvPr id="2" name="Slide Number Placeholder 1"/>
          <p:cNvSpPr>
            <a:spLocks noGrp="1"/>
          </p:cNvSpPr>
          <p:nvPr>
            <p:ph type="sldNum" sz="quarter" idx="10"/>
          </p:nvPr>
        </p:nvSpPr>
        <p:spPr/>
        <p:txBody>
          <a:bodyPr/>
          <a:lstStyle/>
          <a:p>
            <a:fld id="{1C0FA7A3-0FBF-4EC3-BE45-825983E95E58}" type="slidenum">
              <a:rPr lang="en-US" smtClean="0"/>
              <a:pPr/>
              <a:t>82</a:t>
            </a:fld>
            <a:endParaRPr lang="en-US" dirty="0"/>
          </a:p>
        </p:txBody>
      </p:sp>
    </p:spTree>
    <p:extLst>
      <p:ext uri="{BB962C8B-B14F-4D97-AF65-F5344CB8AC3E}">
        <p14:creationId xmlns:p14="http://schemas.microsoft.com/office/powerpoint/2010/main" val="2706620041"/>
      </p:ext>
    </p:extLst>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en-US" altLang="en-US" smtClean="0"/>
              <a:t>Operation</a:t>
            </a:r>
          </a:p>
        </p:txBody>
      </p:sp>
      <p:grpSp>
        <p:nvGrpSpPr>
          <p:cNvPr id="143363" name="Group 3"/>
          <p:cNvGrpSpPr>
            <a:grpSpLocks/>
          </p:cNvGrpSpPr>
          <p:nvPr/>
        </p:nvGrpSpPr>
        <p:grpSpPr bwMode="auto">
          <a:xfrm>
            <a:off x="381000" y="1600200"/>
            <a:ext cx="8128000" cy="4927600"/>
            <a:chOff x="192" y="949"/>
            <a:chExt cx="4510" cy="2677"/>
          </a:xfrm>
        </p:grpSpPr>
        <p:sp>
          <p:nvSpPr>
            <p:cNvPr id="143364" name="Rectangle 4"/>
            <p:cNvSpPr>
              <a:spLocks noChangeArrowheads="1"/>
            </p:cNvSpPr>
            <p:nvPr/>
          </p:nvSpPr>
          <p:spPr bwMode="auto">
            <a:xfrm>
              <a:off x="2270" y="2029"/>
              <a:ext cx="707" cy="153"/>
            </a:xfrm>
            <a:prstGeom prst="rect">
              <a:avLst/>
            </a:prstGeom>
            <a:solidFill>
              <a:srgbClr val="FFE59B"/>
            </a:solidFill>
            <a:ln w="12700">
              <a:solidFill>
                <a:schemeClr val="tx1"/>
              </a:solidFill>
              <a:miter lim="800000"/>
              <a:headEnd/>
              <a:tailEnd/>
            </a:ln>
            <a:effectLst>
              <a:outerShdw dist="35921" dir="2700000" algn="ctr" rotWithShape="0">
                <a:schemeClr val="tx1"/>
              </a:outerShdw>
            </a:effectLst>
          </p:spPr>
          <p:txBody>
            <a:bodyPr lIns="81522" tIns="41555" rIns="81522" bIns="41555">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43365" name="Text Box 5"/>
            <p:cNvSpPr txBox="1">
              <a:spLocks noChangeArrowheads="1"/>
            </p:cNvSpPr>
            <p:nvPr/>
          </p:nvSpPr>
          <p:spPr bwMode="auto">
            <a:xfrm>
              <a:off x="2256" y="2026"/>
              <a:ext cx="768" cy="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nchor="ctr" anchorCtr="1">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5000"/>
                </a:lnSpc>
                <a:spcBef>
                  <a:spcPct val="50000"/>
                </a:spcBef>
                <a:buClr>
                  <a:schemeClr val="accent2"/>
                </a:buClr>
                <a:buSzTx/>
                <a:buFont typeface="Arial" panose="020B0604020202020204" pitchFamily="34" charset="0"/>
                <a:buNone/>
              </a:pPr>
              <a:r>
                <a:rPr lang="en-GB" altLang="en-US" sz="1400"/>
                <a:t>Reuse limit</a:t>
              </a:r>
            </a:p>
          </p:txBody>
        </p:sp>
        <p:sp>
          <p:nvSpPr>
            <p:cNvPr id="143366" name="Freeform 6"/>
            <p:cNvSpPr>
              <a:spLocks/>
            </p:cNvSpPr>
            <p:nvPr/>
          </p:nvSpPr>
          <p:spPr bwMode="auto">
            <a:xfrm>
              <a:off x="1386" y="949"/>
              <a:ext cx="2885" cy="1702"/>
            </a:xfrm>
            <a:custGeom>
              <a:avLst/>
              <a:gdLst>
                <a:gd name="T0" fmla="*/ 2870 w 2885"/>
                <a:gd name="T1" fmla="*/ 1522 h 1702"/>
                <a:gd name="T2" fmla="*/ 2836 w 2885"/>
                <a:gd name="T3" fmla="*/ 1514 h 1702"/>
                <a:gd name="T4" fmla="*/ 2807 w 2885"/>
                <a:gd name="T5" fmla="*/ 1514 h 1702"/>
                <a:gd name="T6" fmla="*/ 2772 w 2885"/>
                <a:gd name="T7" fmla="*/ 1500 h 1702"/>
                <a:gd name="T8" fmla="*/ 2730 w 2885"/>
                <a:gd name="T9" fmla="*/ 1500 h 1702"/>
                <a:gd name="T10" fmla="*/ 2695 w 2885"/>
                <a:gd name="T11" fmla="*/ 1486 h 1702"/>
                <a:gd name="T12" fmla="*/ 2653 w 2885"/>
                <a:gd name="T13" fmla="*/ 1471 h 1702"/>
                <a:gd name="T14" fmla="*/ 2625 w 2885"/>
                <a:gd name="T15" fmla="*/ 1471 h 1702"/>
                <a:gd name="T16" fmla="*/ 2589 w 2885"/>
                <a:gd name="T17" fmla="*/ 1464 h 1702"/>
                <a:gd name="T18" fmla="*/ 2562 w 2885"/>
                <a:gd name="T19" fmla="*/ 1457 h 1702"/>
                <a:gd name="T20" fmla="*/ 2527 w 2885"/>
                <a:gd name="T21" fmla="*/ 1451 h 1702"/>
                <a:gd name="T22" fmla="*/ 2484 w 2885"/>
                <a:gd name="T23" fmla="*/ 1443 h 1702"/>
                <a:gd name="T24" fmla="*/ 2441 w 2885"/>
                <a:gd name="T25" fmla="*/ 1421 h 1702"/>
                <a:gd name="T26" fmla="*/ 2408 w 2885"/>
                <a:gd name="T27" fmla="*/ 1400 h 1702"/>
                <a:gd name="T28" fmla="*/ 2371 w 2885"/>
                <a:gd name="T29" fmla="*/ 1392 h 1702"/>
                <a:gd name="T30" fmla="*/ 2337 w 2885"/>
                <a:gd name="T31" fmla="*/ 1371 h 1702"/>
                <a:gd name="T32" fmla="*/ 2302 w 2885"/>
                <a:gd name="T33" fmla="*/ 1356 h 1702"/>
                <a:gd name="T34" fmla="*/ 2253 w 2885"/>
                <a:gd name="T35" fmla="*/ 1322 h 1702"/>
                <a:gd name="T36" fmla="*/ 2211 w 2885"/>
                <a:gd name="T37" fmla="*/ 1300 h 1702"/>
                <a:gd name="T38" fmla="*/ 2175 w 2885"/>
                <a:gd name="T39" fmla="*/ 1271 h 1702"/>
                <a:gd name="T40" fmla="*/ 2133 w 2885"/>
                <a:gd name="T41" fmla="*/ 1249 h 1702"/>
                <a:gd name="T42" fmla="*/ 2105 w 2885"/>
                <a:gd name="T43" fmla="*/ 1234 h 1702"/>
                <a:gd name="T44" fmla="*/ 2078 w 2885"/>
                <a:gd name="T45" fmla="*/ 1214 h 1702"/>
                <a:gd name="T46" fmla="*/ 2056 w 2885"/>
                <a:gd name="T47" fmla="*/ 1185 h 1702"/>
                <a:gd name="T48" fmla="*/ 2035 w 2885"/>
                <a:gd name="T49" fmla="*/ 1169 h 1702"/>
                <a:gd name="T50" fmla="*/ 1992 w 2885"/>
                <a:gd name="T51" fmla="*/ 1141 h 1702"/>
                <a:gd name="T52" fmla="*/ 1965 w 2885"/>
                <a:gd name="T53" fmla="*/ 1105 h 1702"/>
                <a:gd name="T54" fmla="*/ 1937 w 2885"/>
                <a:gd name="T55" fmla="*/ 1069 h 1702"/>
                <a:gd name="T56" fmla="*/ 1894 w 2885"/>
                <a:gd name="T57" fmla="*/ 1033 h 1702"/>
                <a:gd name="T58" fmla="*/ 1866 w 2885"/>
                <a:gd name="T59" fmla="*/ 1004 h 1702"/>
                <a:gd name="T60" fmla="*/ 1838 w 2885"/>
                <a:gd name="T61" fmla="*/ 961 h 1702"/>
                <a:gd name="T62" fmla="*/ 1811 w 2885"/>
                <a:gd name="T63" fmla="*/ 918 h 1702"/>
                <a:gd name="T64" fmla="*/ 1776 w 2885"/>
                <a:gd name="T65" fmla="*/ 868 h 1702"/>
                <a:gd name="T66" fmla="*/ 1748 w 2885"/>
                <a:gd name="T67" fmla="*/ 832 h 1702"/>
                <a:gd name="T68" fmla="*/ 1720 w 2885"/>
                <a:gd name="T69" fmla="*/ 796 h 1702"/>
                <a:gd name="T70" fmla="*/ 1698 w 2885"/>
                <a:gd name="T71" fmla="*/ 760 h 1702"/>
                <a:gd name="T72" fmla="*/ 1671 w 2885"/>
                <a:gd name="T73" fmla="*/ 732 h 1702"/>
                <a:gd name="T74" fmla="*/ 1657 w 2885"/>
                <a:gd name="T75" fmla="*/ 703 h 1702"/>
                <a:gd name="T76" fmla="*/ 1628 w 2885"/>
                <a:gd name="T77" fmla="*/ 674 h 1702"/>
                <a:gd name="T78" fmla="*/ 1614 w 2885"/>
                <a:gd name="T79" fmla="*/ 652 h 1702"/>
                <a:gd name="T80" fmla="*/ 1593 w 2885"/>
                <a:gd name="T81" fmla="*/ 617 h 1702"/>
                <a:gd name="T82" fmla="*/ 1572 w 2885"/>
                <a:gd name="T83" fmla="*/ 587 h 1702"/>
                <a:gd name="T84" fmla="*/ 1550 w 2885"/>
                <a:gd name="T85" fmla="*/ 552 h 1702"/>
                <a:gd name="T86" fmla="*/ 1530 w 2885"/>
                <a:gd name="T87" fmla="*/ 522 h 1702"/>
                <a:gd name="T88" fmla="*/ 1502 w 2885"/>
                <a:gd name="T89" fmla="*/ 480 h 1702"/>
                <a:gd name="T90" fmla="*/ 1487 w 2885"/>
                <a:gd name="T91" fmla="*/ 451 h 1702"/>
                <a:gd name="T92" fmla="*/ 1474 w 2885"/>
                <a:gd name="T93" fmla="*/ 423 h 1702"/>
                <a:gd name="T94" fmla="*/ 1417 w 2885"/>
                <a:gd name="T95" fmla="*/ 323 h 1702"/>
                <a:gd name="T96" fmla="*/ 1229 w 2885"/>
                <a:gd name="T97" fmla="*/ 0 h 1702"/>
                <a:gd name="T98" fmla="*/ 1130 w 2885"/>
                <a:gd name="T99" fmla="*/ 305 h 1702"/>
                <a:gd name="T100" fmla="*/ 1023 w 2885"/>
                <a:gd name="T101" fmla="*/ 645 h 1702"/>
                <a:gd name="T102" fmla="*/ 781 w 2885"/>
                <a:gd name="T103" fmla="*/ 546 h 1702"/>
                <a:gd name="T104" fmla="*/ 665 w 2885"/>
                <a:gd name="T105" fmla="*/ 896 h 1702"/>
                <a:gd name="T106" fmla="*/ 530 w 2885"/>
                <a:gd name="T107" fmla="*/ 1218 h 1702"/>
                <a:gd name="T108" fmla="*/ 253 w 2885"/>
                <a:gd name="T109" fmla="*/ 1084 h 1702"/>
                <a:gd name="T110" fmla="*/ 145 w 2885"/>
                <a:gd name="T111" fmla="*/ 1433 h 1702"/>
                <a:gd name="T112" fmla="*/ 0 w 2885"/>
                <a:gd name="T113" fmla="*/ 1702 h 170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2885" h="1702">
                  <a:moveTo>
                    <a:pt x="2885" y="1530"/>
                  </a:moveTo>
                  <a:lnTo>
                    <a:pt x="2870" y="1522"/>
                  </a:lnTo>
                  <a:lnTo>
                    <a:pt x="2850" y="1522"/>
                  </a:lnTo>
                  <a:lnTo>
                    <a:pt x="2836" y="1514"/>
                  </a:lnTo>
                  <a:lnTo>
                    <a:pt x="2821" y="1514"/>
                  </a:lnTo>
                  <a:lnTo>
                    <a:pt x="2807" y="1514"/>
                  </a:lnTo>
                  <a:lnTo>
                    <a:pt x="2786" y="1508"/>
                  </a:lnTo>
                  <a:lnTo>
                    <a:pt x="2772" y="1500"/>
                  </a:lnTo>
                  <a:lnTo>
                    <a:pt x="2758" y="1500"/>
                  </a:lnTo>
                  <a:lnTo>
                    <a:pt x="2730" y="1500"/>
                  </a:lnTo>
                  <a:lnTo>
                    <a:pt x="2710" y="1492"/>
                  </a:lnTo>
                  <a:lnTo>
                    <a:pt x="2695" y="1486"/>
                  </a:lnTo>
                  <a:lnTo>
                    <a:pt x="2674" y="1478"/>
                  </a:lnTo>
                  <a:lnTo>
                    <a:pt x="2653" y="1471"/>
                  </a:lnTo>
                  <a:lnTo>
                    <a:pt x="2639" y="1471"/>
                  </a:lnTo>
                  <a:lnTo>
                    <a:pt x="2625" y="1471"/>
                  </a:lnTo>
                  <a:lnTo>
                    <a:pt x="2610" y="1471"/>
                  </a:lnTo>
                  <a:lnTo>
                    <a:pt x="2589" y="1464"/>
                  </a:lnTo>
                  <a:lnTo>
                    <a:pt x="2576" y="1464"/>
                  </a:lnTo>
                  <a:lnTo>
                    <a:pt x="2562" y="1457"/>
                  </a:lnTo>
                  <a:lnTo>
                    <a:pt x="2541" y="1457"/>
                  </a:lnTo>
                  <a:lnTo>
                    <a:pt x="2527" y="1451"/>
                  </a:lnTo>
                  <a:lnTo>
                    <a:pt x="2512" y="1451"/>
                  </a:lnTo>
                  <a:lnTo>
                    <a:pt x="2484" y="1443"/>
                  </a:lnTo>
                  <a:lnTo>
                    <a:pt x="2463" y="1428"/>
                  </a:lnTo>
                  <a:lnTo>
                    <a:pt x="2441" y="1421"/>
                  </a:lnTo>
                  <a:lnTo>
                    <a:pt x="2428" y="1413"/>
                  </a:lnTo>
                  <a:lnTo>
                    <a:pt x="2408" y="1400"/>
                  </a:lnTo>
                  <a:lnTo>
                    <a:pt x="2393" y="1392"/>
                  </a:lnTo>
                  <a:lnTo>
                    <a:pt x="2371" y="1392"/>
                  </a:lnTo>
                  <a:lnTo>
                    <a:pt x="2358" y="1378"/>
                  </a:lnTo>
                  <a:lnTo>
                    <a:pt x="2337" y="1371"/>
                  </a:lnTo>
                  <a:lnTo>
                    <a:pt x="2323" y="1363"/>
                  </a:lnTo>
                  <a:lnTo>
                    <a:pt x="2302" y="1356"/>
                  </a:lnTo>
                  <a:lnTo>
                    <a:pt x="2274" y="1335"/>
                  </a:lnTo>
                  <a:lnTo>
                    <a:pt x="2253" y="1322"/>
                  </a:lnTo>
                  <a:lnTo>
                    <a:pt x="2232" y="1314"/>
                  </a:lnTo>
                  <a:lnTo>
                    <a:pt x="2211" y="1300"/>
                  </a:lnTo>
                  <a:lnTo>
                    <a:pt x="2189" y="1284"/>
                  </a:lnTo>
                  <a:lnTo>
                    <a:pt x="2175" y="1271"/>
                  </a:lnTo>
                  <a:lnTo>
                    <a:pt x="2155" y="1263"/>
                  </a:lnTo>
                  <a:lnTo>
                    <a:pt x="2133" y="1249"/>
                  </a:lnTo>
                  <a:lnTo>
                    <a:pt x="2119" y="1242"/>
                  </a:lnTo>
                  <a:lnTo>
                    <a:pt x="2105" y="1234"/>
                  </a:lnTo>
                  <a:lnTo>
                    <a:pt x="2092" y="1220"/>
                  </a:lnTo>
                  <a:lnTo>
                    <a:pt x="2078" y="1214"/>
                  </a:lnTo>
                  <a:lnTo>
                    <a:pt x="2063" y="1198"/>
                  </a:lnTo>
                  <a:lnTo>
                    <a:pt x="2056" y="1185"/>
                  </a:lnTo>
                  <a:lnTo>
                    <a:pt x="2041" y="1185"/>
                  </a:lnTo>
                  <a:lnTo>
                    <a:pt x="2035" y="1169"/>
                  </a:lnTo>
                  <a:lnTo>
                    <a:pt x="2007" y="1148"/>
                  </a:lnTo>
                  <a:lnTo>
                    <a:pt x="1992" y="1141"/>
                  </a:lnTo>
                  <a:lnTo>
                    <a:pt x="1979" y="1119"/>
                  </a:lnTo>
                  <a:lnTo>
                    <a:pt x="1965" y="1105"/>
                  </a:lnTo>
                  <a:lnTo>
                    <a:pt x="1952" y="1090"/>
                  </a:lnTo>
                  <a:lnTo>
                    <a:pt x="1937" y="1069"/>
                  </a:lnTo>
                  <a:lnTo>
                    <a:pt x="1923" y="1055"/>
                  </a:lnTo>
                  <a:lnTo>
                    <a:pt x="1894" y="1033"/>
                  </a:lnTo>
                  <a:lnTo>
                    <a:pt x="1881" y="1012"/>
                  </a:lnTo>
                  <a:lnTo>
                    <a:pt x="1866" y="1004"/>
                  </a:lnTo>
                  <a:lnTo>
                    <a:pt x="1852" y="982"/>
                  </a:lnTo>
                  <a:lnTo>
                    <a:pt x="1838" y="961"/>
                  </a:lnTo>
                  <a:lnTo>
                    <a:pt x="1825" y="940"/>
                  </a:lnTo>
                  <a:lnTo>
                    <a:pt x="1811" y="918"/>
                  </a:lnTo>
                  <a:lnTo>
                    <a:pt x="1797" y="897"/>
                  </a:lnTo>
                  <a:lnTo>
                    <a:pt x="1776" y="868"/>
                  </a:lnTo>
                  <a:lnTo>
                    <a:pt x="1761" y="846"/>
                  </a:lnTo>
                  <a:lnTo>
                    <a:pt x="1748" y="832"/>
                  </a:lnTo>
                  <a:lnTo>
                    <a:pt x="1733" y="811"/>
                  </a:lnTo>
                  <a:lnTo>
                    <a:pt x="1720" y="796"/>
                  </a:lnTo>
                  <a:lnTo>
                    <a:pt x="1712" y="774"/>
                  </a:lnTo>
                  <a:lnTo>
                    <a:pt x="1698" y="760"/>
                  </a:lnTo>
                  <a:lnTo>
                    <a:pt x="1683" y="746"/>
                  </a:lnTo>
                  <a:lnTo>
                    <a:pt x="1671" y="732"/>
                  </a:lnTo>
                  <a:lnTo>
                    <a:pt x="1671" y="716"/>
                  </a:lnTo>
                  <a:lnTo>
                    <a:pt x="1657" y="703"/>
                  </a:lnTo>
                  <a:lnTo>
                    <a:pt x="1635" y="689"/>
                  </a:lnTo>
                  <a:lnTo>
                    <a:pt x="1628" y="674"/>
                  </a:lnTo>
                  <a:lnTo>
                    <a:pt x="1614" y="667"/>
                  </a:lnTo>
                  <a:lnTo>
                    <a:pt x="1614" y="652"/>
                  </a:lnTo>
                  <a:lnTo>
                    <a:pt x="1600" y="637"/>
                  </a:lnTo>
                  <a:lnTo>
                    <a:pt x="1593" y="617"/>
                  </a:lnTo>
                  <a:lnTo>
                    <a:pt x="1579" y="602"/>
                  </a:lnTo>
                  <a:lnTo>
                    <a:pt x="1572" y="587"/>
                  </a:lnTo>
                  <a:lnTo>
                    <a:pt x="1564" y="573"/>
                  </a:lnTo>
                  <a:lnTo>
                    <a:pt x="1550" y="552"/>
                  </a:lnTo>
                  <a:lnTo>
                    <a:pt x="1536" y="545"/>
                  </a:lnTo>
                  <a:lnTo>
                    <a:pt x="1530" y="522"/>
                  </a:lnTo>
                  <a:lnTo>
                    <a:pt x="1515" y="508"/>
                  </a:lnTo>
                  <a:lnTo>
                    <a:pt x="1502" y="480"/>
                  </a:lnTo>
                  <a:lnTo>
                    <a:pt x="1495" y="466"/>
                  </a:lnTo>
                  <a:lnTo>
                    <a:pt x="1487" y="451"/>
                  </a:lnTo>
                  <a:lnTo>
                    <a:pt x="1474" y="437"/>
                  </a:lnTo>
                  <a:lnTo>
                    <a:pt x="1474" y="423"/>
                  </a:lnTo>
                  <a:lnTo>
                    <a:pt x="1441" y="363"/>
                  </a:lnTo>
                  <a:lnTo>
                    <a:pt x="1417" y="323"/>
                  </a:lnTo>
                  <a:lnTo>
                    <a:pt x="1378" y="255"/>
                  </a:lnTo>
                  <a:lnTo>
                    <a:pt x="1229" y="0"/>
                  </a:lnTo>
                  <a:lnTo>
                    <a:pt x="1229" y="323"/>
                  </a:lnTo>
                  <a:lnTo>
                    <a:pt x="1130" y="305"/>
                  </a:lnTo>
                  <a:lnTo>
                    <a:pt x="1023" y="260"/>
                  </a:lnTo>
                  <a:lnTo>
                    <a:pt x="1023" y="645"/>
                  </a:lnTo>
                  <a:lnTo>
                    <a:pt x="897" y="618"/>
                  </a:lnTo>
                  <a:lnTo>
                    <a:pt x="781" y="546"/>
                  </a:lnTo>
                  <a:lnTo>
                    <a:pt x="781" y="914"/>
                  </a:lnTo>
                  <a:lnTo>
                    <a:pt x="665" y="896"/>
                  </a:lnTo>
                  <a:lnTo>
                    <a:pt x="530" y="824"/>
                  </a:lnTo>
                  <a:lnTo>
                    <a:pt x="530" y="1218"/>
                  </a:lnTo>
                  <a:lnTo>
                    <a:pt x="396" y="1182"/>
                  </a:lnTo>
                  <a:lnTo>
                    <a:pt x="253" y="1084"/>
                  </a:lnTo>
                  <a:lnTo>
                    <a:pt x="259" y="1455"/>
                  </a:lnTo>
                  <a:lnTo>
                    <a:pt x="145" y="1433"/>
                  </a:lnTo>
                  <a:lnTo>
                    <a:pt x="2" y="1370"/>
                  </a:lnTo>
                  <a:lnTo>
                    <a:pt x="0" y="1702"/>
                  </a:lnTo>
                </a:path>
              </a:pathLst>
            </a:custGeom>
            <a:noFill/>
            <a:ln w="50800" cap="rnd" cmpd="sng">
              <a:solidFill>
                <a:srgbClr val="FF8086"/>
              </a:solidFill>
              <a:prstDash val="solid"/>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wrap="none" lIns="81522" tIns="41555" rIns="81522" bIns="41555">
              <a:spAutoFit/>
            </a:bodyPr>
            <a:lstStyle/>
            <a:p>
              <a:endParaRPr lang="en-US"/>
            </a:p>
          </p:txBody>
        </p:sp>
        <p:sp>
          <p:nvSpPr>
            <p:cNvPr id="143367" name="Line 7"/>
            <p:cNvSpPr>
              <a:spLocks noChangeShapeType="1"/>
            </p:cNvSpPr>
            <p:nvPr/>
          </p:nvSpPr>
          <p:spPr bwMode="auto">
            <a:xfrm flipH="1">
              <a:off x="1090" y="2325"/>
              <a:ext cx="106"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68" name="Line 8"/>
            <p:cNvSpPr>
              <a:spLocks noChangeShapeType="1"/>
            </p:cNvSpPr>
            <p:nvPr/>
          </p:nvSpPr>
          <p:spPr bwMode="auto">
            <a:xfrm flipH="1">
              <a:off x="1090" y="1946"/>
              <a:ext cx="106"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69" name="Line 9"/>
            <p:cNvSpPr>
              <a:spLocks noChangeShapeType="1"/>
            </p:cNvSpPr>
            <p:nvPr/>
          </p:nvSpPr>
          <p:spPr bwMode="auto">
            <a:xfrm flipH="1">
              <a:off x="1090" y="1550"/>
              <a:ext cx="106"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70" name="Line 10"/>
            <p:cNvSpPr>
              <a:spLocks noChangeShapeType="1"/>
            </p:cNvSpPr>
            <p:nvPr/>
          </p:nvSpPr>
          <p:spPr bwMode="auto">
            <a:xfrm flipH="1">
              <a:off x="1090" y="1134"/>
              <a:ext cx="106"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71" name="Line 11"/>
            <p:cNvSpPr>
              <a:spLocks noChangeShapeType="1"/>
            </p:cNvSpPr>
            <p:nvPr/>
          </p:nvSpPr>
          <p:spPr bwMode="auto">
            <a:xfrm>
              <a:off x="1189"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72" name="Line 12"/>
            <p:cNvSpPr>
              <a:spLocks noChangeShapeType="1"/>
            </p:cNvSpPr>
            <p:nvPr/>
          </p:nvSpPr>
          <p:spPr bwMode="auto">
            <a:xfrm flipH="1">
              <a:off x="1090" y="2707"/>
              <a:ext cx="106" cy="0"/>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73" name="Freeform 13"/>
            <p:cNvSpPr>
              <a:spLocks/>
            </p:cNvSpPr>
            <p:nvPr/>
          </p:nvSpPr>
          <p:spPr bwMode="auto">
            <a:xfrm>
              <a:off x="1189" y="1049"/>
              <a:ext cx="78" cy="1653"/>
            </a:xfrm>
            <a:custGeom>
              <a:avLst/>
              <a:gdLst>
                <a:gd name="T0" fmla="*/ 0 w 75"/>
                <a:gd name="T1" fmla="*/ 86 h 1500"/>
                <a:gd name="T2" fmla="*/ 80 w 75"/>
                <a:gd name="T3" fmla="*/ 0 h 1500"/>
                <a:gd name="T4" fmla="*/ 80 w 75"/>
                <a:gd name="T5" fmla="*/ 1733 h 1500"/>
                <a:gd name="T6" fmla="*/ 0 w 75"/>
                <a:gd name="T7" fmla="*/ 1821 h 1500"/>
                <a:gd name="T8" fmla="*/ 0 w 75"/>
                <a:gd name="T9" fmla="*/ 86 h 15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5" h="1500">
                  <a:moveTo>
                    <a:pt x="0" y="71"/>
                  </a:moveTo>
                  <a:lnTo>
                    <a:pt x="74" y="0"/>
                  </a:lnTo>
                  <a:lnTo>
                    <a:pt x="74" y="1427"/>
                  </a:lnTo>
                  <a:lnTo>
                    <a:pt x="0" y="1499"/>
                  </a:lnTo>
                  <a:lnTo>
                    <a:pt x="0" y="71"/>
                  </a:lnTo>
                </a:path>
              </a:pathLst>
            </a:custGeom>
            <a:solidFill>
              <a:schemeClr val="accent1"/>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74" name="Freeform 14"/>
            <p:cNvSpPr>
              <a:spLocks/>
            </p:cNvSpPr>
            <p:nvPr/>
          </p:nvSpPr>
          <p:spPr bwMode="auto">
            <a:xfrm>
              <a:off x="1189" y="2627"/>
              <a:ext cx="3041" cy="81"/>
            </a:xfrm>
            <a:custGeom>
              <a:avLst/>
              <a:gdLst>
                <a:gd name="T0" fmla="*/ 0 w 2920"/>
                <a:gd name="T1" fmla="*/ 89 h 73"/>
                <a:gd name="T2" fmla="*/ 80 w 2920"/>
                <a:gd name="T3" fmla="*/ 0 h 73"/>
                <a:gd name="T4" fmla="*/ 3166 w 2920"/>
                <a:gd name="T5" fmla="*/ 0 h 73"/>
                <a:gd name="T6" fmla="*/ 3085 w 2920"/>
                <a:gd name="T7" fmla="*/ 89 h 73"/>
                <a:gd name="T8" fmla="*/ 0 w 2920"/>
                <a:gd name="T9" fmla="*/ 89 h 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20" h="73">
                  <a:moveTo>
                    <a:pt x="0" y="72"/>
                  </a:moveTo>
                  <a:lnTo>
                    <a:pt x="74" y="0"/>
                  </a:lnTo>
                  <a:lnTo>
                    <a:pt x="2919" y="0"/>
                  </a:lnTo>
                  <a:lnTo>
                    <a:pt x="2844" y="72"/>
                  </a:lnTo>
                  <a:lnTo>
                    <a:pt x="0" y="72"/>
                  </a:lnTo>
                </a:path>
              </a:pathLst>
            </a:custGeom>
            <a:solidFill>
              <a:srgbClr val="00279F"/>
            </a:solidFill>
            <a:ln w="12700"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75" name="Line 15"/>
            <p:cNvSpPr>
              <a:spLocks noChangeShapeType="1"/>
            </p:cNvSpPr>
            <p:nvPr/>
          </p:nvSpPr>
          <p:spPr bwMode="auto">
            <a:xfrm>
              <a:off x="1309"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76" name="Line 16"/>
            <p:cNvSpPr>
              <a:spLocks noChangeShapeType="1"/>
            </p:cNvSpPr>
            <p:nvPr/>
          </p:nvSpPr>
          <p:spPr bwMode="auto">
            <a:xfrm>
              <a:off x="1427"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77" name="Line 17"/>
            <p:cNvSpPr>
              <a:spLocks noChangeShapeType="1"/>
            </p:cNvSpPr>
            <p:nvPr/>
          </p:nvSpPr>
          <p:spPr bwMode="auto">
            <a:xfrm>
              <a:off x="1546"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78" name="Line 18"/>
            <p:cNvSpPr>
              <a:spLocks noChangeShapeType="1"/>
            </p:cNvSpPr>
            <p:nvPr/>
          </p:nvSpPr>
          <p:spPr bwMode="auto">
            <a:xfrm>
              <a:off x="1666"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79" name="Line 19"/>
            <p:cNvSpPr>
              <a:spLocks noChangeShapeType="1"/>
            </p:cNvSpPr>
            <p:nvPr/>
          </p:nvSpPr>
          <p:spPr bwMode="auto">
            <a:xfrm>
              <a:off x="1785"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80" name="Line 20"/>
            <p:cNvSpPr>
              <a:spLocks noChangeShapeType="1"/>
            </p:cNvSpPr>
            <p:nvPr/>
          </p:nvSpPr>
          <p:spPr bwMode="auto">
            <a:xfrm>
              <a:off x="1904"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81" name="Line 21"/>
            <p:cNvSpPr>
              <a:spLocks noChangeShapeType="1"/>
            </p:cNvSpPr>
            <p:nvPr/>
          </p:nvSpPr>
          <p:spPr bwMode="auto">
            <a:xfrm>
              <a:off x="2025"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82" name="Line 22"/>
            <p:cNvSpPr>
              <a:spLocks noChangeShapeType="1"/>
            </p:cNvSpPr>
            <p:nvPr/>
          </p:nvSpPr>
          <p:spPr bwMode="auto">
            <a:xfrm>
              <a:off x="2142"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83" name="Line 23"/>
            <p:cNvSpPr>
              <a:spLocks noChangeShapeType="1"/>
            </p:cNvSpPr>
            <p:nvPr/>
          </p:nvSpPr>
          <p:spPr bwMode="auto">
            <a:xfrm>
              <a:off x="2262"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84" name="Line 24"/>
            <p:cNvSpPr>
              <a:spLocks noChangeShapeType="1"/>
            </p:cNvSpPr>
            <p:nvPr/>
          </p:nvSpPr>
          <p:spPr bwMode="auto">
            <a:xfrm>
              <a:off x="2382"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85" name="Line 25"/>
            <p:cNvSpPr>
              <a:spLocks noChangeShapeType="1"/>
            </p:cNvSpPr>
            <p:nvPr/>
          </p:nvSpPr>
          <p:spPr bwMode="auto">
            <a:xfrm>
              <a:off x="2502"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86" name="Line 26"/>
            <p:cNvSpPr>
              <a:spLocks noChangeShapeType="1"/>
            </p:cNvSpPr>
            <p:nvPr/>
          </p:nvSpPr>
          <p:spPr bwMode="auto">
            <a:xfrm>
              <a:off x="2620"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87" name="Line 27"/>
            <p:cNvSpPr>
              <a:spLocks noChangeShapeType="1"/>
            </p:cNvSpPr>
            <p:nvPr/>
          </p:nvSpPr>
          <p:spPr bwMode="auto">
            <a:xfrm>
              <a:off x="2740"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88" name="Line 28"/>
            <p:cNvSpPr>
              <a:spLocks noChangeShapeType="1"/>
            </p:cNvSpPr>
            <p:nvPr/>
          </p:nvSpPr>
          <p:spPr bwMode="auto">
            <a:xfrm>
              <a:off x="2859"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89" name="Line 29"/>
            <p:cNvSpPr>
              <a:spLocks noChangeShapeType="1"/>
            </p:cNvSpPr>
            <p:nvPr/>
          </p:nvSpPr>
          <p:spPr bwMode="auto">
            <a:xfrm>
              <a:off x="2977"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90" name="Line 30"/>
            <p:cNvSpPr>
              <a:spLocks noChangeShapeType="1"/>
            </p:cNvSpPr>
            <p:nvPr/>
          </p:nvSpPr>
          <p:spPr bwMode="auto">
            <a:xfrm>
              <a:off x="3097"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91" name="Line 31"/>
            <p:cNvSpPr>
              <a:spLocks noChangeShapeType="1"/>
            </p:cNvSpPr>
            <p:nvPr/>
          </p:nvSpPr>
          <p:spPr bwMode="auto">
            <a:xfrm>
              <a:off x="3216"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92" name="Line 32"/>
            <p:cNvSpPr>
              <a:spLocks noChangeShapeType="1"/>
            </p:cNvSpPr>
            <p:nvPr/>
          </p:nvSpPr>
          <p:spPr bwMode="auto">
            <a:xfrm>
              <a:off x="3336"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93" name="Line 33"/>
            <p:cNvSpPr>
              <a:spLocks noChangeShapeType="1"/>
            </p:cNvSpPr>
            <p:nvPr/>
          </p:nvSpPr>
          <p:spPr bwMode="auto">
            <a:xfrm>
              <a:off x="3455"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94" name="Line 34"/>
            <p:cNvSpPr>
              <a:spLocks noChangeShapeType="1"/>
            </p:cNvSpPr>
            <p:nvPr/>
          </p:nvSpPr>
          <p:spPr bwMode="auto">
            <a:xfrm>
              <a:off x="3574"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95" name="Line 35"/>
            <p:cNvSpPr>
              <a:spLocks noChangeShapeType="1"/>
            </p:cNvSpPr>
            <p:nvPr/>
          </p:nvSpPr>
          <p:spPr bwMode="auto">
            <a:xfrm>
              <a:off x="3694"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96" name="Line 36"/>
            <p:cNvSpPr>
              <a:spLocks noChangeShapeType="1"/>
            </p:cNvSpPr>
            <p:nvPr/>
          </p:nvSpPr>
          <p:spPr bwMode="auto">
            <a:xfrm>
              <a:off x="3813"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97" name="Line 37"/>
            <p:cNvSpPr>
              <a:spLocks noChangeShapeType="1"/>
            </p:cNvSpPr>
            <p:nvPr/>
          </p:nvSpPr>
          <p:spPr bwMode="auto">
            <a:xfrm>
              <a:off x="3932"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98" name="Line 38"/>
            <p:cNvSpPr>
              <a:spLocks noChangeShapeType="1"/>
            </p:cNvSpPr>
            <p:nvPr/>
          </p:nvSpPr>
          <p:spPr bwMode="auto">
            <a:xfrm>
              <a:off x="4052"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399" name="Rectangle 39"/>
            <p:cNvSpPr>
              <a:spLocks noChangeArrowheads="1"/>
            </p:cNvSpPr>
            <p:nvPr/>
          </p:nvSpPr>
          <p:spPr bwMode="auto">
            <a:xfrm>
              <a:off x="1135" y="2817"/>
              <a:ext cx="133"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0</a:t>
              </a:r>
            </a:p>
          </p:txBody>
        </p:sp>
        <p:sp>
          <p:nvSpPr>
            <p:cNvPr id="143400" name="Rectangle 40"/>
            <p:cNvSpPr>
              <a:spLocks noChangeArrowheads="1"/>
            </p:cNvSpPr>
            <p:nvPr/>
          </p:nvSpPr>
          <p:spPr bwMode="auto">
            <a:xfrm>
              <a:off x="1253" y="2817"/>
              <a:ext cx="133"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1</a:t>
              </a:r>
            </a:p>
          </p:txBody>
        </p:sp>
        <p:sp>
          <p:nvSpPr>
            <p:cNvPr id="143401" name="Rectangle 41"/>
            <p:cNvSpPr>
              <a:spLocks noChangeArrowheads="1"/>
            </p:cNvSpPr>
            <p:nvPr/>
          </p:nvSpPr>
          <p:spPr bwMode="auto">
            <a:xfrm>
              <a:off x="1373" y="2817"/>
              <a:ext cx="133"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2</a:t>
              </a:r>
            </a:p>
          </p:txBody>
        </p:sp>
        <p:sp>
          <p:nvSpPr>
            <p:cNvPr id="143402" name="Rectangle 42"/>
            <p:cNvSpPr>
              <a:spLocks noChangeArrowheads="1"/>
            </p:cNvSpPr>
            <p:nvPr/>
          </p:nvSpPr>
          <p:spPr bwMode="auto">
            <a:xfrm>
              <a:off x="1498" y="2817"/>
              <a:ext cx="133"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3</a:t>
              </a:r>
            </a:p>
          </p:txBody>
        </p:sp>
        <p:sp>
          <p:nvSpPr>
            <p:cNvPr id="143403" name="Rectangle 43"/>
            <p:cNvSpPr>
              <a:spLocks noChangeArrowheads="1"/>
            </p:cNvSpPr>
            <p:nvPr/>
          </p:nvSpPr>
          <p:spPr bwMode="auto">
            <a:xfrm>
              <a:off x="1611" y="2817"/>
              <a:ext cx="133"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4</a:t>
              </a:r>
            </a:p>
          </p:txBody>
        </p:sp>
        <p:sp>
          <p:nvSpPr>
            <p:cNvPr id="143404" name="Rectangle 44"/>
            <p:cNvSpPr>
              <a:spLocks noChangeArrowheads="1"/>
            </p:cNvSpPr>
            <p:nvPr/>
          </p:nvSpPr>
          <p:spPr bwMode="auto">
            <a:xfrm>
              <a:off x="1737" y="2817"/>
              <a:ext cx="133"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5</a:t>
              </a:r>
            </a:p>
          </p:txBody>
        </p:sp>
        <p:sp>
          <p:nvSpPr>
            <p:cNvPr id="143405" name="Rectangle 45"/>
            <p:cNvSpPr>
              <a:spLocks noChangeArrowheads="1"/>
            </p:cNvSpPr>
            <p:nvPr/>
          </p:nvSpPr>
          <p:spPr bwMode="auto">
            <a:xfrm>
              <a:off x="1851" y="2817"/>
              <a:ext cx="133"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6</a:t>
              </a:r>
            </a:p>
          </p:txBody>
        </p:sp>
        <p:sp>
          <p:nvSpPr>
            <p:cNvPr id="143406" name="Rectangle 46"/>
            <p:cNvSpPr>
              <a:spLocks noChangeArrowheads="1"/>
            </p:cNvSpPr>
            <p:nvPr/>
          </p:nvSpPr>
          <p:spPr bwMode="auto">
            <a:xfrm>
              <a:off x="1969" y="2817"/>
              <a:ext cx="133"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7</a:t>
              </a:r>
            </a:p>
          </p:txBody>
        </p:sp>
        <p:sp>
          <p:nvSpPr>
            <p:cNvPr id="143407" name="Rectangle 47"/>
            <p:cNvSpPr>
              <a:spLocks noChangeArrowheads="1"/>
            </p:cNvSpPr>
            <p:nvPr/>
          </p:nvSpPr>
          <p:spPr bwMode="auto">
            <a:xfrm>
              <a:off x="2082" y="2817"/>
              <a:ext cx="133"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8</a:t>
              </a:r>
            </a:p>
          </p:txBody>
        </p:sp>
        <p:sp>
          <p:nvSpPr>
            <p:cNvPr id="143408" name="Rectangle 48"/>
            <p:cNvSpPr>
              <a:spLocks noChangeArrowheads="1"/>
            </p:cNvSpPr>
            <p:nvPr/>
          </p:nvSpPr>
          <p:spPr bwMode="auto">
            <a:xfrm>
              <a:off x="2208" y="2817"/>
              <a:ext cx="133"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9</a:t>
              </a:r>
            </a:p>
          </p:txBody>
        </p:sp>
        <p:sp>
          <p:nvSpPr>
            <p:cNvPr id="143409" name="Rectangle 49"/>
            <p:cNvSpPr>
              <a:spLocks noChangeArrowheads="1"/>
            </p:cNvSpPr>
            <p:nvPr/>
          </p:nvSpPr>
          <p:spPr bwMode="auto">
            <a:xfrm>
              <a:off x="2305"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10</a:t>
              </a:r>
            </a:p>
          </p:txBody>
        </p:sp>
        <p:sp>
          <p:nvSpPr>
            <p:cNvPr id="143410" name="Rectangle 50"/>
            <p:cNvSpPr>
              <a:spLocks noChangeArrowheads="1"/>
            </p:cNvSpPr>
            <p:nvPr/>
          </p:nvSpPr>
          <p:spPr bwMode="auto">
            <a:xfrm>
              <a:off x="2425"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11</a:t>
              </a:r>
            </a:p>
          </p:txBody>
        </p:sp>
        <p:sp>
          <p:nvSpPr>
            <p:cNvPr id="143411" name="Rectangle 51"/>
            <p:cNvSpPr>
              <a:spLocks noChangeArrowheads="1"/>
            </p:cNvSpPr>
            <p:nvPr/>
          </p:nvSpPr>
          <p:spPr bwMode="auto">
            <a:xfrm>
              <a:off x="2539"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12</a:t>
              </a:r>
            </a:p>
          </p:txBody>
        </p:sp>
        <p:sp>
          <p:nvSpPr>
            <p:cNvPr id="143412" name="Rectangle 52"/>
            <p:cNvSpPr>
              <a:spLocks noChangeArrowheads="1"/>
            </p:cNvSpPr>
            <p:nvPr/>
          </p:nvSpPr>
          <p:spPr bwMode="auto">
            <a:xfrm>
              <a:off x="2650"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13</a:t>
              </a:r>
            </a:p>
          </p:txBody>
        </p:sp>
        <p:sp>
          <p:nvSpPr>
            <p:cNvPr id="143413" name="Rectangle 53"/>
            <p:cNvSpPr>
              <a:spLocks noChangeArrowheads="1"/>
            </p:cNvSpPr>
            <p:nvPr/>
          </p:nvSpPr>
          <p:spPr bwMode="auto">
            <a:xfrm>
              <a:off x="2776"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14</a:t>
              </a:r>
            </a:p>
          </p:txBody>
        </p:sp>
        <p:sp>
          <p:nvSpPr>
            <p:cNvPr id="143414" name="Rectangle 54"/>
            <p:cNvSpPr>
              <a:spLocks noChangeArrowheads="1"/>
            </p:cNvSpPr>
            <p:nvPr/>
          </p:nvSpPr>
          <p:spPr bwMode="auto">
            <a:xfrm>
              <a:off x="2893"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15</a:t>
              </a:r>
            </a:p>
          </p:txBody>
        </p:sp>
        <p:sp>
          <p:nvSpPr>
            <p:cNvPr id="143415" name="Rectangle 55"/>
            <p:cNvSpPr>
              <a:spLocks noChangeArrowheads="1"/>
            </p:cNvSpPr>
            <p:nvPr/>
          </p:nvSpPr>
          <p:spPr bwMode="auto">
            <a:xfrm>
              <a:off x="3021"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16</a:t>
              </a:r>
            </a:p>
          </p:txBody>
        </p:sp>
        <p:sp>
          <p:nvSpPr>
            <p:cNvPr id="143416" name="Rectangle 56"/>
            <p:cNvSpPr>
              <a:spLocks noChangeArrowheads="1"/>
            </p:cNvSpPr>
            <p:nvPr/>
          </p:nvSpPr>
          <p:spPr bwMode="auto">
            <a:xfrm>
              <a:off x="3134"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17</a:t>
              </a:r>
            </a:p>
          </p:txBody>
        </p:sp>
        <p:sp>
          <p:nvSpPr>
            <p:cNvPr id="143417" name="Rectangle 57"/>
            <p:cNvSpPr>
              <a:spLocks noChangeArrowheads="1"/>
            </p:cNvSpPr>
            <p:nvPr/>
          </p:nvSpPr>
          <p:spPr bwMode="auto">
            <a:xfrm>
              <a:off x="3244"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18</a:t>
              </a:r>
            </a:p>
          </p:txBody>
        </p:sp>
        <p:sp>
          <p:nvSpPr>
            <p:cNvPr id="143418" name="Rectangle 58"/>
            <p:cNvSpPr>
              <a:spLocks noChangeArrowheads="1"/>
            </p:cNvSpPr>
            <p:nvPr/>
          </p:nvSpPr>
          <p:spPr bwMode="auto">
            <a:xfrm>
              <a:off x="3377"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19</a:t>
              </a:r>
            </a:p>
          </p:txBody>
        </p:sp>
        <p:sp>
          <p:nvSpPr>
            <p:cNvPr id="143419" name="Rectangle 59"/>
            <p:cNvSpPr>
              <a:spLocks noChangeArrowheads="1"/>
            </p:cNvSpPr>
            <p:nvPr/>
          </p:nvSpPr>
          <p:spPr bwMode="auto">
            <a:xfrm>
              <a:off x="3493"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20</a:t>
              </a:r>
            </a:p>
          </p:txBody>
        </p:sp>
        <p:sp>
          <p:nvSpPr>
            <p:cNvPr id="143420" name="Rectangle 60"/>
            <p:cNvSpPr>
              <a:spLocks noChangeArrowheads="1"/>
            </p:cNvSpPr>
            <p:nvPr/>
          </p:nvSpPr>
          <p:spPr bwMode="auto">
            <a:xfrm>
              <a:off x="3617"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21</a:t>
              </a:r>
            </a:p>
          </p:txBody>
        </p:sp>
        <p:sp>
          <p:nvSpPr>
            <p:cNvPr id="143421" name="Rectangle 61"/>
            <p:cNvSpPr>
              <a:spLocks noChangeArrowheads="1"/>
            </p:cNvSpPr>
            <p:nvPr/>
          </p:nvSpPr>
          <p:spPr bwMode="auto">
            <a:xfrm>
              <a:off x="3728"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22</a:t>
              </a:r>
            </a:p>
          </p:txBody>
        </p:sp>
        <p:sp>
          <p:nvSpPr>
            <p:cNvPr id="143422" name="Rectangle 62"/>
            <p:cNvSpPr>
              <a:spLocks noChangeArrowheads="1"/>
            </p:cNvSpPr>
            <p:nvPr/>
          </p:nvSpPr>
          <p:spPr bwMode="auto">
            <a:xfrm>
              <a:off x="3840"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23</a:t>
              </a:r>
            </a:p>
          </p:txBody>
        </p:sp>
        <p:sp>
          <p:nvSpPr>
            <p:cNvPr id="143423" name="Rectangle 63"/>
            <p:cNvSpPr>
              <a:spLocks noChangeArrowheads="1"/>
            </p:cNvSpPr>
            <p:nvPr/>
          </p:nvSpPr>
          <p:spPr bwMode="auto">
            <a:xfrm>
              <a:off x="3954"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24</a:t>
              </a:r>
            </a:p>
          </p:txBody>
        </p:sp>
        <p:sp>
          <p:nvSpPr>
            <p:cNvPr id="143424" name="Rectangle 64"/>
            <p:cNvSpPr>
              <a:spLocks noChangeArrowheads="1"/>
            </p:cNvSpPr>
            <p:nvPr/>
          </p:nvSpPr>
          <p:spPr bwMode="auto">
            <a:xfrm>
              <a:off x="4066" y="2817"/>
              <a:ext cx="17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GB" altLang="en-US" sz="1100"/>
                <a:t>25</a:t>
              </a:r>
            </a:p>
          </p:txBody>
        </p:sp>
        <p:sp>
          <p:nvSpPr>
            <p:cNvPr id="143425" name="Line 65"/>
            <p:cNvSpPr>
              <a:spLocks noChangeShapeType="1"/>
            </p:cNvSpPr>
            <p:nvPr/>
          </p:nvSpPr>
          <p:spPr bwMode="auto">
            <a:xfrm>
              <a:off x="4142" y="2707"/>
              <a:ext cx="0" cy="94"/>
            </a:xfrm>
            <a:prstGeom prst="line">
              <a:avLst/>
            </a:prstGeom>
            <a:noFill/>
            <a:ln w="254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426" name="Rectangle 66"/>
            <p:cNvSpPr>
              <a:spLocks noChangeArrowheads="1"/>
            </p:cNvSpPr>
            <p:nvPr/>
          </p:nvSpPr>
          <p:spPr bwMode="auto">
            <a:xfrm>
              <a:off x="969" y="2645"/>
              <a:ext cx="144"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ClrTx/>
                <a:buSzTx/>
                <a:buFontTx/>
                <a:buNone/>
              </a:pPr>
              <a:r>
                <a:rPr lang="en-GB" altLang="en-US" sz="1400"/>
                <a:t>0</a:t>
              </a:r>
            </a:p>
          </p:txBody>
        </p:sp>
        <p:sp>
          <p:nvSpPr>
            <p:cNvPr id="143427" name="Rectangle 67"/>
            <p:cNvSpPr>
              <a:spLocks noChangeArrowheads="1"/>
            </p:cNvSpPr>
            <p:nvPr/>
          </p:nvSpPr>
          <p:spPr bwMode="auto">
            <a:xfrm>
              <a:off x="805" y="2258"/>
              <a:ext cx="308" cy="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ClrTx/>
                <a:buSzTx/>
                <a:buFontTx/>
                <a:buNone/>
              </a:pPr>
              <a:r>
                <a:rPr lang="en-GB" altLang="en-US" sz="1400"/>
                <a:t>1000</a:t>
              </a:r>
            </a:p>
          </p:txBody>
        </p:sp>
        <p:sp>
          <p:nvSpPr>
            <p:cNvPr id="143428" name="Rectangle 68"/>
            <p:cNvSpPr>
              <a:spLocks noChangeArrowheads="1"/>
            </p:cNvSpPr>
            <p:nvPr/>
          </p:nvSpPr>
          <p:spPr bwMode="auto">
            <a:xfrm>
              <a:off x="805" y="1883"/>
              <a:ext cx="308"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ClrTx/>
                <a:buSzTx/>
                <a:buFontTx/>
                <a:buNone/>
              </a:pPr>
              <a:r>
                <a:rPr lang="en-GB" altLang="en-US" sz="1400"/>
                <a:t>2000</a:t>
              </a:r>
            </a:p>
          </p:txBody>
        </p:sp>
        <p:sp>
          <p:nvSpPr>
            <p:cNvPr id="143429" name="Rectangle 69"/>
            <p:cNvSpPr>
              <a:spLocks noChangeArrowheads="1"/>
            </p:cNvSpPr>
            <p:nvPr/>
          </p:nvSpPr>
          <p:spPr bwMode="auto">
            <a:xfrm>
              <a:off x="805" y="1496"/>
              <a:ext cx="308"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ClrTx/>
                <a:buSzTx/>
                <a:buFontTx/>
                <a:buNone/>
              </a:pPr>
              <a:r>
                <a:rPr lang="en-GB" altLang="en-US" sz="1400"/>
                <a:t>3000</a:t>
              </a:r>
            </a:p>
          </p:txBody>
        </p:sp>
        <p:sp>
          <p:nvSpPr>
            <p:cNvPr id="143430" name="Rectangle 70"/>
            <p:cNvSpPr>
              <a:spLocks noChangeArrowheads="1"/>
            </p:cNvSpPr>
            <p:nvPr/>
          </p:nvSpPr>
          <p:spPr bwMode="auto">
            <a:xfrm>
              <a:off x="805" y="1073"/>
              <a:ext cx="308" cy="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ClrTx/>
                <a:buSzTx/>
                <a:buFontTx/>
                <a:buNone/>
              </a:pPr>
              <a:r>
                <a:rPr lang="en-GB" altLang="en-US" sz="1400"/>
                <a:t>4000</a:t>
              </a:r>
            </a:p>
          </p:txBody>
        </p:sp>
        <p:sp>
          <p:nvSpPr>
            <p:cNvPr id="143431" name="Rectangle 71"/>
            <p:cNvSpPr>
              <a:spLocks noChangeArrowheads="1"/>
            </p:cNvSpPr>
            <p:nvPr/>
          </p:nvSpPr>
          <p:spPr bwMode="auto">
            <a:xfrm>
              <a:off x="3269" y="1404"/>
              <a:ext cx="864" cy="147"/>
            </a:xfrm>
            <a:prstGeom prst="rect">
              <a:avLst/>
            </a:prstGeom>
            <a:solidFill>
              <a:srgbClr val="FFE59B"/>
            </a:solidFill>
            <a:ln w="12700">
              <a:solidFill>
                <a:schemeClr val="tx1"/>
              </a:solidFill>
              <a:miter lim="800000"/>
              <a:headEnd/>
              <a:tailEnd/>
            </a:ln>
            <a:effectLst>
              <a:outerShdw dist="35921" dir="2700000" algn="ctr" rotWithShape="0">
                <a:schemeClr val="tx1"/>
              </a:outerShdw>
            </a:effectLst>
          </p:spPr>
          <p:txBody>
            <a:bodyPr wrap="none" lIns="81522" tIns="41555" rIns="81522" bIns="41555">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43432" name="Rectangle 72"/>
            <p:cNvSpPr>
              <a:spLocks noChangeArrowheads="1"/>
            </p:cNvSpPr>
            <p:nvPr/>
          </p:nvSpPr>
          <p:spPr bwMode="auto">
            <a:xfrm>
              <a:off x="2986" y="1285"/>
              <a:ext cx="90"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23913">
                <a:spcBef>
                  <a:spcPct val="20000"/>
                </a:spcBef>
                <a:buClr>
                  <a:schemeClr val="accent1"/>
                </a:buClr>
                <a:buSzPct val="80000"/>
                <a:buFont typeface="Wingdings" panose="05000000000000000000" pitchFamily="2" charset="2"/>
                <a:buChar char="n"/>
                <a:tabLst>
                  <a:tab pos="1157288" algn="l"/>
                </a:tabLst>
                <a:defRPr sz="3200">
                  <a:solidFill>
                    <a:schemeClr val="tx1"/>
                  </a:solidFill>
                  <a:latin typeface="Arial" panose="020B0604020202020204" pitchFamily="34" charset="0"/>
                </a:defRPr>
              </a:lvl1pPr>
              <a:lvl2pPr marL="742950" indent="-285750" defTabSz="823913">
                <a:spcBef>
                  <a:spcPct val="20000"/>
                </a:spcBef>
                <a:buChar char="–"/>
                <a:tabLst>
                  <a:tab pos="1157288" algn="l"/>
                </a:tabLst>
                <a:defRPr sz="2800">
                  <a:solidFill>
                    <a:schemeClr val="tx1"/>
                  </a:solidFill>
                  <a:latin typeface="Arial" panose="020B0604020202020204" pitchFamily="34" charset="0"/>
                </a:defRPr>
              </a:lvl2pPr>
              <a:lvl3pPr marL="1143000" indent="-228600" defTabSz="823913">
                <a:spcBef>
                  <a:spcPct val="20000"/>
                </a:spcBef>
                <a:buChar char="•"/>
                <a:tabLst>
                  <a:tab pos="1157288" algn="l"/>
                </a:tabLst>
                <a:defRPr sz="2400">
                  <a:solidFill>
                    <a:schemeClr val="tx1"/>
                  </a:solidFill>
                  <a:latin typeface="Arial" panose="020B0604020202020204" pitchFamily="34" charset="0"/>
                </a:defRPr>
              </a:lvl3pPr>
              <a:lvl4pPr marL="1600200" indent="-228600" defTabSz="823913">
                <a:spcBef>
                  <a:spcPct val="20000"/>
                </a:spcBef>
                <a:buChar char="–"/>
                <a:tabLst>
                  <a:tab pos="1157288" algn="l"/>
                </a:tabLst>
                <a:defRPr sz="2000">
                  <a:solidFill>
                    <a:schemeClr val="tx1"/>
                  </a:solidFill>
                  <a:latin typeface="Arial" panose="020B0604020202020204" pitchFamily="34" charset="0"/>
                </a:defRPr>
              </a:lvl4pPr>
              <a:lvl5pPr marL="2057400" indent="-228600" defTabSz="823913">
                <a:spcBef>
                  <a:spcPct val="20000"/>
                </a:spcBef>
                <a:buChar char="»"/>
                <a:tabLst>
                  <a:tab pos="1157288" algn="l"/>
                </a:tabLst>
                <a:defRPr sz="2000">
                  <a:solidFill>
                    <a:schemeClr val="tx1"/>
                  </a:solidFill>
                  <a:latin typeface="Arial" panose="020B0604020202020204" pitchFamily="34" charset="0"/>
                </a:defRPr>
              </a:lvl5pPr>
              <a:lvl6pPr marL="2514600" indent="-228600" defTabSz="823913" eaLnBrk="0" fontAlgn="base" hangingPunct="0">
                <a:spcBef>
                  <a:spcPct val="20000"/>
                </a:spcBef>
                <a:spcAft>
                  <a:spcPct val="0"/>
                </a:spcAft>
                <a:buChar char="»"/>
                <a:tabLst>
                  <a:tab pos="1157288" algn="l"/>
                </a:tabLst>
                <a:defRPr sz="2000">
                  <a:solidFill>
                    <a:schemeClr val="tx1"/>
                  </a:solidFill>
                  <a:latin typeface="Arial" panose="020B0604020202020204" pitchFamily="34" charset="0"/>
                </a:defRPr>
              </a:lvl6pPr>
              <a:lvl7pPr marL="2971800" indent="-228600" defTabSz="823913" eaLnBrk="0" fontAlgn="base" hangingPunct="0">
                <a:spcBef>
                  <a:spcPct val="20000"/>
                </a:spcBef>
                <a:spcAft>
                  <a:spcPct val="0"/>
                </a:spcAft>
                <a:buChar char="»"/>
                <a:tabLst>
                  <a:tab pos="1157288" algn="l"/>
                </a:tabLst>
                <a:defRPr sz="2000">
                  <a:solidFill>
                    <a:schemeClr val="tx1"/>
                  </a:solidFill>
                  <a:latin typeface="Arial" panose="020B0604020202020204" pitchFamily="34" charset="0"/>
                </a:defRPr>
              </a:lvl7pPr>
              <a:lvl8pPr marL="3429000" indent="-228600" defTabSz="823913" eaLnBrk="0" fontAlgn="base" hangingPunct="0">
                <a:spcBef>
                  <a:spcPct val="20000"/>
                </a:spcBef>
                <a:spcAft>
                  <a:spcPct val="0"/>
                </a:spcAft>
                <a:buChar char="»"/>
                <a:tabLst>
                  <a:tab pos="1157288" algn="l"/>
                </a:tabLst>
                <a:defRPr sz="2000">
                  <a:solidFill>
                    <a:schemeClr val="tx1"/>
                  </a:solidFill>
                  <a:latin typeface="Arial" panose="020B0604020202020204" pitchFamily="34" charset="0"/>
                </a:defRPr>
              </a:lvl8pPr>
              <a:lvl9pPr marL="3886200" indent="-228600" defTabSz="823913" eaLnBrk="0" fontAlgn="base" hangingPunct="0">
                <a:spcBef>
                  <a:spcPct val="20000"/>
                </a:spcBef>
                <a:spcAft>
                  <a:spcPct val="0"/>
                </a:spcAft>
                <a:buChar char="»"/>
                <a:tabLst>
                  <a:tab pos="1157288" algn="l"/>
                </a:tabLst>
                <a:defRPr sz="2000">
                  <a:solidFill>
                    <a:schemeClr val="tx1"/>
                  </a:solidFill>
                  <a:latin typeface="Arial" panose="020B0604020202020204" pitchFamily="34" charset="0"/>
                </a:defRPr>
              </a:lvl9pPr>
            </a:lstStyle>
            <a:p>
              <a:pPr>
                <a:lnSpc>
                  <a:spcPct val="90000"/>
                </a:lnSpc>
                <a:spcBef>
                  <a:spcPct val="30000"/>
                </a:spcBef>
                <a:buClrTx/>
                <a:buSzTx/>
                <a:buFontTx/>
                <a:buNone/>
              </a:pPr>
              <a:endParaRPr lang="en-US" altLang="en-US" sz="1400"/>
            </a:p>
          </p:txBody>
        </p:sp>
        <p:sp>
          <p:nvSpPr>
            <p:cNvPr id="143433" name="Line 73"/>
            <p:cNvSpPr>
              <a:spLocks noChangeShapeType="1"/>
            </p:cNvSpPr>
            <p:nvPr/>
          </p:nvSpPr>
          <p:spPr bwMode="auto">
            <a:xfrm flipH="1">
              <a:off x="3456" y="1557"/>
              <a:ext cx="249" cy="371"/>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1522" tIns="41555" rIns="81522" bIns="41555">
              <a:spAutoFit/>
            </a:bodyPr>
            <a:lstStyle/>
            <a:p>
              <a:endParaRPr lang="en-US"/>
            </a:p>
          </p:txBody>
        </p:sp>
        <p:sp>
          <p:nvSpPr>
            <p:cNvPr id="143434" name="Rectangle 74"/>
            <p:cNvSpPr>
              <a:spLocks noChangeArrowheads="1"/>
            </p:cNvSpPr>
            <p:nvPr/>
          </p:nvSpPr>
          <p:spPr bwMode="auto">
            <a:xfrm>
              <a:off x="1906" y="1823"/>
              <a:ext cx="90" cy="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23913">
                <a:spcBef>
                  <a:spcPct val="20000"/>
                </a:spcBef>
                <a:buClr>
                  <a:schemeClr val="accent1"/>
                </a:buClr>
                <a:buSzPct val="80000"/>
                <a:buFont typeface="Wingdings" panose="05000000000000000000" pitchFamily="2" charset="2"/>
                <a:buChar char="n"/>
                <a:tabLst>
                  <a:tab pos="1157288" algn="l"/>
                </a:tabLst>
                <a:defRPr sz="3200">
                  <a:solidFill>
                    <a:schemeClr val="tx1"/>
                  </a:solidFill>
                  <a:latin typeface="Arial" panose="020B0604020202020204" pitchFamily="34" charset="0"/>
                </a:defRPr>
              </a:lvl1pPr>
              <a:lvl2pPr marL="742950" indent="-285750" defTabSz="823913">
                <a:spcBef>
                  <a:spcPct val="20000"/>
                </a:spcBef>
                <a:buChar char="–"/>
                <a:tabLst>
                  <a:tab pos="1157288" algn="l"/>
                </a:tabLst>
                <a:defRPr sz="2800">
                  <a:solidFill>
                    <a:schemeClr val="tx1"/>
                  </a:solidFill>
                  <a:latin typeface="Arial" panose="020B0604020202020204" pitchFamily="34" charset="0"/>
                </a:defRPr>
              </a:lvl2pPr>
              <a:lvl3pPr marL="1143000" indent="-228600" defTabSz="823913">
                <a:spcBef>
                  <a:spcPct val="20000"/>
                </a:spcBef>
                <a:buChar char="•"/>
                <a:tabLst>
                  <a:tab pos="1157288" algn="l"/>
                </a:tabLst>
                <a:defRPr sz="2400">
                  <a:solidFill>
                    <a:schemeClr val="tx1"/>
                  </a:solidFill>
                  <a:latin typeface="Arial" panose="020B0604020202020204" pitchFamily="34" charset="0"/>
                </a:defRPr>
              </a:lvl3pPr>
              <a:lvl4pPr marL="1600200" indent="-228600" defTabSz="823913">
                <a:spcBef>
                  <a:spcPct val="20000"/>
                </a:spcBef>
                <a:buChar char="–"/>
                <a:tabLst>
                  <a:tab pos="1157288" algn="l"/>
                </a:tabLst>
                <a:defRPr sz="2000">
                  <a:solidFill>
                    <a:schemeClr val="tx1"/>
                  </a:solidFill>
                  <a:latin typeface="Arial" panose="020B0604020202020204" pitchFamily="34" charset="0"/>
                </a:defRPr>
              </a:lvl4pPr>
              <a:lvl5pPr marL="2057400" indent="-228600" defTabSz="823913">
                <a:spcBef>
                  <a:spcPct val="20000"/>
                </a:spcBef>
                <a:buChar char="»"/>
                <a:tabLst>
                  <a:tab pos="1157288" algn="l"/>
                </a:tabLst>
                <a:defRPr sz="2000">
                  <a:solidFill>
                    <a:schemeClr val="tx1"/>
                  </a:solidFill>
                  <a:latin typeface="Arial" panose="020B0604020202020204" pitchFamily="34" charset="0"/>
                </a:defRPr>
              </a:lvl5pPr>
              <a:lvl6pPr marL="2514600" indent="-228600" defTabSz="823913" eaLnBrk="0" fontAlgn="base" hangingPunct="0">
                <a:spcBef>
                  <a:spcPct val="20000"/>
                </a:spcBef>
                <a:spcAft>
                  <a:spcPct val="0"/>
                </a:spcAft>
                <a:buChar char="»"/>
                <a:tabLst>
                  <a:tab pos="1157288" algn="l"/>
                </a:tabLst>
                <a:defRPr sz="2000">
                  <a:solidFill>
                    <a:schemeClr val="tx1"/>
                  </a:solidFill>
                  <a:latin typeface="Arial" panose="020B0604020202020204" pitchFamily="34" charset="0"/>
                </a:defRPr>
              </a:lvl6pPr>
              <a:lvl7pPr marL="2971800" indent="-228600" defTabSz="823913" eaLnBrk="0" fontAlgn="base" hangingPunct="0">
                <a:spcBef>
                  <a:spcPct val="20000"/>
                </a:spcBef>
                <a:spcAft>
                  <a:spcPct val="0"/>
                </a:spcAft>
                <a:buChar char="»"/>
                <a:tabLst>
                  <a:tab pos="1157288" algn="l"/>
                </a:tabLst>
                <a:defRPr sz="2000">
                  <a:solidFill>
                    <a:schemeClr val="tx1"/>
                  </a:solidFill>
                  <a:latin typeface="Arial" panose="020B0604020202020204" pitchFamily="34" charset="0"/>
                </a:defRPr>
              </a:lvl7pPr>
              <a:lvl8pPr marL="3429000" indent="-228600" defTabSz="823913" eaLnBrk="0" fontAlgn="base" hangingPunct="0">
                <a:spcBef>
                  <a:spcPct val="20000"/>
                </a:spcBef>
                <a:spcAft>
                  <a:spcPct val="0"/>
                </a:spcAft>
                <a:buChar char="»"/>
                <a:tabLst>
                  <a:tab pos="1157288" algn="l"/>
                </a:tabLst>
                <a:defRPr sz="2000">
                  <a:solidFill>
                    <a:schemeClr val="tx1"/>
                  </a:solidFill>
                  <a:latin typeface="Arial" panose="020B0604020202020204" pitchFamily="34" charset="0"/>
                </a:defRPr>
              </a:lvl8pPr>
              <a:lvl9pPr marL="3886200" indent="-228600" defTabSz="823913" eaLnBrk="0" fontAlgn="base" hangingPunct="0">
                <a:spcBef>
                  <a:spcPct val="20000"/>
                </a:spcBef>
                <a:spcAft>
                  <a:spcPct val="0"/>
                </a:spcAft>
                <a:buChar char="»"/>
                <a:tabLst>
                  <a:tab pos="1157288" algn="l"/>
                </a:tabLst>
                <a:defRPr sz="2000">
                  <a:solidFill>
                    <a:schemeClr val="tx1"/>
                  </a:solidFill>
                  <a:latin typeface="Arial" panose="020B0604020202020204" pitchFamily="34" charset="0"/>
                </a:defRPr>
              </a:lvl9pPr>
            </a:lstStyle>
            <a:p>
              <a:pPr>
                <a:lnSpc>
                  <a:spcPct val="90000"/>
                </a:lnSpc>
                <a:spcBef>
                  <a:spcPct val="30000"/>
                </a:spcBef>
                <a:buClrTx/>
                <a:buSzTx/>
                <a:buFontTx/>
                <a:buNone/>
              </a:pPr>
              <a:endParaRPr lang="en-US" altLang="en-US" sz="1400"/>
            </a:p>
          </p:txBody>
        </p:sp>
        <p:sp>
          <p:nvSpPr>
            <p:cNvPr id="143435" name="Line 75"/>
            <p:cNvSpPr>
              <a:spLocks noChangeShapeType="1"/>
            </p:cNvSpPr>
            <p:nvPr/>
          </p:nvSpPr>
          <p:spPr bwMode="auto">
            <a:xfrm flipH="1">
              <a:off x="2444" y="2208"/>
              <a:ext cx="196" cy="175"/>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1522" tIns="41555" rIns="81522" bIns="41555">
              <a:spAutoFit/>
            </a:bodyPr>
            <a:lstStyle/>
            <a:p>
              <a:endParaRPr lang="en-US"/>
            </a:p>
          </p:txBody>
        </p:sp>
        <p:sp>
          <p:nvSpPr>
            <p:cNvPr id="143436" name="Rectangle 76"/>
            <p:cNvSpPr>
              <a:spLocks noChangeArrowheads="1"/>
            </p:cNvSpPr>
            <p:nvPr/>
          </p:nvSpPr>
          <p:spPr bwMode="auto">
            <a:xfrm>
              <a:off x="2429" y="2948"/>
              <a:ext cx="353" cy="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defTabSz="8048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04863">
                <a:spcBef>
                  <a:spcPct val="20000"/>
                </a:spcBef>
                <a:buChar char="–"/>
                <a:defRPr sz="2800">
                  <a:solidFill>
                    <a:schemeClr val="tx1"/>
                  </a:solidFill>
                  <a:latin typeface="Arial" panose="020B0604020202020204" pitchFamily="34" charset="0"/>
                </a:defRPr>
              </a:lvl2pPr>
              <a:lvl3pPr marL="1143000" indent="-228600" defTabSz="804863">
                <a:spcBef>
                  <a:spcPct val="20000"/>
                </a:spcBef>
                <a:buChar char="•"/>
                <a:defRPr sz="2400">
                  <a:solidFill>
                    <a:schemeClr val="tx1"/>
                  </a:solidFill>
                  <a:latin typeface="Arial" panose="020B0604020202020204" pitchFamily="34" charset="0"/>
                </a:defRPr>
              </a:lvl3pPr>
              <a:lvl4pPr marL="1600200" indent="-228600" defTabSz="804863">
                <a:spcBef>
                  <a:spcPct val="20000"/>
                </a:spcBef>
                <a:buChar char="–"/>
                <a:defRPr sz="2000">
                  <a:solidFill>
                    <a:schemeClr val="tx1"/>
                  </a:solidFill>
                  <a:latin typeface="Arial" panose="020B0604020202020204" pitchFamily="34" charset="0"/>
                </a:defRPr>
              </a:lvl4pPr>
              <a:lvl5pPr marL="2057400" indent="-228600" defTabSz="804863">
                <a:spcBef>
                  <a:spcPct val="20000"/>
                </a:spcBef>
                <a:buChar char="»"/>
                <a:defRPr sz="2000">
                  <a:solidFill>
                    <a:schemeClr val="tx1"/>
                  </a:solidFill>
                  <a:latin typeface="Arial" panose="020B0604020202020204" pitchFamily="34" charset="0"/>
                </a:defRPr>
              </a:lvl5pPr>
              <a:lvl6pPr marL="25146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04863"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spcBef>
                  <a:spcPct val="0"/>
                </a:spcBef>
                <a:buClrTx/>
                <a:buSzTx/>
                <a:buFontTx/>
                <a:buNone/>
              </a:pPr>
              <a:r>
                <a:rPr lang="en-GB" altLang="en-US" sz="1600"/>
                <a:t>Time</a:t>
              </a:r>
            </a:p>
          </p:txBody>
        </p:sp>
        <p:sp>
          <p:nvSpPr>
            <p:cNvPr id="143437" name="Line 77"/>
            <p:cNvSpPr>
              <a:spLocks noChangeShapeType="1"/>
            </p:cNvSpPr>
            <p:nvPr/>
          </p:nvSpPr>
          <p:spPr bwMode="auto">
            <a:xfrm flipV="1">
              <a:off x="528" y="1384"/>
              <a:ext cx="0" cy="369"/>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438" name="Line 78"/>
            <p:cNvSpPr>
              <a:spLocks noChangeShapeType="1"/>
            </p:cNvSpPr>
            <p:nvPr/>
          </p:nvSpPr>
          <p:spPr bwMode="auto">
            <a:xfrm>
              <a:off x="2785" y="3035"/>
              <a:ext cx="361"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p>
              <a:endParaRPr lang="en-US"/>
            </a:p>
          </p:txBody>
        </p:sp>
        <p:sp>
          <p:nvSpPr>
            <p:cNvPr id="143439" name="Rectangle 79"/>
            <p:cNvSpPr>
              <a:spLocks noChangeArrowheads="1"/>
            </p:cNvSpPr>
            <p:nvPr/>
          </p:nvSpPr>
          <p:spPr bwMode="auto">
            <a:xfrm>
              <a:off x="192" y="1720"/>
              <a:ext cx="541"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1522" tIns="41555" rIns="81522" bIns="41555">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2400"/>
                <a:t>Penalty</a:t>
              </a:r>
            </a:p>
          </p:txBody>
        </p:sp>
        <p:sp>
          <p:nvSpPr>
            <p:cNvPr id="143440" name="Text Box 80"/>
            <p:cNvSpPr txBox="1">
              <a:spLocks noChangeArrowheads="1"/>
            </p:cNvSpPr>
            <p:nvPr/>
          </p:nvSpPr>
          <p:spPr bwMode="auto">
            <a:xfrm>
              <a:off x="3216" y="1404"/>
              <a:ext cx="1023"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nchor="ctr" anchorCtr="1">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5000"/>
                </a:lnSpc>
                <a:spcBef>
                  <a:spcPct val="50000"/>
                </a:spcBef>
                <a:buClr>
                  <a:schemeClr val="accent2"/>
                </a:buClr>
                <a:buSzTx/>
                <a:buFont typeface="Arial" panose="020B0604020202020204" pitchFamily="34" charset="0"/>
                <a:buNone/>
              </a:pPr>
              <a:r>
                <a:rPr lang="en-GB" altLang="en-US" sz="1400"/>
                <a:t>Suppress limit</a:t>
              </a:r>
              <a:endParaRPr lang="en-GB" altLang="en-US" sz="2400"/>
            </a:p>
          </p:txBody>
        </p:sp>
        <p:sp>
          <p:nvSpPr>
            <p:cNvPr id="143441" name="Line 81"/>
            <p:cNvSpPr>
              <a:spLocks noChangeShapeType="1"/>
            </p:cNvSpPr>
            <p:nvPr/>
          </p:nvSpPr>
          <p:spPr bwMode="auto">
            <a:xfrm>
              <a:off x="1200" y="3256"/>
              <a:ext cx="72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US"/>
            </a:p>
          </p:txBody>
        </p:sp>
        <p:sp>
          <p:nvSpPr>
            <p:cNvPr id="143442" name="Text Box 82"/>
            <p:cNvSpPr txBox="1">
              <a:spLocks noChangeArrowheads="1"/>
            </p:cNvSpPr>
            <p:nvPr/>
          </p:nvSpPr>
          <p:spPr bwMode="auto">
            <a:xfrm>
              <a:off x="1290" y="3379"/>
              <a:ext cx="621"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nchorCtr="1">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a:lnSpc>
                  <a:spcPct val="95000"/>
                </a:lnSpc>
                <a:spcBef>
                  <a:spcPct val="50000"/>
                </a:spcBef>
                <a:buClr>
                  <a:schemeClr val="accent2"/>
                </a:buClr>
                <a:buSzTx/>
                <a:buFont typeface="Arial" panose="020B0604020202020204" pitchFamily="34" charset="0"/>
                <a:buNone/>
              </a:pPr>
              <a:r>
                <a:rPr lang="en-GB" altLang="en-US" sz="1400"/>
                <a:t>Network</a:t>
              </a:r>
            </a:p>
            <a:p>
              <a:pPr algn="r">
                <a:lnSpc>
                  <a:spcPct val="35000"/>
                </a:lnSpc>
                <a:spcBef>
                  <a:spcPct val="50000"/>
                </a:spcBef>
                <a:buClr>
                  <a:schemeClr val="accent2"/>
                </a:buClr>
                <a:buSzTx/>
                <a:buFont typeface="Arial" panose="020B0604020202020204" pitchFamily="34" charset="0"/>
                <a:buNone/>
              </a:pPr>
              <a:r>
                <a:rPr lang="en-GB" altLang="en-US" sz="1400"/>
                <a:t>Announced</a:t>
              </a:r>
            </a:p>
          </p:txBody>
        </p:sp>
        <p:sp>
          <p:nvSpPr>
            <p:cNvPr id="143443" name="Line 83"/>
            <p:cNvSpPr>
              <a:spLocks noChangeShapeType="1"/>
            </p:cNvSpPr>
            <p:nvPr/>
          </p:nvSpPr>
          <p:spPr bwMode="auto">
            <a:xfrm>
              <a:off x="3888" y="2064"/>
              <a:ext cx="0" cy="1288"/>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US"/>
            </a:p>
          </p:txBody>
        </p:sp>
        <p:sp>
          <p:nvSpPr>
            <p:cNvPr id="143444" name="Line 84"/>
            <p:cNvSpPr>
              <a:spLocks noChangeShapeType="1"/>
            </p:cNvSpPr>
            <p:nvPr/>
          </p:nvSpPr>
          <p:spPr bwMode="auto">
            <a:xfrm flipV="1">
              <a:off x="3888" y="3256"/>
              <a:ext cx="336" cy="8"/>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US"/>
            </a:p>
          </p:txBody>
        </p:sp>
        <p:sp>
          <p:nvSpPr>
            <p:cNvPr id="143445" name="Text Box 85"/>
            <p:cNvSpPr txBox="1">
              <a:spLocks noChangeArrowheads="1"/>
            </p:cNvSpPr>
            <p:nvPr/>
          </p:nvSpPr>
          <p:spPr bwMode="auto">
            <a:xfrm>
              <a:off x="3939" y="3422"/>
              <a:ext cx="763" cy="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nchorCtr="1">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35000"/>
                </a:lnSpc>
                <a:spcBef>
                  <a:spcPct val="50000"/>
                </a:spcBef>
                <a:buClr>
                  <a:schemeClr val="accent2"/>
                </a:buClr>
                <a:buSzTx/>
                <a:buFont typeface="Arial" panose="020B0604020202020204" pitchFamily="34" charset="0"/>
                <a:buNone/>
              </a:pPr>
              <a:r>
                <a:rPr lang="en-GB" altLang="en-US" sz="1400"/>
                <a:t>Network</a:t>
              </a:r>
            </a:p>
            <a:p>
              <a:pPr>
                <a:lnSpc>
                  <a:spcPct val="45000"/>
                </a:lnSpc>
                <a:spcBef>
                  <a:spcPct val="50000"/>
                </a:spcBef>
                <a:buClr>
                  <a:schemeClr val="accent2"/>
                </a:buClr>
                <a:buSzTx/>
                <a:buFont typeface="Arial" panose="020B0604020202020204" pitchFamily="34" charset="0"/>
                <a:buNone/>
              </a:pPr>
              <a:r>
                <a:rPr lang="en-GB" altLang="en-US" sz="1400"/>
                <a:t>Re-announced</a:t>
              </a:r>
            </a:p>
          </p:txBody>
        </p:sp>
        <p:sp>
          <p:nvSpPr>
            <p:cNvPr id="143446" name="Line 86"/>
            <p:cNvSpPr>
              <a:spLocks noChangeShapeType="1"/>
            </p:cNvSpPr>
            <p:nvPr/>
          </p:nvSpPr>
          <p:spPr bwMode="auto">
            <a:xfrm>
              <a:off x="1920" y="3256"/>
              <a:ext cx="1968" cy="8"/>
            </a:xfrm>
            <a:prstGeom prst="line">
              <a:avLst/>
            </a:prstGeom>
            <a:noFill/>
            <a:ln w="28575">
              <a:solidFill>
                <a:schemeClr val="accent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US"/>
            </a:p>
          </p:txBody>
        </p:sp>
        <p:sp>
          <p:nvSpPr>
            <p:cNvPr id="143447" name="Text Box 87"/>
            <p:cNvSpPr txBox="1">
              <a:spLocks noChangeArrowheads="1"/>
            </p:cNvSpPr>
            <p:nvPr/>
          </p:nvSpPr>
          <p:spPr bwMode="auto">
            <a:xfrm>
              <a:off x="2551" y="3424"/>
              <a:ext cx="812"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nchorCtr="1">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45000"/>
                </a:lnSpc>
                <a:spcBef>
                  <a:spcPct val="50000"/>
                </a:spcBef>
                <a:buClr>
                  <a:schemeClr val="accent2"/>
                </a:buClr>
                <a:buSzTx/>
                <a:buFont typeface="Arial" panose="020B0604020202020204" pitchFamily="34" charset="0"/>
                <a:buNone/>
              </a:pPr>
              <a:r>
                <a:rPr lang="en-GB" altLang="en-US" sz="1400">
                  <a:solidFill>
                    <a:schemeClr val="accent2"/>
                  </a:solidFill>
                </a:rPr>
                <a:t>Network</a:t>
              </a:r>
            </a:p>
            <a:p>
              <a:pPr algn="ctr">
                <a:lnSpc>
                  <a:spcPct val="45000"/>
                </a:lnSpc>
                <a:spcBef>
                  <a:spcPct val="50000"/>
                </a:spcBef>
                <a:buClr>
                  <a:schemeClr val="accent2"/>
                </a:buClr>
                <a:buSzTx/>
                <a:buFont typeface="Arial" panose="020B0604020202020204" pitchFamily="34" charset="0"/>
                <a:buNone/>
              </a:pPr>
              <a:r>
                <a:rPr lang="en-GB" altLang="en-US" sz="1400">
                  <a:solidFill>
                    <a:schemeClr val="accent2"/>
                  </a:solidFill>
                </a:rPr>
                <a:t>Not Announced</a:t>
              </a:r>
            </a:p>
          </p:txBody>
        </p:sp>
        <p:sp>
          <p:nvSpPr>
            <p:cNvPr id="143448" name="Line 88"/>
            <p:cNvSpPr>
              <a:spLocks noChangeShapeType="1"/>
            </p:cNvSpPr>
            <p:nvPr/>
          </p:nvSpPr>
          <p:spPr bwMode="auto">
            <a:xfrm>
              <a:off x="1920" y="1632"/>
              <a:ext cx="0" cy="172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US"/>
            </a:p>
          </p:txBody>
        </p:sp>
        <p:sp>
          <p:nvSpPr>
            <p:cNvPr id="143449" name="Line 89"/>
            <p:cNvSpPr>
              <a:spLocks noChangeShapeType="1"/>
            </p:cNvSpPr>
            <p:nvPr/>
          </p:nvSpPr>
          <p:spPr bwMode="auto">
            <a:xfrm>
              <a:off x="1248" y="1920"/>
              <a:ext cx="2928" cy="0"/>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1522" tIns="41555" rIns="81522" bIns="41555">
              <a:spAutoFit/>
            </a:bodyPr>
            <a:lstStyle/>
            <a:p>
              <a:endParaRPr lang="en-US"/>
            </a:p>
          </p:txBody>
        </p:sp>
        <p:sp>
          <p:nvSpPr>
            <p:cNvPr id="143450" name="Line 90"/>
            <p:cNvSpPr>
              <a:spLocks noChangeShapeType="1"/>
            </p:cNvSpPr>
            <p:nvPr/>
          </p:nvSpPr>
          <p:spPr bwMode="auto">
            <a:xfrm>
              <a:off x="1248" y="2400"/>
              <a:ext cx="2949" cy="17"/>
            </a:xfrm>
            <a:prstGeom prst="line">
              <a:avLst/>
            </a:prstGeom>
            <a:noFill/>
            <a:ln w="254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1522" tIns="41555" rIns="81522" bIns="41555">
              <a:spAutoFit/>
            </a:bodyPr>
            <a:lstStyle/>
            <a:p>
              <a:endParaRPr lang="en-US"/>
            </a:p>
          </p:txBody>
        </p:sp>
      </p:grpSp>
      <p:sp>
        <p:nvSpPr>
          <p:cNvPr id="2" name="Slide Number Placeholder 1"/>
          <p:cNvSpPr>
            <a:spLocks noGrp="1"/>
          </p:cNvSpPr>
          <p:nvPr>
            <p:ph type="sldNum" sz="quarter" idx="10"/>
          </p:nvPr>
        </p:nvSpPr>
        <p:spPr/>
        <p:txBody>
          <a:bodyPr/>
          <a:lstStyle/>
          <a:p>
            <a:fld id="{CDC70ED7-27EA-4514-903C-D4A37184F7C2}" type="slidenum">
              <a:rPr lang="en-US" smtClean="0"/>
              <a:pPr/>
              <a:t>83</a:t>
            </a:fld>
            <a:endParaRPr lang="en-US" dirty="0"/>
          </a:p>
        </p:txBody>
      </p:sp>
    </p:spTree>
    <p:extLst>
      <p:ext uri="{BB962C8B-B14F-4D97-AF65-F5344CB8AC3E}">
        <p14:creationId xmlns:p14="http://schemas.microsoft.com/office/powerpoint/2010/main" val="3563220763"/>
      </p:ext>
    </p:extLst>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en-GB" altLang="en-US" smtClean="0"/>
              <a:t>Operation</a:t>
            </a:r>
          </a:p>
        </p:txBody>
      </p:sp>
      <p:sp>
        <p:nvSpPr>
          <p:cNvPr id="149507" name="Rectangle 3"/>
          <p:cNvSpPr>
            <a:spLocks noGrp="1" noChangeArrowheads="1"/>
          </p:cNvSpPr>
          <p:nvPr>
            <p:ph type="body" idx="1"/>
          </p:nvPr>
        </p:nvSpPr>
        <p:spPr/>
        <p:txBody>
          <a:bodyPr/>
          <a:lstStyle/>
          <a:p>
            <a:r>
              <a:rPr lang="en-GB" altLang="en-US" smtClean="0"/>
              <a:t>Care required when setting parameters</a:t>
            </a:r>
          </a:p>
          <a:p>
            <a:r>
              <a:rPr lang="en-GB" altLang="en-US" smtClean="0"/>
              <a:t>Penalty must be less than reuse-limit at the maximum suppress time</a:t>
            </a:r>
          </a:p>
          <a:p>
            <a:r>
              <a:rPr lang="en-GB" altLang="en-US" smtClean="0"/>
              <a:t>Maximum suppress time and half life must allow penalty to be larger than suppress limit</a:t>
            </a:r>
          </a:p>
        </p:txBody>
      </p:sp>
      <p:sp>
        <p:nvSpPr>
          <p:cNvPr id="2" name="Slide Number Placeholder 1"/>
          <p:cNvSpPr>
            <a:spLocks noGrp="1"/>
          </p:cNvSpPr>
          <p:nvPr>
            <p:ph type="sldNum" sz="quarter" idx="10"/>
          </p:nvPr>
        </p:nvSpPr>
        <p:spPr/>
        <p:txBody>
          <a:bodyPr/>
          <a:lstStyle/>
          <a:p>
            <a:fld id="{1C0FA7A3-0FBF-4EC3-BE45-825983E95E58}" type="slidenum">
              <a:rPr lang="en-US" smtClean="0"/>
              <a:pPr/>
              <a:t>84</a:t>
            </a:fld>
            <a:endParaRPr lang="en-US" dirty="0"/>
          </a:p>
        </p:txBody>
      </p:sp>
    </p:spTree>
    <p:extLst>
      <p:ext uri="{BB962C8B-B14F-4D97-AF65-F5344CB8AC3E}">
        <p14:creationId xmlns:p14="http://schemas.microsoft.com/office/powerpoint/2010/main" val="2236464884"/>
      </p:ext>
    </p:extLst>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noFill/>
        </p:spPr>
        <p:txBody>
          <a:bodyPr lIns="86034" tIns="43016" rIns="86034" bIns="43016"/>
          <a:lstStyle/>
          <a:p>
            <a:pPr algn="ctr"/>
            <a:r>
              <a:rPr lang="en-GB" altLang="en-US" b="1" dirty="0" smtClean="0"/>
              <a:t>Scaling </a:t>
            </a:r>
            <a:r>
              <a:rPr lang="en-GB" altLang="en-US" b="1" dirty="0" err="1" smtClean="0"/>
              <a:t>iBGP</a:t>
            </a:r>
            <a:r>
              <a:rPr lang="en-GB" altLang="en-US" b="1" dirty="0" smtClean="0"/>
              <a:t> mesh</a:t>
            </a:r>
          </a:p>
        </p:txBody>
      </p:sp>
      <p:sp>
        <p:nvSpPr>
          <p:cNvPr id="155651" name="Rectangle 3"/>
          <p:cNvSpPr>
            <a:spLocks noChangeArrowheads="1"/>
          </p:cNvSpPr>
          <p:nvPr/>
        </p:nvSpPr>
        <p:spPr bwMode="auto">
          <a:xfrm>
            <a:off x="244475" y="4650965"/>
            <a:ext cx="8655050" cy="138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476" tIns="54239" rIns="108476" bIns="54239">
            <a:spAutoFit/>
          </a:bodyPr>
          <a:lstStyle>
            <a:lvl1pPr defTabSz="10763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134938" defTabSz="1076325">
              <a:spcBef>
                <a:spcPct val="20000"/>
              </a:spcBef>
              <a:buChar char="–"/>
              <a:defRPr sz="2800">
                <a:solidFill>
                  <a:schemeClr val="tx1"/>
                </a:solidFill>
                <a:latin typeface="Arial" panose="020B0604020202020204" pitchFamily="34" charset="0"/>
              </a:defRPr>
            </a:lvl2pPr>
            <a:lvl3pPr marL="1143000" indent="-228600" defTabSz="1076325">
              <a:spcBef>
                <a:spcPct val="20000"/>
              </a:spcBef>
              <a:buChar char="•"/>
              <a:defRPr sz="2400">
                <a:solidFill>
                  <a:schemeClr val="tx1"/>
                </a:solidFill>
                <a:latin typeface="Arial" panose="020B0604020202020204" pitchFamily="34" charset="0"/>
              </a:defRPr>
            </a:lvl3pPr>
            <a:lvl4pPr marL="1600200" indent="-228600" defTabSz="1076325">
              <a:spcBef>
                <a:spcPct val="20000"/>
              </a:spcBef>
              <a:buChar char="–"/>
              <a:defRPr sz="2000">
                <a:solidFill>
                  <a:schemeClr val="tx1"/>
                </a:solidFill>
                <a:latin typeface="Arial" panose="020B0604020202020204" pitchFamily="34" charset="0"/>
              </a:defRPr>
            </a:lvl4pPr>
            <a:lvl5pPr marL="2057400" indent="-228600" defTabSz="1076325">
              <a:spcBef>
                <a:spcPct val="20000"/>
              </a:spcBef>
              <a:buChar char="»"/>
              <a:defRPr sz="2000">
                <a:solidFill>
                  <a:schemeClr val="tx1"/>
                </a:solidFill>
                <a:latin typeface="Arial" panose="020B0604020202020204" pitchFamily="34" charset="0"/>
              </a:defRPr>
            </a:lvl5pPr>
            <a:lvl6pPr marL="25146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5000"/>
              </a:lnSpc>
              <a:spcBef>
                <a:spcPct val="50000"/>
              </a:spcBef>
              <a:buClr>
                <a:schemeClr val="folHlink"/>
              </a:buClr>
              <a:buSzTx/>
              <a:buFont typeface="Symbol" panose="05050102010706020507" pitchFamily="18" charset="2"/>
              <a:buNone/>
            </a:pPr>
            <a:r>
              <a:rPr lang="en-GB" altLang="en-US" sz="2400" dirty="0"/>
              <a:t>Two solutions</a:t>
            </a:r>
            <a:endParaRPr lang="en-GB" altLang="en-US" sz="3500" dirty="0"/>
          </a:p>
          <a:p>
            <a:pPr lvl="1">
              <a:lnSpc>
                <a:spcPct val="95000"/>
              </a:lnSpc>
              <a:spcBef>
                <a:spcPct val="50000"/>
              </a:spcBef>
              <a:buClr>
                <a:schemeClr val="folHlink"/>
              </a:buClr>
              <a:buFont typeface="Symbol" panose="05050102010706020507" pitchFamily="18" charset="2"/>
              <a:buNone/>
            </a:pPr>
            <a:r>
              <a:rPr lang="en-GB" altLang="en-US" sz="2100" dirty="0"/>
              <a:t> Route reflector – simpler to deploy and run</a:t>
            </a:r>
          </a:p>
          <a:p>
            <a:pPr lvl="1">
              <a:lnSpc>
                <a:spcPct val="95000"/>
              </a:lnSpc>
              <a:spcBef>
                <a:spcPct val="50000"/>
              </a:spcBef>
              <a:buClr>
                <a:schemeClr val="folHlink"/>
              </a:buClr>
              <a:buFont typeface="Symbol" panose="05050102010706020507" pitchFamily="18" charset="2"/>
              <a:buNone/>
            </a:pPr>
            <a:r>
              <a:rPr lang="en-GB" altLang="en-US" sz="2100" dirty="0"/>
              <a:t> Confederation – more complex, corner case </a:t>
            </a:r>
            <a:r>
              <a:rPr lang="en-GB" altLang="en-US" sz="2100" dirty="0" smtClean="0"/>
              <a:t>benefits, sub-AS’s</a:t>
            </a:r>
            <a:endParaRPr lang="en-GB" altLang="en-US" sz="2100" dirty="0"/>
          </a:p>
        </p:txBody>
      </p:sp>
      <p:grpSp>
        <p:nvGrpSpPr>
          <p:cNvPr id="2" name="Group 1"/>
          <p:cNvGrpSpPr/>
          <p:nvPr/>
        </p:nvGrpSpPr>
        <p:grpSpPr>
          <a:xfrm>
            <a:off x="4107595" y="1098844"/>
            <a:ext cx="5105400" cy="4114800"/>
            <a:chOff x="3810000" y="1600200"/>
            <a:chExt cx="5105400" cy="4114800"/>
          </a:xfrm>
        </p:grpSpPr>
        <p:sp>
          <p:nvSpPr>
            <p:cNvPr id="155655" name="Line 5"/>
            <p:cNvSpPr>
              <a:spLocks noChangeShapeType="1"/>
            </p:cNvSpPr>
            <p:nvPr/>
          </p:nvSpPr>
          <p:spPr bwMode="auto">
            <a:xfrm flipV="1">
              <a:off x="4750709" y="4046921"/>
              <a:ext cx="949842" cy="738633"/>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56" name="Line 6"/>
            <p:cNvSpPr>
              <a:spLocks noChangeShapeType="1"/>
            </p:cNvSpPr>
            <p:nvPr/>
          </p:nvSpPr>
          <p:spPr bwMode="auto">
            <a:xfrm>
              <a:off x="4531514" y="4859417"/>
              <a:ext cx="1607425" cy="664769"/>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57" name="Line 7"/>
            <p:cNvSpPr>
              <a:spLocks noChangeShapeType="1"/>
            </p:cNvSpPr>
            <p:nvPr/>
          </p:nvSpPr>
          <p:spPr bwMode="auto">
            <a:xfrm flipV="1">
              <a:off x="6285069" y="5007144"/>
              <a:ext cx="1315166" cy="590906"/>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58" name="Line 8"/>
            <p:cNvSpPr>
              <a:spLocks noChangeShapeType="1"/>
            </p:cNvSpPr>
            <p:nvPr/>
          </p:nvSpPr>
          <p:spPr bwMode="auto">
            <a:xfrm flipH="1" flipV="1">
              <a:off x="5700551" y="4120784"/>
              <a:ext cx="1899684" cy="886359"/>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59" name="Line 9"/>
            <p:cNvSpPr>
              <a:spLocks noChangeShapeType="1"/>
            </p:cNvSpPr>
            <p:nvPr/>
          </p:nvSpPr>
          <p:spPr bwMode="auto">
            <a:xfrm flipH="1" flipV="1">
              <a:off x="4093126" y="3234425"/>
              <a:ext cx="1607425" cy="886359"/>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60" name="Line 10"/>
            <p:cNvSpPr>
              <a:spLocks noChangeShapeType="1"/>
            </p:cNvSpPr>
            <p:nvPr/>
          </p:nvSpPr>
          <p:spPr bwMode="auto">
            <a:xfrm flipV="1">
              <a:off x="7746364" y="3308288"/>
              <a:ext cx="876777" cy="1772719"/>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61" name="Line 11"/>
            <p:cNvSpPr>
              <a:spLocks noChangeShapeType="1"/>
            </p:cNvSpPr>
            <p:nvPr/>
          </p:nvSpPr>
          <p:spPr bwMode="auto">
            <a:xfrm flipH="1" flipV="1">
              <a:off x="8550076" y="2791245"/>
              <a:ext cx="73065" cy="517043"/>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62" name="Line 12"/>
            <p:cNvSpPr>
              <a:spLocks noChangeShapeType="1"/>
            </p:cNvSpPr>
            <p:nvPr/>
          </p:nvSpPr>
          <p:spPr bwMode="auto">
            <a:xfrm>
              <a:off x="4091604" y="3082082"/>
              <a:ext cx="368368" cy="1701933"/>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63" name="Line 13"/>
            <p:cNvSpPr>
              <a:spLocks noChangeShapeType="1"/>
            </p:cNvSpPr>
            <p:nvPr/>
          </p:nvSpPr>
          <p:spPr bwMode="auto">
            <a:xfrm flipV="1">
              <a:off x="4093126" y="2421929"/>
              <a:ext cx="1095971" cy="147727"/>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64" name="Line 14"/>
            <p:cNvSpPr>
              <a:spLocks noChangeShapeType="1"/>
            </p:cNvSpPr>
            <p:nvPr/>
          </p:nvSpPr>
          <p:spPr bwMode="auto">
            <a:xfrm>
              <a:off x="4020061" y="2643519"/>
              <a:ext cx="73065" cy="517043"/>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65" name="Line 15"/>
            <p:cNvSpPr>
              <a:spLocks noChangeShapeType="1"/>
            </p:cNvSpPr>
            <p:nvPr/>
          </p:nvSpPr>
          <p:spPr bwMode="auto">
            <a:xfrm flipV="1">
              <a:off x="5262162" y="1683296"/>
              <a:ext cx="219194" cy="738633"/>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66" name="Line 16"/>
            <p:cNvSpPr>
              <a:spLocks noChangeShapeType="1"/>
            </p:cNvSpPr>
            <p:nvPr/>
          </p:nvSpPr>
          <p:spPr bwMode="auto">
            <a:xfrm>
              <a:off x="5700551" y="1683296"/>
              <a:ext cx="511453" cy="221590"/>
            </a:xfrm>
            <a:prstGeom prst="line">
              <a:avLst/>
            </a:prstGeom>
            <a:noFill/>
            <a:ln w="19050">
              <a:solidFill>
                <a:srgbClr val="969696"/>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67" name="Line 17"/>
            <p:cNvSpPr>
              <a:spLocks noChangeShapeType="1"/>
            </p:cNvSpPr>
            <p:nvPr/>
          </p:nvSpPr>
          <p:spPr bwMode="auto">
            <a:xfrm flipV="1">
              <a:off x="6212004" y="1757159"/>
              <a:ext cx="803712" cy="73863"/>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68" name="Line 18"/>
            <p:cNvSpPr>
              <a:spLocks noChangeShapeType="1"/>
            </p:cNvSpPr>
            <p:nvPr/>
          </p:nvSpPr>
          <p:spPr bwMode="auto">
            <a:xfrm>
              <a:off x="7015716" y="1683296"/>
              <a:ext cx="730648" cy="886359"/>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69" name="Line 19"/>
            <p:cNvSpPr>
              <a:spLocks noChangeShapeType="1"/>
            </p:cNvSpPr>
            <p:nvPr/>
          </p:nvSpPr>
          <p:spPr bwMode="auto">
            <a:xfrm>
              <a:off x="7746364" y="2495792"/>
              <a:ext cx="803712" cy="295453"/>
            </a:xfrm>
            <a:prstGeom prst="line">
              <a:avLst/>
            </a:prstGeom>
            <a:noFill/>
            <a:ln w="19050">
              <a:solidFill>
                <a:srgbClr val="969696"/>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70" name="Line 20"/>
            <p:cNvSpPr>
              <a:spLocks noChangeShapeType="1"/>
            </p:cNvSpPr>
            <p:nvPr/>
          </p:nvSpPr>
          <p:spPr bwMode="auto">
            <a:xfrm>
              <a:off x="8623141" y="2791245"/>
              <a:ext cx="0" cy="590906"/>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71" name="Line 21"/>
            <p:cNvSpPr>
              <a:spLocks noChangeShapeType="1"/>
            </p:cNvSpPr>
            <p:nvPr/>
          </p:nvSpPr>
          <p:spPr bwMode="auto">
            <a:xfrm flipV="1">
              <a:off x="5700551" y="1683296"/>
              <a:ext cx="1388230" cy="2437488"/>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72" name="Line 22"/>
            <p:cNvSpPr>
              <a:spLocks noChangeShapeType="1"/>
            </p:cNvSpPr>
            <p:nvPr/>
          </p:nvSpPr>
          <p:spPr bwMode="auto">
            <a:xfrm flipH="1">
              <a:off x="7673299" y="2421929"/>
              <a:ext cx="73065" cy="2659078"/>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73" name="Line 23"/>
            <p:cNvSpPr>
              <a:spLocks noChangeShapeType="1"/>
            </p:cNvSpPr>
            <p:nvPr/>
          </p:nvSpPr>
          <p:spPr bwMode="auto">
            <a:xfrm flipV="1">
              <a:off x="5700551" y="2421929"/>
              <a:ext cx="1960571" cy="1748098"/>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74" name="Line 24"/>
            <p:cNvSpPr>
              <a:spLocks noChangeShapeType="1"/>
            </p:cNvSpPr>
            <p:nvPr/>
          </p:nvSpPr>
          <p:spPr bwMode="auto">
            <a:xfrm flipH="1" flipV="1">
              <a:off x="6212004" y="1831023"/>
              <a:ext cx="1388230" cy="3102258"/>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75" name="Line 25"/>
            <p:cNvSpPr>
              <a:spLocks noChangeShapeType="1"/>
            </p:cNvSpPr>
            <p:nvPr/>
          </p:nvSpPr>
          <p:spPr bwMode="auto">
            <a:xfrm>
              <a:off x="4698909" y="4655223"/>
              <a:ext cx="3068720" cy="147727"/>
            </a:xfrm>
            <a:prstGeom prst="line">
              <a:avLst/>
            </a:prstGeom>
            <a:noFill/>
            <a:ln w="19050">
              <a:solidFill>
                <a:srgbClr val="969696"/>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76" name="Line 26"/>
            <p:cNvSpPr>
              <a:spLocks noChangeShapeType="1"/>
            </p:cNvSpPr>
            <p:nvPr/>
          </p:nvSpPr>
          <p:spPr bwMode="auto">
            <a:xfrm>
              <a:off x="4093126" y="3160562"/>
              <a:ext cx="1534360" cy="960223"/>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77" name="Line 27"/>
            <p:cNvSpPr>
              <a:spLocks noChangeShapeType="1"/>
            </p:cNvSpPr>
            <p:nvPr/>
          </p:nvSpPr>
          <p:spPr bwMode="auto">
            <a:xfrm flipV="1">
              <a:off x="4458450" y="2421929"/>
              <a:ext cx="730648" cy="2363625"/>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78" name="Line 28"/>
            <p:cNvSpPr>
              <a:spLocks noChangeShapeType="1"/>
            </p:cNvSpPr>
            <p:nvPr/>
          </p:nvSpPr>
          <p:spPr bwMode="auto">
            <a:xfrm flipV="1">
              <a:off x="5700551" y="1904886"/>
              <a:ext cx="438389" cy="2215898"/>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79" name="Line 29"/>
            <p:cNvSpPr>
              <a:spLocks noChangeShapeType="1"/>
            </p:cNvSpPr>
            <p:nvPr/>
          </p:nvSpPr>
          <p:spPr bwMode="auto">
            <a:xfrm flipH="1">
              <a:off x="4677644" y="2495792"/>
              <a:ext cx="3068720" cy="2289762"/>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80" name="Line 30"/>
            <p:cNvSpPr>
              <a:spLocks noChangeShapeType="1"/>
            </p:cNvSpPr>
            <p:nvPr/>
          </p:nvSpPr>
          <p:spPr bwMode="auto">
            <a:xfrm flipV="1">
              <a:off x="6285069" y="1757159"/>
              <a:ext cx="803712" cy="3767027"/>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81" name="Line 31"/>
            <p:cNvSpPr>
              <a:spLocks noChangeShapeType="1"/>
            </p:cNvSpPr>
            <p:nvPr/>
          </p:nvSpPr>
          <p:spPr bwMode="auto">
            <a:xfrm flipH="1" flipV="1">
              <a:off x="6138939" y="1831023"/>
              <a:ext cx="1534360" cy="3176121"/>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82" name="Line 32"/>
            <p:cNvSpPr>
              <a:spLocks noChangeShapeType="1"/>
            </p:cNvSpPr>
            <p:nvPr/>
          </p:nvSpPr>
          <p:spPr bwMode="auto">
            <a:xfrm flipH="1" flipV="1">
              <a:off x="5627486" y="1757159"/>
              <a:ext cx="657583" cy="3840890"/>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83" name="Line 33"/>
            <p:cNvSpPr>
              <a:spLocks noChangeShapeType="1"/>
            </p:cNvSpPr>
            <p:nvPr/>
          </p:nvSpPr>
          <p:spPr bwMode="auto">
            <a:xfrm flipV="1">
              <a:off x="4531514" y="1831023"/>
              <a:ext cx="1607425" cy="2954531"/>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84" name="Line 34"/>
            <p:cNvSpPr>
              <a:spLocks noChangeShapeType="1"/>
            </p:cNvSpPr>
            <p:nvPr/>
          </p:nvSpPr>
          <p:spPr bwMode="auto">
            <a:xfrm flipH="1" flipV="1">
              <a:off x="5189097" y="2495792"/>
              <a:ext cx="1022907" cy="3028394"/>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85" name="Line 35"/>
            <p:cNvSpPr>
              <a:spLocks noChangeShapeType="1"/>
            </p:cNvSpPr>
            <p:nvPr/>
          </p:nvSpPr>
          <p:spPr bwMode="auto">
            <a:xfrm flipV="1">
              <a:off x="4604579" y="3382152"/>
              <a:ext cx="4164691" cy="1477266"/>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86" name="Line 36"/>
            <p:cNvSpPr>
              <a:spLocks noChangeShapeType="1"/>
            </p:cNvSpPr>
            <p:nvPr/>
          </p:nvSpPr>
          <p:spPr bwMode="auto">
            <a:xfrm flipV="1">
              <a:off x="6358133" y="2791245"/>
              <a:ext cx="2191943" cy="2732941"/>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87" name="Line 37"/>
            <p:cNvSpPr>
              <a:spLocks noChangeShapeType="1"/>
            </p:cNvSpPr>
            <p:nvPr/>
          </p:nvSpPr>
          <p:spPr bwMode="auto">
            <a:xfrm flipH="1" flipV="1">
              <a:off x="4093126" y="2643519"/>
              <a:ext cx="3507108" cy="2363625"/>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88" name="Line 38"/>
            <p:cNvSpPr>
              <a:spLocks noChangeShapeType="1"/>
            </p:cNvSpPr>
            <p:nvPr/>
          </p:nvSpPr>
          <p:spPr bwMode="auto">
            <a:xfrm flipH="1" flipV="1">
              <a:off x="4093126" y="2717382"/>
              <a:ext cx="2118878" cy="2880668"/>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89" name="Line 39"/>
            <p:cNvSpPr>
              <a:spLocks noChangeShapeType="1"/>
            </p:cNvSpPr>
            <p:nvPr/>
          </p:nvSpPr>
          <p:spPr bwMode="auto">
            <a:xfrm flipH="1" flipV="1">
              <a:off x="6138939" y="1831023"/>
              <a:ext cx="146130" cy="3693164"/>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90" name="Line 40"/>
            <p:cNvSpPr>
              <a:spLocks noChangeShapeType="1"/>
            </p:cNvSpPr>
            <p:nvPr/>
          </p:nvSpPr>
          <p:spPr bwMode="auto">
            <a:xfrm flipV="1">
              <a:off x="6431198" y="3382152"/>
              <a:ext cx="2191943" cy="2142035"/>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91" name="Line 41"/>
            <p:cNvSpPr>
              <a:spLocks noChangeShapeType="1"/>
            </p:cNvSpPr>
            <p:nvPr/>
          </p:nvSpPr>
          <p:spPr bwMode="auto">
            <a:xfrm flipV="1">
              <a:off x="6312468" y="2495792"/>
              <a:ext cx="1388230" cy="3028394"/>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92" name="Line 42"/>
            <p:cNvSpPr>
              <a:spLocks noChangeShapeType="1"/>
            </p:cNvSpPr>
            <p:nvPr/>
          </p:nvSpPr>
          <p:spPr bwMode="auto">
            <a:xfrm flipV="1">
              <a:off x="4750709" y="2791245"/>
              <a:ext cx="3799367" cy="1994308"/>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93" name="Line 43"/>
            <p:cNvSpPr>
              <a:spLocks noChangeShapeType="1"/>
            </p:cNvSpPr>
            <p:nvPr/>
          </p:nvSpPr>
          <p:spPr bwMode="auto">
            <a:xfrm flipV="1">
              <a:off x="4604579" y="1757159"/>
              <a:ext cx="2484202" cy="3028394"/>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94" name="Line 44"/>
            <p:cNvSpPr>
              <a:spLocks noChangeShapeType="1"/>
            </p:cNvSpPr>
            <p:nvPr/>
          </p:nvSpPr>
          <p:spPr bwMode="auto">
            <a:xfrm>
              <a:off x="5262162" y="2421929"/>
              <a:ext cx="2411137" cy="2585215"/>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95" name="Line 45"/>
            <p:cNvSpPr>
              <a:spLocks noChangeShapeType="1"/>
            </p:cNvSpPr>
            <p:nvPr/>
          </p:nvSpPr>
          <p:spPr bwMode="auto">
            <a:xfrm flipH="1" flipV="1">
              <a:off x="4093126" y="2643519"/>
              <a:ext cx="4456950" cy="147727"/>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96" name="Line 46"/>
            <p:cNvSpPr>
              <a:spLocks noChangeShapeType="1"/>
            </p:cNvSpPr>
            <p:nvPr/>
          </p:nvSpPr>
          <p:spPr bwMode="auto">
            <a:xfrm flipH="1">
              <a:off x="4093126" y="2791245"/>
              <a:ext cx="4383886" cy="443180"/>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97" name="Line 47"/>
            <p:cNvSpPr>
              <a:spLocks noChangeShapeType="1"/>
            </p:cNvSpPr>
            <p:nvPr/>
          </p:nvSpPr>
          <p:spPr bwMode="auto">
            <a:xfrm flipH="1" flipV="1">
              <a:off x="5189097" y="2421929"/>
              <a:ext cx="3434044" cy="369316"/>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98" name="Line 48"/>
            <p:cNvSpPr>
              <a:spLocks noChangeShapeType="1"/>
            </p:cNvSpPr>
            <p:nvPr/>
          </p:nvSpPr>
          <p:spPr bwMode="auto">
            <a:xfrm flipH="1" flipV="1">
              <a:off x="7161846" y="1757159"/>
              <a:ext cx="1388230" cy="1034086"/>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699" name="Line 49"/>
            <p:cNvSpPr>
              <a:spLocks noChangeShapeType="1"/>
            </p:cNvSpPr>
            <p:nvPr/>
          </p:nvSpPr>
          <p:spPr bwMode="auto">
            <a:xfrm>
              <a:off x="6065874" y="1831023"/>
              <a:ext cx="2630331" cy="1551129"/>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700" name="Line 50"/>
            <p:cNvSpPr>
              <a:spLocks noChangeShapeType="1"/>
            </p:cNvSpPr>
            <p:nvPr/>
          </p:nvSpPr>
          <p:spPr bwMode="auto">
            <a:xfrm flipH="1">
              <a:off x="3946996" y="1683296"/>
              <a:ext cx="3068720" cy="886359"/>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701" name="Line 51"/>
            <p:cNvSpPr>
              <a:spLocks noChangeShapeType="1"/>
            </p:cNvSpPr>
            <p:nvPr/>
          </p:nvSpPr>
          <p:spPr bwMode="auto">
            <a:xfrm flipH="1">
              <a:off x="4020061" y="1683296"/>
              <a:ext cx="2995655" cy="1551129"/>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702" name="Line 52"/>
            <p:cNvSpPr>
              <a:spLocks noChangeShapeType="1"/>
            </p:cNvSpPr>
            <p:nvPr/>
          </p:nvSpPr>
          <p:spPr bwMode="auto">
            <a:xfrm flipH="1">
              <a:off x="4531514" y="1683296"/>
              <a:ext cx="2484202" cy="3102258"/>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sp>
          <p:nvSpPr>
            <p:cNvPr id="155703" name="Line 53"/>
            <p:cNvSpPr>
              <a:spLocks noChangeShapeType="1"/>
            </p:cNvSpPr>
            <p:nvPr/>
          </p:nvSpPr>
          <p:spPr bwMode="auto">
            <a:xfrm>
              <a:off x="7088781" y="1683296"/>
              <a:ext cx="1461295" cy="1624992"/>
            </a:xfrm>
            <a:prstGeom prst="line">
              <a:avLst/>
            </a:prstGeom>
            <a:noFill/>
            <a:ln w="19050">
              <a:solidFill>
                <a:srgbClr val="C0C0C0"/>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wrap="none" lIns="73025" tIns="36512" rIns="73025" bIns="36512" anchor="ctr"/>
            <a:lstStyle/>
            <a:p>
              <a:endParaRPr lang="en-US"/>
            </a:p>
          </p:txBody>
        </p:sp>
        <p:grpSp>
          <p:nvGrpSpPr>
            <p:cNvPr id="155704" name="Group 54"/>
            <p:cNvGrpSpPr>
              <a:grpSpLocks/>
            </p:cNvGrpSpPr>
            <p:nvPr/>
          </p:nvGrpSpPr>
          <p:grpSpPr bwMode="auto">
            <a:xfrm>
              <a:off x="3810000" y="1600200"/>
              <a:ext cx="5105400" cy="4114800"/>
              <a:chOff x="2160" y="1358"/>
              <a:chExt cx="3354" cy="2674"/>
            </a:xfrm>
          </p:grpSpPr>
          <p:pic>
            <p:nvPicPr>
              <p:cNvPr id="155710" name="Picture 5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8" y="2933"/>
                <a:ext cx="335"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11" name="Picture 5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6" y="2311"/>
                <a:ext cx="335"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12" name="Picture 5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8" y="2419"/>
                <a:ext cx="336"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13" name="Picture 5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30" y="2035"/>
                <a:ext cx="335"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14" name="Picture 5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0" y="1927"/>
                <a:ext cx="335"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15" name="Picture 6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60" y="1358"/>
                <a:ext cx="333"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16" name="Picture 6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68" y="1358"/>
                <a:ext cx="333"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17" name="Picture 6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0" y="3380"/>
                <a:ext cx="335"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18" name="Picture 63"/>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69" y="1841"/>
                <a:ext cx="335"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19" name="Picture 6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8" y="3825"/>
                <a:ext cx="335"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20" name="Picture 6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50" y="3517"/>
                <a:ext cx="335"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21" name="Picture 6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2" y="1829"/>
                <a:ext cx="335"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722" name="Picture 6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6" y="1412"/>
                <a:ext cx="333"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55705" name="Group 68"/>
            <p:cNvGrpSpPr>
              <a:grpSpLocks/>
            </p:cNvGrpSpPr>
            <p:nvPr/>
          </p:nvGrpSpPr>
          <p:grpSpPr bwMode="auto">
            <a:xfrm>
              <a:off x="4531514" y="1947973"/>
              <a:ext cx="3726303" cy="2806804"/>
              <a:chOff x="2880" y="1584"/>
              <a:chExt cx="2448" cy="1824"/>
            </a:xfrm>
          </p:grpSpPr>
          <p:grpSp>
            <p:nvGrpSpPr>
              <p:cNvPr id="155706" name="Group 69"/>
              <p:cNvGrpSpPr>
                <a:grpSpLocks/>
              </p:cNvGrpSpPr>
              <p:nvPr/>
            </p:nvGrpSpPr>
            <p:grpSpPr bwMode="auto">
              <a:xfrm>
                <a:off x="3216" y="2084"/>
                <a:ext cx="1784" cy="892"/>
                <a:chOff x="2999" y="2016"/>
                <a:chExt cx="1784" cy="892"/>
              </a:xfrm>
            </p:grpSpPr>
            <p:sp>
              <p:nvSpPr>
                <p:cNvPr id="155708" name="Oval 70"/>
                <p:cNvSpPr>
                  <a:spLocks noChangeArrowheads="1"/>
                </p:cNvSpPr>
                <p:nvPr/>
              </p:nvSpPr>
              <p:spPr bwMode="auto">
                <a:xfrm>
                  <a:off x="2999" y="2016"/>
                  <a:ext cx="1784" cy="892"/>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73025" tIns="36512" rIns="73025" bIns="36512"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55709" name="Text Box 71"/>
                <p:cNvSpPr txBox="1">
                  <a:spLocks noChangeArrowheads="1"/>
                </p:cNvSpPr>
                <p:nvPr/>
              </p:nvSpPr>
              <p:spPr bwMode="auto">
                <a:xfrm>
                  <a:off x="3074" y="2096"/>
                  <a:ext cx="1633" cy="7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r>
                    <a:rPr lang="en-US" altLang="en-US" sz="2400" dirty="0"/>
                    <a:t>13 Routers </a:t>
                  </a:r>
                  <a:r>
                    <a:rPr lang="en-US" altLang="en-US" sz="2400" dirty="0">
                      <a:sym typeface="Symbol" panose="05050102010706020507" pitchFamily="18" charset="2"/>
                    </a:rPr>
                    <a:t></a:t>
                  </a:r>
                  <a:r>
                    <a:rPr lang="en-US" altLang="en-US" sz="2400" dirty="0"/>
                    <a:t> </a:t>
                  </a:r>
                </a:p>
                <a:p>
                  <a:pPr algn="ctr">
                    <a:spcBef>
                      <a:spcPct val="0"/>
                    </a:spcBef>
                    <a:buClrTx/>
                    <a:buSzTx/>
                    <a:buFontTx/>
                    <a:buNone/>
                  </a:pPr>
                  <a:r>
                    <a:rPr lang="en-US" altLang="en-US" sz="2400" dirty="0"/>
                    <a:t>78 </a:t>
                  </a:r>
                  <a:r>
                    <a:rPr lang="en-US" altLang="en-US" sz="2400" dirty="0" err="1"/>
                    <a:t>iBGP</a:t>
                  </a:r>
                  <a:r>
                    <a:rPr lang="en-US" altLang="en-US" sz="2400" dirty="0"/>
                    <a:t> Sessions!</a:t>
                  </a:r>
                </a:p>
              </p:txBody>
            </p:sp>
          </p:grpSp>
          <p:sp>
            <p:nvSpPr>
              <p:cNvPr id="155707" name="AutoShape 72"/>
              <p:cNvSpPr>
                <a:spLocks noChangeArrowheads="1"/>
              </p:cNvSpPr>
              <p:nvPr/>
            </p:nvSpPr>
            <p:spPr bwMode="auto">
              <a:xfrm>
                <a:off x="2880" y="1584"/>
                <a:ext cx="2448" cy="1824"/>
              </a:xfrm>
              <a:prstGeom prst="irregularSeal2">
                <a:avLst/>
              </a:prstGeom>
              <a:noFill/>
              <a:ln w="38100">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SzTx/>
                  <a:buFontTx/>
                  <a:buNone/>
                </a:pPr>
                <a:endParaRPr lang="en-US" altLang="en-US" sz="1600"/>
              </a:p>
            </p:txBody>
          </p:sp>
        </p:grpSp>
      </p:grpSp>
      <p:sp>
        <p:nvSpPr>
          <p:cNvPr id="703561" name="Rectangle 73"/>
          <p:cNvSpPr>
            <a:spLocks noChangeArrowheads="1"/>
          </p:cNvSpPr>
          <p:nvPr/>
        </p:nvSpPr>
        <p:spPr bwMode="auto">
          <a:xfrm>
            <a:off x="292062" y="1747812"/>
            <a:ext cx="3505200" cy="152400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86026" tIns="43012" rIns="86026" bIns="43012" anchor="ctr" anchorCtr="1"/>
          <a:lstStyle>
            <a:lvl1pPr defTabSz="814388">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814388">
              <a:spcBef>
                <a:spcPct val="20000"/>
              </a:spcBef>
              <a:buChar char="–"/>
              <a:defRPr sz="2800">
                <a:solidFill>
                  <a:schemeClr val="tx1"/>
                </a:solidFill>
                <a:latin typeface="Arial" panose="020B0604020202020204" pitchFamily="34" charset="0"/>
              </a:defRPr>
            </a:lvl2pPr>
            <a:lvl3pPr marL="1143000" indent="-228600" defTabSz="814388">
              <a:spcBef>
                <a:spcPct val="20000"/>
              </a:spcBef>
              <a:buChar char="•"/>
              <a:defRPr sz="2400">
                <a:solidFill>
                  <a:schemeClr val="tx1"/>
                </a:solidFill>
                <a:latin typeface="Arial" panose="020B0604020202020204" pitchFamily="34" charset="0"/>
              </a:defRPr>
            </a:lvl3pPr>
            <a:lvl4pPr marL="1600200" indent="-228600" defTabSz="814388">
              <a:spcBef>
                <a:spcPct val="20000"/>
              </a:spcBef>
              <a:buChar char="–"/>
              <a:defRPr sz="2000">
                <a:solidFill>
                  <a:schemeClr val="tx1"/>
                </a:solidFill>
                <a:latin typeface="Arial" panose="020B0604020202020204" pitchFamily="34" charset="0"/>
              </a:defRPr>
            </a:lvl4pPr>
            <a:lvl5pPr marL="2057400" indent="-228600" defTabSz="814388">
              <a:spcBef>
                <a:spcPct val="20000"/>
              </a:spcBef>
              <a:buChar char="»"/>
              <a:defRPr sz="2000">
                <a:solidFill>
                  <a:schemeClr val="tx1"/>
                </a:solidFill>
                <a:latin typeface="Arial" panose="020B0604020202020204" pitchFamily="34" charset="0"/>
              </a:defRPr>
            </a:lvl5pPr>
            <a:lvl6pPr marL="2514600" indent="-228600" defTabSz="814388"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814388"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814388"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814388"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90000"/>
              </a:lnSpc>
              <a:spcBef>
                <a:spcPct val="30000"/>
              </a:spcBef>
              <a:buClr>
                <a:srgbClr val="35C5FF"/>
              </a:buClr>
              <a:buSzPct val="100000"/>
              <a:buFont typeface="Arial" panose="020B0604020202020204" pitchFamily="34" charset="0"/>
              <a:buNone/>
            </a:pPr>
            <a:r>
              <a:rPr lang="en-US" altLang="en-US" sz="3100" dirty="0"/>
              <a:t>n=1000 </a:t>
            </a:r>
            <a:r>
              <a:rPr lang="en-US" altLang="en-US" sz="3100" dirty="0">
                <a:sym typeface="Symbol" panose="05050102010706020507" pitchFamily="18" charset="2"/>
              </a:rPr>
              <a:t></a:t>
            </a:r>
            <a:r>
              <a:rPr lang="en-US" altLang="en-US" sz="3100" dirty="0"/>
              <a:t> nearly</a:t>
            </a:r>
            <a:br>
              <a:rPr lang="en-US" altLang="en-US" sz="3100" dirty="0"/>
            </a:br>
            <a:r>
              <a:rPr lang="en-US" altLang="en-US" sz="3100" dirty="0"/>
              <a:t>half a million</a:t>
            </a:r>
            <a:br>
              <a:rPr lang="en-US" altLang="en-US" sz="3100" dirty="0"/>
            </a:br>
            <a:r>
              <a:rPr lang="en-US" altLang="en-US" sz="3100" dirty="0" err="1"/>
              <a:t>ibgp</a:t>
            </a:r>
            <a:r>
              <a:rPr lang="en-US" altLang="en-US" sz="3100" dirty="0"/>
              <a:t> sessions!</a:t>
            </a:r>
          </a:p>
        </p:txBody>
      </p:sp>
      <p:sp>
        <p:nvSpPr>
          <p:cNvPr id="155654" name="Rectangle 74"/>
          <p:cNvSpPr>
            <a:spLocks noChangeArrowheads="1"/>
          </p:cNvSpPr>
          <p:nvPr/>
        </p:nvSpPr>
        <p:spPr bwMode="auto">
          <a:xfrm>
            <a:off x="226886" y="1098844"/>
            <a:ext cx="38862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spAutoFit/>
          </a:bodyP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US" altLang="en-US" sz="2400" dirty="0"/>
              <a:t>Avoid n(n-1)/2 </a:t>
            </a:r>
            <a:r>
              <a:rPr lang="en-US" altLang="en-US" sz="2400" dirty="0" err="1"/>
              <a:t>iBGP</a:t>
            </a:r>
            <a:r>
              <a:rPr lang="en-US" altLang="en-US" sz="2400" dirty="0"/>
              <a:t> mesh</a:t>
            </a:r>
          </a:p>
        </p:txBody>
      </p:sp>
      <p:sp>
        <p:nvSpPr>
          <p:cNvPr id="3" name="Slide Number Placeholder 2"/>
          <p:cNvSpPr>
            <a:spLocks noGrp="1"/>
          </p:cNvSpPr>
          <p:nvPr>
            <p:ph type="sldNum" sz="quarter" idx="10"/>
          </p:nvPr>
        </p:nvSpPr>
        <p:spPr/>
        <p:txBody>
          <a:bodyPr/>
          <a:lstStyle/>
          <a:p>
            <a:fld id="{CDC70ED7-27EA-4514-903C-D4A37184F7C2}" type="slidenum">
              <a:rPr lang="en-US" smtClean="0"/>
              <a:pPr/>
              <a:t>85</a:t>
            </a:fld>
            <a:endParaRPr lang="en-US" dirty="0"/>
          </a:p>
        </p:txBody>
      </p:sp>
    </p:spTree>
    <p:extLst>
      <p:ext uri="{BB962C8B-B14F-4D97-AF65-F5344CB8AC3E}">
        <p14:creationId xmlns:p14="http://schemas.microsoft.com/office/powerpoint/2010/main" val="6559529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3561">
                                            <p:txEl>
                                              <p:pRg st="0" end="0"/>
                                            </p:txEl>
                                          </p:spTgt>
                                        </p:tgtEl>
                                        <p:attrNameLst>
                                          <p:attrName>style.visibility</p:attrName>
                                        </p:attrNameLst>
                                      </p:cBhvr>
                                      <p:to>
                                        <p:strVal val="visible"/>
                                      </p:to>
                                    </p:set>
                                    <p:anim calcmode="lin" valueType="num">
                                      <p:cBhvr additive="base">
                                        <p:cTn id="7" dur="500" fill="hold"/>
                                        <p:tgtEl>
                                          <p:spTgt spid="70356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0356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RICOCHET.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3561" grpId="0" build="p"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noFill/>
        </p:spPr>
        <p:txBody>
          <a:bodyPr lIns="86034" tIns="43016" rIns="86034" bIns="43016"/>
          <a:lstStyle/>
          <a:p>
            <a:pPr algn="ctr"/>
            <a:r>
              <a:rPr lang="en-GB" altLang="en-US" b="1" dirty="0" smtClean="0"/>
              <a:t>Scaling </a:t>
            </a:r>
            <a:r>
              <a:rPr lang="en-GB" altLang="en-US" b="1" dirty="0" err="1" smtClean="0"/>
              <a:t>iBGP</a:t>
            </a:r>
            <a:r>
              <a:rPr lang="en-GB" altLang="en-US" b="1" dirty="0" smtClean="0"/>
              <a:t> mesh</a:t>
            </a:r>
          </a:p>
        </p:txBody>
      </p:sp>
      <p:sp>
        <p:nvSpPr>
          <p:cNvPr id="4" name="Content Placeholder 3"/>
          <p:cNvSpPr>
            <a:spLocks noGrp="1"/>
          </p:cNvSpPr>
          <p:nvPr>
            <p:ph idx="1"/>
          </p:nvPr>
        </p:nvSpPr>
        <p:spPr>
          <a:xfrm>
            <a:off x="381000" y="990600"/>
            <a:ext cx="8077200" cy="4953000"/>
          </a:xfrm>
        </p:spPr>
        <p:txBody>
          <a:bodyPr/>
          <a:lstStyle/>
          <a:p>
            <a:r>
              <a:rPr lang="en-US" sz="2800" dirty="0"/>
              <a:t>Implementing </a:t>
            </a:r>
            <a:r>
              <a:rPr lang="en-US" sz="2800" b="1" dirty="0"/>
              <a:t>BGP route reflectors</a:t>
            </a:r>
            <a:r>
              <a:rPr lang="en-US" sz="2800" dirty="0"/>
              <a:t> does not require major changes to existing configuration and topology, as opposed to confederation (please do not give up already!). </a:t>
            </a:r>
            <a:endParaRPr lang="en-US" sz="2800" dirty="0" smtClean="0"/>
          </a:p>
          <a:p>
            <a:r>
              <a:rPr lang="en-US" sz="2800" dirty="0" smtClean="0"/>
              <a:t>It</a:t>
            </a:r>
            <a:r>
              <a:rPr lang="en-US" sz="2800" dirty="0"/>
              <a:t> implies choosing routers that will act as a focal point for </a:t>
            </a:r>
            <a:r>
              <a:rPr lang="en-US" sz="2800" dirty="0" err="1"/>
              <a:t>iBGP</a:t>
            </a:r>
            <a:r>
              <a:rPr lang="en-US" sz="2800" dirty="0"/>
              <a:t> sessions within a single AS, running a single IGP</a:t>
            </a:r>
            <a:r>
              <a:rPr lang="en-US" sz="2800" dirty="0" smtClean="0"/>
              <a:t>.</a:t>
            </a:r>
            <a:endParaRPr lang="en-US" sz="2800" dirty="0"/>
          </a:p>
        </p:txBody>
      </p:sp>
      <p:sp>
        <p:nvSpPr>
          <p:cNvPr id="3" name="Slide Number Placeholder 2"/>
          <p:cNvSpPr>
            <a:spLocks noGrp="1"/>
          </p:cNvSpPr>
          <p:nvPr>
            <p:ph type="sldNum" sz="quarter" idx="10"/>
          </p:nvPr>
        </p:nvSpPr>
        <p:spPr/>
        <p:txBody>
          <a:bodyPr/>
          <a:lstStyle/>
          <a:p>
            <a:fld id="{CDC70ED7-27EA-4514-903C-D4A37184F7C2}" type="slidenum">
              <a:rPr lang="en-US" smtClean="0"/>
              <a:pPr/>
              <a:t>86</a:t>
            </a:fld>
            <a:endParaRPr lang="en-US" dirty="0"/>
          </a:p>
        </p:txBody>
      </p:sp>
    </p:spTree>
    <p:extLst>
      <p:ext uri="{BB962C8B-B14F-4D97-AF65-F5344CB8AC3E}">
        <p14:creationId xmlns:p14="http://schemas.microsoft.com/office/powerpoint/2010/main" val="1576225012"/>
      </p:ext>
    </p:extLst>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noFill/>
        </p:spPr>
        <p:txBody>
          <a:bodyPr lIns="86034" tIns="43016" rIns="86034" bIns="43016"/>
          <a:lstStyle/>
          <a:p>
            <a:pPr algn="ctr"/>
            <a:r>
              <a:rPr lang="en-GB" altLang="en-US" b="1" dirty="0" smtClean="0"/>
              <a:t>Scaling </a:t>
            </a:r>
            <a:r>
              <a:rPr lang="en-GB" altLang="en-US" b="1" dirty="0" err="1" smtClean="0"/>
              <a:t>iBGP</a:t>
            </a:r>
            <a:r>
              <a:rPr lang="en-GB" altLang="en-US" b="1" dirty="0" smtClean="0"/>
              <a:t> mesh</a:t>
            </a:r>
          </a:p>
        </p:txBody>
      </p:sp>
      <p:sp>
        <p:nvSpPr>
          <p:cNvPr id="4" name="Content Placeholder 3"/>
          <p:cNvSpPr>
            <a:spLocks noGrp="1"/>
          </p:cNvSpPr>
          <p:nvPr>
            <p:ph idx="1"/>
          </p:nvPr>
        </p:nvSpPr>
        <p:spPr>
          <a:xfrm>
            <a:off x="381000" y="990600"/>
            <a:ext cx="3886200" cy="4953000"/>
          </a:xfrm>
        </p:spPr>
        <p:txBody>
          <a:bodyPr/>
          <a:lstStyle/>
          <a:p>
            <a:r>
              <a:rPr lang="en-US" dirty="0"/>
              <a:t>Implementing </a:t>
            </a:r>
            <a:r>
              <a:rPr lang="en-US" b="1" dirty="0"/>
              <a:t>BGP confederations </a:t>
            </a:r>
            <a:r>
              <a:rPr lang="en-US" dirty="0"/>
              <a:t>involves quite a change to BGP configurations and the architecture itself, adding more complexity to achieve stable and scalable BGP network.</a:t>
            </a:r>
          </a:p>
          <a:p>
            <a:pPr marL="0" indent="0">
              <a:buNone/>
            </a:pPr>
            <a:r>
              <a:rPr lang="en-US" dirty="0"/>
              <a:t/>
            </a:r>
            <a:br>
              <a:rPr lang="en-US" dirty="0"/>
            </a:br>
            <a:endParaRPr lang="en-US" dirty="0"/>
          </a:p>
        </p:txBody>
      </p:sp>
      <p:sp>
        <p:nvSpPr>
          <p:cNvPr id="3" name="Slide Number Placeholder 2"/>
          <p:cNvSpPr>
            <a:spLocks noGrp="1"/>
          </p:cNvSpPr>
          <p:nvPr>
            <p:ph type="sldNum" sz="quarter" idx="10"/>
          </p:nvPr>
        </p:nvSpPr>
        <p:spPr/>
        <p:txBody>
          <a:bodyPr/>
          <a:lstStyle/>
          <a:p>
            <a:fld id="{CDC70ED7-27EA-4514-903C-D4A37184F7C2}" type="slidenum">
              <a:rPr lang="en-US" smtClean="0"/>
              <a:pPr/>
              <a:t>87</a:t>
            </a:fld>
            <a:endParaRPr lang="en-US" dirty="0"/>
          </a:p>
        </p:txBody>
      </p:sp>
      <p:pic>
        <p:nvPicPr>
          <p:cNvPr id="5" name="Picture 2" descr="Image result for bgp confede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0979" y="1219200"/>
            <a:ext cx="4060825" cy="3861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8204297"/>
      </p:ext>
    </p:extLst>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noFill/>
        </p:spPr>
        <p:txBody>
          <a:bodyPr lIns="86034" tIns="43016" rIns="86034" bIns="43016"/>
          <a:lstStyle/>
          <a:p>
            <a:pPr algn="ctr"/>
            <a:r>
              <a:rPr lang="en-GB" altLang="en-US" b="1" dirty="0" smtClean="0"/>
              <a:t>Scaling </a:t>
            </a:r>
            <a:r>
              <a:rPr lang="en-GB" altLang="en-US" b="1" dirty="0" err="1" smtClean="0"/>
              <a:t>iBGP</a:t>
            </a:r>
            <a:r>
              <a:rPr lang="en-GB" altLang="en-US" b="1" dirty="0" smtClean="0"/>
              <a:t> mesh</a:t>
            </a:r>
          </a:p>
        </p:txBody>
      </p:sp>
      <p:sp>
        <p:nvSpPr>
          <p:cNvPr id="4" name="Content Placeholder 3"/>
          <p:cNvSpPr>
            <a:spLocks noGrp="1"/>
          </p:cNvSpPr>
          <p:nvPr>
            <p:ph idx="1"/>
          </p:nvPr>
        </p:nvSpPr>
        <p:spPr/>
        <p:txBody>
          <a:bodyPr/>
          <a:lstStyle/>
          <a:p>
            <a:r>
              <a:rPr lang="en-US" dirty="0"/>
              <a:t>The main difference between the two lies in the fact that </a:t>
            </a:r>
            <a:r>
              <a:rPr lang="en-US" b="1" dirty="0"/>
              <a:t>a </a:t>
            </a:r>
            <a:r>
              <a:rPr lang="en-US" b="1" i="1" dirty="0"/>
              <a:t>confederation may contain different IGPs</a:t>
            </a:r>
            <a:r>
              <a:rPr lang="en-US" dirty="0"/>
              <a:t>, adding more flexibility to scaling your network. </a:t>
            </a:r>
            <a:endParaRPr lang="en-US" dirty="0" smtClean="0"/>
          </a:p>
          <a:p>
            <a:r>
              <a:rPr lang="en-US" dirty="0" smtClean="0"/>
              <a:t>Therefore</a:t>
            </a:r>
            <a:r>
              <a:rPr lang="en-US" dirty="0"/>
              <a:t>, choosing a confederation over route reflectors would be more appropriate in case your IGP is exceeding its scalability limit and becomes unmanageable, and you would like to manage many independent ASs, each of which may run a different IGP.</a:t>
            </a:r>
          </a:p>
          <a:p>
            <a:endParaRPr lang="en-US" dirty="0"/>
          </a:p>
          <a:p>
            <a:pPr marL="0" indent="0">
              <a:buNone/>
            </a:pPr>
            <a:r>
              <a:rPr lang="en-US" dirty="0"/>
              <a:t/>
            </a:r>
            <a:br>
              <a:rPr lang="en-US" dirty="0"/>
            </a:br>
            <a:endParaRPr lang="en-US" dirty="0"/>
          </a:p>
        </p:txBody>
      </p:sp>
      <p:sp>
        <p:nvSpPr>
          <p:cNvPr id="3" name="Slide Number Placeholder 2"/>
          <p:cNvSpPr>
            <a:spLocks noGrp="1"/>
          </p:cNvSpPr>
          <p:nvPr>
            <p:ph type="sldNum" sz="quarter" idx="10"/>
          </p:nvPr>
        </p:nvSpPr>
        <p:spPr/>
        <p:txBody>
          <a:bodyPr/>
          <a:lstStyle/>
          <a:p>
            <a:fld id="{CDC70ED7-27EA-4514-903C-D4A37184F7C2}" type="slidenum">
              <a:rPr lang="en-US" smtClean="0"/>
              <a:pPr/>
              <a:t>88</a:t>
            </a:fld>
            <a:endParaRPr lang="en-US" dirty="0"/>
          </a:p>
        </p:txBody>
      </p:sp>
    </p:spTree>
    <p:extLst>
      <p:ext uri="{BB962C8B-B14F-4D97-AF65-F5344CB8AC3E}">
        <p14:creationId xmlns:p14="http://schemas.microsoft.com/office/powerpoint/2010/main" val="465952434"/>
      </p:ext>
    </p:extLst>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700" name="Rectangle 4"/>
          <p:cNvSpPr>
            <a:spLocks noGrp="1" noChangeArrowheads="1"/>
          </p:cNvSpPr>
          <p:nvPr>
            <p:ph type="title"/>
          </p:nvPr>
        </p:nvSpPr>
        <p:spPr>
          <a:noFill/>
        </p:spPr>
        <p:txBody>
          <a:bodyPr lIns="86034" tIns="43016" rIns="86034" bIns="43016"/>
          <a:lstStyle/>
          <a:p>
            <a:pPr algn="ctr"/>
            <a:r>
              <a:rPr lang="en-GB" altLang="en-US" dirty="0" smtClean="0"/>
              <a:t>Route Reflector: Principle</a:t>
            </a:r>
          </a:p>
        </p:txBody>
      </p:sp>
      <p:grpSp>
        <p:nvGrpSpPr>
          <p:cNvPr id="2" name="Group 1"/>
          <p:cNvGrpSpPr/>
          <p:nvPr/>
        </p:nvGrpSpPr>
        <p:grpSpPr>
          <a:xfrm>
            <a:off x="1528762" y="1295400"/>
            <a:ext cx="6086475" cy="4171950"/>
            <a:chOff x="1343025" y="1754188"/>
            <a:chExt cx="6086475" cy="4171950"/>
          </a:xfrm>
        </p:grpSpPr>
        <p:pic>
          <p:nvPicPr>
            <p:cNvPr id="157698"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775" y="2398713"/>
              <a:ext cx="5800725" cy="352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7699" name="Rectangle 3"/>
            <p:cNvSpPr>
              <a:spLocks noChangeArrowheads="1"/>
            </p:cNvSpPr>
            <p:nvPr/>
          </p:nvSpPr>
          <p:spPr bwMode="auto">
            <a:xfrm>
              <a:off x="3751263" y="4065588"/>
              <a:ext cx="1744662"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12287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1228725">
                <a:spcBef>
                  <a:spcPct val="20000"/>
                </a:spcBef>
                <a:buChar char="–"/>
                <a:defRPr sz="2800">
                  <a:solidFill>
                    <a:schemeClr val="tx1"/>
                  </a:solidFill>
                  <a:latin typeface="Arial" panose="020B0604020202020204" pitchFamily="34" charset="0"/>
                </a:defRPr>
              </a:lvl2pPr>
              <a:lvl3pPr marL="1143000" indent="-228600" defTabSz="1228725">
                <a:spcBef>
                  <a:spcPct val="20000"/>
                </a:spcBef>
                <a:buChar char="•"/>
                <a:defRPr sz="2400">
                  <a:solidFill>
                    <a:schemeClr val="tx1"/>
                  </a:solidFill>
                  <a:latin typeface="Arial" panose="020B0604020202020204" pitchFamily="34" charset="0"/>
                </a:defRPr>
              </a:lvl3pPr>
              <a:lvl4pPr marL="1600200" indent="-228600" defTabSz="1228725">
                <a:spcBef>
                  <a:spcPct val="20000"/>
                </a:spcBef>
                <a:buChar char="–"/>
                <a:defRPr sz="2000">
                  <a:solidFill>
                    <a:schemeClr val="tx1"/>
                  </a:solidFill>
                  <a:latin typeface="Arial" panose="020B0604020202020204" pitchFamily="34" charset="0"/>
                </a:defRPr>
              </a:lvl4pPr>
              <a:lvl5pPr marL="2057400" indent="-228600" defTabSz="1228725">
                <a:spcBef>
                  <a:spcPct val="20000"/>
                </a:spcBef>
                <a:buChar char="»"/>
                <a:defRPr sz="2000">
                  <a:solidFill>
                    <a:schemeClr val="tx1"/>
                  </a:solidFill>
                  <a:latin typeface="Arial" panose="020B0604020202020204" pitchFamily="34" charset="0"/>
                </a:defRPr>
              </a:lvl5pPr>
              <a:lvl6pPr marL="2514600" indent="-228600" defTabSz="12287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2287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2287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228725"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800"/>
                <a:t>AS 100</a:t>
              </a:r>
            </a:p>
          </p:txBody>
        </p:sp>
        <p:sp>
          <p:nvSpPr>
            <p:cNvPr id="157701" name="Arc 5"/>
            <p:cNvSpPr>
              <a:spLocks/>
            </p:cNvSpPr>
            <p:nvPr/>
          </p:nvSpPr>
          <p:spPr bwMode="auto">
            <a:xfrm>
              <a:off x="4848225" y="1960563"/>
              <a:ext cx="493713" cy="457200"/>
            </a:xfrm>
            <a:custGeom>
              <a:avLst/>
              <a:gdLst>
                <a:gd name="T0" fmla="*/ 0 w 21600"/>
                <a:gd name="T1" fmla="*/ 9677400 h 21600"/>
                <a:gd name="T2" fmla="*/ 11244085 w 21600"/>
                <a:gd name="T3" fmla="*/ 0 h 21600"/>
                <a:gd name="T4" fmla="*/ 11284839 w 21600"/>
                <a:gd name="T5" fmla="*/ 96774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600"/>
                  </a:moveTo>
                  <a:cubicBezTo>
                    <a:pt x="0" y="9701"/>
                    <a:pt x="9623" y="43"/>
                    <a:pt x="21522" y="0"/>
                  </a:cubicBezTo>
                </a:path>
                <a:path w="21600" h="21600" stroke="0" extrusionOk="0">
                  <a:moveTo>
                    <a:pt x="0" y="21600"/>
                  </a:moveTo>
                  <a:cubicBezTo>
                    <a:pt x="0" y="9701"/>
                    <a:pt x="9623" y="43"/>
                    <a:pt x="21522" y="0"/>
                  </a:cubicBezTo>
                  <a:lnTo>
                    <a:pt x="21600" y="21600"/>
                  </a:lnTo>
                  <a:lnTo>
                    <a:pt x="0" y="21600"/>
                  </a:lnTo>
                  <a:close/>
                </a:path>
              </a:pathLst>
            </a:custGeom>
            <a:noFill/>
            <a:ln w="25400" cap="rnd">
              <a:solidFill>
                <a:schemeClr val="tx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7702" name="Arc 6"/>
            <p:cNvSpPr>
              <a:spLocks/>
            </p:cNvSpPr>
            <p:nvPr/>
          </p:nvSpPr>
          <p:spPr bwMode="auto">
            <a:xfrm>
              <a:off x="2894013" y="2827338"/>
              <a:ext cx="2811462" cy="2940050"/>
            </a:xfrm>
            <a:custGeom>
              <a:avLst/>
              <a:gdLst>
                <a:gd name="T0" fmla="*/ 0 w 21270"/>
                <a:gd name="T1" fmla="*/ 354581563 h 19731"/>
                <a:gd name="T2" fmla="*/ 218061460 w 21270"/>
                <a:gd name="T3" fmla="*/ 0 h 19731"/>
                <a:gd name="T4" fmla="*/ 371618175 w 21270"/>
                <a:gd name="T5" fmla="*/ 438086970 h 19731"/>
                <a:gd name="T6" fmla="*/ 0 60000 65536"/>
                <a:gd name="T7" fmla="*/ 0 60000 65536"/>
                <a:gd name="T8" fmla="*/ 0 60000 65536"/>
              </a:gdLst>
              <a:ahLst/>
              <a:cxnLst>
                <a:cxn ang="T6">
                  <a:pos x="T0" y="T1"/>
                </a:cxn>
                <a:cxn ang="T7">
                  <a:pos x="T2" y="T3"/>
                </a:cxn>
                <a:cxn ang="T8">
                  <a:pos x="T4" y="T5"/>
                </a:cxn>
              </a:cxnLst>
              <a:rect l="0" t="0" r="r" b="b"/>
              <a:pathLst>
                <a:path w="21270" h="19731" fill="none" extrusionOk="0">
                  <a:moveTo>
                    <a:pt x="-1" y="15969"/>
                  </a:moveTo>
                  <a:cubicBezTo>
                    <a:pt x="1249" y="8903"/>
                    <a:pt x="5926" y="2919"/>
                    <a:pt x="12480" y="-1"/>
                  </a:cubicBezTo>
                </a:path>
                <a:path w="21270" h="19731" stroke="0" extrusionOk="0">
                  <a:moveTo>
                    <a:pt x="-1" y="15969"/>
                  </a:moveTo>
                  <a:cubicBezTo>
                    <a:pt x="1249" y="8903"/>
                    <a:pt x="5926" y="2919"/>
                    <a:pt x="12480" y="-1"/>
                  </a:cubicBezTo>
                  <a:lnTo>
                    <a:pt x="21270" y="19731"/>
                  </a:lnTo>
                  <a:lnTo>
                    <a:pt x="-1" y="15969"/>
                  </a:lnTo>
                  <a:close/>
                </a:path>
              </a:pathLst>
            </a:custGeom>
            <a:noFill/>
            <a:ln w="25400" cap="rnd">
              <a:solidFill>
                <a:srgbClr val="FFA380"/>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157703" name="Arc 7"/>
            <p:cNvSpPr>
              <a:spLocks/>
            </p:cNvSpPr>
            <p:nvPr/>
          </p:nvSpPr>
          <p:spPr bwMode="auto">
            <a:xfrm>
              <a:off x="3643313" y="2827338"/>
              <a:ext cx="2811462" cy="2940050"/>
            </a:xfrm>
            <a:custGeom>
              <a:avLst/>
              <a:gdLst>
                <a:gd name="T0" fmla="*/ 153169359 w 21269"/>
                <a:gd name="T1" fmla="*/ 0 h 19741"/>
                <a:gd name="T2" fmla="*/ 371635647 w 21269"/>
                <a:gd name="T3" fmla="*/ 354355480 h 19741"/>
                <a:gd name="T4" fmla="*/ 0 w 21269"/>
                <a:gd name="T5" fmla="*/ 437865053 h 19741"/>
                <a:gd name="T6" fmla="*/ 0 60000 65536"/>
                <a:gd name="T7" fmla="*/ 0 60000 65536"/>
                <a:gd name="T8" fmla="*/ 0 60000 65536"/>
              </a:gdLst>
              <a:ahLst/>
              <a:cxnLst>
                <a:cxn ang="T6">
                  <a:pos x="T0" y="T1"/>
                </a:cxn>
                <a:cxn ang="T7">
                  <a:pos x="T2" y="T3"/>
                </a:cxn>
                <a:cxn ang="T8">
                  <a:pos x="T4" y="T5"/>
                </a:cxn>
              </a:cxnLst>
              <a:rect l="0" t="0" r="r" b="b"/>
              <a:pathLst>
                <a:path w="21269" h="19741" fill="none" extrusionOk="0">
                  <a:moveTo>
                    <a:pt x="8766" y="-1"/>
                  </a:moveTo>
                  <a:cubicBezTo>
                    <a:pt x="15331" y="2914"/>
                    <a:pt x="20017" y="8902"/>
                    <a:pt x="21269" y="15975"/>
                  </a:cubicBezTo>
                </a:path>
                <a:path w="21269" h="19741" stroke="0" extrusionOk="0">
                  <a:moveTo>
                    <a:pt x="8766" y="-1"/>
                  </a:moveTo>
                  <a:cubicBezTo>
                    <a:pt x="15331" y="2914"/>
                    <a:pt x="20017" y="8902"/>
                    <a:pt x="21269" y="15975"/>
                  </a:cubicBezTo>
                  <a:lnTo>
                    <a:pt x="0" y="19741"/>
                  </a:lnTo>
                  <a:lnTo>
                    <a:pt x="8766" y="-1"/>
                  </a:lnTo>
                  <a:close/>
                </a:path>
              </a:pathLst>
            </a:custGeom>
            <a:noFill/>
            <a:ln w="25400" cap="rnd">
              <a:solidFill>
                <a:srgbClr val="FFA380"/>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en-US"/>
            </a:p>
          </p:txBody>
        </p:sp>
        <p:sp>
          <p:nvSpPr>
            <p:cNvPr id="157704" name="Line 8"/>
            <p:cNvSpPr>
              <a:spLocks noChangeShapeType="1"/>
            </p:cNvSpPr>
            <p:nvPr/>
          </p:nvSpPr>
          <p:spPr bwMode="auto">
            <a:xfrm flipV="1">
              <a:off x="3116263" y="3392488"/>
              <a:ext cx="1192212" cy="1347787"/>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57705" name="Picture 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7175" y="2457450"/>
              <a:ext cx="113347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5546" name="Rectangle 10"/>
            <p:cNvSpPr>
              <a:spLocks noChangeArrowheads="1"/>
            </p:cNvSpPr>
            <p:nvPr/>
          </p:nvSpPr>
          <p:spPr bwMode="auto">
            <a:xfrm>
              <a:off x="4414838" y="2705100"/>
              <a:ext cx="436562"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476" tIns="54239" rIns="108476" bIns="54239">
              <a:spAutoFit/>
            </a:bodyPr>
            <a:lstStyle>
              <a:lvl1pPr defTabSz="1236663">
                <a:defRPr sz="2400">
                  <a:solidFill>
                    <a:schemeClr val="tx1"/>
                  </a:solidFill>
                  <a:latin typeface="Times New Roman" panose="02020603050405020304" pitchFamily="18" charset="0"/>
                </a:defRPr>
              </a:lvl1pPr>
              <a:lvl2pPr marL="542925" defTabSz="1236663">
                <a:defRPr sz="2400">
                  <a:solidFill>
                    <a:schemeClr val="tx1"/>
                  </a:solidFill>
                  <a:latin typeface="Times New Roman" panose="02020603050405020304" pitchFamily="18" charset="0"/>
                </a:defRPr>
              </a:lvl2pPr>
              <a:lvl3pPr marL="1082675" defTabSz="1236663">
                <a:defRPr sz="2400">
                  <a:solidFill>
                    <a:schemeClr val="tx1"/>
                  </a:solidFill>
                  <a:latin typeface="Times New Roman" panose="02020603050405020304" pitchFamily="18" charset="0"/>
                </a:defRPr>
              </a:lvl3pPr>
              <a:lvl4pPr marL="1622425" defTabSz="1236663">
                <a:defRPr sz="2400">
                  <a:solidFill>
                    <a:schemeClr val="tx1"/>
                  </a:solidFill>
                  <a:latin typeface="Times New Roman" panose="02020603050405020304" pitchFamily="18" charset="0"/>
                </a:defRPr>
              </a:lvl4pPr>
              <a:lvl5pPr marL="2163763" defTabSz="1236663">
                <a:defRPr sz="2400">
                  <a:solidFill>
                    <a:schemeClr val="tx1"/>
                  </a:solidFill>
                  <a:latin typeface="Times New Roman" panose="02020603050405020304" pitchFamily="18" charset="0"/>
                </a:defRPr>
              </a:lvl5pPr>
              <a:lvl6pPr marL="2620963" defTabSz="1236663" eaLnBrk="0" fontAlgn="base" hangingPunct="0">
                <a:spcBef>
                  <a:spcPct val="0"/>
                </a:spcBef>
                <a:spcAft>
                  <a:spcPct val="0"/>
                </a:spcAft>
                <a:defRPr sz="2400">
                  <a:solidFill>
                    <a:schemeClr val="tx1"/>
                  </a:solidFill>
                  <a:latin typeface="Times New Roman" panose="02020603050405020304" pitchFamily="18" charset="0"/>
                </a:defRPr>
              </a:lvl6pPr>
              <a:lvl7pPr marL="3078163" defTabSz="1236663" eaLnBrk="0" fontAlgn="base" hangingPunct="0">
                <a:spcBef>
                  <a:spcPct val="0"/>
                </a:spcBef>
                <a:spcAft>
                  <a:spcPct val="0"/>
                </a:spcAft>
                <a:defRPr sz="2400">
                  <a:solidFill>
                    <a:schemeClr val="tx1"/>
                  </a:solidFill>
                  <a:latin typeface="Times New Roman" panose="02020603050405020304" pitchFamily="18" charset="0"/>
                </a:defRPr>
              </a:lvl7pPr>
              <a:lvl8pPr marL="3535363" defTabSz="1236663" eaLnBrk="0" fontAlgn="base" hangingPunct="0">
                <a:spcBef>
                  <a:spcPct val="0"/>
                </a:spcBef>
                <a:spcAft>
                  <a:spcPct val="0"/>
                </a:spcAft>
                <a:defRPr sz="2400">
                  <a:solidFill>
                    <a:schemeClr val="tx1"/>
                  </a:solidFill>
                  <a:latin typeface="Times New Roman" panose="02020603050405020304" pitchFamily="18" charset="0"/>
                </a:defRPr>
              </a:lvl8pPr>
              <a:lvl9pPr marL="3992563" defTabSz="1236663"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GB" altLang="en-US" smtClean="0">
                  <a:solidFill>
                    <a:schemeClr val="tx2"/>
                  </a:solidFill>
                  <a:effectLst>
                    <a:outerShdw blurRad="38100" dist="38100" dir="2700000" algn="tl">
                      <a:srgbClr val="C0C0C0"/>
                    </a:outerShdw>
                  </a:effectLst>
                  <a:latin typeface="Arial" panose="020B0604020202020204" pitchFamily="34" charset="0"/>
                </a:rPr>
                <a:t>A</a:t>
              </a:r>
            </a:p>
          </p:txBody>
        </p:sp>
        <p:grpSp>
          <p:nvGrpSpPr>
            <p:cNvPr id="157707" name="Group 11"/>
            <p:cNvGrpSpPr>
              <a:grpSpLocks/>
            </p:cNvGrpSpPr>
            <p:nvPr/>
          </p:nvGrpSpPr>
          <p:grpSpPr bwMode="auto">
            <a:xfrm>
              <a:off x="5954713" y="4843463"/>
              <a:ext cx="1130300" cy="777875"/>
              <a:chOff x="3305" y="2522"/>
              <a:chExt cx="633" cy="436"/>
            </a:xfrm>
          </p:grpSpPr>
          <p:pic>
            <p:nvPicPr>
              <p:cNvPr id="157715"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05" y="2522"/>
                <a:ext cx="633"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5549" name="Rectangle 13"/>
              <p:cNvSpPr>
                <a:spLocks noChangeArrowheads="1"/>
              </p:cNvSpPr>
              <p:nvPr/>
            </p:nvSpPr>
            <p:spPr bwMode="auto">
              <a:xfrm>
                <a:off x="3499" y="2693"/>
                <a:ext cx="244"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476" tIns="54239" rIns="108476" bIns="54239">
                <a:spAutoFit/>
              </a:bodyPr>
              <a:lstStyle>
                <a:lvl1pPr defTabSz="1236663">
                  <a:defRPr sz="2400">
                    <a:solidFill>
                      <a:schemeClr val="tx1"/>
                    </a:solidFill>
                    <a:latin typeface="Times New Roman" panose="02020603050405020304" pitchFamily="18" charset="0"/>
                  </a:defRPr>
                </a:lvl1pPr>
                <a:lvl2pPr marL="542925" defTabSz="1236663">
                  <a:defRPr sz="2400">
                    <a:solidFill>
                      <a:schemeClr val="tx1"/>
                    </a:solidFill>
                    <a:latin typeface="Times New Roman" panose="02020603050405020304" pitchFamily="18" charset="0"/>
                  </a:defRPr>
                </a:lvl2pPr>
                <a:lvl3pPr marL="1082675" defTabSz="1236663">
                  <a:defRPr sz="2400">
                    <a:solidFill>
                      <a:schemeClr val="tx1"/>
                    </a:solidFill>
                    <a:latin typeface="Times New Roman" panose="02020603050405020304" pitchFamily="18" charset="0"/>
                  </a:defRPr>
                </a:lvl3pPr>
                <a:lvl4pPr marL="1622425" defTabSz="1236663">
                  <a:defRPr sz="2400">
                    <a:solidFill>
                      <a:schemeClr val="tx1"/>
                    </a:solidFill>
                    <a:latin typeface="Times New Roman" panose="02020603050405020304" pitchFamily="18" charset="0"/>
                  </a:defRPr>
                </a:lvl4pPr>
                <a:lvl5pPr marL="2163763" defTabSz="1236663">
                  <a:defRPr sz="2400">
                    <a:solidFill>
                      <a:schemeClr val="tx1"/>
                    </a:solidFill>
                    <a:latin typeface="Times New Roman" panose="02020603050405020304" pitchFamily="18" charset="0"/>
                  </a:defRPr>
                </a:lvl5pPr>
                <a:lvl6pPr marL="2620963" defTabSz="1236663" eaLnBrk="0" fontAlgn="base" hangingPunct="0">
                  <a:spcBef>
                    <a:spcPct val="0"/>
                  </a:spcBef>
                  <a:spcAft>
                    <a:spcPct val="0"/>
                  </a:spcAft>
                  <a:defRPr sz="2400">
                    <a:solidFill>
                      <a:schemeClr val="tx1"/>
                    </a:solidFill>
                    <a:latin typeface="Times New Roman" panose="02020603050405020304" pitchFamily="18" charset="0"/>
                  </a:defRPr>
                </a:lvl6pPr>
                <a:lvl7pPr marL="3078163" defTabSz="1236663" eaLnBrk="0" fontAlgn="base" hangingPunct="0">
                  <a:spcBef>
                    <a:spcPct val="0"/>
                  </a:spcBef>
                  <a:spcAft>
                    <a:spcPct val="0"/>
                  </a:spcAft>
                  <a:defRPr sz="2400">
                    <a:solidFill>
                      <a:schemeClr val="tx1"/>
                    </a:solidFill>
                    <a:latin typeface="Times New Roman" panose="02020603050405020304" pitchFamily="18" charset="0"/>
                  </a:defRPr>
                </a:lvl7pPr>
                <a:lvl8pPr marL="3535363" defTabSz="1236663" eaLnBrk="0" fontAlgn="base" hangingPunct="0">
                  <a:spcBef>
                    <a:spcPct val="0"/>
                  </a:spcBef>
                  <a:spcAft>
                    <a:spcPct val="0"/>
                  </a:spcAft>
                  <a:defRPr sz="2400">
                    <a:solidFill>
                      <a:schemeClr val="tx1"/>
                    </a:solidFill>
                    <a:latin typeface="Times New Roman" panose="02020603050405020304" pitchFamily="18" charset="0"/>
                  </a:defRPr>
                </a:lvl8pPr>
                <a:lvl9pPr marL="3992563" defTabSz="1236663"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GB" altLang="en-US" smtClean="0">
                    <a:solidFill>
                      <a:schemeClr val="tx2"/>
                    </a:solidFill>
                    <a:effectLst>
                      <a:outerShdw blurRad="38100" dist="38100" dir="2700000" algn="tl">
                        <a:srgbClr val="C0C0C0"/>
                      </a:outerShdw>
                    </a:effectLst>
                    <a:latin typeface="Arial" panose="020B0604020202020204" pitchFamily="34" charset="0"/>
                  </a:rPr>
                  <a:t>C</a:t>
                </a:r>
              </a:p>
            </p:txBody>
          </p:sp>
        </p:grpSp>
        <p:grpSp>
          <p:nvGrpSpPr>
            <p:cNvPr id="157708" name="Group 14"/>
            <p:cNvGrpSpPr>
              <a:grpSpLocks/>
            </p:cNvGrpSpPr>
            <p:nvPr/>
          </p:nvGrpSpPr>
          <p:grpSpPr bwMode="auto">
            <a:xfrm>
              <a:off x="2371725" y="4843463"/>
              <a:ext cx="1128713" cy="777875"/>
              <a:chOff x="1298" y="2522"/>
              <a:chExt cx="633" cy="436"/>
            </a:xfrm>
          </p:grpSpPr>
          <p:pic>
            <p:nvPicPr>
              <p:cNvPr id="157713"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98" y="2522"/>
                <a:ext cx="633" cy="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5552" name="Rectangle 16"/>
              <p:cNvSpPr>
                <a:spLocks noChangeArrowheads="1"/>
              </p:cNvSpPr>
              <p:nvPr/>
            </p:nvSpPr>
            <p:spPr bwMode="auto">
              <a:xfrm>
                <a:off x="1492" y="2693"/>
                <a:ext cx="245"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476" tIns="54239" rIns="108476" bIns="54239">
                <a:spAutoFit/>
              </a:bodyPr>
              <a:lstStyle>
                <a:lvl1pPr defTabSz="1236663">
                  <a:defRPr sz="2400">
                    <a:solidFill>
                      <a:schemeClr val="tx1"/>
                    </a:solidFill>
                    <a:latin typeface="Times New Roman" panose="02020603050405020304" pitchFamily="18" charset="0"/>
                  </a:defRPr>
                </a:lvl1pPr>
                <a:lvl2pPr marL="542925" defTabSz="1236663">
                  <a:defRPr sz="2400">
                    <a:solidFill>
                      <a:schemeClr val="tx1"/>
                    </a:solidFill>
                    <a:latin typeface="Times New Roman" panose="02020603050405020304" pitchFamily="18" charset="0"/>
                  </a:defRPr>
                </a:lvl2pPr>
                <a:lvl3pPr marL="1082675" defTabSz="1236663">
                  <a:defRPr sz="2400">
                    <a:solidFill>
                      <a:schemeClr val="tx1"/>
                    </a:solidFill>
                    <a:latin typeface="Times New Roman" panose="02020603050405020304" pitchFamily="18" charset="0"/>
                  </a:defRPr>
                </a:lvl3pPr>
                <a:lvl4pPr marL="1622425" defTabSz="1236663">
                  <a:defRPr sz="2400">
                    <a:solidFill>
                      <a:schemeClr val="tx1"/>
                    </a:solidFill>
                    <a:latin typeface="Times New Roman" panose="02020603050405020304" pitchFamily="18" charset="0"/>
                  </a:defRPr>
                </a:lvl4pPr>
                <a:lvl5pPr marL="2163763" defTabSz="1236663">
                  <a:defRPr sz="2400">
                    <a:solidFill>
                      <a:schemeClr val="tx1"/>
                    </a:solidFill>
                    <a:latin typeface="Times New Roman" panose="02020603050405020304" pitchFamily="18" charset="0"/>
                  </a:defRPr>
                </a:lvl5pPr>
                <a:lvl6pPr marL="2620963" defTabSz="1236663" eaLnBrk="0" fontAlgn="base" hangingPunct="0">
                  <a:spcBef>
                    <a:spcPct val="0"/>
                  </a:spcBef>
                  <a:spcAft>
                    <a:spcPct val="0"/>
                  </a:spcAft>
                  <a:defRPr sz="2400">
                    <a:solidFill>
                      <a:schemeClr val="tx1"/>
                    </a:solidFill>
                    <a:latin typeface="Times New Roman" panose="02020603050405020304" pitchFamily="18" charset="0"/>
                  </a:defRPr>
                </a:lvl6pPr>
                <a:lvl7pPr marL="3078163" defTabSz="1236663" eaLnBrk="0" fontAlgn="base" hangingPunct="0">
                  <a:spcBef>
                    <a:spcPct val="0"/>
                  </a:spcBef>
                  <a:spcAft>
                    <a:spcPct val="0"/>
                  </a:spcAft>
                  <a:defRPr sz="2400">
                    <a:solidFill>
                      <a:schemeClr val="tx1"/>
                    </a:solidFill>
                    <a:latin typeface="Times New Roman" panose="02020603050405020304" pitchFamily="18" charset="0"/>
                  </a:defRPr>
                </a:lvl7pPr>
                <a:lvl8pPr marL="3535363" defTabSz="1236663" eaLnBrk="0" fontAlgn="base" hangingPunct="0">
                  <a:spcBef>
                    <a:spcPct val="0"/>
                  </a:spcBef>
                  <a:spcAft>
                    <a:spcPct val="0"/>
                  </a:spcAft>
                  <a:defRPr sz="2400">
                    <a:solidFill>
                      <a:schemeClr val="tx1"/>
                    </a:solidFill>
                    <a:latin typeface="Times New Roman" panose="02020603050405020304" pitchFamily="18" charset="0"/>
                  </a:defRPr>
                </a:lvl8pPr>
                <a:lvl9pPr marL="3992563" defTabSz="1236663"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en-GB" altLang="en-US" smtClean="0">
                    <a:solidFill>
                      <a:schemeClr val="tx2"/>
                    </a:solidFill>
                    <a:effectLst>
                      <a:outerShdw blurRad="38100" dist="38100" dir="2700000" algn="tl">
                        <a:srgbClr val="C0C0C0"/>
                      </a:outerShdw>
                    </a:effectLst>
                    <a:latin typeface="Arial" panose="020B0604020202020204" pitchFamily="34" charset="0"/>
                  </a:rPr>
                  <a:t>B</a:t>
                </a:r>
              </a:p>
            </p:txBody>
          </p:sp>
        </p:grpSp>
        <p:sp>
          <p:nvSpPr>
            <p:cNvPr id="157709" name="Line 17"/>
            <p:cNvSpPr>
              <a:spLocks noChangeShapeType="1"/>
            </p:cNvSpPr>
            <p:nvPr/>
          </p:nvSpPr>
          <p:spPr bwMode="auto">
            <a:xfrm>
              <a:off x="1343025" y="5222875"/>
              <a:ext cx="1058863" cy="0"/>
            </a:xfrm>
            <a:prstGeom prst="line">
              <a:avLst/>
            </a:prstGeom>
            <a:noFill/>
            <a:ln w="25400">
              <a:solidFill>
                <a:schemeClr val="accent2"/>
              </a:solidFill>
              <a:round/>
              <a:headEnd type="none" w="sm" len="sm"/>
              <a:tailEnd type="stealth" w="med" len="lg"/>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7710" name="Line 18"/>
            <p:cNvSpPr>
              <a:spLocks noChangeShapeType="1"/>
            </p:cNvSpPr>
            <p:nvPr/>
          </p:nvSpPr>
          <p:spPr bwMode="auto">
            <a:xfrm>
              <a:off x="3581400" y="5256213"/>
              <a:ext cx="2122488" cy="0"/>
            </a:xfrm>
            <a:prstGeom prst="line">
              <a:avLst/>
            </a:prstGeom>
            <a:noFill/>
            <a:ln w="254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7711" name="Rectangle 19"/>
            <p:cNvSpPr>
              <a:spLocks noChangeArrowheads="1"/>
            </p:cNvSpPr>
            <p:nvPr/>
          </p:nvSpPr>
          <p:spPr bwMode="auto">
            <a:xfrm>
              <a:off x="5248275" y="1754188"/>
              <a:ext cx="2146300" cy="439737"/>
            </a:xfrm>
            <a:prstGeom prst="rect">
              <a:avLst/>
            </a:prstGeom>
            <a:solidFill>
              <a:srgbClr val="FFE59B"/>
            </a:solidFill>
            <a:ln w="12700">
              <a:solidFill>
                <a:schemeClr val="tx1"/>
              </a:solidFill>
              <a:miter lim="800000"/>
              <a:headEnd/>
              <a:tailEnd/>
            </a:ln>
            <a:effectLst>
              <a:outerShdw dist="35921" dir="2700000" algn="ctr" rotWithShape="0">
                <a:schemeClr val="tx1"/>
              </a:outerShdw>
            </a:effectLst>
          </p:spPr>
          <p:txBody>
            <a:bodyPr wrap="none" anchor="ctr"/>
            <a:lstStyle>
              <a:lvl1pPr>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endParaRPr lang="en-US" altLang="en-US" sz="2400"/>
            </a:p>
          </p:txBody>
        </p:sp>
        <p:sp>
          <p:nvSpPr>
            <p:cNvPr id="157712" name="Rectangle 20"/>
            <p:cNvSpPr>
              <a:spLocks noChangeArrowheads="1"/>
            </p:cNvSpPr>
            <p:nvPr/>
          </p:nvSpPr>
          <p:spPr bwMode="auto">
            <a:xfrm>
              <a:off x="5273675" y="1808163"/>
              <a:ext cx="208915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645" tIns="44887" rIns="91645" bIns="44887" anchor="ctr" anchorCtr="1">
              <a:spAutoFit/>
            </a:bodyPr>
            <a:lstStyle>
              <a:lvl1pPr defTabSz="969963">
                <a:spcBef>
                  <a:spcPct val="20000"/>
                </a:spcBef>
                <a:buClr>
                  <a:schemeClr val="accent1"/>
                </a:buClr>
                <a:buSzPct val="80000"/>
                <a:buFont typeface="Wingdings" panose="05000000000000000000" pitchFamily="2" charset="2"/>
                <a:buChar char="n"/>
                <a:tabLst>
                  <a:tab pos="1136650" algn="l"/>
                </a:tabLst>
                <a:defRPr sz="3200">
                  <a:solidFill>
                    <a:schemeClr val="tx1"/>
                  </a:solidFill>
                  <a:latin typeface="Arial" panose="020B0604020202020204" pitchFamily="34" charset="0"/>
                </a:defRPr>
              </a:lvl1pPr>
              <a:lvl2pPr marL="742950" indent="-285750" defTabSz="969963">
                <a:spcBef>
                  <a:spcPct val="20000"/>
                </a:spcBef>
                <a:buChar char="–"/>
                <a:tabLst>
                  <a:tab pos="1136650" algn="l"/>
                </a:tabLst>
                <a:defRPr sz="2800">
                  <a:solidFill>
                    <a:schemeClr val="tx1"/>
                  </a:solidFill>
                  <a:latin typeface="Arial" panose="020B0604020202020204" pitchFamily="34" charset="0"/>
                </a:defRPr>
              </a:lvl2pPr>
              <a:lvl3pPr marL="1143000" indent="-228600" defTabSz="969963">
                <a:spcBef>
                  <a:spcPct val="20000"/>
                </a:spcBef>
                <a:buChar char="•"/>
                <a:tabLst>
                  <a:tab pos="1136650" algn="l"/>
                </a:tabLst>
                <a:defRPr sz="2400">
                  <a:solidFill>
                    <a:schemeClr val="tx1"/>
                  </a:solidFill>
                  <a:latin typeface="Arial" panose="020B0604020202020204" pitchFamily="34" charset="0"/>
                </a:defRPr>
              </a:lvl3pPr>
              <a:lvl4pPr marL="1600200" indent="-228600" defTabSz="969963">
                <a:spcBef>
                  <a:spcPct val="20000"/>
                </a:spcBef>
                <a:buChar char="–"/>
                <a:tabLst>
                  <a:tab pos="1136650" algn="l"/>
                </a:tabLst>
                <a:defRPr sz="2000">
                  <a:solidFill>
                    <a:schemeClr val="tx1"/>
                  </a:solidFill>
                  <a:latin typeface="Arial" panose="020B0604020202020204" pitchFamily="34" charset="0"/>
                </a:defRPr>
              </a:lvl4pPr>
              <a:lvl5pPr marL="2057400" indent="-228600" defTabSz="969963">
                <a:spcBef>
                  <a:spcPct val="20000"/>
                </a:spcBef>
                <a:buChar char="»"/>
                <a:tabLst>
                  <a:tab pos="1136650" algn="l"/>
                </a:tabLst>
                <a:defRPr sz="2000">
                  <a:solidFill>
                    <a:schemeClr val="tx1"/>
                  </a:solidFill>
                  <a:latin typeface="Arial" panose="020B0604020202020204" pitchFamily="34" charset="0"/>
                </a:defRPr>
              </a:lvl5pPr>
              <a:lvl6pPr marL="2514600" indent="-228600" defTabSz="969963" eaLnBrk="0" fontAlgn="base" hangingPunct="0">
                <a:spcBef>
                  <a:spcPct val="20000"/>
                </a:spcBef>
                <a:spcAft>
                  <a:spcPct val="0"/>
                </a:spcAft>
                <a:buChar char="»"/>
                <a:tabLst>
                  <a:tab pos="1136650" algn="l"/>
                </a:tabLst>
                <a:defRPr sz="2000">
                  <a:solidFill>
                    <a:schemeClr val="tx1"/>
                  </a:solidFill>
                  <a:latin typeface="Arial" panose="020B0604020202020204" pitchFamily="34" charset="0"/>
                </a:defRPr>
              </a:lvl6pPr>
              <a:lvl7pPr marL="2971800" indent="-228600" defTabSz="969963" eaLnBrk="0" fontAlgn="base" hangingPunct="0">
                <a:spcBef>
                  <a:spcPct val="20000"/>
                </a:spcBef>
                <a:spcAft>
                  <a:spcPct val="0"/>
                </a:spcAft>
                <a:buChar char="»"/>
                <a:tabLst>
                  <a:tab pos="1136650" algn="l"/>
                </a:tabLst>
                <a:defRPr sz="2000">
                  <a:solidFill>
                    <a:schemeClr val="tx1"/>
                  </a:solidFill>
                  <a:latin typeface="Arial" panose="020B0604020202020204" pitchFamily="34" charset="0"/>
                </a:defRPr>
              </a:lvl7pPr>
              <a:lvl8pPr marL="3429000" indent="-228600" defTabSz="969963" eaLnBrk="0" fontAlgn="base" hangingPunct="0">
                <a:spcBef>
                  <a:spcPct val="20000"/>
                </a:spcBef>
                <a:spcAft>
                  <a:spcPct val="0"/>
                </a:spcAft>
                <a:buChar char="»"/>
                <a:tabLst>
                  <a:tab pos="1136650" algn="l"/>
                </a:tabLst>
                <a:defRPr sz="2000">
                  <a:solidFill>
                    <a:schemeClr val="tx1"/>
                  </a:solidFill>
                  <a:latin typeface="Arial" panose="020B0604020202020204" pitchFamily="34" charset="0"/>
                </a:defRPr>
              </a:lvl8pPr>
              <a:lvl9pPr marL="3886200" indent="-228600" defTabSz="969963" eaLnBrk="0" fontAlgn="base" hangingPunct="0">
                <a:spcBef>
                  <a:spcPct val="20000"/>
                </a:spcBef>
                <a:spcAft>
                  <a:spcPct val="0"/>
                </a:spcAft>
                <a:buChar char="»"/>
                <a:tabLst>
                  <a:tab pos="1136650" algn="l"/>
                </a:tabLst>
                <a:defRPr sz="2000">
                  <a:solidFill>
                    <a:schemeClr val="tx1"/>
                  </a:solidFill>
                  <a:latin typeface="Arial" panose="020B0604020202020204" pitchFamily="34" charset="0"/>
                </a:defRPr>
              </a:lvl9pPr>
            </a:lstStyle>
            <a:p>
              <a:pPr>
                <a:lnSpc>
                  <a:spcPct val="90000"/>
                </a:lnSpc>
                <a:spcBef>
                  <a:spcPct val="30000"/>
                </a:spcBef>
                <a:buClrTx/>
                <a:buSzTx/>
                <a:buFontTx/>
                <a:buNone/>
              </a:pPr>
              <a:r>
                <a:rPr lang="en-GB" altLang="en-US" sz="2100"/>
                <a:t>Route Reflector</a:t>
              </a:r>
            </a:p>
          </p:txBody>
        </p:sp>
      </p:grpSp>
      <p:sp>
        <p:nvSpPr>
          <p:cNvPr id="3" name="Slide Number Placeholder 2"/>
          <p:cNvSpPr>
            <a:spLocks noGrp="1"/>
          </p:cNvSpPr>
          <p:nvPr>
            <p:ph type="sldNum" sz="quarter" idx="10"/>
          </p:nvPr>
        </p:nvSpPr>
        <p:spPr/>
        <p:txBody>
          <a:bodyPr/>
          <a:lstStyle/>
          <a:p>
            <a:fld id="{1C0FA7A3-0FBF-4EC3-BE45-825983E95E58}" type="slidenum">
              <a:rPr lang="en-US" smtClean="0"/>
              <a:pPr/>
              <a:t>89</a:t>
            </a:fld>
            <a:endParaRPr lang="en-US" dirty="0"/>
          </a:p>
        </p:txBody>
      </p:sp>
    </p:spTree>
    <p:extLst>
      <p:ext uri="{BB962C8B-B14F-4D97-AF65-F5344CB8AC3E}">
        <p14:creationId xmlns:p14="http://schemas.microsoft.com/office/powerpoint/2010/main" val="124549469"/>
      </p:ext>
    </p:extLst>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noFill/>
        </p:spPr>
        <p:txBody>
          <a:bodyPr lIns="86034" tIns="43016" rIns="86034" bIns="43016"/>
          <a:lstStyle/>
          <a:p>
            <a:r>
              <a:rPr lang="en-GB" altLang="en-US" smtClean="0"/>
              <a:t>Route Reflector</a:t>
            </a:r>
          </a:p>
        </p:txBody>
      </p:sp>
      <p:grpSp>
        <p:nvGrpSpPr>
          <p:cNvPr id="3" name="Group 2"/>
          <p:cNvGrpSpPr/>
          <p:nvPr/>
        </p:nvGrpSpPr>
        <p:grpSpPr>
          <a:xfrm>
            <a:off x="3892550" y="1264635"/>
            <a:ext cx="5251450" cy="3984625"/>
            <a:chOff x="3892550" y="1852613"/>
            <a:chExt cx="5251450" cy="3984625"/>
          </a:xfrm>
        </p:grpSpPr>
        <p:pic>
          <p:nvPicPr>
            <p:cNvPr id="159747"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2550" y="2570163"/>
              <a:ext cx="5251450"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9748" name="Freeform 4"/>
            <p:cNvSpPr>
              <a:spLocks/>
            </p:cNvSpPr>
            <p:nvPr/>
          </p:nvSpPr>
          <p:spPr bwMode="auto">
            <a:xfrm>
              <a:off x="5307013" y="2776538"/>
              <a:ext cx="2798762" cy="1554162"/>
            </a:xfrm>
            <a:custGeom>
              <a:avLst/>
              <a:gdLst>
                <a:gd name="T0" fmla="*/ 1169245298 w 1568"/>
                <a:gd name="T1" fmla="*/ 226054736 h 871"/>
                <a:gd name="T2" fmla="*/ 2147483646 w 1568"/>
                <a:gd name="T3" fmla="*/ 1499605739 h 871"/>
                <a:gd name="T4" fmla="*/ 0 w 1568"/>
                <a:gd name="T5" fmla="*/ 2147483646 h 871"/>
                <a:gd name="T6" fmla="*/ 286735666 w 1568"/>
                <a:gd name="T7" fmla="*/ 2147483646 h 871"/>
                <a:gd name="T8" fmla="*/ 2147483646 w 1568"/>
                <a:gd name="T9" fmla="*/ 2147483646 h 871"/>
                <a:gd name="T10" fmla="*/ 2147483646 w 1568"/>
                <a:gd name="T11" fmla="*/ 2147483646 h 871"/>
                <a:gd name="T12" fmla="*/ 2147483646 w 1568"/>
                <a:gd name="T13" fmla="*/ 1499605739 h 871"/>
                <a:gd name="T14" fmla="*/ 2147483646 w 1568"/>
                <a:gd name="T15" fmla="*/ 0 h 87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68" h="871">
                  <a:moveTo>
                    <a:pt x="367" y="71"/>
                  </a:moveTo>
                  <a:lnTo>
                    <a:pt x="705" y="471"/>
                  </a:lnTo>
                  <a:lnTo>
                    <a:pt x="0" y="832"/>
                  </a:lnTo>
                  <a:lnTo>
                    <a:pt x="90" y="870"/>
                  </a:lnTo>
                  <a:lnTo>
                    <a:pt x="1504" y="870"/>
                  </a:lnTo>
                  <a:lnTo>
                    <a:pt x="1567" y="832"/>
                  </a:lnTo>
                  <a:lnTo>
                    <a:pt x="828" y="471"/>
                  </a:lnTo>
                  <a:lnTo>
                    <a:pt x="1227" y="0"/>
                  </a:lnTo>
                </a:path>
              </a:pathLst>
            </a:custGeom>
            <a:noFill/>
            <a:ln w="25400" cap="rnd" cmpd="sng">
              <a:solidFill>
                <a:srgbClr val="FFA38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59749" name="Freeform 5"/>
            <p:cNvSpPr>
              <a:spLocks/>
            </p:cNvSpPr>
            <p:nvPr/>
          </p:nvSpPr>
          <p:spPr bwMode="auto">
            <a:xfrm>
              <a:off x="4759325" y="4198938"/>
              <a:ext cx="1423988" cy="846137"/>
            </a:xfrm>
            <a:custGeom>
              <a:avLst/>
              <a:gdLst>
                <a:gd name="T0" fmla="*/ 0 w 798"/>
                <a:gd name="T1" fmla="*/ 1510431467 h 473"/>
                <a:gd name="T2" fmla="*/ 1264146239 w 798"/>
                <a:gd name="T3" fmla="*/ 0 h 473"/>
                <a:gd name="T4" fmla="*/ 2147483646 w 798"/>
                <a:gd name="T5" fmla="*/ 1510431467 h 473"/>
                <a:gd name="T6" fmla="*/ 0 60000 65536"/>
                <a:gd name="T7" fmla="*/ 0 60000 65536"/>
                <a:gd name="T8" fmla="*/ 0 60000 65536"/>
              </a:gdLst>
              <a:ahLst/>
              <a:cxnLst>
                <a:cxn ang="T6">
                  <a:pos x="T0" y="T1"/>
                </a:cxn>
                <a:cxn ang="T7">
                  <a:pos x="T2" y="T3"/>
                </a:cxn>
                <a:cxn ang="T8">
                  <a:pos x="T4" y="T5"/>
                </a:cxn>
              </a:cxnLst>
              <a:rect l="0" t="0" r="r" b="b"/>
              <a:pathLst>
                <a:path w="798" h="473">
                  <a:moveTo>
                    <a:pt x="0" y="472"/>
                  </a:moveTo>
                  <a:lnTo>
                    <a:pt x="397" y="0"/>
                  </a:lnTo>
                  <a:lnTo>
                    <a:pt x="797" y="472"/>
                  </a:lnTo>
                </a:path>
              </a:pathLst>
            </a:custGeom>
            <a:noFill/>
            <a:ln w="25400" cap="rnd" cmpd="sng">
              <a:solidFill>
                <a:srgbClr val="FFA38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59750" name="Freeform 6"/>
            <p:cNvSpPr>
              <a:spLocks/>
            </p:cNvSpPr>
            <p:nvPr/>
          </p:nvSpPr>
          <p:spPr bwMode="auto">
            <a:xfrm>
              <a:off x="7229475" y="4198938"/>
              <a:ext cx="1427163" cy="846137"/>
            </a:xfrm>
            <a:custGeom>
              <a:avLst/>
              <a:gdLst>
                <a:gd name="T0" fmla="*/ 0 w 800"/>
                <a:gd name="T1" fmla="*/ 1510431467 h 473"/>
                <a:gd name="T2" fmla="*/ 1269814711 w 800"/>
                <a:gd name="T3" fmla="*/ 0 h 473"/>
                <a:gd name="T4" fmla="*/ 2147483646 w 800"/>
                <a:gd name="T5" fmla="*/ 1510431467 h 473"/>
                <a:gd name="T6" fmla="*/ 0 60000 65536"/>
                <a:gd name="T7" fmla="*/ 0 60000 65536"/>
                <a:gd name="T8" fmla="*/ 0 60000 65536"/>
              </a:gdLst>
              <a:ahLst/>
              <a:cxnLst>
                <a:cxn ang="T6">
                  <a:pos x="T0" y="T1"/>
                </a:cxn>
                <a:cxn ang="T7">
                  <a:pos x="T2" y="T3"/>
                </a:cxn>
                <a:cxn ang="T8">
                  <a:pos x="T4" y="T5"/>
                </a:cxn>
              </a:cxnLst>
              <a:rect l="0" t="0" r="r" b="b"/>
              <a:pathLst>
                <a:path w="800" h="473">
                  <a:moveTo>
                    <a:pt x="0" y="472"/>
                  </a:moveTo>
                  <a:lnTo>
                    <a:pt x="399" y="0"/>
                  </a:lnTo>
                  <a:lnTo>
                    <a:pt x="799" y="472"/>
                  </a:lnTo>
                </a:path>
              </a:pathLst>
            </a:custGeom>
            <a:noFill/>
            <a:ln w="25400" cap="rnd" cmpd="sng">
              <a:solidFill>
                <a:srgbClr val="FFA380"/>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59751" name="Line 7"/>
            <p:cNvSpPr>
              <a:spLocks noChangeShapeType="1"/>
            </p:cNvSpPr>
            <p:nvPr/>
          </p:nvSpPr>
          <p:spPr bwMode="auto">
            <a:xfrm flipV="1">
              <a:off x="6654800" y="2776538"/>
              <a:ext cx="0" cy="777875"/>
            </a:xfrm>
            <a:prstGeom prst="line">
              <a:avLst/>
            </a:prstGeom>
            <a:noFill/>
            <a:ln w="25400">
              <a:solidFill>
                <a:srgbClr val="FFA380"/>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9752" name="Line 8"/>
            <p:cNvSpPr>
              <a:spLocks noChangeShapeType="1"/>
            </p:cNvSpPr>
            <p:nvPr/>
          </p:nvSpPr>
          <p:spPr bwMode="auto">
            <a:xfrm flipH="1" flipV="1">
              <a:off x="7947025" y="4302125"/>
              <a:ext cx="1588" cy="871538"/>
            </a:xfrm>
            <a:prstGeom prst="line">
              <a:avLst/>
            </a:prstGeom>
            <a:noFill/>
            <a:ln w="25400">
              <a:solidFill>
                <a:srgbClr val="FFA380"/>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9753" name="Line 9"/>
            <p:cNvSpPr>
              <a:spLocks noChangeShapeType="1"/>
            </p:cNvSpPr>
            <p:nvPr/>
          </p:nvSpPr>
          <p:spPr bwMode="auto">
            <a:xfrm flipV="1">
              <a:off x="5476875" y="4237038"/>
              <a:ext cx="0" cy="971550"/>
            </a:xfrm>
            <a:prstGeom prst="line">
              <a:avLst/>
            </a:prstGeom>
            <a:noFill/>
            <a:ln w="25400">
              <a:solidFill>
                <a:srgbClr val="FFA380"/>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9754" name="Rectangle 10"/>
            <p:cNvSpPr>
              <a:spLocks noChangeArrowheads="1"/>
            </p:cNvSpPr>
            <p:nvPr/>
          </p:nvSpPr>
          <p:spPr bwMode="auto">
            <a:xfrm>
              <a:off x="6126163" y="5280025"/>
              <a:ext cx="1201737"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347663">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347663">
                <a:spcBef>
                  <a:spcPct val="20000"/>
                </a:spcBef>
                <a:buChar char="–"/>
                <a:defRPr sz="2800">
                  <a:solidFill>
                    <a:schemeClr val="tx1"/>
                  </a:solidFill>
                  <a:latin typeface="Arial" panose="020B0604020202020204" pitchFamily="34" charset="0"/>
                </a:defRPr>
              </a:lvl2pPr>
              <a:lvl3pPr marL="1143000" indent="-228600" defTabSz="347663">
                <a:spcBef>
                  <a:spcPct val="20000"/>
                </a:spcBef>
                <a:buChar char="•"/>
                <a:defRPr sz="2400">
                  <a:solidFill>
                    <a:schemeClr val="tx1"/>
                  </a:solidFill>
                  <a:latin typeface="Arial" panose="020B0604020202020204" pitchFamily="34" charset="0"/>
                </a:defRPr>
              </a:lvl3pPr>
              <a:lvl4pPr marL="1600200" indent="-228600" defTabSz="347663">
                <a:spcBef>
                  <a:spcPct val="20000"/>
                </a:spcBef>
                <a:buChar char="–"/>
                <a:defRPr sz="2000">
                  <a:solidFill>
                    <a:schemeClr val="tx1"/>
                  </a:solidFill>
                  <a:latin typeface="Arial" panose="020B0604020202020204" pitchFamily="34" charset="0"/>
                </a:defRPr>
              </a:lvl4pPr>
              <a:lvl5pPr marL="2057400" indent="-228600" defTabSz="347663">
                <a:spcBef>
                  <a:spcPct val="20000"/>
                </a:spcBef>
                <a:buChar char="»"/>
                <a:defRPr sz="2000">
                  <a:solidFill>
                    <a:schemeClr val="tx1"/>
                  </a:solidFill>
                  <a:latin typeface="Arial" panose="020B0604020202020204" pitchFamily="34" charset="0"/>
                </a:defRPr>
              </a:lvl5pPr>
              <a:lvl6pPr marL="2514600" indent="-228600" defTabSz="347663"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347663"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347663"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347663"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GB" altLang="en-US" sz="2400"/>
                <a:t>AS 100</a:t>
              </a:r>
            </a:p>
          </p:txBody>
        </p:sp>
        <p:sp>
          <p:nvSpPr>
            <p:cNvPr id="159755" name="Line 11"/>
            <p:cNvSpPr>
              <a:spLocks noChangeShapeType="1"/>
            </p:cNvSpPr>
            <p:nvPr/>
          </p:nvSpPr>
          <p:spPr bwMode="auto">
            <a:xfrm>
              <a:off x="7191375" y="5043488"/>
              <a:ext cx="774700" cy="174625"/>
            </a:xfrm>
            <a:prstGeom prst="line">
              <a:avLst/>
            </a:prstGeom>
            <a:noFill/>
            <a:ln w="25400">
              <a:solidFill>
                <a:srgbClr val="FF8086"/>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9756" name="Line 12"/>
            <p:cNvSpPr>
              <a:spLocks noChangeShapeType="1"/>
            </p:cNvSpPr>
            <p:nvPr/>
          </p:nvSpPr>
          <p:spPr bwMode="auto">
            <a:xfrm flipV="1">
              <a:off x="7966075" y="5043488"/>
              <a:ext cx="719138" cy="174625"/>
            </a:xfrm>
            <a:prstGeom prst="line">
              <a:avLst/>
            </a:prstGeom>
            <a:noFill/>
            <a:ln w="25400">
              <a:solidFill>
                <a:srgbClr val="FF8086"/>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159757" name="Line 13"/>
            <p:cNvSpPr>
              <a:spLocks noChangeShapeType="1"/>
            </p:cNvSpPr>
            <p:nvPr/>
          </p:nvSpPr>
          <p:spPr bwMode="auto">
            <a:xfrm>
              <a:off x="7165975" y="4937125"/>
              <a:ext cx="1519238" cy="0"/>
            </a:xfrm>
            <a:prstGeom prst="line">
              <a:avLst/>
            </a:prstGeom>
            <a:noFill/>
            <a:ln w="25400">
              <a:solidFill>
                <a:srgbClr val="FF8086"/>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en-US"/>
            </a:p>
          </p:txBody>
        </p:sp>
        <p:pic>
          <p:nvPicPr>
            <p:cNvPr id="159758"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62613" y="2640013"/>
              <a:ext cx="5207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59"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94450" y="2513013"/>
              <a:ext cx="519113"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60" name="Picture 1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48525" y="2640013"/>
              <a:ext cx="522288"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61" name="Picture 1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46588" y="4857750"/>
              <a:ext cx="519112"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62" name="Picture 1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16525" y="5119688"/>
              <a:ext cx="519113"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63" name="Picture 1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88050" y="4857750"/>
              <a:ext cx="519113"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64" name="Picture 2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59600" y="4857750"/>
              <a:ext cx="5207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65" name="Picture 2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86675" y="5119688"/>
              <a:ext cx="519113"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66" name="Picture 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32800" y="4857750"/>
              <a:ext cx="520700" cy="306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67" name="Picture 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16525" y="4089400"/>
              <a:ext cx="5191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68"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94450" y="3427413"/>
              <a:ext cx="5191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9769"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86675" y="4100513"/>
              <a:ext cx="5175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7610" name="Rectangle 26"/>
            <p:cNvSpPr>
              <a:spLocks noChangeArrowheads="1"/>
            </p:cNvSpPr>
            <p:nvPr/>
          </p:nvSpPr>
          <p:spPr bwMode="auto">
            <a:xfrm>
              <a:off x="6524625" y="3524250"/>
              <a:ext cx="2619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347663">
                <a:defRPr sz="2400">
                  <a:solidFill>
                    <a:schemeClr val="tx1"/>
                  </a:solidFill>
                  <a:latin typeface="Times New Roman" panose="02020603050405020304" pitchFamily="18" charset="0"/>
                </a:defRPr>
              </a:lvl1pPr>
              <a:lvl2pPr marL="273050" defTabSz="347663">
                <a:defRPr sz="2400">
                  <a:solidFill>
                    <a:schemeClr val="tx1"/>
                  </a:solidFill>
                  <a:latin typeface="Times New Roman" panose="02020603050405020304" pitchFamily="18" charset="0"/>
                </a:defRPr>
              </a:lvl2pPr>
              <a:lvl3pPr marL="544513" defTabSz="347663">
                <a:defRPr sz="2400">
                  <a:solidFill>
                    <a:schemeClr val="tx1"/>
                  </a:solidFill>
                  <a:latin typeface="Times New Roman" panose="02020603050405020304" pitchFamily="18" charset="0"/>
                </a:defRPr>
              </a:lvl3pPr>
              <a:lvl4pPr marL="817563" defTabSz="347663">
                <a:defRPr sz="2400">
                  <a:solidFill>
                    <a:schemeClr val="tx1"/>
                  </a:solidFill>
                  <a:latin typeface="Times New Roman" panose="02020603050405020304" pitchFamily="18" charset="0"/>
                </a:defRPr>
              </a:lvl4pPr>
              <a:lvl5pPr marL="1092200" defTabSz="347663">
                <a:defRPr sz="2400">
                  <a:solidFill>
                    <a:schemeClr val="tx1"/>
                  </a:solidFill>
                  <a:latin typeface="Times New Roman" panose="02020603050405020304" pitchFamily="18" charset="0"/>
                </a:defRPr>
              </a:lvl5pPr>
              <a:lvl6pPr marL="1549400" defTabSz="347663" eaLnBrk="0" fontAlgn="base" hangingPunct="0">
                <a:spcBef>
                  <a:spcPct val="0"/>
                </a:spcBef>
                <a:spcAft>
                  <a:spcPct val="0"/>
                </a:spcAft>
                <a:defRPr sz="2400">
                  <a:solidFill>
                    <a:schemeClr val="tx1"/>
                  </a:solidFill>
                  <a:latin typeface="Times New Roman" panose="02020603050405020304" pitchFamily="18" charset="0"/>
                </a:defRPr>
              </a:lvl6pPr>
              <a:lvl7pPr marL="2006600" defTabSz="347663" eaLnBrk="0" fontAlgn="base" hangingPunct="0">
                <a:spcBef>
                  <a:spcPct val="0"/>
                </a:spcBef>
                <a:spcAft>
                  <a:spcPct val="0"/>
                </a:spcAft>
                <a:defRPr sz="2400">
                  <a:solidFill>
                    <a:schemeClr val="tx1"/>
                  </a:solidFill>
                  <a:latin typeface="Times New Roman" panose="02020603050405020304" pitchFamily="18" charset="0"/>
                </a:defRPr>
              </a:lvl7pPr>
              <a:lvl8pPr marL="2463800" defTabSz="347663" eaLnBrk="0" fontAlgn="base" hangingPunct="0">
                <a:spcBef>
                  <a:spcPct val="0"/>
                </a:spcBef>
                <a:spcAft>
                  <a:spcPct val="0"/>
                </a:spcAft>
                <a:defRPr sz="2400">
                  <a:solidFill>
                    <a:schemeClr val="tx1"/>
                  </a:solidFill>
                  <a:latin typeface="Times New Roman" panose="02020603050405020304" pitchFamily="18" charset="0"/>
                </a:defRPr>
              </a:lvl8pPr>
              <a:lvl9pPr marL="2921000" defTabSz="347663"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600" smtClean="0">
                  <a:solidFill>
                    <a:schemeClr val="tx2"/>
                  </a:solidFill>
                  <a:effectLst>
                    <a:outerShdw blurRad="38100" dist="38100" dir="2700000" algn="tl">
                      <a:srgbClr val="C0C0C0"/>
                    </a:outerShdw>
                  </a:effectLst>
                  <a:latin typeface="Arial" panose="020B0604020202020204" pitchFamily="34" charset="0"/>
                </a:rPr>
                <a:t>A</a:t>
              </a:r>
            </a:p>
          </p:txBody>
        </p:sp>
        <p:sp>
          <p:nvSpPr>
            <p:cNvPr id="707611" name="Rectangle 27"/>
            <p:cNvSpPr>
              <a:spLocks noChangeArrowheads="1"/>
            </p:cNvSpPr>
            <p:nvPr/>
          </p:nvSpPr>
          <p:spPr bwMode="auto">
            <a:xfrm>
              <a:off x="5345113" y="4205288"/>
              <a:ext cx="2651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347663">
                <a:defRPr sz="2400">
                  <a:solidFill>
                    <a:schemeClr val="tx1"/>
                  </a:solidFill>
                  <a:latin typeface="Times New Roman" panose="02020603050405020304" pitchFamily="18" charset="0"/>
                </a:defRPr>
              </a:lvl1pPr>
              <a:lvl2pPr marL="273050" defTabSz="347663">
                <a:defRPr sz="2400">
                  <a:solidFill>
                    <a:schemeClr val="tx1"/>
                  </a:solidFill>
                  <a:latin typeface="Times New Roman" panose="02020603050405020304" pitchFamily="18" charset="0"/>
                </a:defRPr>
              </a:lvl2pPr>
              <a:lvl3pPr marL="544513" defTabSz="347663">
                <a:defRPr sz="2400">
                  <a:solidFill>
                    <a:schemeClr val="tx1"/>
                  </a:solidFill>
                  <a:latin typeface="Times New Roman" panose="02020603050405020304" pitchFamily="18" charset="0"/>
                </a:defRPr>
              </a:lvl3pPr>
              <a:lvl4pPr marL="817563" defTabSz="347663">
                <a:defRPr sz="2400">
                  <a:solidFill>
                    <a:schemeClr val="tx1"/>
                  </a:solidFill>
                  <a:latin typeface="Times New Roman" panose="02020603050405020304" pitchFamily="18" charset="0"/>
                </a:defRPr>
              </a:lvl4pPr>
              <a:lvl5pPr marL="1092200" defTabSz="347663">
                <a:defRPr sz="2400">
                  <a:solidFill>
                    <a:schemeClr val="tx1"/>
                  </a:solidFill>
                  <a:latin typeface="Times New Roman" panose="02020603050405020304" pitchFamily="18" charset="0"/>
                </a:defRPr>
              </a:lvl5pPr>
              <a:lvl6pPr marL="1549400" defTabSz="347663" eaLnBrk="0" fontAlgn="base" hangingPunct="0">
                <a:spcBef>
                  <a:spcPct val="0"/>
                </a:spcBef>
                <a:spcAft>
                  <a:spcPct val="0"/>
                </a:spcAft>
                <a:defRPr sz="2400">
                  <a:solidFill>
                    <a:schemeClr val="tx1"/>
                  </a:solidFill>
                  <a:latin typeface="Times New Roman" panose="02020603050405020304" pitchFamily="18" charset="0"/>
                </a:defRPr>
              </a:lvl6pPr>
              <a:lvl7pPr marL="2006600" defTabSz="347663" eaLnBrk="0" fontAlgn="base" hangingPunct="0">
                <a:spcBef>
                  <a:spcPct val="0"/>
                </a:spcBef>
                <a:spcAft>
                  <a:spcPct val="0"/>
                </a:spcAft>
                <a:defRPr sz="2400">
                  <a:solidFill>
                    <a:schemeClr val="tx1"/>
                  </a:solidFill>
                  <a:latin typeface="Times New Roman" panose="02020603050405020304" pitchFamily="18" charset="0"/>
                </a:defRPr>
              </a:lvl7pPr>
              <a:lvl8pPr marL="2463800" defTabSz="347663" eaLnBrk="0" fontAlgn="base" hangingPunct="0">
                <a:spcBef>
                  <a:spcPct val="0"/>
                </a:spcBef>
                <a:spcAft>
                  <a:spcPct val="0"/>
                </a:spcAft>
                <a:defRPr sz="2400">
                  <a:solidFill>
                    <a:schemeClr val="tx1"/>
                  </a:solidFill>
                  <a:latin typeface="Times New Roman" panose="02020603050405020304" pitchFamily="18" charset="0"/>
                </a:defRPr>
              </a:lvl8pPr>
              <a:lvl9pPr marL="2921000" defTabSz="347663"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600" smtClean="0">
                  <a:solidFill>
                    <a:schemeClr val="tx2"/>
                  </a:solidFill>
                  <a:effectLst>
                    <a:outerShdw blurRad="38100" dist="38100" dir="2700000" algn="tl">
                      <a:srgbClr val="C0C0C0"/>
                    </a:outerShdw>
                  </a:effectLst>
                  <a:latin typeface="Arial" panose="020B0604020202020204" pitchFamily="34" charset="0"/>
                </a:rPr>
                <a:t>B</a:t>
              </a:r>
            </a:p>
          </p:txBody>
        </p:sp>
        <p:sp>
          <p:nvSpPr>
            <p:cNvPr id="707612" name="Rectangle 28"/>
            <p:cNvSpPr>
              <a:spLocks noChangeArrowheads="1"/>
            </p:cNvSpPr>
            <p:nvPr/>
          </p:nvSpPr>
          <p:spPr bwMode="auto">
            <a:xfrm>
              <a:off x="7812088" y="4205288"/>
              <a:ext cx="2667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347663">
                <a:defRPr sz="2400">
                  <a:solidFill>
                    <a:schemeClr val="tx1"/>
                  </a:solidFill>
                  <a:latin typeface="Times New Roman" panose="02020603050405020304" pitchFamily="18" charset="0"/>
                </a:defRPr>
              </a:lvl1pPr>
              <a:lvl2pPr marL="273050" defTabSz="347663">
                <a:defRPr sz="2400">
                  <a:solidFill>
                    <a:schemeClr val="tx1"/>
                  </a:solidFill>
                  <a:latin typeface="Times New Roman" panose="02020603050405020304" pitchFamily="18" charset="0"/>
                </a:defRPr>
              </a:lvl2pPr>
              <a:lvl3pPr marL="544513" defTabSz="347663">
                <a:defRPr sz="2400">
                  <a:solidFill>
                    <a:schemeClr val="tx1"/>
                  </a:solidFill>
                  <a:latin typeface="Times New Roman" panose="02020603050405020304" pitchFamily="18" charset="0"/>
                </a:defRPr>
              </a:lvl3pPr>
              <a:lvl4pPr marL="817563" defTabSz="347663">
                <a:defRPr sz="2400">
                  <a:solidFill>
                    <a:schemeClr val="tx1"/>
                  </a:solidFill>
                  <a:latin typeface="Times New Roman" panose="02020603050405020304" pitchFamily="18" charset="0"/>
                </a:defRPr>
              </a:lvl4pPr>
              <a:lvl5pPr marL="1092200" defTabSz="347663">
                <a:defRPr sz="2400">
                  <a:solidFill>
                    <a:schemeClr val="tx1"/>
                  </a:solidFill>
                  <a:latin typeface="Times New Roman" panose="02020603050405020304" pitchFamily="18" charset="0"/>
                </a:defRPr>
              </a:lvl5pPr>
              <a:lvl6pPr marL="1549400" defTabSz="347663" eaLnBrk="0" fontAlgn="base" hangingPunct="0">
                <a:spcBef>
                  <a:spcPct val="0"/>
                </a:spcBef>
                <a:spcAft>
                  <a:spcPct val="0"/>
                </a:spcAft>
                <a:defRPr sz="2400">
                  <a:solidFill>
                    <a:schemeClr val="tx1"/>
                  </a:solidFill>
                  <a:latin typeface="Times New Roman" panose="02020603050405020304" pitchFamily="18" charset="0"/>
                </a:defRPr>
              </a:lvl6pPr>
              <a:lvl7pPr marL="2006600" defTabSz="347663" eaLnBrk="0" fontAlgn="base" hangingPunct="0">
                <a:spcBef>
                  <a:spcPct val="0"/>
                </a:spcBef>
                <a:spcAft>
                  <a:spcPct val="0"/>
                </a:spcAft>
                <a:defRPr sz="2400">
                  <a:solidFill>
                    <a:schemeClr val="tx1"/>
                  </a:solidFill>
                  <a:latin typeface="Times New Roman" panose="02020603050405020304" pitchFamily="18" charset="0"/>
                </a:defRPr>
              </a:lvl7pPr>
              <a:lvl8pPr marL="2463800" defTabSz="347663" eaLnBrk="0" fontAlgn="base" hangingPunct="0">
                <a:spcBef>
                  <a:spcPct val="0"/>
                </a:spcBef>
                <a:spcAft>
                  <a:spcPct val="0"/>
                </a:spcAft>
                <a:defRPr sz="2400">
                  <a:solidFill>
                    <a:schemeClr val="tx1"/>
                  </a:solidFill>
                  <a:latin typeface="Times New Roman" panose="02020603050405020304" pitchFamily="18" charset="0"/>
                </a:defRPr>
              </a:lvl8pPr>
              <a:lvl9pPr marL="2921000" defTabSz="347663"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defRPr/>
              </a:pPr>
              <a:r>
                <a:rPr lang="en-GB" altLang="en-US" sz="1600" smtClean="0">
                  <a:solidFill>
                    <a:schemeClr val="tx2"/>
                  </a:solidFill>
                  <a:effectLst>
                    <a:outerShdw blurRad="38100" dist="38100" dir="2700000" algn="tl">
                      <a:srgbClr val="C0C0C0"/>
                    </a:outerShdw>
                  </a:effectLst>
                  <a:latin typeface="Arial" panose="020B0604020202020204" pitchFamily="34" charset="0"/>
                </a:rPr>
                <a:t>C</a:t>
              </a:r>
            </a:p>
          </p:txBody>
        </p:sp>
        <p:sp>
          <p:nvSpPr>
            <p:cNvPr id="159773" name="Rectangle 29"/>
            <p:cNvSpPr>
              <a:spLocks noChangeArrowheads="1"/>
            </p:cNvSpPr>
            <p:nvPr/>
          </p:nvSpPr>
          <p:spPr bwMode="auto">
            <a:xfrm>
              <a:off x="6103938" y="1852613"/>
              <a:ext cx="106362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476" tIns="54239" rIns="108476" bIns="54239">
              <a:spAutoFit/>
            </a:bodyPr>
            <a:lstStyle>
              <a:lvl1pPr defTabSz="10763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1076325">
                <a:spcBef>
                  <a:spcPct val="20000"/>
                </a:spcBef>
                <a:buChar char="–"/>
                <a:defRPr sz="2800">
                  <a:solidFill>
                    <a:schemeClr val="tx1"/>
                  </a:solidFill>
                  <a:latin typeface="Arial" panose="020B0604020202020204" pitchFamily="34" charset="0"/>
                </a:defRPr>
              </a:lvl2pPr>
              <a:lvl3pPr marL="1143000" indent="-228600" defTabSz="1076325">
                <a:spcBef>
                  <a:spcPct val="20000"/>
                </a:spcBef>
                <a:buChar char="•"/>
                <a:defRPr sz="2400">
                  <a:solidFill>
                    <a:schemeClr val="tx1"/>
                  </a:solidFill>
                  <a:latin typeface="Arial" panose="020B0604020202020204" pitchFamily="34" charset="0"/>
                </a:defRPr>
              </a:lvl3pPr>
              <a:lvl4pPr marL="1600200" indent="-228600" defTabSz="1076325">
                <a:spcBef>
                  <a:spcPct val="20000"/>
                </a:spcBef>
                <a:buChar char="–"/>
                <a:defRPr sz="2000">
                  <a:solidFill>
                    <a:schemeClr val="tx1"/>
                  </a:solidFill>
                  <a:latin typeface="Arial" panose="020B0604020202020204" pitchFamily="34" charset="0"/>
                </a:defRPr>
              </a:lvl4pPr>
              <a:lvl5pPr marL="2057400" indent="-228600" defTabSz="1076325">
                <a:spcBef>
                  <a:spcPct val="20000"/>
                </a:spcBef>
                <a:buChar char="»"/>
                <a:defRPr sz="2000">
                  <a:solidFill>
                    <a:schemeClr val="tx1"/>
                  </a:solidFill>
                  <a:latin typeface="Arial" panose="020B0604020202020204" pitchFamily="34" charset="0"/>
                </a:defRPr>
              </a:lvl5pPr>
              <a:lvl6pPr marL="25146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2100"/>
                <a:t>Clients</a:t>
              </a:r>
            </a:p>
          </p:txBody>
        </p:sp>
        <p:sp>
          <p:nvSpPr>
            <p:cNvPr id="159774" name="Rectangle 30"/>
            <p:cNvSpPr>
              <a:spLocks noChangeArrowheads="1"/>
            </p:cNvSpPr>
            <p:nvPr/>
          </p:nvSpPr>
          <p:spPr bwMode="auto">
            <a:xfrm>
              <a:off x="7391400" y="3200400"/>
              <a:ext cx="151765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8476" tIns="54239" rIns="108476" bIns="54239">
              <a:spAutoFit/>
            </a:bodyPr>
            <a:lstStyle>
              <a:lvl1pPr defTabSz="1076325">
                <a:spcBef>
                  <a:spcPct val="20000"/>
                </a:spcBef>
                <a:buClr>
                  <a:schemeClr val="accent1"/>
                </a:buClr>
                <a:buSzPct val="80000"/>
                <a:buFont typeface="Wingdings" panose="05000000000000000000" pitchFamily="2" charset="2"/>
                <a:buChar char="n"/>
                <a:defRPr sz="3200">
                  <a:solidFill>
                    <a:schemeClr val="tx1"/>
                  </a:solidFill>
                  <a:latin typeface="Arial" panose="020B0604020202020204" pitchFamily="34" charset="0"/>
                </a:defRPr>
              </a:lvl1pPr>
              <a:lvl2pPr marL="742950" indent="-285750" defTabSz="1076325">
                <a:spcBef>
                  <a:spcPct val="20000"/>
                </a:spcBef>
                <a:buChar char="–"/>
                <a:defRPr sz="2800">
                  <a:solidFill>
                    <a:schemeClr val="tx1"/>
                  </a:solidFill>
                  <a:latin typeface="Arial" panose="020B0604020202020204" pitchFamily="34" charset="0"/>
                </a:defRPr>
              </a:lvl2pPr>
              <a:lvl3pPr marL="1143000" indent="-228600" defTabSz="1076325">
                <a:spcBef>
                  <a:spcPct val="20000"/>
                </a:spcBef>
                <a:buChar char="•"/>
                <a:defRPr sz="2400">
                  <a:solidFill>
                    <a:schemeClr val="tx1"/>
                  </a:solidFill>
                  <a:latin typeface="Arial" panose="020B0604020202020204" pitchFamily="34" charset="0"/>
                </a:defRPr>
              </a:lvl3pPr>
              <a:lvl4pPr marL="1600200" indent="-228600" defTabSz="1076325">
                <a:spcBef>
                  <a:spcPct val="20000"/>
                </a:spcBef>
                <a:buChar char="–"/>
                <a:defRPr sz="2000">
                  <a:solidFill>
                    <a:schemeClr val="tx1"/>
                  </a:solidFill>
                  <a:latin typeface="Arial" panose="020B0604020202020204" pitchFamily="34" charset="0"/>
                </a:defRPr>
              </a:lvl4pPr>
              <a:lvl5pPr marL="2057400" indent="-228600" defTabSz="1076325">
                <a:spcBef>
                  <a:spcPct val="20000"/>
                </a:spcBef>
                <a:buChar char="»"/>
                <a:defRPr sz="2000">
                  <a:solidFill>
                    <a:schemeClr val="tx1"/>
                  </a:solidFill>
                  <a:latin typeface="Arial" panose="020B0604020202020204" pitchFamily="34" charset="0"/>
                </a:defRPr>
              </a:lvl5pPr>
              <a:lvl6pPr marL="25146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1076325"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SzTx/>
                <a:buFontTx/>
                <a:buNone/>
              </a:pPr>
              <a:r>
                <a:rPr lang="en-GB" altLang="en-US" sz="2100"/>
                <a:t>Reflectors</a:t>
              </a:r>
            </a:p>
          </p:txBody>
        </p:sp>
        <p:sp>
          <p:nvSpPr>
            <p:cNvPr id="159775" name="Arc 31"/>
            <p:cNvSpPr>
              <a:spLocks/>
            </p:cNvSpPr>
            <p:nvPr/>
          </p:nvSpPr>
          <p:spPr bwMode="auto">
            <a:xfrm>
              <a:off x="5865813" y="2138363"/>
              <a:ext cx="258762" cy="427037"/>
            </a:xfrm>
            <a:custGeom>
              <a:avLst/>
              <a:gdLst>
                <a:gd name="T0" fmla="*/ 0 w 21600"/>
                <a:gd name="T1" fmla="*/ 8443011 h 21599"/>
                <a:gd name="T2" fmla="*/ 3078369 w 21600"/>
                <a:gd name="T3" fmla="*/ 0 h 21599"/>
                <a:gd name="T4" fmla="*/ 3099897 w 21600"/>
                <a:gd name="T5" fmla="*/ 8443011 h 21599"/>
                <a:gd name="T6" fmla="*/ 0 60000 65536"/>
                <a:gd name="T7" fmla="*/ 0 60000 65536"/>
                <a:gd name="T8" fmla="*/ 0 60000 65536"/>
              </a:gdLst>
              <a:ahLst/>
              <a:cxnLst>
                <a:cxn ang="T6">
                  <a:pos x="T0" y="T1"/>
                </a:cxn>
                <a:cxn ang="T7">
                  <a:pos x="T2" y="T3"/>
                </a:cxn>
                <a:cxn ang="T8">
                  <a:pos x="T4" y="T5"/>
                </a:cxn>
              </a:cxnLst>
              <a:rect l="0" t="0" r="r" b="b"/>
              <a:pathLst>
                <a:path w="21600" h="21599" fill="none" extrusionOk="0">
                  <a:moveTo>
                    <a:pt x="0" y="21599"/>
                  </a:moveTo>
                  <a:cubicBezTo>
                    <a:pt x="0" y="9728"/>
                    <a:pt x="9579" y="81"/>
                    <a:pt x="21449" y="-1"/>
                  </a:cubicBezTo>
                </a:path>
                <a:path w="21600" h="21599" stroke="0" extrusionOk="0">
                  <a:moveTo>
                    <a:pt x="0" y="21599"/>
                  </a:moveTo>
                  <a:cubicBezTo>
                    <a:pt x="0" y="9728"/>
                    <a:pt x="9579" y="81"/>
                    <a:pt x="21449" y="-1"/>
                  </a:cubicBezTo>
                  <a:lnTo>
                    <a:pt x="21600" y="21599"/>
                  </a:lnTo>
                  <a:lnTo>
                    <a:pt x="0" y="21599"/>
                  </a:lnTo>
                  <a:close/>
                </a:path>
              </a:pathLst>
            </a:custGeom>
            <a:noFill/>
            <a:ln w="1270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9776" name="Arc 32"/>
            <p:cNvSpPr>
              <a:spLocks/>
            </p:cNvSpPr>
            <p:nvPr/>
          </p:nvSpPr>
          <p:spPr bwMode="auto">
            <a:xfrm>
              <a:off x="7150100" y="2138363"/>
              <a:ext cx="344488" cy="427037"/>
            </a:xfrm>
            <a:custGeom>
              <a:avLst/>
              <a:gdLst>
                <a:gd name="T0" fmla="*/ 0 w 21712"/>
                <a:gd name="T1" fmla="*/ 0 h 21600"/>
                <a:gd name="T2" fmla="*/ 5465732 w 21712"/>
                <a:gd name="T3" fmla="*/ 8442620 h 21600"/>
                <a:gd name="T4" fmla="*/ 28194 w 21712"/>
                <a:gd name="T5" fmla="*/ 8442620 h 21600"/>
                <a:gd name="T6" fmla="*/ 0 60000 65536"/>
                <a:gd name="T7" fmla="*/ 0 60000 65536"/>
                <a:gd name="T8" fmla="*/ 0 60000 65536"/>
              </a:gdLst>
              <a:ahLst/>
              <a:cxnLst>
                <a:cxn ang="T6">
                  <a:pos x="T0" y="T1"/>
                </a:cxn>
                <a:cxn ang="T7">
                  <a:pos x="T2" y="T3"/>
                </a:cxn>
                <a:cxn ang="T8">
                  <a:pos x="T4" y="T5"/>
                </a:cxn>
              </a:cxnLst>
              <a:rect l="0" t="0" r="r" b="b"/>
              <a:pathLst>
                <a:path w="21712" h="21600" fill="none" extrusionOk="0">
                  <a:moveTo>
                    <a:pt x="0" y="0"/>
                  </a:moveTo>
                  <a:cubicBezTo>
                    <a:pt x="37" y="0"/>
                    <a:pt x="74" y="0"/>
                    <a:pt x="112" y="0"/>
                  </a:cubicBezTo>
                  <a:cubicBezTo>
                    <a:pt x="12041" y="0"/>
                    <a:pt x="21712" y="9670"/>
                    <a:pt x="21712" y="21600"/>
                  </a:cubicBezTo>
                </a:path>
                <a:path w="21712" h="21600" stroke="0" extrusionOk="0">
                  <a:moveTo>
                    <a:pt x="0" y="0"/>
                  </a:moveTo>
                  <a:cubicBezTo>
                    <a:pt x="37" y="0"/>
                    <a:pt x="74" y="0"/>
                    <a:pt x="112" y="0"/>
                  </a:cubicBezTo>
                  <a:cubicBezTo>
                    <a:pt x="12041" y="0"/>
                    <a:pt x="21712" y="9670"/>
                    <a:pt x="21712" y="21600"/>
                  </a:cubicBezTo>
                  <a:lnTo>
                    <a:pt x="112" y="21600"/>
                  </a:lnTo>
                  <a:lnTo>
                    <a:pt x="0" y="0"/>
                  </a:lnTo>
                  <a:close/>
                </a:path>
              </a:pathLst>
            </a:custGeom>
            <a:noFill/>
            <a:ln w="12700" cap="rnd">
              <a:solidFill>
                <a:schemeClr val="accent2"/>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9777" name="Line 33"/>
            <p:cNvSpPr>
              <a:spLocks noChangeShapeType="1"/>
            </p:cNvSpPr>
            <p:nvPr/>
          </p:nvSpPr>
          <p:spPr bwMode="auto">
            <a:xfrm>
              <a:off x="6635750" y="2222500"/>
              <a:ext cx="0" cy="255588"/>
            </a:xfrm>
            <a:prstGeom prst="line">
              <a:avLst/>
            </a:prstGeom>
            <a:noFill/>
            <a:ln w="12700">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9778" name="Line 34"/>
            <p:cNvSpPr>
              <a:spLocks noChangeShapeType="1"/>
            </p:cNvSpPr>
            <p:nvPr/>
          </p:nvSpPr>
          <p:spPr bwMode="auto">
            <a:xfrm flipH="1">
              <a:off x="8091488" y="3592513"/>
              <a:ext cx="87312" cy="428625"/>
            </a:xfrm>
            <a:prstGeom prst="line">
              <a:avLst/>
            </a:prstGeom>
            <a:noFill/>
            <a:ln w="12700">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9779" name="Line 35"/>
            <p:cNvSpPr>
              <a:spLocks noChangeShapeType="1"/>
            </p:cNvSpPr>
            <p:nvPr/>
          </p:nvSpPr>
          <p:spPr bwMode="auto">
            <a:xfrm flipH="1">
              <a:off x="5864225" y="3592513"/>
              <a:ext cx="2055813" cy="600075"/>
            </a:xfrm>
            <a:prstGeom prst="line">
              <a:avLst/>
            </a:prstGeom>
            <a:noFill/>
            <a:ln w="12700">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9780" name="Line 36"/>
            <p:cNvSpPr>
              <a:spLocks noChangeShapeType="1"/>
            </p:cNvSpPr>
            <p:nvPr/>
          </p:nvSpPr>
          <p:spPr bwMode="auto">
            <a:xfrm flipH="1">
              <a:off x="7064375" y="3421063"/>
              <a:ext cx="428625" cy="85725"/>
            </a:xfrm>
            <a:prstGeom prst="line">
              <a:avLst/>
            </a:prstGeom>
            <a:noFill/>
            <a:ln w="12700">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9781" name="Rectangle 37"/>
          <p:cNvSpPr>
            <a:spLocks noGrp="1" noChangeArrowheads="1"/>
          </p:cNvSpPr>
          <p:nvPr>
            <p:ph type="body" idx="1"/>
          </p:nvPr>
        </p:nvSpPr>
        <p:spPr>
          <a:xfrm>
            <a:off x="269082" y="1203325"/>
            <a:ext cx="4191000" cy="4419600"/>
          </a:xfrm>
        </p:spPr>
        <p:txBody>
          <a:bodyPr/>
          <a:lstStyle/>
          <a:p>
            <a:r>
              <a:rPr lang="en-GB" altLang="en-US" sz="2400" dirty="0" smtClean="0"/>
              <a:t>Reflector receives path from </a:t>
            </a:r>
            <a:br>
              <a:rPr lang="en-GB" altLang="en-US" sz="2400" dirty="0" smtClean="0"/>
            </a:br>
            <a:r>
              <a:rPr lang="en-GB" altLang="en-US" sz="2400" dirty="0" smtClean="0"/>
              <a:t>clients and non-clients</a:t>
            </a:r>
          </a:p>
          <a:p>
            <a:r>
              <a:rPr lang="en-GB" altLang="en-US" sz="2400" dirty="0" smtClean="0"/>
              <a:t>Selects best path</a:t>
            </a:r>
          </a:p>
          <a:p>
            <a:r>
              <a:rPr lang="en-GB" altLang="en-US" sz="2400" dirty="0" smtClean="0"/>
              <a:t>If best path is from </a:t>
            </a:r>
            <a:br>
              <a:rPr lang="en-GB" altLang="en-US" sz="2400" dirty="0" smtClean="0"/>
            </a:br>
            <a:r>
              <a:rPr lang="en-GB" altLang="en-US" sz="2400" dirty="0" smtClean="0"/>
              <a:t>client, reflect to other clients and non-clients</a:t>
            </a:r>
          </a:p>
          <a:p>
            <a:r>
              <a:rPr lang="en-GB" altLang="en-US" sz="2400" dirty="0" smtClean="0"/>
              <a:t>If best path is from </a:t>
            </a:r>
            <a:br>
              <a:rPr lang="en-GB" altLang="en-US" sz="2400" dirty="0" smtClean="0"/>
            </a:br>
            <a:r>
              <a:rPr lang="en-GB" altLang="en-US" sz="2400" dirty="0" smtClean="0"/>
              <a:t>non-client, reflect to clients only</a:t>
            </a:r>
          </a:p>
          <a:p>
            <a:r>
              <a:rPr lang="en-GB" altLang="en-US" sz="2400" dirty="0" smtClean="0"/>
              <a:t>Non-meshed clients</a:t>
            </a:r>
          </a:p>
          <a:p>
            <a:r>
              <a:rPr lang="en-GB" altLang="en-US" sz="2400" dirty="0" smtClean="0"/>
              <a:t>Described in RFC2796</a:t>
            </a:r>
            <a:endParaRPr lang="en-GB" altLang="en-US" sz="3600"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90</a:t>
            </a:fld>
            <a:endParaRPr lang="en-US" dirty="0"/>
          </a:p>
        </p:txBody>
      </p:sp>
    </p:spTree>
    <p:extLst>
      <p:ext uri="{BB962C8B-B14F-4D97-AF65-F5344CB8AC3E}">
        <p14:creationId xmlns:p14="http://schemas.microsoft.com/office/powerpoint/2010/main" val="2994003026"/>
      </p:ext>
    </p:extLst>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noFill/>
        </p:spPr>
        <p:txBody>
          <a:bodyPr lIns="86034" tIns="43016" rIns="86034" bIns="43016"/>
          <a:lstStyle/>
          <a:p>
            <a:pPr algn="ctr"/>
            <a:r>
              <a:rPr lang="en-GB" altLang="en-US" dirty="0" smtClean="0"/>
              <a:t>Route Reflector Topology</a:t>
            </a:r>
          </a:p>
        </p:txBody>
      </p:sp>
      <p:sp>
        <p:nvSpPr>
          <p:cNvPr id="161795" name="Rectangle 3"/>
          <p:cNvSpPr>
            <a:spLocks noGrp="1" noChangeArrowheads="1"/>
          </p:cNvSpPr>
          <p:nvPr>
            <p:ph type="body" idx="1"/>
          </p:nvPr>
        </p:nvSpPr>
        <p:spPr>
          <a:xfrm>
            <a:off x="481889" y="1371600"/>
            <a:ext cx="8688387" cy="3571875"/>
          </a:xfrm>
          <a:noFill/>
        </p:spPr>
        <p:txBody>
          <a:bodyPr lIns="86034" tIns="43016" rIns="86034" bIns="43016"/>
          <a:lstStyle/>
          <a:p>
            <a:pPr>
              <a:lnSpc>
                <a:spcPct val="85000"/>
              </a:lnSpc>
            </a:pPr>
            <a:r>
              <a:rPr lang="en-GB" altLang="en-US" dirty="0" smtClean="0"/>
              <a:t>Divide the backbone into multiple clusters</a:t>
            </a:r>
          </a:p>
          <a:p>
            <a:pPr>
              <a:lnSpc>
                <a:spcPct val="85000"/>
              </a:lnSpc>
            </a:pPr>
            <a:r>
              <a:rPr lang="en-GB" altLang="en-US" dirty="0" smtClean="0"/>
              <a:t>At least one route reflector and few clients  per cluster</a:t>
            </a:r>
          </a:p>
          <a:p>
            <a:pPr>
              <a:lnSpc>
                <a:spcPct val="85000"/>
              </a:lnSpc>
            </a:pPr>
            <a:r>
              <a:rPr lang="en-GB" altLang="en-US" dirty="0" smtClean="0"/>
              <a:t>Route reflectors are fully meshed</a:t>
            </a:r>
          </a:p>
          <a:p>
            <a:pPr>
              <a:lnSpc>
                <a:spcPct val="85000"/>
              </a:lnSpc>
            </a:pPr>
            <a:r>
              <a:rPr lang="en-GB" altLang="en-US" dirty="0" smtClean="0"/>
              <a:t>Clients in a cluster could be fully meshed</a:t>
            </a:r>
          </a:p>
          <a:p>
            <a:pPr>
              <a:lnSpc>
                <a:spcPct val="85000"/>
              </a:lnSpc>
            </a:pPr>
            <a:r>
              <a:rPr lang="en-GB" altLang="en-US" dirty="0" smtClean="0"/>
              <a:t>Single IGP to carry next hop and local routes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91</a:t>
            </a:fld>
            <a:endParaRPr lang="en-US" dirty="0"/>
          </a:p>
        </p:txBody>
      </p:sp>
    </p:spTree>
    <p:extLst>
      <p:ext uri="{BB962C8B-B14F-4D97-AF65-F5344CB8AC3E}">
        <p14:creationId xmlns:p14="http://schemas.microsoft.com/office/powerpoint/2010/main" val="1373837248"/>
      </p:ext>
    </p:extLst>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Route Reflector: Benefits</a:t>
            </a:r>
          </a:p>
        </p:txBody>
      </p:sp>
      <p:sp>
        <p:nvSpPr>
          <p:cNvPr id="167939" name="Rectangle 3"/>
          <p:cNvSpPr>
            <a:spLocks noGrp="1" noChangeArrowheads="1"/>
          </p:cNvSpPr>
          <p:nvPr>
            <p:ph type="body" idx="1"/>
          </p:nvPr>
        </p:nvSpPr>
        <p:spPr>
          <a:noFill/>
        </p:spPr>
        <p:txBody>
          <a:bodyPr lIns="86034" tIns="43016" rIns="86034" bIns="43016"/>
          <a:lstStyle/>
          <a:p>
            <a:pPr>
              <a:lnSpc>
                <a:spcPct val="85000"/>
              </a:lnSpc>
            </a:pPr>
            <a:r>
              <a:rPr lang="en-GB" altLang="en-US" dirty="0" smtClean="0"/>
              <a:t>Solves </a:t>
            </a:r>
            <a:r>
              <a:rPr lang="en-GB" altLang="en-US" dirty="0" err="1" smtClean="0"/>
              <a:t>iBGP</a:t>
            </a:r>
            <a:r>
              <a:rPr lang="en-GB" altLang="en-US" dirty="0" smtClean="0"/>
              <a:t> mesh problem</a:t>
            </a:r>
          </a:p>
          <a:p>
            <a:pPr>
              <a:lnSpc>
                <a:spcPct val="85000"/>
              </a:lnSpc>
            </a:pPr>
            <a:r>
              <a:rPr lang="en-GB" altLang="en-US" dirty="0" smtClean="0"/>
              <a:t>Packet forwarding is not affected</a:t>
            </a:r>
          </a:p>
          <a:p>
            <a:pPr>
              <a:lnSpc>
                <a:spcPct val="85000"/>
              </a:lnSpc>
            </a:pPr>
            <a:r>
              <a:rPr lang="en-GB" altLang="en-US" dirty="0" smtClean="0"/>
              <a:t>Normal BGP speakers co-exist</a:t>
            </a:r>
          </a:p>
          <a:p>
            <a:pPr>
              <a:lnSpc>
                <a:spcPct val="85000"/>
              </a:lnSpc>
            </a:pPr>
            <a:r>
              <a:rPr lang="en-GB" altLang="en-US" dirty="0" smtClean="0"/>
              <a:t>Multiple reflectors for redundancy</a:t>
            </a:r>
          </a:p>
          <a:p>
            <a:pPr>
              <a:lnSpc>
                <a:spcPct val="85000"/>
              </a:lnSpc>
            </a:pPr>
            <a:r>
              <a:rPr lang="en-GB" altLang="en-US" dirty="0" smtClean="0"/>
              <a:t>Easy migration</a:t>
            </a:r>
          </a:p>
          <a:p>
            <a:pPr>
              <a:lnSpc>
                <a:spcPct val="85000"/>
              </a:lnSpc>
            </a:pPr>
            <a:r>
              <a:rPr lang="en-GB" altLang="en-US" dirty="0" smtClean="0"/>
              <a:t>Multiple levels of route reflectors</a:t>
            </a:r>
          </a:p>
        </p:txBody>
      </p:sp>
      <p:sp>
        <p:nvSpPr>
          <p:cNvPr id="2" name="Slide Number Placeholder 1"/>
          <p:cNvSpPr>
            <a:spLocks noGrp="1"/>
          </p:cNvSpPr>
          <p:nvPr>
            <p:ph type="sldNum" sz="quarter" idx="10"/>
          </p:nvPr>
        </p:nvSpPr>
        <p:spPr/>
        <p:txBody>
          <a:bodyPr/>
          <a:lstStyle/>
          <a:p>
            <a:fld id="{1C0FA7A3-0FBF-4EC3-BE45-825983E95E58}" type="slidenum">
              <a:rPr lang="en-US" smtClean="0"/>
              <a:pPr/>
              <a:t>92</a:t>
            </a:fld>
            <a:endParaRPr lang="en-US" dirty="0"/>
          </a:p>
        </p:txBody>
      </p:sp>
    </p:spTree>
    <p:extLst>
      <p:ext uri="{BB962C8B-B14F-4D97-AF65-F5344CB8AC3E}">
        <p14:creationId xmlns:p14="http://schemas.microsoft.com/office/powerpoint/2010/main" val="2644792454"/>
      </p:ext>
    </p:extLst>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0"/>
          </p:nvPr>
        </p:nvSpPr>
        <p:spPr/>
        <p:txBody>
          <a:bodyPr/>
          <a:lstStyle/>
          <a:p>
            <a:fld id="{1C0FA7A3-0FBF-4EC3-BE45-825983E95E58}" type="slidenum">
              <a:rPr lang="en-US" smtClean="0"/>
              <a:pPr/>
              <a:t>93</a:t>
            </a:fld>
            <a:endParaRPr lang="en-US" dirty="0"/>
          </a:p>
        </p:txBody>
      </p:sp>
      <p:pic>
        <p:nvPicPr>
          <p:cNvPr id="16386" name="Picture 2" descr="Image result for BGP ATTRIBU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805" y="1066800"/>
            <a:ext cx="8402782" cy="4505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193587"/>
      </p:ext>
    </p:extLst>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BGP ATTRIBUTES: WEIGHT</a:t>
            </a:r>
          </a:p>
        </p:txBody>
      </p:sp>
      <p:sp>
        <p:nvSpPr>
          <p:cNvPr id="167939" name="Rectangle 3"/>
          <p:cNvSpPr>
            <a:spLocks noGrp="1" noChangeArrowheads="1"/>
          </p:cNvSpPr>
          <p:nvPr>
            <p:ph type="body" idx="1"/>
          </p:nvPr>
        </p:nvSpPr>
        <p:spPr>
          <a:noFill/>
        </p:spPr>
        <p:txBody>
          <a:bodyPr lIns="86034" tIns="43016" rIns="86034" bIns="43016"/>
          <a:lstStyle/>
          <a:p>
            <a:r>
              <a:rPr lang="en-US" b="1" u="sng" dirty="0" smtClean="0"/>
              <a:t>Weight</a:t>
            </a:r>
            <a:endParaRPr lang="en-US" dirty="0"/>
          </a:p>
          <a:p>
            <a:pPr lvl="1"/>
            <a:r>
              <a:rPr lang="en-US" dirty="0" smtClean="0"/>
              <a:t>Weight </a:t>
            </a:r>
            <a:r>
              <a:rPr lang="en-US" dirty="0"/>
              <a:t>is a Cisco defined attribute that is local to a router. </a:t>
            </a:r>
            <a:endParaRPr lang="en-US" dirty="0" smtClean="0"/>
          </a:p>
          <a:p>
            <a:pPr lvl="1"/>
            <a:r>
              <a:rPr lang="en-US" dirty="0" smtClean="0"/>
              <a:t>The </a:t>
            </a:r>
            <a:r>
              <a:rPr lang="en-US" dirty="0"/>
              <a:t>weight attribute is not advertised to neighboring routers</a:t>
            </a:r>
            <a:r>
              <a:rPr lang="en-US" dirty="0" smtClean="0"/>
              <a:t>.</a:t>
            </a:r>
          </a:p>
          <a:p>
            <a:pPr lvl="1"/>
            <a:r>
              <a:rPr lang="en-US" dirty="0" smtClean="0"/>
              <a:t> </a:t>
            </a:r>
            <a:r>
              <a:rPr lang="en-US" dirty="0"/>
              <a:t>If the router learns about more than one route to the same destination, the route with the highest weight is preferred.</a:t>
            </a:r>
            <a:br>
              <a:rPr lang="en-US" dirty="0"/>
            </a:br>
            <a:r>
              <a:rPr lang="en-US" dirty="0"/>
              <a:t/>
            </a:r>
            <a:br>
              <a:rPr lang="en-US" dirty="0"/>
            </a:br>
            <a:endParaRPr lang="en-GB"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94</a:t>
            </a:fld>
            <a:endParaRPr lang="en-US" dirty="0"/>
          </a:p>
        </p:txBody>
      </p:sp>
    </p:spTree>
    <p:extLst>
      <p:ext uri="{BB962C8B-B14F-4D97-AF65-F5344CB8AC3E}">
        <p14:creationId xmlns:p14="http://schemas.microsoft.com/office/powerpoint/2010/main" val="211833721"/>
      </p:ext>
    </p:extLst>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BGP ATTRIBUTES: AS-PATH</a:t>
            </a:r>
          </a:p>
        </p:txBody>
      </p:sp>
      <p:sp>
        <p:nvSpPr>
          <p:cNvPr id="167939" name="Rectangle 3"/>
          <p:cNvSpPr>
            <a:spLocks noGrp="1" noChangeArrowheads="1"/>
          </p:cNvSpPr>
          <p:nvPr>
            <p:ph type="body" idx="1"/>
          </p:nvPr>
        </p:nvSpPr>
        <p:spPr>
          <a:noFill/>
        </p:spPr>
        <p:txBody>
          <a:bodyPr lIns="86034" tIns="43016" rIns="86034" bIns="43016"/>
          <a:lstStyle/>
          <a:p>
            <a:r>
              <a:rPr lang="en-US" b="1" u="sng" dirty="0" smtClean="0"/>
              <a:t>AS-Path</a:t>
            </a:r>
            <a:r>
              <a:rPr lang="en-US" dirty="0" smtClean="0"/>
              <a:t> </a:t>
            </a:r>
          </a:p>
          <a:p>
            <a:pPr lvl="1"/>
            <a:r>
              <a:rPr lang="en-US" dirty="0" smtClean="0"/>
              <a:t>When </a:t>
            </a:r>
            <a:r>
              <a:rPr lang="en-US" dirty="0"/>
              <a:t>a route advertisement passes through an autonomous system, the AS number is added to an ordered list of AS numbers that the route advertisement has traversed.</a:t>
            </a:r>
            <a:br>
              <a:rPr lang="en-US" dirty="0"/>
            </a:br>
            <a:r>
              <a:rPr lang="en-US" dirty="0"/>
              <a:t/>
            </a:r>
            <a:br>
              <a:rPr lang="en-US" dirty="0"/>
            </a:br>
            <a:endParaRPr lang="en-GB"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95</a:t>
            </a:fld>
            <a:endParaRPr lang="en-US" dirty="0"/>
          </a:p>
        </p:txBody>
      </p:sp>
    </p:spTree>
    <p:extLst>
      <p:ext uri="{BB962C8B-B14F-4D97-AF65-F5344CB8AC3E}">
        <p14:creationId xmlns:p14="http://schemas.microsoft.com/office/powerpoint/2010/main" val="1228482540"/>
      </p:ext>
    </p:extLst>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BGP ATTRIBUTES: ORIGIN</a:t>
            </a:r>
          </a:p>
        </p:txBody>
      </p:sp>
      <p:sp>
        <p:nvSpPr>
          <p:cNvPr id="167939" name="Rectangle 3"/>
          <p:cNvSpPr>
            <a:spLocks noGrp="1" noChangeArrowheads="1"/>
          </p:cNvSpPr>
          <p:nvPr>
            <p:ph type="body" idx="1"/>
          </p:nvPr>
        </p:nvSpPr>
        <p:spPr>
          <a:noFill/>
        </p:spPr>
        <p:txBody>
          <a:bodyPr lIns="86034" tIns="43016" rIns="86034" bIns="43016"/>
          <a:lstStyle/>
          <a:p>
            <a:r>
              <a:rPr lang="en-US" b="1" u="sng" dirty="0" smtClean="0"/>
              <a:t>Origin</a:t>
            </a:r>
            <a:r>
              <a:rPr lang="en-US" b="1" dirty="0" smtClean="0"/>
              <a:t>:</a:t>
            </a:r>
            <a:endParaRPr lang="en-US" dirty="0"/>
          </a:p>
          <a:p>
            <a:pPr lvl="1"/>
            <a:r>
              <a:rPr lang="en-US" dirty="0" smtClean="0"/>
              <a:t>The </a:t>
            </a:r>
            <a:r>
              <a:rPr lang="en-US" dirty="0"/>
              <a:t>origin attribute indicates how BGP learned about a particular route. The origin attribute can have one of three possible </a:t>
            </a:r>
            <a:r>
              <a:rPr lang="en-US" dirty="0" smtClean="0"/>
              <a:t>values:</a:t>
            </a:r>
            <a:endParaRPr lang="en-US" dirty="0"/>
          </a:p>
          <a:p>
            <a:pPr lvl="2"/>
            <a:r>
              <a:rPr lang="en-US" b="1" u="sng" dirty="0" smtClean="0"/>
              <a:t>IGP</a:t>
            </a:r>
            <a:r>
              <a:rPr lang="en-US" b="1" dirty="0" smtClean="0"/>
              <a:t>:</a:t>
            </a:r>
            <a:r>
              <a:rPr lang="en-US" dirty="0"/>
              <a:t> </a:t>
            </a:r>
            <a:r>
              <a:rPr lang="en-US" dirty="0" smtClean="0"/>
              <a:t>The </a:t>
            </a:r>
            <a:r>
              <a:rPr lang="en-US" dirty="0"/>
              <a:t>route is interior to the originating AS. This value is set when the network router configuration command is used to inject the route into </a:t>
            </a:r>
            <a:r>
              <a:rPr lang="en-US" dirty="0" smtClean="0"/>
              <a:t>BGP.</a:t>
            </a:r>
            <a:endParaRPr lang="en-US" dirty="0"/>
          </a:p>
          <a:p>
            <a:pPr lvl="2"/>
            <a:r>
              <a:rPr lang="en-US" b="1" u="sng" dirty="0" smtClean="0"/>
              <a:t>EGP</a:t>
            </a:r>
            <a:r>
              <a:rPr lang="en-US" b="1" dirty="0" smtClean="0"/>
              <a:t>:</a:t>
            </a:r>
            <a:r>
              <a:rPr lang="en-US" dirty="0"/>
              <a:t> </a:t>
            </a:r>
            <a:r>
              <a:rPr lang="en-US" dirty="0" smtClean="0"/>
              <a:t>The </a:t>
            </a:r>
            <a:r>
              <a:rPr lang="en-US" dirty="0"/>
              <a:t>route is learned via Exterior Gateway Protocol (EGP</a:t>
            </a:r>
            <a:r>
              <a:rPr lang="en-US" dirty="0" smtClean="0"/>
              <a:t>).</a:t>
            </a:r>
            <a:endParaRPr lang="en-US" dirty="0"/>
          </a:p>
          <a:p>
            <a:pPr lvl="2"/>
            <a:r>
              <a:rPr lang="en-US" b="1" u="sng" dirty="0" smtClean="0"/>
              <a:t>Incomplete</a:t>
            </a:r>
            <a:r>
              <a:rPr lang="en-US" b="1" dirty="0" smtClean="0"/>
              <a:t>:</a:t>
            </a:r>
            <a:r>
              <a:rPr lang="en-US" dirty="0"/>
              <a:t> </a:t>
            </a:r>
            <a:r>
              <a:rPr lang="en-US" dirty="0" smtClean="0"/>
              <a:t>The </a:t>
            </a:r>
            <a:r>
              <a:rPr lang="en-US" dirty="0"/>
              <a:t>origin of the route is unknown or is learned some other way. An origin of incomplete occurs when a route is redistributed into BGP.</a:t>
            </a:r>
            <a:br>
              <a:rPr lang="en-US" dirty="0"/>
            </a:br>
            <a:r>
              <a:rPr lang="en-US" dirty="0"/>
              <a:t/>
            </a:r>
            <a:br>
              <a:rPr lang="en-US" dirty="0"/>
            </a:br>
            <a:endParaRPr lang="en-GB"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96</a:t>
            </a:fld>
            <a:endParaRPr lang="en-US" dirty="0"/>
          </a:p>
        </p:txBody>
      </p:sp>
    </p:spTree>
    <p:extLst>
      <p:ext uri="{BB962C8B-B14F-4D97-AF65-F5344CB8AC3E}">
        <p14:creationId xmlns:p14="http://schemas.microsoft.com/office/powerpoint/2010/main" val="1371874532"/>
      </p:ext>
    </p:extLst>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BGP ATTRIBUTES: NEXT-HOP</a:t>
            </a:r>
          </a:p>
        </p:txBody>
      </p:sp>
      <p:sp>
        <p:nvSpPr>
          <p:cNvPr id="167939" name="Rectangle 3"/>
          <p:cNvSpPr>
            <a:spLocks noGrp="1" noChangeArrowheads="1"/>
          </p:cNvSpPr>
          <p:nvPr>
            <p:ph type="body" idx="1"/>
          </p:nvPr>
        </p:nvSpPr>
        <p:spPr>
          <a:noFill/>
        </p:spPr>
        <p:txBody>
          <a:bodyPr lIns="86034" tIns="43016" rIns="86034" bIns="43016"/>
          <a:lstStyle/>
          <a:p>
            <a:r>
              <a:rPr lang="en-US" b="1" u="sng" dirty="0" smtClean="0"/>
              <a:t>Next-hop</a:t>
            </a:r>
            <a:endParaRPr lang="en-US" b="1" dirty="0"/>
          </a:p>
          <a:p>
            <a:pPr lvl="1"/>
            <a:r>
              <a:rPr lang="en-US" dirty="0" smtClean="0"/>
              <a:t>The </a:t>
            </a:r>
            <a:r>
              <a:rPr lang="en-US" dirty="0" err="1"/>
              <a:t>eBGP</a:t>
            </a:r>
            <a:r>
              <a:rPr lang="en-US" dirty="0"/>
              <a:t> next-hop attribute is the IP address that is used to reach the advertising router. </a:t>
            </a:r>
            <a:endParaRPr lang="en-US" dirty="0" smtClean="0"/>
          </a:p>
          <a:p>
            <a:pPr lvl="1"/>
            <a:r>
              <a:rPr lang="en-US" dirty="0" smtClean="0"/>
              <a:t>For </a:t>
            </a:r>
            <a:r>
              <a:rPr lang="en-US" dirty="0" err="1"/>
              <a:t>eBGP</a:t>
            </a:r>
            <a:r>
              <a:rPr lang="en-US" dirty="0"/>
              <a:t> peers, the next-hop address is the IP address of the connection between the peers.</a:t>
            </a:r>
            <a:br>
              <a:rPr lang="en-US" dirty="0"/>
            </a:br>
            <a:r>
              <a:rPr lang="en-US" dirty="0"/>
              <a:t/>
            </a:r>
            <a:br>
              <a:rPr lang="en-US" dirty="0"/>
            </a:br>
            <a:endParaRPr lang="en-GB"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97</a:t>
            </a:fld>
            <a:endParaRPr lang="en-US" dirty="0"/>
          </a:p>
        </p:txBody>
      </p:sp>
    </p:spTree>
    <p:extLst>
      <p:ext uri="{BB962C8B-B14F-4D97-AF65-F5344CB8AC3E}">
        <p14:creationId xmlns:p14="http://schemas.microsoft.com/office/powerpoint/2010/main" val="671277078"/>
      </p:ext>
    </p:extLst>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BGP ATTRIBUTES: LOCAL PREFERENCE</a:t>
            </a:r>
          </a:p>
        </p:txBody>
      </p:sp>
      <p:sp>
        <p:nvSpPr>
          <p:cNvPr id="167939" name="Rectangle 3"/>
          <p:cNvSpPr>
            <a:spLocks noGrp="1" noChangeArrowheads="1"/>
          </p:cNvSpPr>
          <p:nvPr>
            <p:ph type="body" idx="1"/>
          </p:nvPr>
        </p:nvSpPr>
        <p:spPr>
          <a:noFill/>
        </p:spPr>
        <p:txBody>
          <a:bodyPr lIns="86034" tIns="43016" rIns="86034" bIns="43016"/>
          <a:lstStyle/>
          <a:p>
            <a:r>
              <a:rPr lang="en-US" b="1" u="sng" dirty="0"/>
              <a:t>Local </a:t>
            </a:r>
            <a:r>
              <a:rPr lang="en-US" b="1" u="sng" dirty="0" smtClean="0"/>
              <a:t>Preference</a:t>
            </a:r>
            <a:endParaRPr lang="en-US" b="1" dirty="0"/>
          </a:p>
          <a:p>
            <a:pPr lvl="1"/>
            <a:r>
              <a:rPr lang="en-US" dirty="0" smtClean="0"/>
              <a:t>The </a:t>
            </a:r>
            <a:r>
              <a:rPr lang="en-US" dirty="0"/>
              <a:t>local preference attribute is used to prefer an exit point from the local autonomous system. </a:t>
            </a:r>
            <a:endParaRPr lang="en-US" dirty="0" smtClean="0"/>
          </a:p>
          <a:p>
            <a:pPr lvl="1"/>
            <a:r>
              <a:rPr lang="en-US" dirty="0" smtClean="0"/>
              <a:t>Unlike </a:t>
            </a:r>
            <a:r>
              <a:rPr lang="en-US" dirty="0"/>
              <a:t>the weight attribute, the local preference attribute is propagated through-out the local AS. </a:t>
            </a:r>
            <a:endParaRPr lang="en-US" dirty="0" smtClean="0"/>
          </a:p>
          <a:p>
            <a:pPr lvl="1"/>
            <a:r>
              <a:rPr lang="en-US" dirty="0" smtClean="0"/>
              <a:t>If </a:t>
            </a:r>
            <a:r>
              <a:rPr lang="en-US" dirty="0"/>
              <a:t>there are multiple exit points from the AS, the local preference attribute is used to select the exit point for a specific route.</a:t>
            </a:r>
            <a:br>
              <a:rPr lang="en-US" dirty="0"/>
            </a:br>
            <a:r>
              <a:rPr lang="en-US" dirty="0"/>
              <a:t/>
            </a:r>
            <a:br>
              <a:rPr lang="en-US" dirty="0"/>
            </a:br>
            <a:r>
              <a:rPr lang="en-US" dirty="0"/>
              <a:t/>
            </a:r>
            <a:br>
              <a:rPr lang="en-US" dirty="0"/>
            </a:br>
            <a:endParaRPr lang="en-GB"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98</a:t>
            </a:fld>
            <a:endParaRPr lang="en-US" dirty="0"/>
          </a:p>
        </p:txBody>
      </p:sp>
    </p:spTree>
    <p:extLst>
      <p:ext uri="{BB962C8B-B14F-4D97-AF65-F5344CB8AC3E}">
        <p14:creationId xmlns:p14="http://schemas.microsoft.com/office/powerpoint/2010/main" val="3204575101"/>
      </p:ext>
    </p:extLst>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BGP ATTRIBUTES: ATOMIC AGGREGATE</a:t>
            </a:r>
          </a:p>
        </p:txBody>
      </p:sp>
      <p:sp>
        <p:nvSpPr>
          <p:cNvPr id="167939" name="Rectangle 3"/>
          <p:cNvSpPr>
            <a:spLocks noGrp="1" noChangeArrowheads="1"/>
          </p:cNvSpPr>
          <p:nvPr>
            <p:ph type="body" idx="1"/>
          </p:nvPr>
        </p:nvSpPr>
        <p:spPr>
          <a:noFill/>
        </p:spPr>
        <p:txBody>
          <a:bodyPr lIns="86034" tIns="43016" rIns="86034" bIns="43016"/>
          <a:lstStyle/>
          <a:p>
            <a:r>
              <a:rPr lang="en-US" b="1" u="sng" dirty="0"/>
              <a:t>Atomic </a:t>
            </a:r>
            <a:r>
              <a:rPr lang="en-US" b="1" u="sng" dirty="0" smtClean="0"/>
              <a:t>Aggregate</a:t>
            </a:r>
            <a:r>
              <a:rPr lang="en-US" b="1" dirty="0" smtClean="0"/>
              <a:t>:</a:t>
            </a:r>
            <a:endParaRPr lang="en-US" dirty="0"/>
          </a:p>
          <a:p>
            <a:pPr lvl="1"/>
            <a:r>
              <a:rPr lang="en-US" dirty="0" smtClean="0"/>
              <a:t>Notes </a:t>
            </a:r>
            <a:r>
              <a:rPr lang="en-US" dirty="0"/>
              <a:t>that route </a:t>
            </a:r>
            <a:r>
              <a:rPr lang="en-US" dirty="0" smtClean="0"/>
              <a:t>summarization </a:t>
            </a:r>
            <a:r>
              <a:rPr lang="en-US" dirty="0"/>
              <a:t>has been performed.</a:t>
            </a:r>
            <a:br>
              <a:rPr lang="en-US" dirty="0"/>
            </a:br>
            <a:r>
              <a:rPr lang="en-US" dirty="0"/>
              <a:t/>
            </a:r>
            <a:br>
              <a:rPr lang="en-US" dirty="0"/>
            </a:br>
            <a:r>
              <a:rPr lang="en-US" dirty="0"/>
              <a:t/>
            </a:r>
            <a:br>
              <a:rPr lang="en-US" dirty="0"/>
            </a:br>
            <a:endParaRPr lang="en-GB"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99</a:t>
            </a:fld>
            <a:endParaRPr lang="en-US" dirty="0"/>
          </a:p>
        </p:txBody>
      </p:sp>
    </p:spTree>
    <p:extLst>
      <p:ext uri="{BB962C8B-B14F-4D97-AF65-F5344CB8AC3E}">
        <p14:creationId xmlns:p14="http://schemas.microsoft.com/office/powerpoint/2010/main" val="1860685670"/>
      </p:ext>
    </p:extLst>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BGP ATTRIBUTES: COMMUNITY</a:t>
            </a:r>
          </a:p>
        </p:txBody>
      </p:sp>
      <p:sp>
        <p:nvSpPr>
          <p:cNvPr id="167939" name="Rectangle 3"/>
          <p:cNvSpPr>
            <a:spLocks noGrp="1" noChangeArrowheads="1"/>
          </p:cNvSpPr>
          <p:nvPr>
            <p:ph type="body" idx="1"/>
          </p:nvPr>
        </p:nvSpPr>
        <p:spPr>
          <a:noFill/>
        </p:spPr>
        <p:txBody>
          <a:bodyPr lIns="86034" tIns="43016" rIns="86034" bIns="43016"/>
          <a:lstStyle/>
          <a:p>
            <a:r>
              <a:rPr lang="en-US" b="1" u="sng" dirty="0" smtClean="0"/>
              <a:t>Community</a:t>
            </a:r>
            <a:endParaRPr lang="en-US" b="1" dirty="0"/>
          </a:p>
          <a:p>
            <a:pPr lvl="1"/>
            <a:r>
              <a:rPr lang="en-US" dirty="0" smtClean="0"/>
              <a:t>The </a:t>
            </a:r>
            <a:r>
              <a:rPr lang="en-US" dirty="0"/>
              <a:t>community attributes provides a way of grouping destinations, called communities, to which routing decisions (such as acceptance, preference and redistribution) can be applied. </a:t>
            </a:r>
            <a:endParaRPr lang="en-US" dirty="0" smtClean="0"/>
          </a:p>
          <a:p>
            <a:pPr lvl="1"/>
            <a:r>
              <a:rPr lang="en-US" dirty="0" smtClean="0"/>
              <a:t>Route </a:t>
            </a:r>
            <a:r>
              <a:rPr lang="en-US" dirty="0"/>
              <a:t>maps are used to set the community attribute. </a:t>
            </a:r>
            <a:endParaRPr lang="en-US" dirty="0" smtClean="0"/>
          </a:p>
          <a:p>
            <a:pPr lvl="1"/>
            <a:r>
              <a:rPr lang="en-US" dirty="0" smtClean="0"/>
              <a:t>The </a:t>
            </a:r>
            <a:r>
              <a:rPr lang="en-US" dirty="0"/>
              <a:t>predefined community attributes are as follows:</a:t>
            </a:r>
          </a:p>
          <a:p>
            <a:pPr lvl="2"/>
            <a:r>
              <a:rPr lang="en-US" b="1" u="sng" dirty="0"/>
              <a:t>Aggregator</a:t>
            </a:r>
            <a:r>
              <a:rPr lang="en-US" b="1" dirty="0" smtClean="0"/>
              <a:t>: </a:t>
            </a:r>
            <a:r>
              <a:rPr lang="en-US" dirty="0" smtClean="0"/>
              <a:t>Identifies </a:t>
            </a:r>
            <a:r>
              <a:rPr lang="en-US" dirty="0"/>
              <a:t>the router and AS where summarization was performed.</a:t>
            </a:r>
            <a:endParaRPr lang="en-US" sz="4000" dirty="0"/>
          </a:p>
          <a:p>
            <a:pPr lvl="2"/>
            <a:r>
              <a:rPr lang="en-US" dirty="0"/>
              <a:t/>
            </a:r>
            <a:br>
              <a:rPr lang="en-US" dirty="0"/>
            </a:br>
            <a:r>
              <a:rPr lang="en-US" dirty="0"/>
              <a:t/>
            </a:r>
            <a:br>
              <a:rPr lang="en-US" dirty="0"/>
            </a:br>
            <a:endParaRPr lang="en-GB"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100</a:t>
            </a:fld>
            <a:endParaRPr lang="en-US" dirty="0"/>
          </a:p>
        </p:txBody>
      </p:sp>
    </p:spTree>
    <p:extLst>
      <p:ext uri="{BB962C8B-B14F-4D97-AF65-F5344CB8AC3E}">
        <p14:creationId xmlns:p14="http://schemas.microsoft.com/office/powerpoint/2010/main" val="3060469450"/>
      </p:ext>
    </p:extLst>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BGP ATTRIBUTES: COMMUNITY</a:t>
            </a:r>
          </a:p>
        </p:txBody>
      </p:sp>
      <p:sp>
        <p:nvSpPr>
          <p:cNvPr id="167939" name="Rectangle 3"/>
          <p:cNvSpPr>
            <a:spLocks noGrp="1" noChangeArrowheads="1"/>
          </p:cNvSpPr>
          <p:nvPr>
            <p:ph type="body" idx="1"/>
          </p:nvPr>
        </p:nvSpPr>
        <p:spPr>
          <a:noFill/>
        </p:spPr>
        <p:txBody>
          <a:bodyPr lIns="86034" tIns="43016" rIns="86034" bIns="43016"/>
          <a:lstStyle/>
          <a:p>
            <a:pPr lvl="2"/>
            <a:r>
              <a:rPr lang="en-US" b="1" u="sng" dirty="0"/>
              <a:t>Multi-Exit </a:t>
            </a:r>
            <a:r>
              <a:rPr lang="en-US" b="1" u="sng" dirty="0" smtClean="0"/>
              <a:t>Discriminator(MED)</a:t>
            </a:r>
            <a:r>
              <a:rPr lang="en-US" dirty="0" smtClean="0"/>
              <a:t>: The </a:t>
            </a:r>
            <a:r>
              <a:rPr lang="en-US" dirty="0"/>
              <a:t>multi-exit discriminator(MED) or metric attribute is used as a suggestion to an external AS regarding the preferred route into the AS</a:t>
            </a:r>
            <a:r>
              <a:rPr lang="en-US" dirty="0" smtClean="0"/>
              <a:t>.</a:t>
            </a:r>
          </a:p>
          <a:p>
            <a:pPr lvl="2"/>
            <a:r>
              <a:rPr lang="en-US" b="1" u="sng" dirty="0"/>
              <a:t>Originator </a:t>
            </a:r>
            <a:r>
              <a:rPr lang="en-US" b="1" u="sng" dirty="0" smtClean="0"/>
              <a:t>ID</a:t>
            </a:r>
            <a:r>
              <a:rPr lang="en-US" b="1" dirty="0" smtClean="0"/>
              <a:t>:</a:t>
            </a:r>
            <a:r>
              <a:rPr lang="en-US" dirty="0"/>
              <a:t> </a:t>
            </a:r>
            <a:r>
              <a:rPr lang="en-US" dirty="0" smtClean="0"/>
              <a:t>The </a:t>
            </a:r>
            <a:r>
              <a:rPr lang="en-US" dirty="0"/>
              <a:t>originator ID attribute identifies a route reflector</a:t>
            </a:r>
            <a:r>
              <a:rPr lang="en-US" dirty="0" smtClean="0"/>
              <a:t>.</a:t>
            </a:r>
          </a:p>
          <a:p>
            <a:pPr lvl="2"/>
            <a:r>
              <a:rPr lang="en-US" b="1" u="sng" dirty="0"/>
              <a:t>Cluster </a:t>
            </a:r>
            <a:r>
              <a:rPr lang="en-US" b="1" u="sng" dirty="0" smtClean="0"/>
              <a:t>List</a:t>
            </a:r>
            <a:r>
              <a:rPr lang="en-US" b="1" dirty="0" smtClean="0"/>
              <a:t>:</a:t>
            </a:r>
            <a:r>
              <a:rPr lang="en-US" dirty="0"/>
              <a:t> </a:t>
            </a:r>
            <a:r>
              <a:rPr lang="en-US" dirty="0" smtClean="0"/>
              <a:t>The </a:t>
            </a:r>
            <a:r>
              <a:rPr lang="en-US" dirty="0"/>
              <a:t>cluster list attribute records the route reflector clusters the route has traversed.</a:t>
            </a:r>
          </a:p>
          <a:p>
            <a:pPr lvl="2"/>
            <a:r>
              <a:rPr lang="en-US" b="1" dirty="0" smtClean="0"/>
              <a:t>MP Reach NRLI</a:t>
            </a:r>
          </a:p>
          <a:p>
            <a:pPr lvl="2"/>
            <a:r>
              <a:rPr lang="en-US" b="1" dirty="0" smtClean="0"/>
              <a:t>MP </a:t>
            </a:r>
            <a:r>
              <a:rPr lang="en-US" b="1" dirty="0" err="1" smtClean="0"/>
              <a:t>Unreach</a:t>
            </a:r>
            <a:r>
              <a:rPr lang="en-US" b="1" dirty="0" smtClean="0"/>
              <a:t> NRLI</a:t>
            </a:r>
            <a:r>
              <a:rPr lang="en-US" dirty="0"/>
              <a:t/>
            </a:r>
            <a:br>
              <a:rPr lang="en-US" dirty="0"/>
            </a:br>
            <a:r>
              <a:rPr lang="en-US" dirty="0"/>
              <a:t/>
            </a:r>
            <a:br>
              <a:rPr lang="en-US" dirty="0"/>
            </a:br>
            <a:endParaRPr lang="en-GB"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101</a:t>
            </a:fld>
            <a:endParaRPr lang="en-US" dirty="0"/>
          </a:p>
        </p:txBody>
      </p:sp>
    </p:spTree>
    <p:extLst>
      <p:ext uri="{BB962C8B-B14F-4D97-AF65-F5344CB8AC3E}">
        <p14:creationId xmlns:p14="http://schemas.microsoft.com/office/powerpoint/2010/main" val="2321227442"/>
      </p:ext>
    </p:extLst>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BGP ATTRIBUTES: EXTENDED COMMUNITY</a:t>
            </a:r>
          </a:p>
        </p:txBody>
      </p:sp>
      <p:sp>
        <p:nvSpPr>
          <p:cNvPr id="167939" name="Rectangle 3"/>
          <p:cNvSpPr>
            <a:spLocks noGrp="1" noChangeArrowheads="1"/>
          </p:cNvSpPr>
          <p:nvPr>
            <p:ph idx="1"/>
          </p:nvPr>
        </p:nvSpPr>
        <p:spPr>
          <a:noFill/>
        </p:spPr>
        <p:txBody>
          <a:bodyPr lIns="86034" tIns="43016" rIns="86034" bIns="43016"/>
          <a:lstStyle/>
          <a:p>
            <a:pPr lvl="2"/>
            <a:r>
              <a:rPr lang="en-US" dirty="0" smtClean="0"/>
              <a:t>MPLS L3VPN</a:t>
            </a:r>
            <a:r>
              <a:rPr lang="en-US" dirty="0"/>
              <a:t/>
            </a:r>
            <a:br>
              <a:rPr lang="en-US" dirty="0"/>
            </a:br>
            <a:endParaRPr lang="en-GB" altLang="en-US" dirty="0" smtClean="0"/>
          </a:p>
        </p:txBody>
      </p:sp>
      <p:sp>
        <p:nvSpPr>
          <p:cNvPr id="2" name="Slide Number Placeholder 1"/>
          <p:cNvSpPr>
            <a:spLocks noGrp="1"/>
          </p:cNvSpPr>
          <p:nvPr>
            <p:ph type="sldNum" sz="quarter" idx="10"/>
          </p:nvPr>
        </p:nvSpPr>
        <p:spPr/>
        <p:txBody>
          <a:bodyPr/>
          <a:lstStyle/>
          <a:p>
            <a:fld id="{1C0FA7A3-0FBF-4EC3-BE45-825983E95E58}" type="slidenum">
              <a:rPr lang="en-US" smtClean="0"/>
              <a:pPr/>
              <a:t>102</a:t>
            </a:fld>
            <a:endParaRPr lang="en-US" dirty="0"/>
          </a:p>
        </p:txBody>
      </p:sp>
    </p:spTree>
    <p:extLst>
      <p:ext uri="{BB962C8B-B14F-4D97-AF65-F5344CB8AC3E}">
        <p14:creationId xmlns:p14="http://schemas.microsoft.com/office/powerpoint/2010/main" val="1364955790"/>
      </p:ext>
    </p:extLst>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YOUTUBE BGP BASICS</a:t>
            </a:r>
          </a:p>
        </p:txBody>
      </p:sp>
      <p:sp>
        <p:nvSpPr>
          <p:cNvPr id="167939" name="Rectangle 3"/>
          <p:cNvSpPr>
            <a:spLocks noGrp="1" noChangeArrowheads="1"/>
          </p:cNvSpPr>
          <p:nvPr>
            <p:ph type="body" idx="1"/>
          </p:nvPr>
        </p:nvSpPr>
        <p:spPr>
          <a:noFill/>
        </p:spPr>
        <p:txBody>
          <a:bodyPr lIns="86034" tIns="43016" rIns="86034" bIns="43016"/>
          <a:lstStyle/>
          <a:p>
            <a:r>
              <a:rPr lang="en-US" sz="2800" dirty="0">
                <a:solidFill>
                  <a:srgbClr val="FF0000"/>
                </a:solidFill>
                <a:hlinkClick r:id="rId3"/>
              </a:rPr>
              <a:t>https://</a:t>
            </a:r>
            <a:r>
              <a:rPr lang="en-US" sz="2800" dirty="0" smtClean="0">
                <a:solidFill>
                  <a:srgbClr val="FF0000"/>
                </a:solidFill>
                <a:hlinkClick r:id="rId3"/>
              </a:rPr>
              <a:t>www.youtube.com/watch?v=z8INzy9E628</a:t>
            </a:r>
            <a:endParaRPr lang="en-US" sz="2800" dirty="0" smtClean="0">
              <a:solidFill>
                <a:srgbClr val="FF0000"/>
              </a:solidFill>
            </a:endParaRPr>
          </a:p>
          <a:p>
            <a:pPr marL="0" indent="0">
              <a:buNone/>
            </a:pPr>
            <a:endParaRPr lang="en-US" sz="2800" dirty="0"/>
          </a:p>
          <a:p>
            <a:r>
              <a:rPr lang="en-US" sz="2800" u="sng" dirty="0">
                <a:hlinkClick r:id="rId4"/>
              </a:rPr>
              <a:t>https://</a:t>
            </a:r>
            <a:r>
              <a:rPr lang="en-US" sz="2800" u="sng" dirty="0" smtClean="0">
                <a:hlinkClick r:id="rId4"/>
              </a:rPr>
              <a:t>www.youtube.com/watch?v=AjkU7Hw2TY4</a:t>
            </a:r>
            <a:endParaRPr lang="en-US" sz="2800" u="sng" dirty="0" smtClean="0"/>
          </a:p>
          <a:p>
            <a:endParaRPr lang="en-US" sz="2800" dirty="0"/>
          </a:p>
        </p:txBody>
      </p:sp>
      <p:sp>
        <p:nvSpPr>
          <p:cNvPr id="2" name="Slide Number Placeholder 1"/>
          <p:cNvSpPr>
            <a:spLocks noGrp="1"/>
          </p:cNvSpPr>
          <p:nvPr>
            <p:ph type="sldNum" sz="quarter" idx="10"/>
          </p:nvPr>
        </p:nvSpPr>
        <p:spPr/>
        <p:txBody>
          <a:bodyPr/>
          <a:lstStyle/>
          <a:p>
            <a:fld id="{1C0FA7A3-0FBF-4EC3-BE45-825983E95E58}" type="slidenum">
              <a:rPr lang="en-US" smtClean="0"/>
              <a:pPr/>
              <a:t>103</a:t>
            </a:fld>
            <a:endParaRPr lang="en-US" dirty="0"/>
          </a:p>
        </p:txBody>
      </p:sp>
    </p:spTree>
    <p:extLst>
      <p:ext uri="{BB962C8B-B14F-4D97-AF65-F5344CB8AC3E}">
        <p14:creationId xmlns:p14="http://schemas.microsoft.com/office/powerpoint/2010/main" val="4184324846"/>
      </p:ext>
    </p:extLst>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YOUTUBE BGP CONFIGURATION</a:t>
            </a:r>
          </a:p>
        </p:txBody>
      </p:sp>
      <p:sp>
        <p:nvSpPr>
          <p:cNvPr id="167939" name="Rectangle 3"/>
          <p:cNvSpPr>
            <a:spLocks noGrp="1" noChangeArrowheads="1"/>
          </p:cNvSpPr>
          <p:nvPr>
            <p:ph type="body" idx="1"/>
          </p:nvPr>
        </p:nvSpPr>
        <p:spPr>
          <a:noFill/>
        </p:spPr>
        <p:txBody>
          <a:bodyPr lIns="86034" tIns="43016" rIns="86034" bIns="43016"/>
          <a:lstStyle/>
          <a:p>
            <a:r>
              <a:rPr lang="en-US" sz="2400" dirty="0"/>
              <a:t>UNDERSTANDING BGP NEIGHBORS (STARTING BGP CONFIG)</a:t>
            </a:r>
          </a:p>
          <a:p>
            <a:pPr marL="0" indent="0">
              <a:buNone/>
            </a:pPr>
            <a:r>
              <a:rPr lang="en-US" sz="2400" u="sng" dirty="0">
                <a:hlinkClick r:id="rId3"/>
              </a:rPr>
              <a:t>https://www.youtube.com/watch?v=66oksttO9fQ&amp;list=PLJqb_j53o7BiVPaFGQxEHhGx-ximMukwH&amp;index=4</a:t>
            </a:r>
            <a:endParaRPr lang="en-US" sz="2400" dirty="0"/>
          </a:p>
          <a:p>
            <a:r>
              <a:rPr lang="en-US" sz="2400" dirty="0"/>
              <a:t>IBGP NEIGHBORS CONFIGURATION</a:t>
            </a:r>
          </a:p>
          <a:p>
            <a:pPr marL="0" indent="0">
              <a:buNone/>
            </a:pPr>
            <a:r>
              <a:rPr lang="en-US" sz="2400" u="sng" dirty="0">
                <a:hlinkClick r:id="rId4"/>
              </a:rPr>
              <a:t>https://www.youtube.com/watch?v=y5va67BO2Pw&amp;list=PLJqb_j53o7BiVPaFGQxEHhGx-ximMukwH&amp;index=5</a:t>
            </a:r>
            <a:endParaRPr lang="en-US" sz="2400" dirty="0"/>
          </a:p>
          <a:p>
            <a:r>
              <a:rPr lang="en-US" sz="2400" dirty="0"/>
              <a:t>EBGP CONFIGURATION</a:t>
            </a:r>
          </a:p>
          <a:p>
            <a:pPr marL="0" indent="0">
              <a:buNone/>
            </a:pPr>
            <a:r>
              <a:rPr lang="en-US" sz="2400" u="sng" dirty="0">
                <a:hlinkClick r:id="rId5"/>
              </a:rPr>
              <a:t>https://www.youtube.com/watch?v=8ciI6-maH7Q&amp;list=PLJqb_j53o7BiVPaFGQxEHhGx-ximMukwH&amp;index=12</a:t>
            </a:r>
            <a:endParaRPr lang="en-US" sz="2400" dirty="0"/>
          </a:p>
          <a:p>
            <a:endParaRPr lang="en-US" sz="1800" dirty="0"/>
          </a:p>
        </p:txBody>
      </p:sp>
      <p:sp>
        <p:nvSpPr>
          <p:cNvPr id="2" name="Slide Number Placeholder 1"/>
          <p:cNvSpPr>
            <a:spLocks noGrp="1"/>
          </p:cNvSpPr>
          <p:nvPr>
            <p:ph type="sldNum" sz="quarter" idx="10"/>
          </p:nvPr>
        </p:nvSpPr>
        <p:spPr/>
        <p:txBody>
          <a:bodyPr/>
          <a:lstStyle/>
          <a:p>
            <a:fld id="{1C0FA7A3-0FBF-4EC3-BE45-825983E95E58}" type="slidenum">
              <a:rPr lang="en-US" smtClean="0"/>
              <a:pPr/>
              <a:t>104</a:t>
            </a:fld>
            <a:endParaRPr lang="en-US" dirty="0"/>
          </a:p>
        </p:txBody>
      </p:sp>
    </p:spTree>
    <p:extLst>
      <p:ext uri="{BB962C8B-B14F-4D97-AF65-F5344CB8AC3E}">
        <p14:creationId xmlns:p14="http://schemas.microsoft.com/office/powerpoint/2010/main" val="3039295725"/>
      </p:ext>
    </p:extLst>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noFill/>
        </p:spPr>
        <p:txBody>
          <a:bodyPr lIns="86034" tIns="43016" rIns="86034" bIns="43016"/>
          <a:lstStyle/>
          <a:p>
            <a:pPr algn="ctr"/>
            <a:r>
              <a:rPr lang="en-GB" altLang="en-US" dirty="0" smtClean="0"/>
              <a:t>WIRESHARK</a:t>
            </a:r>
          </a:p>
        </p:txBody>
      </p:sp>
      <p:sp>
        <p:nvSpPr>
          <p:cNvPr id="2" name="Slide Number Placeholder 1"/>
          <p:cNvSpPr>
            <a:spLocks noGrp="1"/>
          </p:cNvSpPr>
          <p:nvPr>
            <p:ph type="sldNum" sz="quarter" idx="10"/>
          </p:nvPr>
        </p:nvSpPr>
        <p:spPr/>
        <p:txBody>
          <a:bodyPr/>
          <a:lstStyle/>
          <a:p>
            <a:fld id="{1C0FA7A3-0FBF-4EC3-BE45-825983E95E58}" type="slidenum">
              <a:rPr lang="en-US" smtClean="0"/>
              <a:pPr/>
              <a:t>105</a:t>
            </a:fld>
            <a:endParaRPr lang="en-US" dirty="0"/>
          </a:p>
        </p:txBody>
      </p:sp>
    </p:spTree>
    <p:extLst>
      <p:ext uri="{BB962C8B-B14F-4D97-AF65-F5344CB8AC3E}">
        <p14:creationId xmlns:p14="http://schemas.microsoft.com/office/powerpoint/2010/main" val="2394902059"/>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Default Design">
  <a:themeElements>
    <a:clrScheme name="">
      <a:dk1>
        <a:srgbClr val="000000"/>
      </a:dk1>
      <a:lt1>
        <a:srgbClr val="FFFFFF"/>
      </a:lt1>
      <a:dk2>
        <a:srgbClr val="0B3D91"/>
      </a:dk2>
      <a:lt2>
        <a:srgbClr val="000066"/>
      </a:lt2>
      <a:accent1>
        <a:srgbClr val="97A8D9"/>
      </a:accent1>
      <a:accent2>
        <a:srgbClr val="C7D2F5"/>
      </a:accent2>
      <a:accent3>
        <a:srgbClr val="FFFFFF"/>
      </a:accent3>
      <a:accent4>
        <a:srgbClr val="000000"/>
      </a:accent4>
      <a:accent5>
        <a:srgbClr val="C9D1E9"/>
      </a:accent5>
      <a:accent6>
        <a:srgbClr val="B4BEDE"/>
      </a:accent6>
      <a:hlink>
        <a:srgbClr val="DC241F"/>
      </a:hlink>
      <a:folHlink>
        <a:srgbClr val="CCCC99"/>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alpha val="50000"/>
          </a:schemeClr>
        </a:solidFill>
        <a:ln w="9525" cap="flat" cmpd="sng" algn="ctr">
          <a:solidFill>
            <a:srgbClr val="FFFF0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66"/>
        </a:dk2>
        <a:lt2>
          <a:srgbClr val="808080"/>
        </a:lt2>
        <a:accent1>
          <a:srgbClr val="CCCC99"/>
        </a:accent1>
        <a:accent2>
          <a:srgbClr val="DC241F"/>
        </a:accent2>
        <a:accent3>
          <a:srgbClr val="FFFFFF"/>
        </a:accent3>
        <a:accent4>
          <a:srgbClr val="000000"/>
        </a:accent4>
        <a:accent5>
          <a:srgbClr val="E2E2CA"/>
        </a:accent5>
        <a:accent6>
          <a:srgbClr val="C7201B"/>
        </a:accent6>
        <a:hlink>
          <a:srgbClr val="0035AD"/>
        </a:hlink>
        <a:folHlink>
          <a:srgbClr val="918C5A"/>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B3D91"/>
        </a:dk2>
        <a:lt2>
          <a:srgbClr val="000066"/>
        </a:lt2>
        <a:accent1>
          <a:srgbClr val="70B2F4"/>
        </a:accent1>
        <a:accent2>
          <a:srgbClr val="C3EAFD"/>
        </a:accent2>
        <a:accent3>
          <a:srgbClr val="FFFFFF"/>
        </a:accent3>
        <a:accent4>
          <a:srgbClr val="000000"/>
        </a:accent4>
        <a:accent5>
          <a:srgbClr val="BBD5F8"/>
        </a:accent5>
        <a:accent6>
          <a:srgbClr val="B0D4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B3D91"/>
        </a:dk2>
        <a:lt2>
          <a:srgbClr val="000066"/>
        </a:lt2>
        <a:accent1>
          <a:srgbClr val="70B2F4"/>
        </a:accent1>
        <a:accent2>
          <a:srgbClr val="C3DCFD"/>
        </a:accent2>
        <a:accent3>
          <a:srgbClr val="FFFFFF"/>
        </a:accent3>
        <a:accent4>
          <a:srgbClr val="000000"/>
        </a:accent4>
        <a:accent5>
          <a:srgbClr val="BBD5F8"/>
        </a:accent5>
        <a:accent6>
          <a:srgbClr val="B0C7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6">
        <a:dk1>
          <a:srgbClr val="000000"/>
        </a:dk1>
        <a:lt1>
          <a:srgbClr val="FFFFFF"/>
        </a:lt1>
        <a:dk2>
          <a:srgbClr val="0B3D91"/>
        </a:dk2>
        <a:lt2>
          <a:srgbClr val="000066"/>
        </a:lt2>
        <a:accent1>
          <a:srgbClr val="70B2F4"/>
        </a:accent1>
        <a:accent2>
          <a:srgbClr val="C3E4FD"/>
        </a:accent2>
        <a:accent3>
          <a:srgbClr val="FFFFFF"/>
        </a:accent3>
        <a:accent4>
          <a:srgbClr val="000000"/>
        </a:accent4>
        <a:accent5>
          <a:srgbClr val="BBD5F8"/>
        </a:accent5>
        <a:accent6>
          <a:srgbClr val="B0CF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16250</TotalTime>
  <Words>5702</Words>
  <Application>Microsoft Office PowerPoint</Application>
  <PresentationFormat>On-screen Show (4:3)</PresentationFormat>
  <Paragraphs>813</Paragraphs>
  <Slides>106</Slides>
  <Notes>40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106</vt:i4>
      </vt:variant>
    </vt:vector>
  </HeadingPairs>
  <TitlesOfParts>
    <vt:vector size="114" baseType="lpstr">
      <vt:lpstr>Arial</vt:lpstr>
      <vt:lpstr>Calibri</vt:lpstr>
      <vt:lpstr>Courier New</vt:lpstr>
      <vt:lpstr>Symbol</vt:lpstr>
      <vt:lpstr>Times New Roman</vt:lpstr>
      <vt:lpstr>Wingdings</vt:lpstr>
      <vt:lpstr>Default Design</vt:lpstr>
      <vt:lpstr>VISIO</vt:lpstr>
      <vt:lpstr>EETS 8332:  Advanced Network Design</vt:lpstr>
      <vt:lpstr>BGP Terms</vt:lpstr>
      <vt:lpstr>EGPs – Exterior Gateway Protocols</vt:lpstr>
      <vt:lpstr>BGP – an Exterior Gateway Protocol</vt:lpstr>
      <vt:lpstr>Autonomous Systems</vt:lpstr>
      <vt:lpstr>AS Numbers</vt:lpstr>
      <vt:lpstr>AS Numbers</vt:lpstr>
      <vt:lpstr>BGP Basics</vt:lpstr>
      <vt:lpstr>BGP Basics</vt:lpstr>
      <vt:lpstr>BGP Basics (AS1-AS7)</vt:lpstr>
      <vt:lpstr>BGP Basics</vt:lpstr>
      <vt:lpstr>BGP Basics</vt:lpstr>
      <vt:lpstr>BGP Basics</vt:lpstr>
      <vt:lpstr>iBGP versus EBGP</vt:lpstr>
      <vt:lpstr>iBGP versus EBGP</vt:lpstr>
      <vt:lpstr>iBGP versus Static Routes</vt:lpstr>
      <vt:lpstr>BGP Peers</vt:lpstr>
      <vt:lpstr>BGP Peers</vt:lpstr>
      <vt:lpstr>BGP Peers</vt:lpstr>
      <vt:lpstr>EBGP versus IBGP</vt:lpstr>
      <vt:lpstr>IBGP</vt:lpstr>
      <vt:lpstr>Single-Homed AS</vt:lpstr>
      <vt:lpstr>Multi-homed Autonomous Systems </vt:lpstr>
      <vt:lpstr>Multi-homed to a Single Autonomous Systems </vt:lpstr>
      <vt:lpstr>Multi-homed to a Single Autonomous Systems </vt:lpstr>
      <vt:lpstr>Multi-homed to a Single Autonomous Systems </vt:lpstr>
      <vt:lpstr>Multi-homed to a Single Autonomous Systems </vt:lpstr>
      <vt:lpstr>Multi-homed Non-transit Autonomous Systems </vt:lpstr>
      <vt:lpstr>Multi-homed Non-transit Autonomous Systems </vt:lpstr>
      <vt:lpstr>Multi-homed Transit Autonomous Systems </vt:lpstr>
      <vt:lpstr>WHEN NOT TO USE BGP</vt:lpstr>
      <vt:lpstr>WHEN TO USE IBGP</vt:lpstr>
      <vt:lpstr>BGP Operation</vt:lpstr>
      <vt:lpstr>BGP Operation</vt:lpstr>
      <vt:lpstr>BGP Operation</vt:lpstr>
      <vt:lpstr>BGP Hazards</vt:lpstr>
      <vt:lpstr>BGP Hazards</vt:lpstr>
      <vt:lpstr>BGP Hazards</vt:lpstr>
      <vt:lpstr>BGP Hazards: Another Example</vt:lpstr>
      <vt:lpstr>BGP Message Types</vt:lpstr>
      <vt:lpstr>BGP Message Types</vt:lpstr>
      <vt:lpstr>PowerPoint Presentation</vt:lpstr>
      <vt:lpstr>PowerPoint Presentation</vt:lpstr>
      <vt:lpstr>PowerPoint Presentation</vt:lpstr>
      <vt:lpstr>PowerPoint Presentation</vt:lpstr>
      <vt:lpstr>PowerPoint Presentation</vt:lpstr>
      <vt:lpstr>Path Attributes</vt:lpstr>
      <vt:lpstr>Path Attributes</vt:lpstr>
      <vt:lpstr>Path Attributes</vt:lpstr>
      <vt:lpstr>Path Attributes</vt:lpstr>
      <vt:lpstr>Path Attributes</vt:lpstr>
      <vt:lpstr>Path Attributes</vt:lpstr>
      <vt:lpstr>Path Attributes</vt:lpstr>
      <vt:lpstr>PowerPoint Presentation</vt:lpstr>
      <vt:lpstr>Path Attributes</vt:lpstr>
      <vt:lpstr>Path Attributes: as_path</vt:lpstr>
      <vt:lpstr>Path Attribute: next_hop</vt:lpstr>
      <vt:lpstr>Path Attribute: next_hop</vt:lpstr>
      <vt:lpstr>Path Attribute: local preference</vt:lpstr>
      <vt:lpstr>Path Attribute: local preference</vt:lpstr>
      <vt:lpstr>PowerPoint Presentation</vt:lpstr>
      <vt:lpstr>PowerPoint Presentation</vt:lpstr>
      <vt:lpstr>PowerPoint Presentation</vt:lpstr>
      <vt:lpstr>Path Attribute: community</vt:lpstr>
      <vt:lpstr>Path Attribute: community</vt:lpstr>
      <vt:lpstr>Weight</vt:lpstr>
      <vt:lpstr>Weight</vt:lpstr>
      <vt:lpstr>Weight</vt:lpstr>
      <vt:lpstr>bgp routing</vt:lpstr>
      <vt:lpstr>BGP Route Selection Algorithm</vt:lpstr>
      <vt:lpstr>BGP Route Selection Algorithm</vt:lpstr>
      <vt:lpstr>The Route Map Command</vt:lpstr>
      <vt:lpstr>Implementing Policy</vt:lpstr>
      <vt:lpstr>Using BGP Attributes</vt:lpstr>
      <vt:lpstr>BGP Scaling Techniques</vt:lpstr>
      <vt:lpstr>BGP Dynamic Reconfiguration: Soft Reconfig</vt:lpstr>
      <vt:lpstr>BGP Dynamic Reconfiguration: Soft Reconfig</vt:lpstr>
      <vt:lpstr>BGP Dynamic Reconfiguration: RT Refresh</vt:lpstr>
      <vt:lpstr>BGP Peer Groups</vt:lpstr>
      <vt:lpstr>BGP Peer Groups - Advantages</vt:lpstr>
      <vt:lpstr>BGP Route Flap Damping</vt:lpstr>
      <vt:lpstr>BGP Route Flap Damping</vt:lpstr>
      <vt:lpstr>BGP Route Flap Damping Operation</vt:lpstr>
      <vt:lpstr>Operation</vt:lpstr>
      <vt:lpstr>Operation</vt:lpstr>
      <vt:lpstr>Scaling iBGP mesh</vt:lpstr>
      <vt:lpstr>Scaling iBGP mesh</vt:lpstr>
      <vt:lpstr>Scaling iBGP mesh</vt:lpstr>
      <vt:lpstr>Scaling iBGP mesh</vt:lpstr>
      <vt:lpstr>Route Reflector: Principle</vt:lpstr>
      <vt:lpstr>Route Reflector</vt:lpstr>
      <vt:lpstr>Route Reflector Topology</vt:lpstr>
      <vt:lpstr>Route Reflector: Benefits</vt:lpstr>
      <vt:lpstr>PowerPoint Presentation</vt:lpstr>
      <vt:lpstr>BGP ATTRIBUTES: WEIGHT</vt:lpstr>
      <vt:lpstr>BGP ATTRIBUTES: AS-PATH</vt:lpstr>
      <vt:lpstr>BGP ATTRIBUTES: ORIGIN</vt:lpstr>
      <vt:lpstr>BGP ATTRIBUTES: NEXT-HOP</vt:lpstr>
      <vt:lpstr>BGP ATTRIBUTES: LOCAL PREFERENCE</vt:lpstr>
      <vt:lpstr>BGP ATTRIBUTES: ATOMIC AGGREGATE</vt:lpstr>
      <vt:lpstr>BGP ATTRIBUTES: COMMUNITY</vt:lpstr>
      <vt:lpstr>BGP ATTRIBUTES: COMMUNITY</vt:lpstr>
      <vt:lpstr>BGP ATTRIBUTES: EXTENDED COMMUNITY</vt:lpstr>
      <vt:lpstr>YOUTUBE BGP BASICS</vt:lpstr>
      <vt:lpstr>YOUTUBE BGP CONFIGURATION</vt:lpstr>
      <vt:lpstr>WIRESHARK</vt:lpstr>
    </vt:vector>
  </TitlesOfParts>
  <Company>SMU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SMU Generic Template: Blue</dc:title>
  <dc:creator>Marlin Kingsley</dc:creator>
  <cp:lastModifiedBy>Kingsley, Scott</cp:lastModifiedBy>
  <cp:revision>837</cp:revision>
  <dcterms:created xsi:type="dcterms:W3CDTF">2004-08-08T18:58:35Z</dcterms:created>
  <dcterms:modified xsi:type="dcterms:W3CDTF">2021-02-27T23:38:49Z</dcterms:modified>
</cp:coreProperties>
</file>