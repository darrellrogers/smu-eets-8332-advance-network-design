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3"/>
  </p:notesMasterIdLst>
  <p:handoutMasterIdLst>
    <p:handoutMasterId r:id="rId34"/>
  </p:handoutMasterIdLst>
  <p:sldIdLst>
    <p:sldId id="256" r:id="rId2"/>
    <p:sldId id="261" r:id="rId3"/>
    <p:sldId id="418" r:id="rId4"/>
    <p:sldId id="413" r:id="rId5"/>
    <p:sldId id="412" r:id="rId6"/>
    <p:sldId id="414" r:id="rId7"/>
    <p:sldId id="298" r:id="rId8"/>
    <p:sldId id="292" r:id="rId9"/>
    <p:sldId id="296" r:id="rId10"/>
    <p:sldId id="300" r:id="rId11"/>
    <p:sldId id="301" r:id="rId12"/>
    <p:sldId id="302" r:id="rId13"/>
    <p:sldId id="365" r:id="rId14"/>
    <p:sldId id="303" r:id="rId15"/>
    <p:sldId id="398" r:id="rId16"/>
    <p:sldId id="311" r:id="rId17"/>
    <p:sldId id="304" r:id="rId18"/>
    <p:sldId id="309" r:id="rId19"/>
    <p:sldId id="306" r:id="rId20"/>
    <p:sldId id="307" r:id="rId21"/>
    <p:sldId id="308" r:id="rId22"/>
    <p:sldId id="310" r:id="rId23"/>
    <p:sldId id="318" r:id="rId24"/>
    <p:sldId id="331" r:id="rId25"/>
    <p:sldId id="322" r:id="rId26"/>
    <p:sldId id="324" r:id="rId27"/>
    <p:sldId id="325" r:id="rId28"/>
    <p:sldId id="326" r:id="rId29"/>
    <p:sldId id="327" r:id="rId30"/>
    <p:sldId id="328" r:id="rId31"/>
    <p:sldId id="492" r:id="rId32"/>
  </p:sldIdLst>
  <p:sldSz cx="9144000" cy="6858000" type="screen4x3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4660"/>
  </p:normalViewPr>
  <p:slideViewPr>
    <p:cSldViewPr>
      <p:cViewPr varScale="1">
        <p:scale>
          <a:sx n="69" d="100"/>
          <a:sy n="69" d="100"/>
        </p:scale>
        <p:origin x="-14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56050" y="0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89FD1-ECB7-4B6D-9DE5-950BEECE2187}" type="datetimeFigureOut">
              <a:rPr lang="en-US" smtClean="0"/>
              <a:pPr/>
              <a:t>2/6/2013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18563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56050" y="8818563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8D623-53C6-4F7C-A81D-9849EB2649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94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546D8ADF-4389-46FB-B02D-137748EA4271}" type="datetimeFigureOut">
              <a:rPr lang="en-US" smtClean="0"/>
              <a:pPr/>
              <a:t>2/6/2013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6913"/>
            <a:ext cx="4641850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85F8726F-0D78-4D34-80A9-876A6440C6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4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58374" name="Rectangle 6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58376" name="Rectangle 8"/>
          <p:cNvSpPr>
            <a:spLocks noChangeArrowheads="1"/>
          </p:cNvSpPr>
          <p:nvPr/>
        </p:nvSpPr>
        <p:spPr bwMode="auto">
          <a:xfrm>
            <a:off x="3946849" y="-11282"/>
            <a:ext cx="3038151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58377" name="Rectangle 9"/>
          <p:cNvSpPr>
            <a:spLocks noChangeArrowheads="1"/>
          </p:cNvSpPr>
          <p:nvPr/>
        </p:nvSpPr>
        <p:spPr bwMode="auto">
          <a:xfrm>
            <a:off x="0" y="8837245"/>
            <a:ext cx="3036535" cy="45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58378" name="Rectangle 10"/>
          <p:cNvSpPr>
            <a:spLocks noChangeArrowheads="1"/>
          </p:cNvSpPr>
          <p:nvPr/>
        </p:nvSpPr>
        <p:spPr bwMode="auto">
          <a:xfrm>
            <a:off x="0" y="-11282"/>
            <a:ext cx="3036535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58379" name="Rectangle 11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58380" name="Rectangle 1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91" name="Rectangle 7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92" name="Rectangle 8"/>
          <p:cNvSpPr>
            <a:spLocks noChangeArrowheads="1"/>
          </p:cNvSpPr>
          <p:nvPr/>
        </p:nvSpPr>
        <p:spPr bwMode="auto">
          <a:xfrm>
            <a:off x="3946849" y="-11282"/>
            <a:ext cx="3038151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93" name="Rectangle 9"/>
          <p:cNvSpPr>
            <a:spLocks noChangeArrowheads="1"/>
          </p:cNvSpPr>
          <p:nvPr/>
        </p:nvSpPr>
        <p:spPr bwMode="auto">
          <a:xfrm>
            <a:off x="0" y="8837245"/>
            <a:ext cx="3036535" cy="45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94" name="Rectangle 10"/>
          <p:cNvSpPr>
            <a:spLocks noChangeArrowheads="1"/>
          </p:cNvSpPr>
          <p:nvPr/>
        </p:nvSpPr>
        <p:spPr bwMode="auto">
          <a:xfrm>
            <a:off x="0" y="-11282"/>
            <a:ext cx="3036535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95" name="Rectangle 11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67596" name="Rectangle 1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7047" name="Rectangle 7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3946849" y="-11282"/>
            <a:ext cx="3038151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0" y="8837245"/>
            <a:ext cx="3036535" cy="45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7050" name="Rectangle 10"/>
          <p:cNvSpPr>
            <a:spLocks noChangeArrowheads="1"/>
          </p:cNvSpPr>
          <p:nvPr/>
        </p:nvSpPr>
        <p:spPr bwMode="auto">
          <a:xfrm>
            <a:off x="0" y="-11282"/>
            <a:ext cx="3036535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7051" name="Rectangle 11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87052" name="Rectangle 1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8071" name="Rectangle 7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8072" name="Rectangle 8"/>
          <p:cNvSpPr>
            <a:spLocks noChangeArrowheads="1"/>
          </p:cNvSpPr>
          <p:nvPr/>
        </p:nvSpPr>
        <p:spPr bwMode="auto">
          <a:xfrm>
            <a:off x="3946849" y="-11282"/>
            <a:ext cx="3038151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8073" name="Rectangle 9"/>
          <p:cNvSpPr>
            <a:spLocks noChangeArrowheads="1"/>
          </p:cNvSpPr>
          <p:nvPr/>
        </p:nvSpPr>
        <p:spPr bwMode="auto">
          <a:xfrm>
            <a:off x="0" y="8837245"/>
            <a:ext cx="3036535" cy="45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8074" name="Rectangle 10"/>
          <p:cNvSpPr>
            <a:spLocks noChangeArrowheads="1"/>
          </p:cNvSpPr>
          <p:nvPr/>
        </p:nvSpPr>
        <p:spPr bwMode="auto">
          <a:xfrm>
            <a:off x="0" y="-11282"/>
            <a:ext cx="3036535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8075" name="Rectangle 11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88076" name="Rectangle 1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9095" name="Rectangle 7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3946849" y="-11282"/>
            <a:ext cx="3038151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9097" name="Rectangle 9"/>
          <p:cNvSpPr>
            <a:spLocks noChangeArrowheads="1"/>
          </p:cNvSpPr>
          <p:nvPr/>
        </p:nvSpPr>
        <p:spPr bwMode="auto">
          <a:xfrm>
            <a:off x="0" y="8837245"/>
            <a:ext cx="3036535" cy="45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9098" name="Rectangle 10"/>
          <p:cNvSpPr>
            <a:spLocks noChangeArrowheads="1"/>
          </p:cNvSpPr>
          <p:nvPr/>
        </p:nvSpPr>
        <p:spPr bwMode="auto">
          <a:xfrm>
            <a:off x="0" y="-11282"/>
            <a:ext cx="3036535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89099" name="Rectangle 11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89100" name="Rectangle 1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91" name="Rectangle 7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92" name="Rectangle 8"/>
          <p:cNvSpPr>
            <a:spLocks noChangeArrowheads="1"/>
          </p:cNvSpPr>
          <p:nvPr/>
        </p:nvSpPr>
        <p:spPr bwMode="auto">
          <a:xfrm>
            <a:off x="3946849" y="-11282"/>
            <a:ext cx="3038151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93" name="Rectangle 9"/>
          <p:cNvSpPr>
            <a:spLocks noChangeArrowheads="1"/>
          </p:cNvSpPr>
          <p:nvPr/>
        </p:nvSpPr>
        <p:spPr bwMode="auto">
          <a:xfrm>
            <a:off x="0" y="8837245"/>
            <a:ext cx="3036535" cy="45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94" name="Rectangle 10"/>
          <p:cNvSpPr>
            <a:spLocks noChangeArrowheads="1"/>
          </p:cNvSpPr>
          <p:nvPr/>
        </p:nvSpPr>
        <p:spPr bwMode="auto">
          <a:xfrm>
            <a:off x="0" y="-11282"/>
            <a:ext cx="3036535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7595" name="Rectangle 11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67596" name="Rectangle 1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4" name="Rectangle 6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5" name="Rectangle 7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6" name="Rectangle 8"/>
          <p:cNvSpPr>
            <a:spLocks noChangeArrowheads="1"/>
          </p:cNvSpPr>
          <p:nvPr/>
        </p:nvSpPr>
        <p:spPr bwMode="auto">
          <a:xfrm>
            <a:off x="3946849" y="-11282"/>
            <a:ext cx="3038151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7" name="Rectangle 9"/>
          <p:cNvSpPr>
            <a:spLocks noChangeArrowheads="1"/>
          </p:cNvSpPr>
          <p:nvPr/>
        </p:nvSpPr>
        <p:spPr bwMode="auto">
          <a:xfrm>
            <a:off x="0" y="8837245"/>
            <a:ext cx="3036535" cy="45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8" name="Rectangle 10"/>
          <p:cNvSpPr>
            <a:spLocks noChangeArrowheads="1"/>
          </p:cNvSpPr>
          <p:nvPr/>
        </p:nvSpPr>
        <p:spPr bwMode="auto">
          <a:xfrm>
            <a:off x="0" y="-11282"/>
            <a:ext cx="3036535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9" name="Rectangle 11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68620" name="Rectangle 1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4" name="Rectangle 6"/>
          <p:cNvSpPr>
            <a:spLocks noChangeArrowheads="1"/>
          </p:cNvSpPr>
          <p:nvPr/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5" name="Rectangle 7"/>
          <p:cNvSpPr>
            <a:spLocks noChangeArrowheads="1"/>
          </p:cNvSpPr>
          <p:nvPr/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6" name="Rectangle 8"/>
          <p:cNvSpPr>
            <a:spLocks noChangeArrowheads="1"/>
          </p:cNvSpPr>
          <p:nvPr/>
        </p:nvSpPr>
        <p:spPr bwMode="auto">
          <a:xfrm>
            <a:off x="3946849" y="-11282"/>
            <a:ext cx="3038151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7" name="Rectangle 9"/>
          <p:cNvSpPr>
            <a:spLocks noChangeArrowheads="1"/>
          </p:cNvSpPr>
          <p:nvPr/>
        </p:nvSpPr>
        <p:spPr bwMode="auto">
          <a:xfrm>
            <a:off x="0" y="8837245"/>
            <a:ext cx="3036535" cy="45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8" name="Rectangle 10"/>
          <p:cNvSpPr>
            <a:spLocks noChangeArrowheads="1"/>
          </p:cNvSpPr>
          <p:nvPr/>
        </p:nvSpPr>
        <p:spPr bwMode="auto">
          <a:xfrm>
            <a:off x="0" y="-11282"/>
            <a:ext cx="3036535" cy="456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958" tIns="46479" rIns="92958" bIns="46479" anchor="ctr"/>
          <a:lstStyle/>
          <a:p>
            <a:endParaRPr lang="en-US"/>
          </a:p>
        </p:txBody>
      </p:sp>
      <p:sp>
        <p:nvSpPr>
          <p:cNvPr id="68619" name="Rectangle 11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68620" name="Rectangle 1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1181-C1EB-4E9D-B919-B59ED1877BAB}" type="datetime1">
              <a:rPr lang="en-US" smtClean="0"/>
              <a:pPr/>
              <a:t>2/6/2013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12B-A28C-4CC0-933F-09E9488B8768}" type="datetime1">
              <a:rPr lang="en-US" smtClean="0"/>
              <a:pPr/>
              <a:t>2/6/2013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1D9E-7226-4231-B6E8-A20B9348DF07}" type="datetime1">
              <a:rPr lang="en-US" smtClean="0"/>
              <a:pPr/>
              <a:t>2/6/2013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DA462C53-E2CC-47B0-9FDD-89DA04EEF790}" type="datetime1">
              <a:rPr lang="en-US" smtClean="0"/>
              <a:pPr/>
              <a:t>2/6/2013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864E-F9F4-4082-A6F4-2A6023605EAE}" type="datetime1">
              <a:rPr lang="en-US" smtClean="0"/>
              <a:pPr/>
              <a:t>2/6/2013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083C-B60D-4ED7-89FD-B95C56DA075B}" type="datetime1">
              <a:rPr lang="en-US" smtClean="0"/>
              <a:pPr/>
              <a:t>2/6/2013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69F55-BF6A-4254-A301-9A9CC58E8525}" type="datetime1">
              <a:rPr lang="en-US" smtClean="0"/>
              <a:pPr/>
              <a:t>2/6/2013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488DF-3433-4033-B91E-BB379CD2D8FF}" type="datetime1">
              <a:rPr lang="en-US" smtClean="0"/>
              <a:pPr/>
              <a:t>2/6/2013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4AD46CA5-9DD7-4C47-9338-87A3ED9FBF64}" type="datetime1">
              <a:rPr lang="en-US" smtClean="0"/>
              <a:pPr/>
              <a:t>2/6/2013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A592-55F6-4281-ACF2-8AA0446484B6}" type="datetime1">
              <a:rPr lang="en-US" smtClean="0"/>
              <a:pPr/>
              <a:t>2/6/2013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FA133-76C3-4A2D-AED7-B86CF55180DE}" type="datetime1">
              <a:rPr lang="en-US" smtClean="0"/>
              <a:pPr/>
              <a:t>2/6/2013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822A7755-2247-4A00-8BC3-FFE12A3DD6DB}" type="datetime1">
              <a:rPr lang="en-US" smtClean="0"/>
              <a:pPr/>
              <a:t>2/6/2013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DE9D5F7-DBBB-443F-BC5A-E6BAD04A0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Spring 2013</a:t>
            </a:r>
          </a:p>
          <a:p>
            <a:r>
              <a:rPr lang="en-US" smtClean="0"/>
              <a:t>Session 1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457200"/>
            <a:ext cx="8458200" cy="1470025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Advanced Network Design</a:t>
            </a:r>
            <a:br>
              <a:rPr lang="en-US" dirty="0" smtClean="0">
                <a:solidFill>
                  <a:schemeClr val="accent2"/>
                </a:solidFill>
              </a:rPr>
            </a:br>
            <a:r>
              <a:rPr lang="en-US" dirty="0" smtClean="0">
                <a:solidFill>
                  <a:schemeClr val="accent2"/>
                </a:solidFill>
              </a:rPr>
              <a:t>EETS8332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43800" y="6459379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© Dr. Scott Kingsley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Dr. Scott Kingsley Bio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194048" cy="2362200"/>
          </a:xfrm>
        </p:spPr>
        <p:txBody>
          <a:bodyPr/>
          <a:lstStyle/>
          <a:p>
            <a:r>
              <a:rPr lang="en-US" dirty="0" smtClean="0"/>
              <a:t>Employment</a:t>
            </a:r>
          </a:p>
          <a:p>
            <a:pPr lvl="1"/>
            <a:r>
              <a:rPr lang="en-US" dirty="0" smtClean="0"/>
              <a:t>U.S. Navy</a:t>
            </a:r>
          </a:p>
          <a:p>
            <a:pPr lvl="1"/>
            <a:r>
              <a:rPr lang="en-US" dirty="0" smtClean="0"/>
              <a:t>DSC Communications</a:t>
            </a:r>
          </a:p>
          <a:p>
            <a:pPr lvl="1"/>
            <a:r>
              <a:rPr lang="en-US" dirty="0" smtClean="0"/>
              <a:t>MCI Telecommunications</a:t>
            </a:r>
          </a:p>
          <a:p>
            <a:pPr lvl="1"/>
            <a:r>
              <a:rPr lang="en-US" dirty="0" smtClean="0"/>
              <a:t>Alcatel Networking Systems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800600" y="1524000"/>
            <a:ext cx="4038600" cy="2819400"/>
          </a:xfrm>
        </p:spPr>
        <p:txBody>
          <a:bodyPr/>
          <a:lstStyle/>
          <a:p>
            <a:r>
              <a:rPr lang="en-US" dirty="0" smtClean="0"/>
              <a:t>Education</a:t>
            </a:r>
          </a:p>
          <a:p>
            <a:pPr lvl="1"/>
            <a:r>
              <a:rPr lang="en-US" dirty="0" smtClean="0"/>
              <a:t>BS Electronics</a:t>
            </a:r>
          </a:p>
          <a:p>
            <a:pPr lvl="1"/>
            <a:r>
              <a:rPr lang="en-US" dirty="0" smtClean="0"/>
              <a:t>MS Telecommunications</a:t>
            </a:r>
          </a:p>
          <a:p>
            <a:pPr lvl="1"/>
            <a:r>
              <a:rPr lang="en-US" dirty="0" smtClean="0"/>
              <a:t>Doctor of Engineering</a:t>
            </a:r>
            <a:endParaRPr lang="en-US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381000" y="3429000"/>
            <a:ext cx="4194048" cy="1447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sz="2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Entrepreneur</a:t>
            </a: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/>
              <a:buChar char=""/>
              <a:tabLst/>
              <a:defRPr/>
            </a:pP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TelOptica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2200" b="0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Inc.</a:t>
            </a: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/>
              <a:buChar char=""/>
              <a:tabLst/>
              <a:defRPr/>
            </a:pPr>
            <a:r>
              <a:rPr lang="en-US" sz="2200" baseline="0" dirty="0" err="1" smtClean="0">
                <a:solidFill>
                  <a:schemeClr val="tx2"/>
                </a:solidFill>
              </a:rPr>
              <a:t>OptionTel</a:t>
            </a:r>
            <a:r>
              <a:rPr lang="en-US" sz="2200" baseline="0" dirty="0" smtClean="0">
                <a:solidFill>
                  <a:schemeClr val="tx2"/>
                </a:solidFill>
              </a:rPr>
              <a:t>,</a:t>
            </a:r>
            <a:r>
              <a:rPr lang="en-US" sz="2200" dirty="0" smtClean="0">
                <a:solidFill>
                  <a:schemeClr val="tx2"/>
                </a:solidFill>
              </a:rPr>
              <a:t> LLC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/>
              <a:buChar char=""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/>
              <a:buChar char="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43800" y="6459379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© Dr. Scott Kingsley</a:t>
            </a:r>
            <a:endParaRPr lang="en-US" sz="1000" dirty="0"/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4724400" y="3352800"/>
            <a:ext cx="4194048" cy="2362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lang="en-US" sz="2500" dirty="0" smtClean="0"/>
              <a:t>Teaching</a:t>
            </a:r>
            <a:endParaRPr kumimoji="0" lang="en-US" sz="25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/>
              <a:buChar char=""/>
              <a:tabLst/>
              <a:defRPr/>
            </a:pPr>
            <a:r>
              <a:rPr lang="en-US" sz="2200" dirty="0" err="1" smtClean="0">
                <a:solidFill>
                  <a:schemeClr val="tx2"/>
                </a:solidFill>
              </a:rPr>
              <a:t>DeVry</a:t>
            </a:r>
            <a:r>
              <a:rPr lang="en-US" sz="2200" dirty="0" smtClean="0">
                <a:solidFill>
                  <a:schemeClr val="tx2"/>
                </a:solidFill>
              </a:rPr>
              <a:t>/Keller</a:t>
            </a:r>
            <a:endParaRPr kumimoji="0" lang="en-US" sz="2200" b="0" i="0" u="none" strike="noStrike" kern="1200" cap="none" spc="0" normalizeH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/>
              <a:buChar char=""/>
              <a:tabLst/>
              <a:defRPr/>
            </a:pPr>
            <a:r>
              <a:rPr lang="en-US" sz="2200" dirty="0" smtClean="0">
                <a:solidFill>
                  <a:schemeClr val="tx2"/>
                </a:solidFill>
              </a:rPr>
              <a:t>Frequent guest lecture at Texas A&amp;M telecom</a:t>
            </a: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/>
              <a:buChar char="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Various</a:t>
            </a:r>
            <a:r>
              <a:rPr kumimoji="0" lang="en-US" sz="2200" b="0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others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/>
              <a:buChar char=""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/>
              <a:buChar char="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3"/>
          <p:cNvSpPr txBox="1">
            <a:spLocks/>
          </p:cNvSpPr>
          <p:nvPr/>
        </p:nvSpPr>
        <p:spPr>
          <a:xfrm>
            <a:off x="381000" y="4876800"/>
            <a:ext cx="4194048" cy="14478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lang="en-US" sz="2500" dirty="0" smtClean="0"/>
              <a:t>Organizations</a:t>
            </a:r>
            <a:endParaRPr kumimoji="0" lang="en-US" sz="25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/>
              <a:buChar char=""/>
              <a:tabLst/>
              <a:defRPr/>
            </a:pPr>
            <a:r>
              <a:rPr lang="en-US" sz="2200" dirty="0" smtClean="0">
                <a:solidFill>
                  <a:schemeClr val="tx2"/>
                </a:solidFill>
              </a:rPr>
              <a:t>IEEE</a:t>
            </a:r>
            <a:endParaRPr kumimoji="0" lang="en-US" sz="2200" b="0" i="0" u="none" strike="noStrike" kern="1200" cap="none" spc="0" normalizeH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/>
              <a:buChar char=""/>
              <a:tabLst/>
              <a:defRPr/>
            </a:pPr>
            <a:r>
              <a:rPr lang="en-US" sz="2200" noProof="0" dirty="0" smtClean="0">
                <a:solidFill>
                  <a:schemeClr val="tx2"/>
                </a:solidFill>
              </a:rPr>
              <a:t>ITERA</a:t>
            </a: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/>
              <a:buChar char=""/>
              <a:tabLst/>
              <a:defRPr/>
            </a:pPr>
            <a:r>
              <a: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ASEE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/>
              <a:buChar char=""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/>
              <a:buChar char="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Past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192902"/>
              </p:ext>
            </p:extLst>
          </p:nvPr>
        </p:nvGraphicFramePr>
        <p:xfrm>
          <a:off x="3810000" y="2971800"/>
          <a:ext cx="1600200" cy="175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00200"/>
              </a:tblGrid>
              <a:tr h="6033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IP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545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smtClean="0">
                          <a:effectLst/>
                        </a:rPr>
                        <a:t>ATM/FR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6033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smtClean="0">
                          <a:effectLst/>
                        </a:rPr>
                        <a:t>T-1/T-3/SONET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86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North American Digital Hierarchy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43800" y="6459379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© Dr. Scott Kingsley</a:t>
            </a:r>
            <a:endParaRPr lang="en-US" sz="1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014538"/>
            <a:ext cx="7230629" cy="370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Digital Transport: Channelized T-1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43800" y="6459379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© Dr. Scott Kingsley</a:t>
            </a:r>
            <a:endParaRPr lang="en-US" sz="1000" dirty="0"/>
          </a:p>
        </p:txBody>
      </p:sp>
      <p:pic>
        <p:nvPicPr>
          <p:cNvPr id="2054" name="Picture 6" descr="http://t2.gstatic.com/images?q=tbn:ANd9GcQ8XlYg4L36_xZLqkjLDTsgSvFlSf6thxZEtOhhx4VXXf_Pyc7LwQ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19400"/>
            <a:ext cx="7162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1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T-3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28 x T-1</a:t>
            </a:r>
          </a:p>
          <a:p>
            <a:r>
              <a:rPr lang="en-US" dirty="0" smtClean="0"/>
              <a:t>Proprietary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43800" y="6459379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© Dr. Scott Kingsley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4298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NADH Problems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503920" cy="4495800"/>
          </a:xfrm>
        </p:spPr>
        <p:txBody>
          <a:bodyPr>
            <a:normAutofit/>
          </a:bodyPr>
          <a:lstStyle/>
          <a:p>
            <a:r>
              <a:rPr lang="en-US" dirty="0" smtClean="0"/>
              <a:t>Clocking variation</a:t>
            </a:r>
          </a:p>
          <a:p>
            <a:r>
              <a:rPr lang="en-US" dirty="0" smtClean="0"/>
              <a:t>“Black box”</a:t>
            </a:r>
          </a:p>
          <a:p>
            <a:pPr lvl="1"/>
            <a:r>
              <a:rPr lang="en-US" dirty="0" smtClean="0"/>
              <a:t>Back-to-back multiplexers</a:t>
            </a:r>
          </a:p>
          <a:p>
            <a:r>
              <a:rPr lang="en-US" dirty="0" smtClean="0"/>
              <a:t>Speed limitations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43800" y="6459379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© Dr. Scott Kingsley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8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SONET/SDH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23088" y="1524000"/>
            <a:ext cx="8503920" cy="4495800"/>
          </a:xfrm>
        </p:spPr>
        <p:txBody>
          <a:bodyPr>
            <a:normAutofit fontScale="85000" lnSpcReduction="20000"/>
          </a:bodyPr>
          <a:lstStyle/>
          <a:p>
            <a:pPr lvl="1"/>
            <a:endParaRPr lang="en-US" dirty="0" smtClean="0"/>
          </a:p>
          <a:p>
            <a:r>
              <a:rPr lang="en-US" sz="2800" dirty="0" smtClean="0"/>
              <a:t>SONET/SDH as </a:t>
            </a:r>
            <a:r>
              <a:rPr lang="en-US" sz="2800" dirty="0"/>
              <a:t>part of the first generation of optical networks was the earliest to be </a:t>
            </a:r>
            <a:r>
              <a:rPr lang="en-US" sz="2800" dirty="0" smtClean="0"/>
              <a:t>deployed in </a:t>
            </a:r>
            <a:r>
              <a:rPr lang="en-US" sz="2800" dirty="0"/>
              <a:t>backbone networks and has been very successful over the years. </a:t>
            </a:r>
            <a:endParaRPr lang="en-US" sz="2800" dirty="0" smtClean="0"/>
          </a:p>
          <a:p>
            <a:r>
              <a:rPr lang="en-US" sz="2800" dirty="0" smtClean="0"/>
              <a:t>It </a:t>
            </a:r>
            <a:r>
              <a:rPr lang="en-US" sz="2800" dirty="0"/>
              <a:t>is </a:t>
            </a:r>
            <a:r>
              <a:rPr lang="en-US" sz="2800" dirty="0" smtClean="0"/>
              <a:t>particularly adept </a:t>
            </a:r>
            <a:r>
              <a:rPr lang="en-US" sz="2800" dirty="0"/>
              <a:t>at supporting constant bit rate (CBR) connections, and it multiplexes </a:t>
            </a:r>
            <a:r>
              <a:rPr lang="en-US" sz="2800" dirty="0" smtClean="0"/>
              <a:t>these connections </a:t>
            </a:r>
            <a:r>
              <a:rPr lang="en-US" sz="2800" dirty="0"/>
              <a:t>into higher speed optical connections by using time division multiplexing.</a:t>
            </a:r>
          </a:p>
          <a:p>
            <a:r>
              <a:rPr lang="en-US" sz="2800" dirty="0"/>
              <a:t>Originally designed for low speed voice and CBR connections, up to 51 Mb/s</a:t>
            </a:r>
            <a:r>
              <a:rPr lang="en-US" sz="2800" dirty="0" smtClean="0"/>
              <a:t>, it </a:t>
            </a:r>
            <a:r>
              <a:rPr lang="en-US" sz="2800" dirty="0"/>
              <a:t>now supports data network, packet traffic that can have link transmission </a:t>
            </a:r>
            <a:r>
              <a:rPr lang="en-US" sz="2800" dirty="0" smtClean="0"/>
              <a:t>rates in </a:t>
            </a:r>
            <a:r>
              <a:rPr lang="en-US" sz="2800" dirty="0"/>
              <a:t>the tens of gigabits per second. </a:t>
            </a:r>
            <a:endParaRPr lang="en-US" sz="2800" dirty="0" smtClean="0"/>
          </a:p>
          <a:p>
            <a:r>
              <a:rPr lang="en-US" sz="2800" dirty="0" smtClean="0"/>
              <a:t>An </a:t>
            </a:r>
            <a:r>
              <a:rPr lang="en-US" sz="2800" dirty="0"/>
              <a:t>important feature of SONET/SDH is that </a:t>
            </a:r>
            <a:r>
              <a:rPr lang="en-US" sz="2800" dirty="0" smtClean="0"/>
              <a:t>it provides </a:t>
            </a:r>
            <a:r>
              <a:rPr lang="en-US" sz="2800" dirty="0"/>
              <a:t>carrier grade service of high availability.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43800" y="6459379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© Dr. Scott Kingsley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7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accent2"/>
                </a:solidFill>
              </a:rPr>
              <a:t>Plesiochronous</a:t>
            </a:r>
            <a:r>
              <a:rPr lang="en-US" dirty="0" smtClean="0">
                <a:solidFill>
                  <a:schemeClr val="accent2"/>
                </a:solidFill>
              </a:rPr>
              <a:t> Networks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20700" y="1600200"/>
            <a:ext cx="3609561" cy="4038600"/>
          </a:xfrm>
        </p:spPr>
        <p:txBody>
          <a:bodyPr>
            <a:normAutofit lnSpcReduction="10000"/>
          </a:bodyPr>
          <a:lstStyle/>
          <a:p>
            <a:r>
              <a:rPr lang="en-US" sz="2400" i="1" dirty="0" err="1" smtClean="0"/>
              <a:t>Plesio</a:t>
            </a:r>
            <a:r>
              <a:rPr lang="en-US" sz="2400" i="1" dirty="0" smtClean="0"/>
              <a:t> </a:t>
            </a:r>
            <a:r>
              <a:rPr lang="en-US" sz="2400" dirty="0" smtClean="0"/>
              <a:t>means near</a:t>
            </a:r>
            <a:endParaRPr lang="en-US" sz="2400" i="1" dirty="0" smtClean="0"/>
          </a:p>
          <a:p>
            <a:r>
              <a:rPr lang="en-US" sz="2400" dirty="0" smtClean="0"/>
              <a:t>Equipment has very accurate but not synchronized clocks </a:t>
            </a:r>
          </a:p>
          <a:p>
            <a:r>
              <a:rPr lang="en-US" sz="2400" dirty="0" smtClean="0"/>
              <a:t>North American Digital Hierarchy</a:t>
            </a:r>
          </a:p>
          <a:p>
            <a:r>
              <a:rPr lang="en-US" sz="2400" dirty="0" smtClean="0"/>
              <a:t>CSU/DSU provides clock</a:t>
            </a:r>
          </a:p>
          <a:p>
            <a:r>
              <a:rPr lang="en-US" sz="2400" dirty="0" smtClean="0"/>
              <a:t>Disadvantages</a:t>
            </a:r>
          </a:p>
          <a:p>
            <a:pPr lvl="1"/>
            <a:r>
              <a:rPr lang="en-US" sz="1900" dirty="0" smtClean="0"/>
              <a:t>Speed limited</a:t>
            </a:r>
          </a:p>
          <a:p>
            <a:pPr lvl="1"/>
            <a:r>
              <a:rPr lang="en-US" sz="1900" dirty="0" smtClean="0"/>
              <a:t>Payload invisible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43800" y="6459379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© Dr. Scott Kingsley</a:t>
            </a:r>
            <a:endParaRPr lang="en-US" sz="1000" dirty="0"/>
          </a:p>
        </p:txBody>
      </p:sp>
      <p:sp>
        <p:nvSpPr>
          <p:cNvPr id="5" name="AutoShape 2" descr="data:image/jpg;base64,/9j/4AAQSkZJRgABAQAAAQABAAD/2wCEAAkGBhQSERUUEhQTFRQUFxUXFBcXGBYSGhcUFRYXFBcUFBQXHCceFxkkGRYVHy8hJCcpLC0sFx4xNTAqNSYsLCkBCQoKBQUFDQUFDSkYEhgpKSkpKSkpKSkpKSkpKSkpKSkpKSkpKSkpKSkpKSkpKSkpKSkpKSkpKSkpKSkpKSkpKf/AABEIALABHwMBIgACEQEDEQH/xAAcAAEBAAIDAQEAAAAAAAAAAAAABgIFAQQHAwj/xABOEAABAwICBAkHBwkHAwUAAAABAAIDBBEFEgYHITETIkFRVGFxk9IUFhc1coGUFSMyM1ORsyRCY3OSobTC0SVSYoKxssFDdaJEZIOj8f/EABQBAQAAAAAAAAAAAAAAAAAAAAD/xAAUEQEAAAAAAAAAAAAAAAAAAAAA/9oADAMBAAIRAxEAPwD3FERAREQEREBEUjrWqXx4VO6N743ZqcBzCWOAdUwtNnDaNhI96CuRRQ1XR9NxP4p3hXPouj6bifxTvCgtEUX6Lo+m4n8U7wp6Lo+m4n8U7woLRFF+i6PpuJ/FO8Kei6PpuJ/FO8KCzK1GJY6Yqmnh4GRwncWmXYGNsyR9r3uXcTda23etbhWr9kEzJRVV7yw3DZKh0jDsIs5hG0bVtcZonPkpXNFxFPnftAs3gZmX27+M9o2c6D4aTYjNFwDYHQtfNLkLpmue1oEb5L2Y9pvdgG/lXRoNLxGyY1skIMM4hD4RI5srjEyYCOMZ35wHG7RmtlJ7PtpnhxlbT/k3lbI5s8kV4treCkYD885rDZzmnep3zfqGl0lPSGmidJFemilgjks1kzXytkaTHEXOfEHZDmLWHbc2QWzdIIC0OEjS10Lp2kXIMLbXkBA3cYde3ctRpTpvDSwvLZGGbgTLExweQQQSzORbIHEEC5BJBAup9uBVkVLE1lPnk8kqqV7eFjGR8j2uZIXudx2ENP8Ai2i4Fzb6Y5gFUIKiKKnE3ldPA3MZI2cFJFHwbmuDjtFgHNLb8YuvYbUHoQXK0+kOjbaxjWumqIsri4GCQwk32WcQDcLR+i6PpuJ/FO8KC0RRfouj6bifxTvCnouj6bifxTvCgtEUX6Lo+m4n8U7wp6Lo+m4n8U7woLRFF+i6PpuJ/FO8K6eB4MaPGWwtqKqWN9DLIRPM6azxUQsBAOwbL/eg9AREQEREBERAREQEREBERAREQFG63vVM/t038XArJRut31TP7dN/FwILELlcBcoCIiAiIgIiIOLJZcog4smVcogIiICIiAiIgKRm9fx/9ul/ioVXKQmP9vx/9ul/ioUFeiIgIiICIiAiIgIiICIiAiIgLx/XzidTTRtDXB9LVZGPY4XyTQyMma5jhtGYNAI2jinlXr91otMtFI8RpXU8hsC5jg61y1zHA3HaMzexxQdPVvWVM9E2prHXkqSZGsAytjiOyNjB1tGa5JJzC52KqXygiDGhrRZrQA0cwAsB/wAL6AoOUREBERAREQEREBERAREQEREBERBjI24tt282w+7rX59qdJsTbjQpMzDUhrqJsxYM3ASSsmE5b9HOGNBva1r3F1+g1Pv0PiOJNxA/WNhMIFuUn6ztDS5nY4oN9EywAuTYAXO0m2y561mi4BQcoiICIiAiIgIiICIiDgrQwVM4xJ0b5GmE0+eNjWFpBEgaS9xcczrc1h1cq366Jwz8pE+Y3ERiy25C8PzX91kGixOldV1z6d0s0cMEEUhbFI+B0kk75WgukYQ7K1sJ2Aja7buSPGnUQENQ/hmthqpWzE8YincHCGQWsZBE8XdfblJsu7jejb5ZWzwTvppgzg3OaxkrXxZs4a+OTZcOuQRYjM7fdaPG9EWmOjpGCZ/z7pZpiLhzHZ3VJnkAtmlzltuUuFtjdgbMaUTucxrKQvytpzU2kAMTp7HJG0s+dLG8Z30dm652Kfo9YYpaOka/JI4UkE0xlqGRPc1wI+Za+7p5Tkectx+btu4KoxHRh0k5kZPJE2QxGeNob84YTdtpPpR3HFdbeABsXQGgrmxxMiqZIssEVPMWsYTJHFmylpN+Bfx3jML7HbtgQVjHggEbQdo7FkuGtsLcy5QEREBERAREQEREBERAREQCp0VU4xRsbpGGB1NK9jGtLSHMlgbmkcXHMeO61g0AE7CqJa9+FXqmVGY8SKSLLbfwj45M1+rggLdaDTYvA6qrvJnSzRwxU7JnCGR0DpJJZZI25pGEOytETjYEXLxfcsqXEH0ZhgmkMzHuqWtnJ4zBE0zRxzbOO/ghJd1xfg921dvHNHHTSsmgndTztaYy8NZK18TjmyPjfsNnC4Owgk85C0ekOioFHHRxiaSSWoD3TZbnO6TNUTTvFmtzRvlb2ENA3BB2qTTOaVrHRUZeODglnAlGaNtRcsaxpZ85IGWe5py2vYElayPTvyWnja4xySOdVvPDVDKf5uOpkYGsdIDnedzW7BxdpFlQV+ihfLninfBG8RNnjY1vzjYTxA2T6URscpLd7eY7V1pNCnBrOBqHxSN4drniNjs0U8xmLcrtjXNceK7k27DeyCjoatssbJG3yyNa9t99nAOF+uxX3XzpoAxjWAkhoDQSbkgC1yeU9a+iAiIgIiINf5wU/wBvB3kf9U+X6b7eDvI/EoTVvoHQTYXSyS0lO+R8d3OcwEuOZ20nlVN6NcM6DTd21Btfl+m+3g7yPxJ5wU/28Hex/wBVocQ0FwmCN8stJSMjjaXPc5jQA0byo2h1dw4o4SilioaC94gyNraiobyPe4g8DGd4A2ke4oPTzpFTdIg72PxLnzgpukQd7H4lNw6n8Ka0N8kYbcrnSE9pOZTuLaraegcamnpY6mnG2emlaJHhg3yUsh42YDbkcSCN1jZB6N8v0/28HeR+JcfL1N9vB3kfiWgw3QfCaiJk0NHSvjkaHMcIxtB/06xvBXb9GuGdBpu7ag2vy/Tfbwd5H4k+X6b7eDvI/EtV6NcM6DTd21PRrhnQabu2oNr8v0328HeR+JPl+m+3g7yPxLVejXDOg03dtT0a4Z0Gm7tqDa/L9N9vB3kfiT5fpvt4O8j8S1Xo1wzoNN3bU9GuGdBpu7ag2vnBTfbwd5H/AFXchna9oc0hzTuIIcD2EbCpir1b4aI3kUVNcNcR82OQFfDVPKBhFGLj6s/iPQWSIiAuCVysX7j2IOicfp/t4O8j/qnnBTdIg72P+qgdWuhFDUYbDLPSwSSOdPme5gcTaolaLnsAHuXVqtBKKtxE00NNDFTUYa6qfGwMdLO8ZmU7XjaGhpzOtt3BB6QNIaY7qiDvY/6p5wU3SIO9j/qvPtLdW1DRtFbDSxFkG2pgcM7ZKcmz3MDzxZWA5gQdtiDvC19FoHBizuEipYaPD78R7YmioqgNmZpcPmYjyG2Y/wCgeoHSOm6RB3sfiXPnBTdIg7yP+qm4NTuFMaG+SMdblc6RxPacyn8Y1UU9G41FJSx1MQ2zUkjRIXM5XU0juM2QD8wkh27YUHonnBTfbwd5H4lx8vU328HeR+JT2D6F4RVQMnho6V0cgzNPBgbOYjkINwRyEFdz0a4Z0Gm7sINt5wU328HeR+JPOGm6RB3sf9VG6XaJYfTQDgaCkdUTPbDTNMYsZpNxd/gaAXu6mlYwakcOFNwT480pbxpwS1/CEXLmNBytF9zbWts2oLTzgpvt4O8j8SfL9N9vB3kfiURofofQSskgqaKk8qpH8FORG0B+wOjnA5BIwh3bmVF6NcM6DTd21Btfl+m+3g7yPxJ8v0328HeR+Jar0a4Z0Gm7tqejXDOg03dtQbXzgpvt4O8j8S7kFQ17Q5jmuadxaQ4HsI2Kd9GuGdBpu7C12qCRrcJgFwLGbZ/8z0Ha1Uep6P8AVfzOVYVJ6qPU9H+q/mcvrrA0gfT0wjp9tVVPEFMP0j9hk7GNu6/PbnQaaqb8r15iJvh9C8cKN4qasbRGeeOPeRyn93oAFlqtF9Ho6Klip490bdruV7ztfI7nLnXP/wCLbIC4IXKIInAr0GJSUW6nqg6ppOZkgP5RA3quWyADdmPOrZRutCFzKVlZGLy0ErKhvJeNpyzMvzGNzr9iraSpbIxr2G7Xta5p52uGYH7ig+qIiAiIgIiIPhXfVP8AZd/tKi9Vnquj9g/ivVpXfVP9l3+0qL1Weq6L2D+K9BdoiICxfuPYsli/cexBC6ucQbBgTJn/AEYhVvdybGTzOP8Aou7qww10eHsll+uq3Pqpjyl85zi/YzKLdqiYZidG6anbfNW1JphbmkrJC/8A8GuH+ZX+mmOGio7QC88hZT0rOeZ/FZs5mi7j1NQaXFr4tXOpBfyCjcDWEGwnqN7Ka/K1v0nddhs2LYauJyyGajcSXUE8kAvvMJ+cgd2cG4N/yLbaIaNtoaSOAHM4caV/LJM7bJISdpu6+/kstLA3yfHpBubXUjX7981K/gzs5+Cez7igtFwVyiCKw9vkGKOg3U2IB80I5I6pm2aNvMHts8DnDlaBSWs+gc6iM8X11E9lVEeuE5nt7DHn2cuxUuHV7ZoY5WG7JGNe0/4XgOH7iglj+U43a948PgBt/wC5q7gH3RMPZm61YhRurF/DRVNWdvldXPI0/oozwMQ7A2NWaCOxZ/k2MU0u5lbG+mk5BwsV5oHHrtwjB29SsVHa1ISKDyhoJfRzQVLbfonjP/8AW56roZg5ocNocAQeoi4QZoiIOCvPdVPquDtm/GevQivPdVPquDtm/Geg22qn1PR/qv5nLpYF+X4rPVnbBQ5qWm5jMbGolHXtDAeZavBcfdSaNUz4xeeSNsNO3ldPK9zGADlsTmt/hVvongLaKkhp27eDbxnf3pHEukee15cUG3CIiAiIg+FdRtljfG8XZI1zHDna9paR9xKldVVYXYe2F5vJRyS0snbC6zd/OwsPvVioXRoeT41iEB2NqWQ1kY69sUp/bH7ggukREBERAREQa7SHEWQUs8shsyON7ne5p2dpNh71Kaqz/ZdF7B/FeuNYLjV1FPhzSchDqqrt0eHaxh9uXKP8qy1Wn+y6P2D+K9BdoiICxfuPYsli/cexB47oQzhjg0OwthOIVTx7M0kUZt1PeD7lVUDPL8YkmO2nw0GGLmdVvHzzx1sbZnaepeeaA6QeTwVdVa76WBlLAOV09RUzzNaP8z2X6mnmXsGhej/kVHFCdrwM0zt+aaTjyOJ5eMT7gEG9AUPrBdwNXhdVs4lXwDjzMqmGM+7Zf3K4Ufraoy/CqhzRxoeDnb1GGRshP7IcgsAi69BViWJkg3PY147HAO/5XYQfOeEPaWu2tcCCOoixXmmjmNGmwSuicTwmGmqp9+2zS4wm/NZ4A9lenrxTWLeLEJ6MB2XFjQEW3B0cojl+9rG37Sg9N0FwvyfDqWK1i2GPN7bm53/+TnLfLFrbbOZZINfj+HielnhIvwsUjP2mkD95Wm1YYlw+FUjjvbEI3cvGhJhN+viX96qCojVi3gvL6a1hT10+Qfo5bSs/cUFwiIg6uJYgyCJ8shysja57z/haLn37FCapX3wqA85lP3yvK++s2uEjoaG/FlzVFXb82ipvnHg82dwDQeor4apX3wmnNrXMptzXleUGh1YflpoGb4MNpw93KDWTF4YDzlkYJ6i7sXsQChtS+EshwiAsG2bNLIed7jl/c1rR7ldICIiAiIgKG0xd5PimGVW5r3y0chtvE7bxAnmEjb/erlSOtPDHS4ZM5n1lPlqY+p0DhIbdeUPHvQVoXK6mE17Z4Ipm7WyxseOx7Q4f6rtoCIiAsJpg1pc4gNaCXE7gALkn3LNResmpfIyHD4SRLXv4NxH5lM2zqh/7HF68xQdfQaF08dXiMgIdWl3Ag/m0kTSyEW5L2Luu4PKudVnqui9g/ivVc6kbFTmNgDWMjLWgcjWtsB9wCkdVnqui9g/ivQXaIiAsX7j2LJYv3HsQeCan8L8pnawi8VNPLVynkdMfmaaM9bcssnvC99UDqWwpkWGiRo408sz5D1tldE0DqDWD3k86vkBdLGaITU80RFxJHIwjnztLf+V3VwQgk9VdeZcJpSd7GGJ3UYHOh2+5gPvVaofVrHwMmI0trcBWyOaOaKoDZWfuVwgLyzWfWxx4xg5c3a2Vxc7mY57GNv2PN16mvJNNcKNdWYoW3zUdFAyM802cVvFPPZjB70HrQXK1ujmLCqpYJ27pomPtvsXNBLe0G49y2SAofB3cDj9bHyVVNT1A7YiYHW/ab9yuFD6Tx8FjOGT22SiopXn2mcJGP2g/7kFwsJHgAkkAAXJPIBylZXUhrJxN4gjo4Daor3iBlt7Ijtnl7Gx3+/qQSFdWGagxTE7baseS0YI2+TB/ANy83CPc5x7BzLdapmWwqAcxlH3SvC7WmFGyNuF0MXFY6rpwG/oaVplN/e2P7119VR/suH2pvxnoNtqo9T0f6r+ZyrVJaqPU9H+q/mcq1AREQEREBYTxBzS0i4cCCOcHYR9yzXBQRmq6Ux081E88egnkh27zEXGSF23kLHWHU0K0UTjH5FisNTugrWtpag8jZ27aaR3bxo79YVqEHKIiDCWQNBJIAAJJOwADaSTyKH0Faa2qnxR4OST5iiB5KaMnNJb9I+59y505rnVczMKp3EOmGeskb/0aS4u2/I+T6IHMeYqzoqNkUbI42hrGNDWNG4NaLAD3IFd9U/2Xf7SovVZ6rovYP4r1aV31T/Zd/tKi9Vnqui9g/ivQXaIiAsX7j2LJYv3HsQR+qP1TB7VR/EyqyUbqj9Uwe1UfxMqskBERBFwfMY/INgbW0jHjrlpX5CO7eD/lVoo3WBHwT6KtH/pKholPNT1I4CQnsLmHsBViEAqJ1ZM4WOsqnC4rKud7b7bwxu4FgP7Dgt1pvjBpaColH0xGWxjnlktHGP23NXY0XwYUtHBAP+lGxrutwHGd73XPvQT2rMcAKqgO+incIwejzXlhP3Fw7QVbKJ0lHkeI09duhmApKvmbmOanmd1B92EncHBWoKDlRmtVhbRNqQLmjqKepFv7scgD/wDwc5Wa6WNYY2pp5YHfRmjfGTvsHtLb26r39yDtNkBF7i1r35Lb735lDaH3r66fEnfUsDqWh642O+enHtvuAeYELRQaQzVdDS4ZA7LVysdDWOG008FO4wzPd/idkyt58x3bCvTsNoGU8McMTcscbQ1g5mtFggk6ocPj8I2ltFSSSHmEtS8RgfsNJ9y6eqn1XB2zfjPXb1cv8olr67kqajg4jt2wUo4JhHac5966mqn1XB2zfjPQbbVT6no/1X8zlWqLi1WU0UeWOauY1o4rW1czWgb7BodYBdbzBh6RiHxk/iQXqKC8wYekYh8ZP4k8wYekYh8ZP4kF6igvMGHpGIfGT+JPMGHpGIfGT+JBeooLzBh6RiHxk/iTzBh6RiHxk/iQV2OYNHV08kEwuyRtjzjlDmnkcCAQecBTeA6TPpntosScGTDiwTu4sdWwfRcHnY2a1g5hN77Re66vmBD0jEPjJ/EvhW6sqWZuSWWtkZcHK+qleLjccriQg9DzKQx7Tm7jS4cG1VYdnFOaKC+zhKiQbAB/d3ki2xaH0P0GXJ+UZf7vDvtbmtuXYodV9LC3LDJWRtJuWsqZYxfns0gXQU+iOigoo3ZnmWomdwlTO76Ush5bfmsG5reQLfqC8wYekYh8ZP4k8wYekYh8ZP4kFtXfVv8AZd/tKi9Vnqui9g/ivWB1fwnYajEPjJ/Et9gWFR00UUEVxHGLNucxtmLtpO/aSgoEREBYv3HsWS4IQR+qP1TB7VR/EyqxUXHqtpo2kRy1zGjMQ1lVMxoJNzZoNhtJ+9dbzBh6RiHxk/iQXqKC8wYekYh8ZP4k8wYekYh8ZP4kFhjGFMqYJYJNrJWOY7scLXHWN/uWl0IxhzojTVB/LKW0Uw5XhuxlQ2+0se3K6/PcLU+YMPSMQ+Mn8S6lTqqo5Hh8j6t7wMoc6plc4N2nKHE3A2nYg2+JyCvr4oGcaCieJ6lw2tNQ0HgKe/K5pJkcOSzQd6sAvPKPVlTQtyxS1sbbk5WVUzBc7zZpAuvv5gw9IxD4yfxILHFsLjqYZIZm5o5Wlrx1HmPIeUHkICl8E0hdQuFFiL8pbxaaqfxY6iMfRa952MnAsC0nba4vddbzAh6RiHxk/iXwrNWdNKwsllrZGG12vqpntNt12uJCD0MOUlpBp21r/JqFoq6126NhuyL9JUyDYxo5r3PvWgbqfoA3IPKMv93h32+7cvvQaraSAFsL6yJpNyI6mWME85DSLlBjozhbsKrXeVyNkOIhrnVBaGAVrS4ugvyMcHXZe1y0jet7p/jzooPJ6fbWVd4adnKM2x8zuUMY27id17LTVmrOmmYWSy1sjDYlr6qZ7bjaDlcSN6+VPqpo4352Oq2Py5czamRrsv8AdzA3t1ILfR/BGUlNDTx/RhY1t+cj6Tj1lxJPao7VUP7Lh9qb8Z6+3mBD0jEPjJ/EtxgmDR0kLYYb5GZrZnFx4zi43cd+0lBSkLHIOYLJEGOQcwTIOYLJEGOQcwTIOYLJEGipMUldXSwPjjbGyJkkZBzufme5hLtgDRxd23t5FptKsYEdYI31/kUfAB4syndnfwjmn62Nx2ADYLb1RjDHeWOnu3KYGxW25szZHvvutazhyrX4tQVYq+Hpm0zwYRE4TSSRkESOfcZI33G3q3IJ9mm8jaaGazppHwU7yyOOPI7hKgRGUEuDmvI2ZL2BI616C1o5v9FDeY9QGvIfAZHMLrcdjBM6tNaWAAEiPblvvvc22q6CDjIOYJkHMFkiDHIOYJkHMFkiDHIOYLnIOYLlEBERAREQLLHIOYLJEGOQcwTIOYLJEGOQcwXVxWZ0cMj4o+EkaxxYwfnvAOVt+S5sLruLW6R088lNIylc1kzgA1ziWAAuGYhzWuIdlzWNjY2KDoYDiExnmp6gwSPiZDJnha5gHCmQcG9jnOs4cHmBvta4Gw5ZSm0sIkjJxBr5n1ZhdSOjgAyGodFYObGHsIjGYEuO0bb3VborhksDHMkhpom3zAwySzOe930nyvlY1znHZxiSStOdGq18D6RwpGwPkkJlD5XyBj53TcWMxtaH8awOfYdu1B9IdMuDmcyQSOhZHWSvmdGxuXyeqfFkAY7aAG5Bxbu4pO0m1BguLCoa48FLE5jsrmTMDHAkBwOwlrgQRtBPKN4IU+7ROpaSY3U5zCtDhIHyNLaisNUxpbbjBzSY37rXuL2stpohgUlNHIJMjQ9+ZkMTpJI4W5WtyRukANiQXEANAJ2DeSG9yDmCZBzBZIgxyDmCZBzBZIgxyDmCZBzBZIg//9k="/>
          <p:cNvSpPr>
            <a:spLocks noChangeAspect="1" noChangeArrowheads="1"/>
          </p:cNvSpPr>
          <p:nvPr/>
        </p:nvSpPr>
        <p:spPr bwMode="auto">
          <a:xfrm>
            <a:off x="63500" y="-812800"/>
            <a:ext cx="273367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data:image/jpg;base64,/9j/4AAQSkZJRgABAQAAAQABAAD/2wCEAAkGBhQSERUUEhQTFRQUFxUXFBcXGBYSGhcUFRYXFBcUFBQXHCceFxkkGRYVHy8hJCcpLC0sFx4xNTAqNSYsLCkBCQoKBQUFDQUFDSkYEhgpKSkpKSkpKSkpKSkpKSkpKSkpKSkpKSkpKSkpKSkpKSkpKSkpKSkpKSkpKSkpKSkpKf/AABEIALABHwMBIgACEQEDEQH/xAAcAAEBAAIDAQEAAAAAAAAAAAAABgIFAQQHAwj/xABOEAABAwICBAkHBwkHAwUAAAABAAIDBBEFEgYHITETIkFRVGFxk9IUFhc1coGUFSMyM1ORsyRCY3OSobTC0SVSYoKxssFDdaJEZIOj8f/EABQBAQAAAAAAAAAAAAAAAAAAAAD/xAAUEQEAAAAAAAAAAAAAAAAAAAAA/9oADAMBAAIRAxEAPwD3FERAREQEREBEUjrWqXx4VO6N743ZqcBzCWOAdUwtNnDaNhI96CuRRQ1XR9NxP4p3hXPouj6bifxTvCgtEUX6Lo+m4n8U7wp6Lo+m4n8U7woLRFF+i6PpuJ/FO8Kei6PpuJ/FO8KCzK1GJY6Yqmnh4GRwncWmXYGNsyR9r3uXcTda23etbhWr9kEzJRVV7yw3DZKh0jDsIs5hG0bVtcZonPkpXNFxFPnftAs3gZmX27+M9o2c6D4aTYjNFwDYHQtfNLkLpmue1oEb5L2Y9pvdgG/lXRoNLxGyY1skIMM4hD4RI5srjEyYCOMZ35wHG7RmtlJ7PtpnhxlbT/k3lbI5s8kV4treCkYD885rDZzmnep3zfqGl0lPSGmidJFemilgjks1kzXytkaTHEXOfEHZDmLWHbc2QWzdIIC0OEjS10Lp2kXIMLbXkBA3cYde3ctRpTpvDSwvLZGGbgTLExweQQQSzORbIHEEC5BJBAup9uBVkVLE1lPnk8kqqV7eFjGR8j2uZIXudx2ENP8Ai2i4Fzb6Y5gFUIKiKKnE3ldPA3MZI2cFJFHwbmuDjtFgHNLb8YuvYbUHoQXK0+kOjbaxjWumqIsri4GCQwk32WcQDcLR+i6PpuJ/FO8KC0RRfouj6bifxTvCnouj6bifxTvCgtEUX6Lo+m4n8U7wp6Lo+m4n8U7woLRFF+i6PpuJ/FO8K6eB4MaPGWwtqKqWN9DLIRPM6azxUQsBAOwbL/eg9AREQEREBERAREQEREBERAREQFG63vVM/t038XArJRut31TP7dN/FwILELlcBcoCIiAiIgIiIOLJZcog4smVcogIiICIiAiIgKRm9fx/9ul/ioVXKQmP9vx/9ul/ioUFeiIgIiICIiAiIgIiICIiAiIgLx/XzidTTRtDXB9LVZGPY4XyTQyMma5jhtGYNAI2jinlXr91otMtFI8RpXU8hsC5jg61y1zHA3HaMzexxQdPVvWVM9E2prHXkqSZGsAytjiOyNjB1tGa5JJzC52KqXygiDGhrRZrQA0cwAsB/wAL6AoOUREBERAREQEREBERAREQEREBERBjI24tt282w+7rX59qdJsTbjQpMzDUhrqJsxYM3ASSsmE5b9HOGNBva1r3F1+g1Pv0PiOJNxA/WNhMIFuUn6ztDS5nY4oN9EywAuTYAXO0m2y561mi4BQcoiICIiAiIgIiICIiDgrQwVM4xJ0b5GmE0+eNjWFpBEgaS9xcczrc1h1cq366Jwz8pE+Y3ERiy25C8PzX91kGixOldV1z6d0s0cMEEUhbFI+B0kk75WgukYQ7K1sJ2Aja7buSPGnUQENQ/hmthqpWzE8YincHCGQWsZBE8XdfblJsu7jejb5ZWzwTvppgzg3OaxkrXxZs4a+OTZcOuQRYjM7fdaPG9EWmOjpGCZ/z7pZpiLhzHZ3VJnkAtmlzltuUuFtjdgbMaUTucxrKQvytpzU2kAMTp7HJG0s+dLG8Z30dm652Kfo9YYpaOka/JI4UkE0xlqGRPc1wI+Za+7p5Tkectx+btu4KoxHRh0k5kZPJE2QxGeNob84YTdtpPpR3HFdbeABsXQGgrmxxMiqZIssEVPMWsYTJHFmylpN+Bfx3jML7HbtgQVjHggEbQdo7FkuGtsLcy5QEREBERAREQEREBERAREQCp0VU4xRsbpGGB1NK9jGtLSHMlgbmkcXHMeO61g0AE7CqJa9+FXqmVGY8SKSLLbfwj45M1+rggLdaDTYvA6qrvJnSzRwxU7JnCGR0DpJJZZI25pGEOytETjYEXLxfcsqXEH0ZhgmkMzHuqWtnJ4zBE0zRxzbOO/ghJd1xfg921dvHNHHTSsmgndTztaYy8NZK18TjmyPjfsNnC4Owgk85C0ekOioFHHRxiaSSWoD3TZbnO6TNUTTvFmtzRvlb2ENA3BB2qTTOaVrHRUZeODglnAlGaNtRcsaxpZ85IGWe5py2vYElayPTvyWnja4xySOdVvPDVDKf5uOpkYGsdIDnedzW7BxdpFlQV+ihfLninfBG8RNnjY1vzjYTxA2T6URscpLd7eY7V1pNCnBrOBqHxSN4drniNjs0U8xmLcrtjXNceK7k27DeyCjoatssbJG3yyNa9t99nAOF+uxX3XzpoAxjWAkhoDQSbkgC1yeU9a+iAiIgIiINf5wU/wBvB3kf9U+X6b7eDvI/EoTVvoHQTYXSyS0lO+R8d3OcwEuOZ20nlVN6NcM6DTd21Btfl+m+3g7yPxJ5wU/28Hex/wBVocQ0FwmCN8stJSMjjaXPc5jQA0byo2h1dw4o4SilioaC94gyNraiobyPe4g8DGd4A2ke4oPTzpFTdIg72PxLnzgpukQd7H4lNw6n8Ka0N8kYbcrnSE9pOZTuLaraegcamnpY6mnG2emlaJHhg3yUsh42YDbkcSCN1jZB6N8v0/28HeR+JcfL1N9vB3kfiWgw3QfCaiJk0NHSvjkaHMcIxtB/06xvBXb9GuGdBpu7ag2vy/Tfbwd5H4k+X6b7eDvI/EtV6NcM6DTd21PRrhnQabu2oNr8v0328HeR+JPl+m+3g7yPxLVejXDOg03dtT0a4Z0Gm7tqDa/L9N9vB3kfiT5fpvt4O8j8S1Xo1wzoNN3bU9GuGdBpu7ag2vnBTfbwd5H/AFXchna9oc0hzTuIIcD2EbCpir1b4aI3kUVNcNcR82OQFfDVPKBhFGLj6s/iPQWSIiAuCVysX7j2IOicfp/t4O8j/qnnBTdIg72P+qgdWuhFDUYbDLPSwSSOdPme5gcTaolaLnsAHuXVqtBKKtxE00NNDFTUYa6qfGwMdLO8ZmU7XjaGhpzOtt3BB6QNIaY7qiDvY/6p5wU3SIO9j/qvPtLdW1DRtFbDSxFkG2pgcM7ZKcmz3MDzxZWA5gQdtiDvC19FoHBizuEipYaPD78R7YmioqgNmZpcPmYjyG2Y/wCgeoHSOm6RB3sfiXPnBTdIg7yP+qm4NTuFMaG+SMdblc6RxPacyn8Y1UU9G41FJSx1MQ2zUkjRIXM5XU0juM2QD8wkh27YUHonnBTfbwd5H4lx8vU328HeR+JT2D6F4RVQMnho6V0cgzNPBgbOYjkINwRyEFdz0a4Z0Gm7sINt5wU328HeR+JPOGm6RB3sf9VG6XaJYfTQDgaCkdUTPbDTNMYsZpNxd/gaAXu6mlYwakcOFNwT480pbxpwS1/CEXLmNBytF9zbWts2oLTzgpvt4O8j8SfL9N9vB3kfiURofofQSskgqaKk8qpH8FORG0B+wOjnA5BIwh3bmVF6NcM6DTd21Btfl+m+3g7yPxJ8v0328HeR+Jar0a4Z0Gm7tqejXDOg03dtQbXzgpvt4O8j8S7kFQ17Q5jmuadxaQ4HsI2Kd9GuGdBpu7C12qCRrcJgFwLGbZ/8z0Ha1Uep6P8AVfzOVYVJ6qPU9H+q/mcvrrA0gfT0wjp9tVVPEFMP0j9hk7GNu6/PbnQaaqb8r15iJvh9C8cKN4qasbRGeeOPeRyn93oAFlqtF9Ho6Klip490bdruV7ztfI7nLnXP/wCLbIC4IXKIInAr0GJSUW6nqg6ppOZkgP5RA3quWyADdmPOrZRutCFzKVlZGLy0ErKhvJeNpyzMvzGNzr9iraSpbIxr2G7Xta5p52uGYH7ig+qIiAiIgIiIPhXfVP8AZd/tKi9Vnquj9g/ivVpXfVP9l3+0qL1Weq6L2D+K9BdoiICxfuPYsli/cexBC6ucQbBgTJn/AEYhVvdybGTzOP8Aou7qww10eHsll+uq3Pqpjyl85zi/YzKLdqiYZidG6anbfNW1JphbmkrJC/8A8GuH+ZX+mmOGio7QC88hZT0rOeZ/FZs5mi7j1NQaXFr4tXOpBfyCjcDWEGwnqN7Ka/K1v0nddhs2LYauJyyGajcSXUE8kAvvMJ+cgd2cG4N/yLbaIaNtoaSOAHM4caV/LJM7bJISdpu6+/kstLA3yfHpBubXUjX7981K/gzs5+Cez7igtFwVyiCKw9vkGKOg3U2IB80I5I6pm2aNvMHts8DnDlaBSWs+gc6iM8X11E9lVEeuE5nt7DHn2cuxUuHV7ZoY5WG7JGNe0/4XgOH7iglj+U43a948PgBt/wC5q7gH3RMPZm61YhRurF/DRVNWdvldXPI0/oozwMQ7A2NWaCOxZ/k2MU0u5lbG+mk5BwsV5oHHrtwjB29SsVHa1ISKDyhoJfRzQVLbfonjP/8AW56roZg5ocNocAQeoi4QZoiIOCvPdVPquDtm/GevQivPdVPquDtm/Geg22qn1PR/qv5nLpYF+X4rPVnbBQ5qWm5jMbGolHXtDAeZavBcfdSaNUz4xeeSNsNO3ldPK9zGADlsTmt/hVvongLaKkhp27eDbxnf3pHEukee15cUG3CIiAiIg+FdRtljfG8XZI1zHDna9paR9xKldVVYXYe2F5vJRyS0snbC6zd/OwsPvVioXRoeT41iEB2NqWQ1kY69sUp/bH7ggukREBERAREQa7SHEWQUs8shsyON7ne5p2dpNh71Kaqz/ZdF7B/FeuNYLjV1FPhzSchDqqrt0eHaxh9uXKP8qy1Wn+y6P2D+K9BdoiICxfuPYsli/cexB47oQzhjg0OwthOIVTx7M0kUZt1PeD7lVUDPL8YkmO2nw0GGLmdVvHzzx1sbZnaepeeaA6QeTwVdVa76WBlLAOV09RUzzNaP8z2X6mnmXsGhej/kVHFCdrwM0zt+aaTjyOJ5eMT7gEG9AUPrBdwNXhdVs4lXwDjzMqmGM+7Zf3K4Ufraoy/CqhzRxoeDnb1GGRshP7IcgsAi69BViWJkg3PY147HAO/5XYQfOeEPaWu2tcCCOoixXmmjmNGmwSuicTwmGmqp9+2zS4wm/NZ4A9lenrxTWLeLEJ6MB2XFjQEW3B0cojl+9rG37Sg9N0FwvyfDqWK1i2GPN7bm53/+TnLfLFrbbOZZINfj+HielnhIvwsUjP2mkD95Wm1YYlw+FUjjvbEI3cvGhJhN+viX96qCojVi3gvL6a1hT10+Qfo5bSs/cUFwiIg6uJYgyCJ8shysja57z/haLn37FCapX3wqA85lP3yvK++s2uEjoaG/FlzVFXb82ipvnHg82dwDQeor4apX3wmnNrXMptzXleUGh1YflpoGb4MNpw93KDWTF4YDzlkYJ6i7sXsQChtS+EshwiAsG2bNLIed7jl/c1rR7ldICIiAiIgKG0xd5PimGVW5r3y0chtvE7bxAnmEjb/erlSOtPDHS4ZM5n1lPlqY+p0DhIbdeUPHvQVoXK6mE17Z4Ipm7WyxseOx7Q4f6rtoCIiAsJpg1pc4gNaCXE7gALkn3LNResmpfIyHD4SRLXv4NxH5lM2zqh/7HF68xQdfQaF08dXiMgIdWl3Ag/m0kTSyEW5L2Luu4PKudVnqui9g/ivVc6kbFTmNgDWMjLWgcjWtsB9wCkdVnqui9g/ivQXaIiAsX7j2LJYv3HsQeCan8L8pnawi8VNPLVynkdMfmaaM9bcssnvC99UDqWwpkWGiRo408sz5D1tldE0DqDWD3k86vkBdLGaITU80RFxJHIwjnztLf+V3VwQgk9VdeZcJpSd7GGJ3UYHOh2+5gPvVaofVrHwMmI0trcBWyOaOaKoDZWfuVwgLyzWfWxx4xg5c3a2Vxc7mY57GNv2PN16mvJNNcKNdWYoW3zUdFAyM802cVvFPPZjB70HrQXK1ujmLCqpYJ27pomPtvsXNBLe0G49y2SAofB3cDj9bHyVVNT1A7YiYHW/ab9yuFD6Tx8FjOGT22SiopXn2mcJGP2g/7kFwsJHgAkkAAXJPIBylZXUhrJxN4gjo4Daor3iBlt7Ijtnl7Gx3+/qQSFdWGagxTE7baseS0YI2+TB/ANy83CPc5x7BzLdapmWwqAcxlH3SvC7WmFGyNuF0MXFY6rpwG/oaVplN/e2P7119VR/suH2pvxnoNtqo9T0f6r+ZyrVJaqPU9H+q/mcq1AREQEREBYTxBzS0i4cCCOcHYR9yzXBQRmq6Ux081E88egnkh27zEXGSF23kLHWHU0K0UTjH5FisNTugrWtpag8jZ27aaR3bxo79YVqEHKIiDCWQNBJIAAJJOwADaSTyKH0Faa2qnxR4OST5iiB5KaMnNJb9I+59y505rnVczMKp3EOmGeskb/0aS4u2/I+T6IHMeYqzoqNkUbI42hrGNDWNG4NaLAD3IFd9U/2Xf7SovVZ6rovYP4r1aV31T/Zd/tKi9Vnqui9g/ivQXaIiAsX7j2LJYv3HsQR+qP1TB7VR/EyqyUbqj9Uwe1UfxMqskBERBFwfMY/INgbW0jHjrlpX5CO7eD/lVoo3WBHwT6KtH/pKholPNT1I4CQnsLmHsBViEAqJ1ZM4WOsqnC4rKud7b7bwxu4FgP7Dgt1pvjBpaColH0xGWxjnlktHGP23NXY0XwYUtHBAP+lGxrutwHGd73XPvQT2rMcAKqgO+incIwejzXlhP3Fw7QVbKJ0lHkeI09duhmApKvmbmOanmd1B92EncHBWoKDlRmtVhbRNqQLmjqKepFv7scgD/wDwc5Wa6WNYY2pp5YHfRmjfGTvsHtLb26r39yDtNkBF7i1r35Lb735lDaH3r66fEnfUsDqWh642O+enHtvuAeYELRQaQzVdDS4ZA7LVysdDWOG008FO4wzPd/idkyt58x3bCvTsNoGU8McMTcscbQ1g5mtFggk6ocPj8I2ltFSSSHmEtS8RgfsNJ9y6eqn1XB2zfjPXb1cv8olr67kqajg4jt2wUo4JhHac5966mqn1XB2zfjPQbbVT6no/1X8zlWqLi1WU0UeWOauY1o4rW1czWgb7BodYBdbzBh6RiHxk/iQXqKC8wYekYh8ZP4k8wYekYh8ZP4kF6igvMGHpGIfGT+JPMGHpGIfGT+JBeooLzBh6RiHxk/iTzBh6RiHxk/iQV2OYNHV08kEwuyRtjzjlDmnkcCAQecBTeA6TPpntosScGTDiwTu4sdWwfRcHnY2a1g5hN77Re66vmBD0jEPjJ/EvhW6sqWZuSWWtkZcHK+qleLjccriQg9DzKQx7Tm7jS4cG1VYdnFOaKC+zhKiQbAB/d3ki2xaH0P0GXJ+UZf7vDvtbmtuXYodV9LC3LDJWRtJuWsqZYxfns0gXQU+iOigoo3ZnmWomdwlTO76Ush5bfmsG5reQLfqC8wYekYh8ZP4k8wYekYh8ZP4kFtXfVv8AZd/tKi9Vnqui9g/ivWB1fwnYajEPjJ/Et9gWFR00UUEVxHGLNucxtmLtpO/aSgoEREBYv3HsWS4IQR+qP1TB7VR/EyqxUXHqtpo2kRy1zGjMQ1lVMxoJNzZoNhtJ+9dbzBh6RiHxk/iQXqKC8wYekYh8ZP4k8wYekYh8ZP4kFhjGFMqYJYJNrJWOY7scLXHWN/uWl0IxhzojTVB/LKW0Uw5XhuxlQ2+0se3K6/PcLU+YMPSMQ+Mn8S6lTqqo5Hh8j6t7wMoc6plc4N2nKHE3A2nYg2+JyCvr4oGcaCieJ6lw2tNQ0HgKe/K5pJkcOSzQd6sAvPKPVlTQtyxS1sbbk5WVUzBc7zZpAuvv5gw9IxD4yfxILHFsLjqYZIZm5o5Wlrx1HmPIeUHkICl8E0hdQuFFiL8pbxaaqfxY6iMfRa952MnAsC0nba4vddbzAh6RiHxk/iXwrNWdNKwsllrZGG12vqpntNt12uJCD0MOUlpBp21r/JqFoq6126NhuyL9JUyDYxo5r3PvWgbqfoA3IPKMv93h32+7cvvQaraSAFsL6yJpNyI6mWME85DSLlBjozhbsKrXeVyNkOIhrnVBaGAVrS4ugvyMcHXZe1y0jet7p/jzooPJ6fbWVd4adnKM2x8zuUMY27id17LTVmrOmmYWSy1sjDYlr6qZ7bjaDlcSN6+VPqpo4352Oq2Py5czamRrsv8AdzA3t1ILfR/BGUlNDTx/RhY1t+cj6Tj1lxJPao7VUP7Lh9qb8Z6+3mBD0jEPjJ/EtxgmDR0kLYYb5GZrZnFx4zi43cd+0lBSkLHIOYLJEGOQcwTIOYLJEGOQcwTIOYLJEGipMUldXSwPjjbGyJkkZBzufme5hLtgDRxd23t5FptKsYEdYI31/kUfAB4syndnfwjmn62Nx2ADYLb1RjDHeWOnu3KYGxW25szZHvvutazhyrX4tQVYq+Hpm0zwYRE4TSSRkESOfcZI33G3q3IJ9mm8jaaGazppHwU7yyOOPI7hKgRGUEuDmvI2ZL2BI616C1o5v9FDeY9QGvIfAZHMLrcdjBM6tNaWAAEiPblvvvc22q6CDjIOYJkHMFkiDHIOYJkHMFkiDHIOYLnIOYLlEBERAREQLLHIOYLJEGOQcwTIOYLJEGOQcwXVxWZ0cMj4o+EkaxxYwfnvAOVt+S5sLruLW6R088lNIylc1kzgA1ziWAAuGYhzWuIdlzWNjY2KDoYDiExnmp6gwSPiZDJnha5gHCmQcG9jnOs4cHmBvta4Gw5ZSm0sIkjJxBr5n1ZhdSOjgAyGodFYObGHsIjGYEuO0bb3VborhksDHMkhpom3zAwySzOe930nyvlY1znHZxiSStOdGq18D6RwpGwPkkJlD5XyBj53TcWMxtaH8awOfYdu1B9IdMuDmcyQSOhZHWSvmdGxuXyeqfFkAY7aAG5Bxbu4pO0m1BguLCoa48FLE5jsrmTMDHAkBwOwlrgQRtBPKN4IU+7ROpaSY3U5zCtDhIHyNLaisNUxpbbjBzSY37rXuL2stpohgUlNHIJMjQ9+ZkMTpJI4W5WtyRukANiQXEANAJ2DeSG9yDmCZBzBZIgxyDmCZBzBZIgxyDmCZBzBZIg//9k="/>
          <p:cNvSpPr>
            <a:spLocks noChangeAspect="1" noChangeArrowheads="1"/>
          </p:cNvSpPr>
          <p:nvPr/>
        </p:nvSpPr>
        <p:spPr bwMode="auto">
          <a:xfrm>
            <a:off x="215900" y="-660400"/>
            <a:ext cx="273367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data:image/jpg;base64,/9j/4AAQSkZJRgABAQAAAQABAAD/2wCEAAkGBhQSERUUEhQTFRQUFxUXFBcXGBYSGhcUFRYXFBcUFBQXHCceFxkkGRYVHy8hJCcpLC0sFx4xNTAqNSYsLCkBCQoKBQUFDQUFDSkYEhgpKSkpKSkpKSkpKSkpKSkpKSkpKSkpKSkpKSkpKSkpKSkpKSkpKSkpKSkpKSkpKSkpKf/AABEIALABHwMBIgACEQEDEQH/xAAcAAEBAAIDAQEAAAAAAAAAAAAABgIFAQQHAwj/xABOEAABAwICBAkHBwkHAwUAAAABAAIDBBEFEgYHITETIkFRVGFxk9IUFhc1coGUFSMyM1ORsyRCY3OSobTC0SVSYoKxssFDdaJEZIOj8f/EABQBAQAAAAAAAAAAAAAAAAAAAAD/xAAUEQEAAAAAAAAAAAAAAAAAAAAA/9oADAMBAAIRAxEAPwD3FERAREQEREBEUjrWqXx4VO6N743ZqcBzCWOAdUwtNnDaNhI96CuRRQ1XR9NxP4p3hXPouj6bifxTvCgtEUX6Lo+m4n8U7wp6Lo+m4n8U7woLRFF+i6PpuJ/FO8Kei6PpuJ/FO8KCzK1GJY6Yqmnh4GRwncWmXYGNsyR9r3uXcTda23etbhWr9kEzJRVV7yw3DZKh0jDsIs5hG0bVtcZonPkpXNFxFPnftAs3gZmX27+M9o2c6D4aTYjNFwDYHQtfNLkLpmue1oEb5L2Y9pvdgG/lXRoNLxGyY1skIMM4hD4RI5srjEyYCOMZ35wHG7RmtlJ7PtpnhxlbT/k3lbI5s8kV4treCkYD885rDZzmnep3zfqGl0lPSGmidJFemilgjks1kzXytkaTHEXOfEHZDmLWHbc2QWzdIIC0OEjS10Lp2kXIMLbXkBA3cYde3ctRpTpvDSwvLZGGbgTLExweQQQSzORbIHEEC5BJBAup9uBVkVLE1lPnk8kqqV7eFjGR8j2uZIXudx2ENP8Ai2i4Fzb6Y5gFUIKiKKnE3ldPA3MZI2cFJFHwbmuDjtFgHNLb8YuvYbUHoQXK0+kOjbaxjWumqIsri4GCQwk32WcQDcLR+i6PpuJ/FO8KC0RRfouj6bifxTvCnouj6bifxTvCgtEUX6Lo+m4n8U7wp6Lo+m4n8U7woLRFF+i6PpuJ/FO8K6eB4MaPGWwtqKqWN9DLIRPM6azxUQsBAOwbL/eg9AREQEREBERAREQEREBERAREQFG63vVM/t038XArJRut31TP7dN/FwILELlcBcoCIiAiIgIiIOLJZcog4smVcogIiICIiAiIgKRm9fx/9ul/ioVXKQmP9vx/9ul/ioUFeiIgIiICIiAiIgIiICIiAiIgLx/XzidTTRtDXB9LVZGPY4XyTQyMma5jhtGYNAI2jinlXr91otMtFI8RpXU8hsC5jg61y1zHA3HaMzexxQdPVvWVM9E2prHXkqSZGsAytjiOyNjB1tGa5JJzC52KqXygiDGhrRZrQA0cwAsB/wAL6AoOUREBERAREQEREBERAREQEREBERBjI24tt282w+7rX59qdJsTbjQpMzDUhrqJsxYM3ASSsmE5b9HOGNBva1r3F1+g1Pv0PiOJNxA/WNhMIFuUn6ztDS5nY4oN9EywAuTYAXO0m2y561mi4BQcoiICIiAiIgIiICIiDgrQwVM4xJ0b5GmE0+eNjWFpBEgaS9xcczrc1h1cq366Jwz8pE+Y3ERiy25C8PzX91kGixOldV1z6d0s0cMEEUhbFI+B0kk75WgukYQ7K1sJ2Aja7buSPGnUQENQ/hmthqpWzE8YincHCGQWsZBE8XdfblJsu7jejb5ZWzwTvppgzg3OaxkrXxZs4a+OTZcOuQRYjM7fdaPG9EWmOjpGCZ/z7pZpiLhzHZ3VJnkAtmlzltuUuFtjdgbMaUTucxrKQvytpzU2kAMTp7HJG0s+dLG8Z30dm652Kfo9YYpaOka/JI4UkE0xlqGRPc1wI+Za+7p5Tkectx+btu4KoxHRh0k5kZPJE2QxGeNob84YTdtpPpR3HFdbeABsXQGgrmxxMiqZIssEVPMWsYTJHFmylpN+Bfx3jML7HbtgQVjHggEbQdo7FkuGtsLcy5QEREBERAREQEREBERAREQCp0VU4xRsbpGGB1NK9jGtLSHMlgbmkcXHMeO61g0AE7CqJa9+FXqmVGY8SKSLLbfwj45M1+rggLdaDTYvA6qrvJnSzRwxU7JnCGR0DpJJZZI25pGEOytETjYEXLxfcsqXEH0ZhgmkMzHuqWtnJ4zBE0zRxzbOO/ghJd1xfg921dvHNHHTSsmgndTztaYy8NZK18TjmyPjfsNnC4Owgk85C0ekOioFHHRxiaSSWoD3TZbnO6TNUTTvFmtzRvlb2ENA3BB2qTTOaVrHRUZeODglnAlGaNtRcsaxpZ85IGWe5py2vYElayPTvyWnja4xySOdVvPDVDKf5uOpkYGsdIDnedzW7BxdpFlQV+ihfLninfBG8RNnjY1vzjYTxA2T6URscpLd7eY7V1pNCnBrOBqHxSN4drniNjs0U8xmLcrtjXNceK7k27DeyCjoatssbJG3yyNa9t99nAOF+uxX3XzpoAxjWAkhoDQSbkgC1yeU9a+iAiIgIiINf5wU/wBvB3kf9U+X6b7eDvI/EoTVvoHQTYXSyS0lO+R8d3OcwEuOZ20nlVN6NcM6DTd21Btfl+m+3g7yPxJ5wU/28Hex/wBVocQ0FwmCN8stJSMjjaXPc5jQA0byo2h1dw4o4SilioaC94gyNraiobyPe4g8DGd4A2ke4oPTzpFTdIg72PxLnzgpukQd7H4lNw6n8Ka0N8kYbcrnSE9pOZTuLaraegcamnpY6mnG2emlaJHhg3yUsh42YDbkcSCN1jZB6N8v0/28HeR+JcfL1N9vB3kfiWgw3QfCaiJk0NHSvjkaHMcIxtB/06xvBXb9GuGdBpu7ag2vy/Tfbwd5H4k+X6b7eDvI/EtV6NcM6DTd21PRrhnQabu2oNr8v0328HeR+JPl+m+3g7yPxLVejXDOg03dtT0a4Z0Gm7tqDa/L9N9vB3kfiT5fpvt4O8j8S1Xo1wzoNN3bU9GuGdBpu7ag2vnBTfbwd5H/AFXchna9oc0hzTuIIcD2EbCpir1b4aI3kUVNcNcR82OQFfDVPKBhFGLj6s/iPQWSIiAuCVysX7j2IOicfp/t4O8j/qnnBTdIg72P+qgdWuhFDUYbDLPSwSSOdPme5gcTaolaLnsAHuXVqtBKKtxE00NNDFTUYa6qfGwMdLO8ZmU7XjaGhpzOtt3BB6QNIaY7qiDvY/6p5wU3SIO9j/qvPtLdW1DRtFbDSxFkG2pgcM7ZKcmz3MDzxZWA5gQdtiDvC19FoHBizuEipYaPD78R7YmioqgNmZpcPmYjyG2Y/wCgeoHSOm6RB3sfiXPnBTdIg7yP+qm4NTuFMaG+SMdblc6RxPacyn8Y1UU9G41FJSx1MQ2zUkjRIXM5XU0juM2QD8wkh27YUHonnBTfbwd5H4lx8vU328HeR+JT2D6F4RVQMnho6V0cgzNPBgbOYjkINwRyEFdz0a4Z0Gm7sINt5wU328HeR+JPOGm6RB3sf9VG6XaJYfTQDgaCkdUTPbDTNMYsZpNxd/gaAXu6mlYwakcOFNwT480pbxpwS1/CEXLmNBytF9zbWts2oLTzgpvt4O8j8SfL9N9vB3kfiURofofQSskgqaKk8qpH8FORG0B+wOjnA5BIwh3bmVF6NcM6DTd21Btfl+m+3g7yPxJ8v0328HeR+Jar0a4Z0Gm7tqejXDOg03dtQbXzgpvt4O8j8S7kFQ17Q5jmuadxaQ4HsI2Kd9GuGdBpu7C12qCRrcJgFwLGbZ/8z0Ha1Uep6P8AVfzOVYVJ6qPU9H+q/mcvrrA0gfT0wjp9tVVPEFMP0j9hk7GNu6/PbnQaaqb8r15iJvh9C8cKN4qasbRGeeOPeRyn93oAFlqtF9Ho6Klip490bdruV7ztfI7nLnXP/wCLbIC4IXKIInAr0GJSUW6nqg6ppOZkgP5RA3quWyADdmPOrZRutCFzKVlZGLy0ErKhvJeNpyzMvzGNzr9iraSpbIxr2G7Xta5p52uGYH7ig+qIiAiIgIiIPhXfVP8AZd/tKi9Vnquj9g/ivVpXfVP9l3+0qL1Weq6L2D+K9BdoiICxfuPYsli/cexBC6ucQbBgTJn/AEYhVvdybGTzOP8Aou7qww10eHsll+uq3Pqpjyl85zi/YzKLdqiYZidG6anbfNW1JphbmkrJC/8A8GuH+ZX+mmOGio7QC88hZT0rOeZ/FZs5mi7j1NQaXFr4tXOpBfyCjcDWEGwnqN7Ka/K1v0nddhs2LYauJyyGajcSXUE8kAvvMJ+cgd2cG4N/yLbaIaNtoaSOAHM4caV/LJM7bJISdpu6+/kstLA3yfHpBubXUjX7981K/gzs5+Cez7igtFwVyiCKw9vkGKOg3U2IB80I5I6pm2aNvMHts8DnDlaBSWs+gc6iM8X11E9lVEeuE5nt7DHn2cuxUuHV7ZoY5WG7JGNe0/4XgOH7iglj+U43a948PgBt/wC5q7gH3RMPZm61YhRurF/DRVNWdvldXPI0/oozwMQ7A2NWaCOxZ/k2MU0u5lbG+mk5BwsV5oHHrtwjB29SsVHa1ISKDyhoJfRzQVLbfonjP/8AW56roZg5ocNocAQeoi4QZoiIOCvPdVPquDtm/GevQivPdVPquDtm/Geg22qn1PR/qv5nLpYF+X4rPVnbBQ5qWm5jMbGolHXtDAeZavBcfdSaNUz4xeeSNsNO3ldPK9zGADlsTmt/hVvongLaKkhp27eDbxnf3pHEukee15cUG3CIiAiIg+FdRtljfG8XZI1zHDna9paR9xKldVVYXYe2F5vJRyS0snbC6zd/OwsPvVioXRoeT41iEB2NqWQ1kY69sUp/bH7ggukREBERAREQa7SHEWQUs8shsyON7ne5p2dpNh71Kaqz/ZdF7B/FeuNYLjV1FPhzSchDqqrt0eHaxh9uXKP8qy1Wn+y6P2D+K9BdoiICxfuPYsli/cexB47oQzhjg0OwthOIVTx7M0kUZt1PeD7lVUDPL8YkmO2nw0GGLmdVvHzzx1sbZnaepeeaA6QeTwVdVa76WBlLAOV09RUzzNaP8z2X6mnmXsGhej/kVHFCdrwM0zt+aaTjyOJ5eMT7gEG9AUPrBdwNXhdVs4lXwDjzMqmGM+7Zf3K4Ufraoy/CqhzRxoeDnb1GGRshP7IcgsAi69BViWJkg3PY147HAO/5XYQfOeEPaWu2tcCCOoixXmmjmNGmwSuicTwmGmqp9+2zS4wm/NZ4A9lenrxTWLeLEJ6MB2XFjQEW3B0cojl+9rG37Sg9N0FwvyfDqWK1i2GPN7bm53/+TnLfLFrbbOZZINfj+HielnhIvwsUjP2mkD95Wm1YYlw+FUjjvbEI3cvGhJhN+viX96qCojVi3gvL6a1hT10+Qfo5bSs/cUFwiIg6uJYgyCJ8shysja57z/haLn37FCapX3wqA85lP3yvK++s2uEjoaG/FlzVFXb82ipvnHg82dwDQeor4apX3wmnNrXMptzXleUGh1YflpoGb4MNpw93KDWTF4YDzlkYJ6i7sXsQChtS+EshwiAsG2bNLIed7jl/c1rR7ldICIiAiIgKG0xd5PimGVW5r3y0chtvE7bxAnmEjb/erlSOtPDHS4ZM5n1lPlqY+p0DhIbdeUPHvQVoXK6mE17Z4Ipm7WyxseOx7Q4f6rtoCIiAsJpg1pc4gNaCXE7gALkn3LNResmpfIyHD4SRLXv4NxH5lM2zqh/7HF68xQdfQaF08dXiMgIdWl3Ag/m0kTSyEW5L2Luu4PKudVnqui9g/ivVc6kbFTmNgDWMjLWgcjWtsB9wCkdVnqui9g/ivQXaIiAsX7j2LJYv3HsQeCan8L8pnawi8VNPLVynkdMfmaaM9bcssnvC99UDqWwpkWGiRo408sz5D1tldE0DqDWD3k86vkBdLGaITU80RFxJHIwjnztLf+V3VwQgk9VdeZcJpSd7GGJ3UYHOh2+5gPvVaofVrHwMmI0trcBWyOaOaKoDZWfuVwgLyzWfWxx4xg5c3a2Vxc7mY57GNv2PN16mvJNNcKNdWYoW3zUdFAyM802cVvFPPZjB70HrQXK1ujmLCqpYJ27pomPtvsXNBLe0G49y2SAofB3cDj9bHyVVNT1A7YiYHW/ab9yuFD6Tx8FjOGT22SiopXn2mcJGP2g/7kFwsJHgAkkAAXJPIBylZXUhrJxN4gjo4Daor3iBlt7Ijtnl7Gx3+/qQSFdWGagxTE7baseS0YI2+TB/ANy83CPc5x7BzLdapmWwqAcxlH3SvC7WmFGyNuF0MXFY6rpwG/oaVplN/e2P7119VR/suH2pvxnoNtqo9T0f6r+ZyrVJaqPU9H+q/mcq1AREQEREBYTxBzS0i4cCCOcHYR9yzXBQRmq6Ux081E88egnkh27zEXGSF23kLHWHU0K0UTjH5FisNTugrWtpag8jZ27aaR3bxo79YVqEHKIiDCWQNBJIAAJJOwADaSTyKH0Faa2qnxR4OST5iiB5KaMnNJb9I+59y505rnVczMKp3EOmGeskb/0aS4u2/I+T6IHMeYqzoqNkUbI42hrGNDWNG4NaLAD3IFd9U/2Xf7SovVZ6rovYP4r1aV31T/Zd/tKi9Vnqui9g/ivQXaIiAsX7j2LJYv3HsQR+qP1TB7VR/EyqyUbqj9Uwe1UfxMqskBERBFwfMY/INgbW0jHjrlpX5CO7eD/lVoo3WBHwT6KtH/pKholPNT1I4CQnsLmHsBViEAqJ1ZM4WOsqnC4rKud7b7bwxu4FgP7Dgt1pvjBpaColH0xGWxjnlktHGP23NXY0XwYUtHBAP+lGxrutwHGd73XPvQT2rMcAKqgO+incIwejzXlhP3Fw7QVbKJ0lHkeI09duhmApKvmbmOanmd1B92EncHBWoKDlRmtVhbRNqQLmjqKepFv7scgD/wDwc5Wa6WNYY2pp5YHfRmjfGTvsHtLb26r39yDtNkBF7i1r35Lb735lDaH3r66fEnfUsDqWh642O+enHtvuAeYELRQaQzVdDS4ZA7LVysdDWOG008FO4wzPd/idkyt58x3bCvTsNoGU8McMTcscbQ1g5mtFggk6ocPj8I2ltFSSSHmEtS8RgfsNJ9y6eqn1XB2zfjPXb1cv8olr67kqajg4jt2wUo4JhHac5966mqn1XB2zfjPQbbVT6no/1X8zlWqLi1WU0UeWOauY1o4rW1czWgb7BodYBdbzBh6RiHxk/iQXqKC8wYekYh8ZP4k8wYekYh8ZP4kF6igvMGHpGIfGT+JPMGHpGIfGT+JBeooLzBh6RiHxk/iTzBh6RiHxk/iQV2OYNHV08kEwuyRtjzjlDmnkcCAQecBTeA6TPpntosScGTDiwTu4sdWwfRcHnY2a1g5hN77Re66vmBD0jEPjJ/EvhW6sqWZuSWWtkZcHK+qleLjccriQg9DzKQx7Tm7jS4cG1VYdnFOaKC+zhKiQbAB/d3ki2xaH0P0GXJ+UZf7vDvtbmtuXYodV9LC3LDJWRtJuWsqZYxfns0gXQU+iOigoo3ZnmWomdwlTO76Ush5bfmsG5reQLfqC8wYekYh8ZP4k8wYekYh8ZP4kFtXfVv8AZd/tKi9Vnqui9g/ivWB1fwnYajEPjJ/Et9gWFR00UUEVxHGLNucxtmLtpO/aSgoEREBYv3HsWS4IQR+qP1TB7VR/EyqxUXHqtpo2kRy1zGjMQ1lVMxoJNzZoNhtJ+9dbzBh6RiHxk/iQXqKC8wYekYh8ZP4k8wYekYh8ZP4kFhjGFMqYJYJNrJWOY7scLXHWN/uWl0IxhzojTVB/LKW0Uw5XhuxlQ2+0se3K6/PcLU+YMPSMQ+Mn8S6lTqqo5Hh8j6t7wMoc6plc4N2nKHE3A2nYg2+JyCvr4oGcaCieJ6lw2tNQ0HgKe/K5pJkcOSzQd6sAvPKPVlTQtyxS1sbbk5WVUzBc7zZpAuvv5gw9IxD4yfxILHFsLjqYZIZm5o5Wlrx1HmPIeUHkICl8E0hdQuFFiL8pbxaaqfxY6iMfRa952MnAsC0nba4vddbzAh6RiHxk/iXwrNWdNKwsllrZGG12vqpntNt12uJCD0MOUlpBp21r/JqFoq6126NhuyL9JUyDYxo5r3PvWgbqfoA3IPKMv93h32+7cvvQaraSAFsL6yJpNyI6mWME85DSLlBjozhbsKrXeVyNkOIhrnVBaGAVrS4ugvyMcHXZe1y0jet7p/jzooPJ6fbWVd4adnKM2x8zuUMY27id17LTVmrOmmYWSy1sjDYlr6qZ7bjaDlcSN6+VPqpo4352Oq2Py5czamRrsv8AdzA3t1ILfR/BGUlNDTx/RhY1t+cj6Tj1lxJPao7VUP7Lh9qb8Z6+3mBD0jEPjJ/EtxgmDR0kLYYb5GZrZnFx4zi43cd+0lBSkLHIOYLJEGOQcwTIOYLJEGOQcwTIOYLJEGipMUldXSwPjjbGyJkkZBzufme5hLtgDRxd23t5FptKsYEdYI31/kUfAB4syndnfwjmn62Nx2ADYLb1RjDHeWOnu3KYGxW25szZHvvutazhyrX4tQVYq+Hpm0zwYRE4TSSRkESOfcZI33G3q3IJ9mm8jaaGazppHwU7yyOOPI7hKgRGUEuDmvI2ZL2BI616C1o5v9FDeY9QGvIfAZHMLrcdjBM6tNaWAAEiPblvvvc22q6CDjIOYJkHMFkiDHIOYJkHMFkiDHIOYLnIOYLlEBERAREQLLHIOYLJEGOQcwTIOYLJEGOQcwXVxWZ0cMj4o+EkaxxYwfnvAOVt+S5sLruLW6R088lNIylc1kzgA1ziWAAuGYhzWuIdlzWNjY2KDoYDiExnmp6gwSPiZDJnha5gHCmQcG9jnOs4cHmBvta4Gw5ZSm0sIkjJxBr5n1ZhdSOjgAyGodFYObGHsIjGYEuO0bb3VborhksDHMkhpom3zAwySzOe930nyvlY1znHZxiSStOdGq18D6RwpGwPkkJlD5XyBj53TcWMxtaH8awOfYdu1B9IdMuDmcyQSOhZHWSvmdGxuXyeqfFkAY7aAG5Bxbu4pO0m1BguLCoa48FLE5jsrmTMDHAkBwOwlrgQRtBPKN4IU+7ROpaSY3U5zCtDhIHyNLaisNUxpbbjBzSY37rXuL2stpohgUlNHIJMjQ9+ZkMTpJI4W5WtyRukANiQXEANAJ2DeSG9yDmCZBzBZIgxyDmCZBzBZIgxyDmCZBzBZIg//9k="/>
          <p:cNvSpPr>
            <a:spLocks noChangeAspect="1" noChangeArrowheads="1"/>
          </p:cNvSpPr>
          <p:nvPr/>
        </p:nvSpPr>
        <p:spPr bwMode="auto">
          <a:xfrm>
            <a:off x="368300" y="-508000"/>
            <a:ext cx="273367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data:image/jpg;base64,/9j/4AAQSkZJRgABAQAAAQABAAD/2wCEAAkGBhQSERUUEhQTFRQUFxUXFBcXGBYSGhcUFRYXFBcUFBQXHCceFxkkGRYVHy8hJCcpLC0sFx4xNTAqNSYsLCkBCQoKBQUFDQUFDSkYEhgpKSkpKSkpKSkpKSkpKSkpKSkpKSkpKSkpKSkpKSkpKSkpKSkpKSkpKSkpKSkpKSkpKf/AABEIALABHwMBIgACEQEDEQH/xAAcAAEBAAIDAQEAAAAAAAAAAAAABgIFAQQHAwj/xABOEAABAwICBAkHBwkHAwUAAAABAAIDBBEFEgYHITETIkFRVGFxk9IUFhc1coGUFSMyM1ORsyRCY3OSobTC0SVSYoKxssFDdaJEZIOj8f/EABQBAQAAAAAAAAAAAAAAAAAAAAD/xAAUEQEAAAAAAAAAAAAAAAAAAAAA/9oADAMBAAIRAxEAPwD3FERAREQEREBEUjrWqXx4VO6N743ZqcBzCWOAdUwtNnDaNhI96CuRRQ1XR9NxP4p3hXPouj6bifxTvCgtEUX6Lo+m4n8U7wp6Lo+m4n8U7woLRFF+i6PpuJ/FO8Kei6PpuJ/FO8KCzK1GJY6Yqmnh4GRwncWmXYGNsyR9r3uXcTda23etbhWr9kEzJRVV7yw3DZKh0jDsIs5hG0bVtcZonPkpXNFxFPnftAs3gZmX27+M9o2c6D4aTYjNFwDYHQtfNLkLpmue1oEb5L2Y9pvdgG/lXRoNLxGyY1skIMM4hD4RI5srjEyYCOMZ35wHG7RmtlJ7PtpnhxlbT/k3lbI5s8kV4treCkYD885rDZzmnep3zfqGl0lPSGmidJFemilgjks1kzXytkaTHEXOfEHZDmLWHbc2QWzdIIC0OEjS10Lp2kXIMLbXkBA3cYde3ctRpTpvDSwvLZGGbgTLExweQQQSzORbIHEEC5BJBAup9uBVkVLE1lPnk8kqqV7eFjGR8j2uZIXudx2ENP8Ai2i4Fzb6Y5gFUIKiKKnE3ldPA3MZI2cFJFHwbmuDjtFgHNLb8YuvYbUHoQXK0+kOjbaxjWumqIsri4GCQwk32WcQDcLR+i6PpuJ/FO8KC0RRfouj6bifxTvCnouj6bifxTvCgtEUX6Lo+m4n8U7wp6Lo+m4n8U7woLRFF+i6PpuJ/FO8K6eB4MaPGWwtqKqWN9DLIRPM6azxUQsBAOwbL/eg9AREQEREBERAREQEREBERAREQFG63vVM/t038XArJRut31TP7dN/FwILELlcBcoCIiAiIgIiIOLJZcog4smVcogIiICIiAiIgKRm9fx/9ul/ioVXKQmP9vx/9ul/ioUFeiIgIiICIiAiIgIiICIiAiIgLx/XzidTTRtDXB9LVZGPY4XyTQyMma5jhtGYNAI2jinlXr91otMtFI8RpXU8hsC5jg61y1zHA3HaMzexxQdPVvWVM9E2prHXkqSZGsAytjiOyNjB1tGa5JJzC52KqXygiDGhrRZrQA0cwAsB/wAL6AoOUREBERAREQEREBERAREQEREBERBjI24tt282w+7rX59qdJsTbjQpMzDUhrqJsxYM3ASSsmE5b9HOGNBva1r3F1+g1Pv0PiOJNxA/WNhMIFuUn6ztDS5nY4oN9EywAuTYAXO0m2y561mi4BQcoiICIiAiIgIiICIiDgrQwVM4xJ0b5GmE0+eNjWFpBEgaS9xcczrc1h1cq366Jwz8pE+Y3ERiy25C8PzX91kGixOldV1z6d0s0cMEEUhbFI+B0kk75WgukYQ7K1sJ2Aja7buSPGnUQENQ/hmthqpWzE8YincHCGQWsZBE8XdfblJsu7jejb5ZWzwTvppgzg3OaxkrXxZs4a+OTZcOuQRYjM7fdaPG9EWmOjpGCZ/z7pZpiLhzHZ3VJnkAtmlzltuUuFtjdgbMaUTucxrKQvytpzU2kAMTp7HJG0s+dLG8Z30dm652Kfo9YYpaOka/JI4UkE0xlqGRPc1wI+Za+7p5Tkectx+btu4KoxHRh0k5kZPJE2QxGeNob84YTdtpPpR3HFdbeABsXQGgrmxxMiqZIssEVPMWsYTJHFmylpN+Bfx3jML7HbtgQVjHggEbQdo7FkuGtsLcy5QEREBERAREQEREBERAREQCp0VU4xRsbpGGB1NK9jGtLSHMlgbmkcXHMeO61g0AE7CqJa9+FXqmVGY8SKSLLbfwj45M1+rggLdaDTYvA6qrvJnSzRwxU7JnCGR0DpJJZZI25pGEOytETjYEXLxfcsqXEH0ZhgmkMzHuqWtnJ4zBE0zRxzbOO/ghJd1xfg921dvHNHHTSsmgndTztaYy8NZK18TjmyPjfsNnC4Owgk85C0ekOioFHHRxiaSSWoD3TZbnO6TNUTTvFmtzRvlb2ENA3BB2qTTOaVrHRUZeODglnAlGaNtRcsaxpZ85IGWe5py2vYElayPTvyWnja4xySOdVvPDVDKf5uOpkYGsdIDnedzW7BxdpFlQV+ihfLninfBG8RNnjY1vzjYTxA2T6URscpLd7eY7V1pNCnBrOBqHxSN4drniNjs0U8xmLcrtjXNceK7k27DeyCjoatssbJG3yyNa9t99nAOF+uxX3XzpoAxjWAkhoDQSbkgC1yeU9a+iAiIgIiINf5wU/wBvB3kf9U+X6b7eDvI/EoTVvoHQTYXSyS0lO+R8d3OcwEuOZ20nlVN6NcM6DTd21Btfl+m+3g7yPxJ5wU/28Hex/wBVocQ0FwmCN8stJSMjjaXPc5jQA0byo2h1dw4o4SilioaC94gyNraiobyPe4g8DGd4A2ke4oPTzpFTdIg72PxLnzgpukQd7H4lNw6n8Ka0N8kYbcrnSE9pOZTuLaraegcamnpY6mnG2emlaJHhg3yUsh42YDbkcSCN1jZB6N8v0/28HeR+JcfL1N9vB3kfiWgw3QfCaiJk0NHSvjkaHMcIxtB/06xvBXb9GuGdBpu7ag2vy/Tfbwd5H4k+X6b7eDvI/EtV6NcM6DTd21PRrhnQabu2oNr8v0328HeR+JPl+m+3g7yPxLVejXDOg03dtT0a4Z0Gm7tqDa/L9N9vB3kfiT5fpvt4O8j8S1Xo1wzoNN3bU9GuGdBpu7ag2vnBTfbwd5H/AFXchna9oc0hzTuIIcD2EbCpir1b4aI3kUVNcNcR82OQFfDVPKBhFGLj6s/iPQWSIiAuCVysX7j2IOicfp/t4O8j/qnnBTdIg72P+qgdWuhFDUYbDLPSwSSOdPme5gcTaolaLnsAHuXVqtBKKtxE00NNDFTUYa6qfGwMdLO8ZmU7XjaGhpzOtt3BB6QNIaY7qiDvY/6p5wU3SIO9j/qvPtLdW1DRtFbDSxFkG2pgcM7ZKcmz3MDzxZWA5gQdtiDvC19FoHBizuEipYaPD78R7YmioqgNmZpcPmYjyG2Y/wCgeoHSOm6RB3sfiXPnBTdIg7yP+qm4NTuFMaG+SMdblc6RxPacyn8Y1UU9G41FJSx1MQ2zUkjRIXM5XU0juM2QD8wkh27YUHonnBTfbwd5H4lx8vU328HeR+JT2D6F4RVQMnho6V0cgzNPBgbOYjkINwRyEFdz0a4Z0Gm7sINt5wU328HeR+JPOGm6RB3sf9VG6XaJYfTQDgaCkdUTPbDTNMYsZpNxd/gaAXu6mlYwakcOFNwT480pbxpwS1/CEXLmNBytF9zbWts2oLTzgpvt4O8j8SfL9N9vB3kfiURofofQSskgqaKk8qpH8FORG0B+wOjnA5BIwh3bmVF6NcM6DTd21Btfl+m+3g7yPxJ8v0328HeR+Jar0a4Z0Gm7tqejXDOg03dtQbXzgpvt4O8j8S7kFQ17Q5jmuadxaQ4HsI2Kd9GuGdBpu7C12qCRrcJgFwLGbZ/8z0Ha1Uep6P8AVfzOVYVJ6qPU9H+q/mcvrrA0gfT0wjp9tVVPEFMP0j9hk7GNu6/PbnQaaqb8r15iJvh9C8cKN4qasbRGeeOPeRyn93oAFlqtF9Ho6Klip490bdruV7ztfI7nLnXP/wCLbIC4IXKIInAr0GJSUW6nqg6ppOZkgP5RA3quWyADdmPOrZRutCFzKVlZGLy0ErKhvJeNpyzMvzGNzr9iraSpbIxr2G7Xta5p52uGYH7ig+qIiAiIgIiIPhXfVP8AZd/tKi9Vnquj9g/ivVpXfVP9l3+0qL1Weq6L2D+K9BdoiICxfuPYsli/cexBC6ucQbBgTJn/AEYhVvdybGTzOP8Aou7qww10eHsll+uq3Pqpjyl85zi/YzKLdqiYZidG6anbfNW1JphbmkrJC/8A8GuH+ZX+mmOGio7QC88hZT0rOeZ/FZs5mi7j1NQaXFr4tXOpBfyCjcDWEGwnqN7Ka/K1v0nddhs2LYauJyyGajcSXUE8kAvvMJ+cgd2cG4N/yLbaIaNtoaSOAHM4caV/LJM7bJISdpu6+/kstLA3yfHpBubXUjX7981K/gzs5+Cez7igtFwVyiCKw9vkGKOg3U2IB80I5I6pm2aNvMHts8DnDlaBSWs+gc6iM8X11E9lVEeuE5nt7DHn2cuxUuHV7ZoY5WG7JGNe0/4XgOH7iglj+U43a948PgBt/wC5q7gH3RMPZm61YhRurF/DRVNWdvldXPI0/oozwMQ7A2NWaCOxZ/k2MU0u5lbG+mk5BwsV5oHHrtwjB29SsVHa1ISKDyhoJfRzQVLbfonjP/8AW56roZg5ocNocAQeoi4QZoiIOCvPdVPquDtm/GevQivPdVPquDtm/Geg22qn1PR/qv5nLpYF+X4rPVnbBQ5qWm5jMbGolHXtDAeZavBcfdSaNUz4xeeSNsNO3ldPK9zGADlsTmt/hVvongLaKkhp27eDbxnf3pHEukee15cUG3CIiAiIg+FdRtljfG8XZI1zHDna9paR9xKldVVYXYe2F5vJRyS0snbC6zd/OwsPvVioXRoeT41iEB2NqWQ1kY69sUp/bH7ggukREBERAREQa7SHEWQUs8shsyON7ne5p2dpNh71Kaqz/ZdF7B/FeuNYLjV1FPhzSchDqqrt0eHaxh9uXKP8qy1Wn+y6P2D+K9BdoiICxfuPYsli/cexB47oQzhjg0OwthOIVTx7M0kUZt1PeD7lVUDPL8YkmO2nw0GGLmdVvHzzx1sbZnaepeeaA6QeTwVdVa76WBlLAOV09RUzzNaP8z2X6mnmXsGhej/kVHFCdrwM0zt+aaTjyOJ5eMT7gEG9AUPrBdwNXhdVs4lXwDjzMqmGM+7Zf3K4Ufraoy/CqhzRxoeDnb1GGRshP7IcgsAi69BViWJkg3PY147HAO/5XYQfOeEPaWu2tcCCOoixXmmjmNGmwSuicTwmGmqp9+2zS4wm/NZ4A9lenrxTWLeLEJ6MB2XFjQEW3B0cojl+9rG37Sg9N0FwvyfDqWK1i2GPN7bm53/+TnLfLFrbbOZZINfj+HielnhIvwsUjP2mkD95Wm1YYlw+FUjjvbEI3cvGhJhN+viX96qCojVi3gvL6a1hT10+Qfo5bSs/cUFwiIg6uJYgyCJ8shysja57z/haLn37FCapX3wqA85lP3yvK++s2uEjoaG/FlzVFXb82ipvnHg82dwDQeor4apX3wmnNrXMptzXleUGh1YflpoGb4MNpw93KDWTF4YDzlkYJ6i7sXsQChtS+EshwiAsG2bNLIed7jl/c1rR7ldICIiAiIgKG0xd5PimGVW5r3y0chtvE7bxAnmEjb/erlSOtPDHS4ZM5n1lPlqY+p0DhIbdeUPHvQVoXK6mE17Z4Ipm7WyxseOx7Q4f6rtoCIiAsJpg1pc4gNaCXE7gALkn3LNResmpfIyHD4SRLXv4NxH5lM2zqh/7HF68xQdfQaF08dXiMgIdWl3Ag/m0kTSyEW5L2Luu4PKudVnqui9g/ivVc6kbFTmNgDWMjLWgcjWtsB9wCkdVnqui9g/ivQXaIiAsX7j2LJYv3HsQeCan8L8pnawi8VNPLVynkdMfmaaM9bcssnvC99UDqWwpkWGiRo408sz5D1tldE0DqDWD3k86vkBdLGaITU80RFxJHIwjnztLf+V3VwQgk9VdeZcJpSd7GGJ3UYHOh2+5gPvVaofVrHwMmI0trcBWyOaOaKoDZWfuVwgLyzWfWxx4xg5c3a2Vxc7mY57GNv2PN16mvJNNcKNdWYoW3zUdFAyM802cVvFPPZjB70HrQXK1ujmLCqpYJ27pomPtvsXNBLe0G49y2SAofB3cDj9bHyVVNT1A7YiYHW/ab9yuFD6Tx8FjOGT22SiopXn2mcJGP2g/7kFwsJHgAkkAAXJPIBylZXUhrJxN4gjo4Daor3iBlt7Ijtnl7Gx3+/qQSFdWGagxTE7baseS0YI2+TB/ANy83CPc5x7BzLdapmWwqAcxlH3SvC7WmFGyNuF0MXFY6rpwG/oaVplN/e2P7119VR/suH2pvxnoNtqo9T0f6r+ZyrVJaqPU9H+q/mcq1AREQEREBYTxBzS0i4cCCOcHYR9yzXBQRmq6Ux081E88egnkh27zEXGSF23kLHWHU0K0UTjH5FisNTugrWtpag8jZ27aaR3bxo79YVqEHKIiDCWQNBJIAAJJOwADaSTyKH0Faa2qnxR4OST5iiB5KaMnNJb9I+59y505rnVczMKp3EOmGeskb/0aS4u2/I+T6IHMeYqzoqNkUbI42hrGNDWNG4NaLAD3IFd9U/2Xf7SovVZ6rovYP4r1aV31T/Zd/tKi9Vnqui9g/ivQXaIiAsX7j2LJYv3HsQR+qP1TB7VR/EyqyUbqj9Uwe1UfxMqskBERBFwfMY/INgbW0jHjrlpX5CO7eD/lVoo3WBHwT6KtH/pKholPNT1I4CQnsLmHsBViEAqJ1ZM4WOsqnC4rKud7b7bwxu4FgP7Dgt1pvjBpaColH0xGWxjnlktHGP23NXY0XwYUtHBAP+lGxrutwHGd73XPvQT2rMcAKqgO+incIwejzXlhP3Fw7QVbKJ0lHkeI09duhmApKvmbmOanmd1B92EncHBWoKDlRmtVhbRNqQLmjqKepFv7scgD/wDwc5Wa6WNYY2pp5YHfRmjfGTvsHtLb26r39yDtNkBF7i1r35Lb735lDaH3r66fEnfUsDqWh642O+enHtvuAeYELRQaQzVdDS4ZA7LVysdDWOG008FO4wzPd/idkyt58x3bCvTsNoGU8McMTcscbQ1g5mtFggk6ocPj8I2ltFSSSHmEtS8RgfsNJ9y6eqn1XB2zfjPXb1cv8olr67kqajg4jt2wUo4JhHac5966mqn1XB2zfjPQbbVT6no/1X8zlWqLi1WU0UeWOauY1o4rW1czWgb7BodYBdbzBh6RiHxk/iQXqKC8wYekYh8ZP4k8wYekYh8ZP4kF6igvMGHpGIfGT+JPMGHpGIfGT+JBeooLzBh6RiHxk/iTzBh6RiHxk/iQV2OYNHV08kEwuyRtjzjlDmnkcCAQecBTeA6TPpntosScGTDiwTu4sdWwfRcHnY2a1g5hN77Re66vmBD0jEPjJ/EvhW6sqWZuSWWtkZcHK+qleLjccriQg9DzKQx7Tm7jS4cG1VYdnFOaKC+zhKiQbAB/d3ki2xaH0P0GXJ+UZf7vDvtbmtuXYodV9LC3LDJWRtJuWsqZYxfns0gXQU+iOigoo3ZnmWomdwlTO76Ush5bfmsG5reQLfqC8wYekYh8ZP4k8wYekYh8ZP4kFtXfVv8AZd/tKi9Vnqui9g/ivWB1fwnYajEPjJ/Et9gWFR00UUEVxHGLNucxtmLtpO/aSgoEREBYv3HsWS4IQR+qP1TB7VR/EyqxUXHqtpo2kRy1zGjMQ1lVMxoJNzZoNhtJ+9dbzBh6RiHxk/iQXqKC8wYekYh8ZP4k8wYekYh8ZP4kFhjGFMqYJYJNrJWOY7scLXHWN/uWl0IxhzojTVB/LKW0Uw5XhuxlQ2+0se3K6/PcLU+YMPSMQ+Mn8S6lTqqo5Hh8j6t7wMoc6plc4N2nKHE3A2nYg2+JyCvr4oGcaCieJ6lw2tNQ0HgKe/K5pJkcOSzQd6sAvPKPVlTQtyxS1sbbk5WVUzBc7zZpAuvv5gw9IxD4yfxILHFsLjqYZIZm5o5Wlrx1HmPIeUHkICl8E0hdQuFFiL8pbxaaqfxY6iMfRa952MnAsC0nba4vddbzAh6RiHxk/iXwrNWdNKwsllrZGG12vqpntNt12uJCD0MOUlpBp21r/JqFoq6126NhuyL9JUyDYxo5r3PvWgbqfoA3IPKMv93h32+7cvvQaraSAFsL6yJpNyI6mWME85DSLlBjozhbsKrXeVyNkOIhrnVBaGAVrS4ugvyMcHXZe1y0jet7p/jzooPJ6fbWVd4adnKM2x8zuUMY27id17LTVmrOmmYWSy1sjDYlr6qZ7bjaDlcSN6+VPqpo4352Oq2Py5czamRrsv8AdzA3t1ILfR/BGUlNDTx/RhY1t+cj6Tj1lxJPao7VUP7Lh9qb8Z6+3mBD0jEPjJ/EtxgmDR0kLYYb5GZrZnFx4zi43cd+0lBSkLHIOYLJEGOQcwTIOYLJEGOQcwTIOYLJEGipMUldXSwPjjbGyJkkZBzufme5hLtgDRxd23t5FptKsYEdYI31/kUfAB4syndnfwjmn62Nx2ADYLb1RjDHeWOnu3KYGxW25szZHvvutazhyrX4tQVYq+Hpm0zwYRE4TSSRkESOfcZI33G3q3IJ9mm8jaaGazppHwU7yyOOPI7hKgRGUEuDmvI2ZL2BI616C1o5v9FDeY9QGvIfAZHMLrcdjBM6tNaWAAEiPblvvvc22q6CDjIOYJkHMFkiDHIOYJkHMFkiDHIOYLnIOYLlEBERAREQLLHIOYLJEGOQcwTIOYLJEGOQcwXVxWZ0cMj4o+EkaxxYwfnvAOVt+S5sLruLW6R088lNIylc1kzgA1ziWAAuGYhzWuIdlzWNjY2KDoYDiExnmp6gwSPiZDJnha5gHCmQcG9jnOs4cHmBvta4Gw5ZSm0sIkjJxBr5n1ZhdSOjgAyGodFYObGHsIjGYEuO0bb3VborhksDHMkhpom3zAwySzOe930nyvlY1znHZxiSStOdGq18D6RwpGwPkkJlD5XyBj53TcWMxtaH8awOfYdu1B9IdMuDmcyQSOhZHWSvmdGxuXyeqfFkAY7aAG5Bxbu4pO0m1BguLCoa48FLE5jsrmTMDHAkBwOwlrgQRtBPKN4IU+7ROpaSY3U5zCtDhIHyNLaisNUxpbbjBzSY37rXuL2stpohgUlNHIJMjQ9+ZkMTpJI4W5WtyRukANiQXEANAJ2DeSG9yDmCZBzBZIgxyDmCZBzBZIgxyDmCZBzBZIg//9k="/>
          <p:cNvSpPr>
            <a:spLocks noChangeAspect="1" noChangeArrowheads="1"/>
          </p:cNvSpPr>
          <p:nvPr/>
        </p:nvSpPr>
        <p:spPr bwMode="auto">
          <a:xfrm>
            <a:off x="520700" y="-355600"/>
            <a:ext cx="273367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data:image/jpg;base64,/9j/4AAQSkZJRgABAQAAAQABAAD/2wCEAAkGBhQSERUUEhQTFRQUFxUXFBcXGBYSGhcUFRYXFBcUFBQXHCceFxkkGRYVHy8hJCcpLC0sFx4xNTAqNSYsLCkBCQoKBQUFDQUFDSkYEhgpKSkpKSkpKSkpKSkpKSkpKSkpKSkpKSkpKSkpKSkpKSkpKSkpKSkpKSkpKSkpKSkpKf/AABEIALABHwMBIgACEQEDEQH/xAAcAAEBAAIDAQEAAAAAAAAAAAAABgIFAQQHAwj/xABOEAABAwICBAkHBwkHAwUAAAABAAIDBBEFEgYHITETIkFRVGFxk9IUFhc1coGUFSMyM1ORsyRCY3OSobTC0SVSYoKxssFDdaJEZIOj8f/EABQBAQAAAAAAAAAAAAAAAAAAAAD/xAAUEQEAAAAAAAAAAAAAAAAAAAAA/9oADAMBAAIRAxEAPwD3FERAREQEREBEUjrWqXx4VO6N743ZqcBzCWOAdUwtNnDaNhI96CuRRQ1XR9NxP4p3hXPouj6bifxTvCgtEUX6Lo+m4n8U7wp6Lo+m4n8U7woLRFF+i6PpuJ/FO8Kei6PpuJ/FO8KCzK1GJY6Yqmnh4GRwncWmXYGNsyR9r3uXcTda23etbhWr9kEzJRVV7yw3DZKh0jDsIs5hG0bVtcZonPkpXNFxFPnftAs3gZmX27+M9o2c6D4aTYjNFwDYHQtfNLkLpmue1oEb5L2Y9pvdgG/lXRoNLxGyY1skIMM4hD4RI5srjEyYCOMZ35wHG7RmtlJ7PtpnhxlbT/k3lbI5s8kV4treCkYD885rDZzmnep3zfqGl0lPSGmidJFemilgjks1kzXytkaTHEXOfEHZDmLWHbc2QWzdIIC0OEjS10Lp2kXIMLbXkBA3cYde3ctRpTpvDSwvLZGGbgTLExweQQQSzORbIHEEC5BJBAup9uBVkVLE1lPnk8kqqV7eFjGR8j2uZIXudx2ENP8Ai2i4Fzb6Y5gFUIKiKKnE3ldPA3MZI2cFJFHwbmuDjtFgHNLb8YuvYbUHoQXK0+kOjbaxjWumqIsri4GCQwk32WcQDcLR+i6PpuJ/FO8KC0RRfouj6bifxTvCnouj6bifxTvCgtEUX6Lo+m4n8U7wp6Lo+m4n8U7woLRFF+i6PpuJ/FO8K6eB4MaPGWwtqKqWN9DLIRPM6azxUQsBAOwbL/eg9AREQEREBERAREQEREBERAREQFG63vVM/t038XArJRut31TP7dN/FwILELlcBcoCIiAiIgIiIOLJZcog4smVcogIiICIiAiIgKRm9fx/9ul/ioVXKQmP9vx/9ul/ioUFeiIgIiICIiAiIgIiICIiAiIgLx/XzidTTRtDXB9LVZGPY4XyTQyMma5jhtGYNAI2jinlXr91otMtFI8RpXU8hsC5jg61y1zHA3HaMzexxQdPVvWVM9E2prHXkqSZGsAytjiOyNjB1tGa5JJzC52KqXygiDGhrRZrQA0cwAsB/wAL6AoOUREBERAREQEREBERAREQEREBERBjI24tt282w+7rX59qdJsTbjQpMzDUhrqJsxYM3ASSsmE5b9HOGNBva1r3F1+g1Pv0PiOJNxA/WNhMIFuUn6ztDS5nY4oN9EywAuTYAXO0m2y561mi4BQcoiICIiAiIgIiICIiDgrQwVM4xJ0b5GmE0+eNjWFpBEgaS9xcczrc1h1cq366Jwz8pE+Y3ERiy25C8PzX91kGixOldV1z6d0s0cMEEUhbFI+B0kk75WgukYQ7K1sJ2Aja7buSPGnUQENQ/hmthqpWzE8YincHCGQWsZBE8XdfblJsu7jejb5ZWzwTvppgzg3OaxkrXxZs4a+OTZcOuQRYjM7fdaPG9EWmOjpGCZ/z7pZpiLhzHZ3VJnkAtmlzltuUuFtjdgbMaUTucxrKQvytpzU2kAMTp7HJG0s+dLG8Z30dm652Kfo9YYpaOka/JI4UkE0xlqGRPc1wI+Za+7p5Tkectx+btu4KoxHRh0k5kZPJE2QxGeNob84YTdtpPpR3HFdbeABsXQGgrmxxMiqZIssEVPMWsYTJHFmylpN+Bfx3jML7HbtgQVjHggEbQdo7FkuGtsLcy5QEREBERAREQEREBERAREQCp0VU4xRsbpGGB1NK9jGtLSHMlgbmkcXHMeO61g0AE7CqJa9+FXqmVGY8SKSLLbfwj45M1+rggLdaDTYvA6qrvJnSzRwxU7JnCGR0DpJJZZI25pGEOytETjYEXLxfcsqXEH0ZhgmkMzHuqWtnJ4zBE0zRxzbOO/ghJd1xfg921dvHNHHTSsmgndTztaYy8NZK18TjmyPjfsNnC4Owgk85C0ekOioFHHRxiaSSWoD3TZbnO6TNUTTvFmtzRvlb2ENA3BB2qTTOaVrHRUZeODglnAlGaNtRcsaxpZ85IGWe5py2vYElayPTvyWnja4xySOdVvPDVDKf5uOpkYGsdIDnedzW7BxdpFlQV+ihfLninfBG8RNnjY1vzjYTxA2T6URscpLd7eY7V1pNCnBrOBqHxSN4drniNjs0U8xmLcrtjXNceK7k27DeyCjoatssbJG3yyNa9t99nAOF+uxX3XzpoAxjWAkhoDQSbkgC1yeU9a+iAiIgIiINf5wU/wBvB3kf9U+X6b7eDvI/EoTVvoHQTYXSyS0lO+R8d3OcwEuOZ20nlVN6NcM6DTd21Btfl+m+3g7yPxJ5wU/28Hex/wBVocQ0FwmCN8stJSMjjaXPc5jQA0byo2h1dw4o4SilioaC94gyNraiobyPe4g8DGd4A2ke4oPTzpFTdIg72PxLnzgpukQd7H4lNw6n8Ka0N8kYbcrnSE9pOZTuLaraegcamnpY6mnG2emlaJHhg3yUsh42YDbkcSCN1jZB6N8v0/28HeR+JcfL1N9vB3kfiWgw3QfCaiJk0NHSvjkaHMcIxtB/06xvBXb9GuGdBpu7ag2vy/Tfbwd5H4k+X6b7eDvI/EtV6NcM6DTd21PRrhnQabu2oNr8v0328HeR+JPl+m+3g7yPxLVejXDOg03dtT0a4Z0Gm7tqDa/L9N9vB3kfiT5fpvt4O8j8S1Xo1wzoNN3bU9GuGdBpu7ag2vnBTfbwd5H/AFXchna9oc0hzTuIIcD2EbCpir1b4aI3kUVNcNcR82OQFfDVPKBhFGLj6s/iPQWSIiAuCVysX7j2IOicfp/t4O8j/qnnBTdIg72P+qgdWuhFDUYbDLPSwSSOdPme5gcTaolaLnsAHuXVqtBKKtxE00NNDFTUYa6qfGwMdLO8ZmU7XjaGhpzOtt3BB6QNIaY7qiDvY/6p5wU3SIO9j/qvPtLdW1DRtFbDSxFkG2pgcM7ZKcmz3MDzxZWA5gQdtiDvC19FoHBizuEipYaPD78R7YmioqgNmZpcPmYjyG2Y/wCgeoHSOm6RB3sfiXPnBTdIg7yP+qm4NTuFMaG+SMdblc6RxPacyn8Y1UU9G41FJSx1MQ2zUkjRIXM5XU0juM2QD8wkh27YUHonnBTfbwd5H4lx8vU328HeR+JT2D6F4RVQMnho6V0cgzNPBgbOYjkINwRyEFdz0a4Z0Gm7sINt5wU328HeR+JPOGm6RB3sf9VG6XaJYfTQDgaCkdUTPbDTNMYsZpNxd/gaAXu6mlYwakcOFNwT480pbxpwS1/CEXLmNBytF9zbWts2oLTzgpvt4O8j8SfL9N9vB3kfiURofofQSskgqaKk8qpH8FORG0B+wOjnA5BIwh3bmVF6NcM6DTd21Btfl+m+3g7yPxJ8v0328HeR+Jar0a4Z0Gm7tqejXDOg03dtQbXzgpvt4O8j8S7kFQ17Q5jmuadxaQ4HsI2Kd9GuGdBpu7C12qCRrcJgFwLGbZ/8z0Ha1Uep6P8AVfzOVYVJ6qPU9H+q/mcvrrA0gfT0wjp9tVVPEFMP0j9hk7GNu6/PbnQaaqb8r15iJvh9C8cKN4qasbRGeeOPeRyn93oAFlqtF9Ho6Klip490bdruV7ztfI7nLnXP/wCLbIC4IXKIInAr0GJSUW6nqg6ppOZkgP5RA3quWyADdmPOrZRutCFzKVlZGLy0ErKhvJeNpyzMvzGNzr9iraSpbIxr2G7Xta5p52uGYH7ig+qIiAiIgIiIPhXfVP8AZd/tKi9Vnquj9g/ivVpXfVP9l3+0qL1Weq6L2D+K9BdoiICxfuPYsli/cexBC6ucQbBgTJn/AEYhVvdybGTzOP8Aou7qww10eHsll+uq3Pqpjyl85zi/YzKLdqiYZidG6anbfNW1JphbmkrJC/8A8GuH+ZX+mmOGio7QC88hZT0rOeZ/FZs5mi7j1NQaXFr4tXOpBfyCjcDWEGwnqN7Ka/K1v0nddhs2LYauJyyGajcSXUE8kAvvMJ+cgd2cG4N/yLbaIaNtoaSOAHM4caV/LJM7bJISdpu6+/kstLA3yfHpBubXUjX7981K/gzs5+Cez7igtFwVyiCKw9vkGKOg3U2IB80I5I6pm2aNvMHts8DnDlaBSWs+gc6iM8X11E9lVEeuE5nt7DHn2cuxUuHV7ZoY5WG7JGNe0/4XgOH7iglj+U43a948PgBt/wC5q7gH3RMPZm61YhRurF/DRVNWdvldXPI0/oozwMQ7A2NWaCOxZ/k2MU0u5lbG+mk5BwsV5oHHrtwjB29SsVHa1ISKDyhoJfRzQVLbfonjP/8AW56roZg5ocNocAQeoi4QZoiIOCvPdVPquDtm/GevQivPdVPquDtm/Geg22qn1PR/qv5nLpYF+X4rPVnbBQ5qWm5jMbGolHXtDAeZavBcfdSaNUz4xeeSNsNO3ldPK9zGADlsTmt/hVvongLaKkhp27eDbxnf3pHEukee15cUG3CIiAiIg+FdRtljfG8XZI1zHDna9paR9xKldVVYXYe2F5vJRyS0snbC6zd/OwsPvVioXRoeT41iEB2NqWQ1kY69sUp/bH7ggukREBERAREQa7SHEWQUs8shsyON7ne5p2dpNh71Kaqz/ZdF7B/FeuNYLjV1FPhzSchDqqrt0eHaxh9uXKP8qy1Wn+y6P2D+K9BdoiICxfuPYsli/cexB47oQzhjg0OwthOIVTx7M0kUZt1PeD7lVUDPL8YkmO2nw0GGLmdVvHzzx1sbZnaepeeaA6QeTwVdVa76WBlLAOV09RUzzNaP8z2X6mnmXsGhej/kVHFCdrwM0zt+aaTjyOJ5eMT7gEG9AUPrBdwNXhdVs4lXwDjzMqmGM+7Zf3K4Ufraoy/CqhzRxoeDnb1GGRshP7IcgsAi69BViWJkg3PY147HAO/5XYQfOeEPaWu2tcCCOoixXmmjmNGmwSuicTwmGmqp9+2zS4wm/NZ4A9lenrxTWLeLEJ6MB2XFjQEW3B0cojl+9rG37Sg9N0FwvyfDqWK1i2GPN7bm53/+TnLfLFrbbOZZINfj+HielnhIvwsUjP2mkD95Wm1YYlw+FUjjvbEI3cvGhJhN+viX96qCojVi3gvL6a1hT10+Qfo5bSs/cUFwiIg6uJYgyCJ8shysja57z/haLn37FCapX3wqA85lP3yvK++s2uEjoaG/FlzVFXb82ipvnHg82dwDQeor4apX3wmnNrXMptzXleUGh1YflpoGb4MNpw93KDWTF4YDzlkYJ6i7sXsQChtS+EshwiAsG2bNLIed7jl/c1rR7ldICIiAiIgKG0xd5PimGVW5r3y0chtvE7bxAnmEjb/erlSOtPDHS4ZM5n1lPlqY+p0DhIbdeUPHvQVoXK6mE17Z4Ipm7WyxseOx7Q4f6rtoCIiAsJpg1pc4gNaCXE7gALkn3LNResmpfIyHD4SRLXv4NxH5lM2zqh/7HF68xQdfQaF08dXiMgIdWl3Ag/m0kTSyEW5L2Luu4PKudVnqui9g/ivVc6kbFTmNgDWMjLWgcjWtsB9wCkdVnqui9g/ivQXaIiAsX7j2LJYv3HsQeCan8L8pnawi8VNPLVynkdMfmaaM9bcssnvC99UDqWwpkWGiRo408sz5D1tldE0DqDWD3k86vkBdLGaITU80RFxJHIwjnztLf+V3VwQgk9VdeZcJpSd7GGJ3UYHOh2+5gPvVaofVrHwMmI0trcBWyOaOaKoDZWfuVwgLyzWfWxx4xg5c3a2Vxc7mY57GNv2PN16mvJNNcKNdWYoW3zUdFAyM802cVvFPPZjB70HrQXK1ujmLCqpYJ27pomPtvsXNBLe0G49y2SAofB3cDj9bHyVVNT1A7YiYHW/ab9yuFD6Tx8FjOGT22SiopXn2mcJGP2g/7kFwsJHgAkkAAXJPIBylZXUhrJxN4gjo4Daor3iBlt7Ijtnl7Gx3+/qQSFdWGagxTE7baseS0YI2+TB/ANy83CPc5x7BzLdapmWwqAcxlH3SvC7WmFGyNuF0MXFY6rpwG/oaVplN/e2P7119VR/suH2pvxnoNtqo9T0f6r+ZyrVJaqPU9H+q/mcq1AREQEREBYTxBzS0i4cCCOcHYR9yzXBQRmq6Ux081E88egnkh27zEXGSF23kLHWHU0K0UTjH5FisNTugrWtpag8jZ27aaR3bxo79YVqEHKIiDCWQNBJIAAJJOwADaSTyKH0Faa2qnxR4OST5iiB5KaMnNJb9I+59y505rnVczMKp3EOmGeskb/0aS4u2/I+T6IHMeYqzoqNkUbI42hrGNDWNG4NaLAD3IFd9U/2Xf7SovVZ6rovYP4r1aV31T/Zd/tKi9Vnqui9g/ivQXaIiAsX7j2LJYv3HsQR+qP1TB7VR/EyqyUbqj9Uwe1UfxMqskBERBFwfMY/INgbW0jHjrlpX5CO7eD/lVoo3WBHwT6KtH/pKholPNT1I4CQnsLmHsBViEAqJ1ZM4WOsqnC4rKud7b7bwxu4FgP7Dgt1pvjBpaColH0xGWxjnlktHGP23NXY0XwYUtHBAP+lGxrutwHGd73XPvQT2rMcAKqgO+incIwejzXlhP3Fw7QVbKJ0lHkeI09duhmApKvmbmOanmd1B92EncHBWoKDlRmtVhbRNqQLmjqKepFv7scgD/wDwc5Wa6WNYY2pp5YHfRmjfGTvsHtLb26r39yDtNkBF7i1r35Lb735lDaH3r66fEnfUsDqWh642O+enHtvuAeYELRQaQzVdDS4ZA7LVysdDWOG008FO4wzPd/idkyt58x3bCvTsNoGU8McMTcscbQ1g5mtFggk6ocPj8I2ltFSSSHmEtS8RgfsNJ9y6eqn1XB2zfjPXb1cv8olr67kqajg4jt2wUo4JhHac5966mqn1XB2zfjPQbbVT6no/1X8zlWqLi1WU0UeWOauY1o4rW1czWgb7BodYBdbzBh6RiHxk/iQXqKC8wYekYh8ZP4k8wYekYh8ZP4kF6igvMGHpGIfGT+JPMGHpGIfGT+JBeooLzBh6RiHxk/iTzBh6RiHxk/iQV2OYNHV08kEwuyRtjzjlDmnkcCAQecBTeA6TPpntosScGTDiwTu4sdWwfRcHnY2a1g5hN77Re66vmBD0jEPjJ/EvhW6sqWZuSWWtkZcHK+qleLjccriQg9DzKQx7Tm7jS4cG1VYdnFOaKC+zhKiQbAB/d3ki2xaH0P0GXJ+UZf7vDvtbmtuXYodV9LC3LDJWRtJuWsqZYxfns0gXQU+iOigoo3ZnmWomdwlTO76Ush5bfmsG5reQLfqC8wYekYh8ZP4k8wYekYh8ZP4kFtXfVv8AZd/tKi9Vnqui9g/ivWB1fwnYajEPjJ/Et9gWFR00UUEVxHGLNucxtmLtpO/aSgoEREBYv3HsWS4IQR+qP1TB7VR/EyqxUXHqtpo2kRy1zGjMQ1lVMxoJNzZoNhtJ+9dbzBh6RiHxk/iQXqKC8wYekYh8ZP4k8wYekYh8ZP4kFhjGFMqYJYJNrJWOY7scLXHWN/uWl0IxhzojTVB/LKW0Uw5XhuxlQ2+0se3K6/PcLU+YMPSMQ+Mn8S6lTqqo5Hh8j6t7wMoc6plc4N2nKHE3A2nYg2+JyCvr4oGcaCieJ6lw2tNQ0HgKe/K5pJkcOSzQd6sAvPKPVlTQtyxS1sbbk5WVUzBc7zZpAuvv5gw9IxD4yfxILHFsLjqYZIZm5o5Wlrx1HmPIeUHkICl8E0hdQuFFiL8pbxaaqfxY6iMfRa952MnAsC0nba4vddbzAh6RiHxk/iXwrNWdNKwsllrZGG12vqpntNt12uJCD0MOUlpBp21r/JqFoq6126NhuyL9JUyDYxo5r3PvWgbqfoA3IPKMv93h32+7cvvQaraSAFsL6yJpNyI6mWME85DSLlBjozhbsKrXeVyNkOIhrnVBaGAVrS4ugvyMcHXZe1y0jet7p/jzooPJ6fbWVd4adnKM2x8zuUMY27id17LTVmrOmmYWSy1sjDYlr6qZ7bjaDlcSN6+VPqpo4352Oq2Py5czamRrsv8AdzA3t1ILfR/BGUlNDTx/RhY1t+cj6Tj1lxJPao7VUP7Lh9qb8Z6+3mBD0jEPjJ/EtxgmDR0kLYYb5GZrZnFx4zi43cd+0lBSkLHIOYLJEGOQcwTIOYLJEGOQcwTIOYLJEGipMUldXSwPjjbGyJkkZBzufme5hLtgDRxd23t5FptKsYEdYI31/kUfAB4syndnfwjmn62Nx2ADYLb1RjDHeWOnu3KYGxW25szZHvvutazhyrX4tQVYq+Hpm0zwYRE4TSSRkESOfcZI33G3q3IJ9mm8jaaGazppHwU7yyOOPI7hKgRGUEuDmvI2ZL2BI616C1o5v9FDeY9QGvIfAZHMLrcdjBM6tNaWAAEiPblvvvc22q6CDjIOYJkHMFkiDHIOYJkHMFkiDHIOYLnIOYLlEBERAREQLLHIOYLJEGOQcwTIOYLJEGOQcwXVxWZ0cMj4o+EkaxxYwfnvAOVt+S5sLruLW6R088lNIylc1kzgA1ziWAAuGYhzWuIdlzWNjY2KDoYDiExnmp6gwSPiZDJnha5gHCmQcG9jnOs4cHmBvta4Gw5ZSm0sIkjJxBr5n1ZhdSOjgAyGodFYObGHsIjGYEuO0bb3VborhksDHMkhpom3zAwySzOe930nyvlY1znHZxiSStOdGq18D6RwpGwPkkJlD5XyBj53TcWMxtaH8awOfYdu1B9IdMuDmcyQSOhZHWSvmdGxuXyeqfFkAY7aAG5Bxbu4pO0m1BguLCoa48FLE5jsrmTMDHAkBwOwlrgQRtBPKN4IU+7ROpaSY3U5zCtDhIHyNLaisNUxpbbjBzSY37rXuL2stpohgUlNHIJMjQ9+ZkMTpJI4W5WtyRukANiQXEANAJ2DeSG9yDmCZBzBZIgxyDmCZBzBZIgxyDmCZBzBZIg//9k="/>
          <p:cNvSpPr>
            <a:spLocks noChangeAspect="1" noChangeArrowheads="1"/>
          </p:cNvSpPr>
          <p:nvPr/>
        </p:nvSpPr>
        <p:spPr bwMode="auto">
          <a:xfrm>
            <a:off x="673100" y="-203200"/>
            <a:ext cx="273367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390" name="Picture 6" descr="http://t1.gstatic.com/images?q=tbn:ANd9GcQFUVPVaO_IEPR5HHJRHiWIekDIBpKfUNKnBTF4gEZrnBGKb6hlL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362200"/>
            <a:ext cx="436562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36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://www.technologyuk.net/telecommunications/communication_technologies/images/sonet19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9812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accent2"/>
                </a:solidFill>
              </a:rPr>
              <a:t>SONET Synchronization</a:t>
            </a:r>
          </a:p>
        </p:txBody>
      </p:sp>
      <p:sp>
        <p:nvSpPr>
          <p:cNvPr id="14340" name="Rectangle 27"/>
          <p:cNvSpPr>
            <a:spLocks noChangeArrowheads="1"/>
          </p:cNvSpPr>
          <p:nvPr/>
        </p:nvSpPr>
        <p:spPr bwMode="auto">
          <a:xfrm>
            <a:off x="1219200" y="4800600"/>
            <a:ext cx="7239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In SONET, all clocks in the network are locked to a master clock.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5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SONET Advantages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4800" y="1676400"/>
            <a:ext cx="8503920" cy="2895600"/>
          </a:xfrm>
        </p:spPr>
        <p:txBody>
          <a:bodyPr>
            <a:normAutofit/>
          </a:bodyPr>
          <a:lstStyle/>
          <a:p>
            <a:r>
              <a:rPr lang="en-US" dirty="0" smtClean="0"/>
              <a:t>Multiplexing simplicity and transparency</a:t>
            </a:r>
          </a:p>
          <a:p>
            <a:r>
              <a:rPr lang="en-US" dirty="0" smtClean="0"/>
              <a:t>Management capabilities</a:t>
            </a:r>
          </a:p>
          <a:p>
            <a:r>
              <a:rPr lang="en-US" dirty="0" smtClean="0"/>
              <a:t>Interoperability (standardization)</a:t>
            </a:r>
          </a:p>
          <a:p>
            <a:r>
              <a:rPr lang="en-US" dirty="0" smtClean="0"/>
              <a:t>Network availability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43800" y="6459379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© Dr. Scott Kingsley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2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SONET Advantages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4800" y="1676400"/>
            <a:ext cx="8503920" cy="2895600"/>
          </a:xfrm>
        </p:spPr>
        <p:txBody>
          <a:bodyPr>
            <a:normAutofit/>
          </a:bodyPr>
          <a:lstStyle/>
          <a:p>
            <a:r>
              <a:rPr lang="en-US" dirty="0" smtClean="0"/>
              <a:t>Multiplexing simplicity and transparency</a:t>
            </a:r>
          </a:p>
          <a:p>
            <a:r>
              <a:rPr lang="en-US" dirty="0" smtClean="0"/>
              <a:t>Management capabilities</a:t>
            </a:r>
          </a:p>
          <a:p>
            <a:r>
              <a:rPr lang="en-US" dirty="0" smtClean="0"/>
              <a:t>Interoperability (standardization)</a:t>
            </a:r>
          </a:p>
          <a:p>
            <a:r>
              <a:rPr lang="en-US" dirty="0" smtClean="0"/>
              <a:t>Network availability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43800" y="6459379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© Dr. Scott Kingsley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0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accent2"/>
                </a:solidFill>
              </a:rPr>
              <a:t>SONET Specifications</a:t>
            </a:r>
          </a:p>
        </p:txBody>
      </p:sp>
      <p:sp>
        <p:nvSpPr>
          <p:cNvPr id="19459" name="Content Placeholder 1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Defines electrical &amp; optical signal interfaces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Electrical </a:t>
            </a:r>
          </a:p>
          <a:p>
            <a:pPr marL="1016000" lvl="2" indent="-285750" eaLnBrk="1" hangingPunct="1">
              <a:lnSpc>
                <a:spcPct val="90000"/>
              </a:lnSpc>
            </a:pPr>
            <a:r>
              <a:rPr lang="en-US" smtClean="0"/>
              <a:t>Multiplexing, regeneration performed in electrical domain</a:t>
            </a:r>
          </a:p>
          <a:p>
            <a:pPr marL="1016000" lvl="2" indent="-285750" eaLnBrk="1" hangingPunct="1">
              <a:lnSpc>
                <a:spcPct val="90000"/>
              </a:lnSpc>
            </a:pPr>
            <a:r>
              <a:rPr lang="en-US" smtClean="0"/>
              <a:t>STS – Synchronous Transport Signals defined</a:t>
            </a:r>
          </a:p>
          <a:p>
            <a:pPr marL="1016000" lvl="2" indent="-285750" eaLnBrk="1" hangingPunct="1">
              <a:lnSpc>
                <a:spcPct val="90000"/>
              </a:lnSpc>
            </a:pPr>
            <a:r>
              <a:rPr lang="en-US" smtClean="0"/>
              <a:t>Very short range (e.g., within a switch)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Optical</a:t>
            </a:r>
          </a:p>
          <a:p>
            <a:pPr marL="1016000" lvl="2" indent="-285750" eaLnBrk="1" hangingPunct="1">
              <a:lnSpc>
                <a:spcPct val="90000"/>
              </a:lnSpc>
            </a:pPr>
            <a:r>
              <a:rPr lang="en-US" smtClean="0"/>
              <a:t>Transmission carried out in optical domain</a:t>
            </a:r>
          </a:p>
          <a:p>
            <a:pPr marL="1016000" lvl="2" indent="-285750" eaLnBrk="1" hangingPunct="1">
              <a:lnSpc>
                <a:spcPct val="90000"/>
              </a:lnSpc>
            </a:pPr>
            <a:r>
              <a:rPr lang="en-US" smtClean="0"/>
              <a:t>Optical transmitter &amp; receiver</a:t>
            </a:r>
          </a:p>
          <a:p>
            <a:pPr marL="1016000" lvl="2" indent="-285750" eaLnBrk="1" hangingPunct="1">
              <a:lnSpc>
                <a:spcPct val="90000"/>
              </a:lnSpc>
            </a:pPr>
            <a:r>
              <a:rPr lang="en-US" smtClean="0"/>
              <a:t>OC – Optical Carrier</a:t>
            </a:r>
            <a:endParaRPr lang="en-US" i="1" smtClean="0"/>
          </a:p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99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accent2"/>
                </a:solidFill>
              </a:rPr>
              <a:t>SONET/SDH Hierarchy</a:t>
            </a:r>
          </a:p>
        </p:txBody>
      </p:sp>
      <p:pic>
        <p:nvPicPr>
          <p:cNvPr id="20483" name="Picture 2" descr="http://engweb.info/courses/various/gnotes/SONET-SDH_lecture_files/tab9-02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57400"/>
            <a:ext cx="7929563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497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accent2"/>
                </a:solidFill>
              </a:rPr>
              <a:t>SONET STS-1 frame</a:t>
            </a:r>
          </a:p>
        </p:txBody>
      </p:sp>
      <p:sp>
        <p:nvSpPr>
          <p:cNvPr id="2969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057275" y="1600200"/>
            <a:ext cx="7366000" cy="1638300"/>
          </a:xfrm>
          <a:noFill/>
        </p:spPr>
        <p:txBody>
          <a:bodyPr/>
          <a:lstStyle/>
          <a:p>
            <a:pPr eaLnBrk="1" hangingPunct="1">
              <a:buFont typeface="Arial" pitchFamily="34" charset="0"/>
              <a:buChar char="•"/>
            </a:pPr>
            <a:r>
              <a:rPr lang="en-US" sz="1800" smtClean="0"/>
              <a:t>Each STS-1 frame is 90 columns * 9 rows of bytes = 810 bytes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sz="1800" smtClean="0"/>
              <a:t>There are 8000 STS-1 frames per second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Arial" pitchFamily="34" charset="0"/>
              <a:buChar char="•"/>
            </a:pPr>
            <a:r>
              <a:rPr lang="en-US" sz="1800" smtClean="0"/>
              <a:t>so </a:t>
            </a:r>
            <a:r>
              <a:rPr lang="en-US" sz="1800" u="sng" smtClean="0"/>
              <a:t>each</a:t>
            </a:r>
            <a:r>
              <a:rPr lang="en-US" sz="1800" smtClean="0"/>
              <a:t> byte represents 64 kbps </a:t>
            </a:r>
            <a:r>
              <a:rPr lang="en-US" sz="1600" smtClean="0"/>
              <a:t>(each column is 576 kbps)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sz="1800" smtClean="0"/>
              <a:t>Thus the basic STS-1 rate is 51.840 Mbps</a:t>
            </a: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925513" y="3119438"/>
            <a:ext cx="7373937" cy="2895600"/>
            <a:chOff x="804863" y="1447800"/>
            <a:chExt cx="7373937" cy="2895600"/>
          </a:xfrm>
        </p:grpSpPr>
        <p:sp>
          <p:nvSpPr>
            <p:cNvPr id="29702" name="Rectangle 2"/>
            <p:cNvSpPr>
              <a:spLocks noChangeArrowheads="1"/>
            </p:cNvSpPr>
            <p:nvPr/>
          </p:nvSpPr>
          <p:spPr bwMode="auto">
            <a:xfrm>
              <a:off x="1257300" y="1930400"/>
              <a:ext cx="127000" cy="241300"/>
            </a:xfrm>
            <a:prstGeom prst="rect">
              <a:avLst/>
            </a:prstGeom>
            <a:solidFill>
              <a:srgbClr val="00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3" name="Rectangle 5"/>
            <p:cNvSpPr>
              <a:spLocks noChangeArrowheads="1"/>
            </p:cNvSpPr>
            <p:nvPr/>
          </p:nvSpPr>
          <p:spPr bwMode="auto">
            <a:xfrm>
              <a:off x="1244600" y="1917700"/>
              <a:ext cx="6908800" cy="24257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4" name="Text Box 6"/>
            <p:cNvSpPr txBox="1">
              <a:spLocks noChangeArrowheads="1"/>
            </p:cNvSpPr>
            <p:nvPr/>
          </p:nvSpPr>
          <p:spPr bwMode="auto">
            <a:xfrm>
              <a:off x="3898900" y="1447800"/>
              <a:ext cx="172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90 columns</a:t>
              </a:r>
            </a:p>
          </p:txBody>
        </p:sp>
        <p:sp>
          <p:nvSpPr>
            <p:cNvPr id="29705" name="Line 7"/>
            <p:cNvSpPr>
              <a:spLocks noChangeShapeType="1"/>
            </p:cNvSpPr>
            <p:nvPr/>
          </p:nvSpPr>
          <p:spPr bwMode="auto">
            <a:xfrm>
              <a:off x="5219700" y="1651000"/>
              <a:ext cx="292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6" name="Line 8"/>
            <p:cNvSpPr>
              <a:spLocks noChangeShapeType="1"/>
            </p:cNvSpPr>
            <p:nvPr/>
          </p:nvSpPr>
          <p:spPr bwMode="auto">
            <a:xfrm>
              <a:off x="8140700" y="1651000"/>
              <a:ext cx="0" cy="2159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7" name="Line 9"/>
            <p:cNvSpPr>
              <a:spLocks noChangeShapeType="1"/>
            </p:cNvSpPr>
            <p:nvPr/>
          </p:nvSpPr>
          <p:spPr bwMode="auto">
            <a:xfrm>
              <a:off x="1257300" y="1651000"/>
              <a:ext cx="2603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8" name="Line 10"/>
            <p:cNvSpPr>
              <a:spLocks noChangeShapeType="1"/>
            </p:cNvSpPr>
            <p:nvPr/>
          </p:nvSpPr>
          <p:spPr bwMode="auto">
            <a:xfrm>
              <a:off x="1257300" y="1663700"/>
              <a:ext cx="0" cy="2159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9" name="Text Box 11"/>
            <p:cNvSpPr txBox="1">
              <a:spLocks noChangeArrowheads="1"/>
            </p:cNvSpPr>
            <p:nvPr/>
          </p:nvSpPr>
          <p:spPr bwMode="auto">
            <a:xfrm rot="-5400000">
              <a:off x="546101" y="2794000"/>
              <a:ext cx="9144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9 rows</a:t>
              </a:r>
            </a:p>
          </p:txBody>
        </p:sp>
        <p:sp>
          <p:nvSpPr>
            <p:cNvPr id="29710" name="Line 12"/>
            <p:cNvSpPr>
              <a:spLocks noChangeShapeType="1"/>
            </p:cNvSpPr>
            <p:nvPr/>
          </p:nvSpPr>
          <p:spPr bwMode="auto">
            <a:xfrm>
              <a:off x="1003300" y="1917700"/>
              <a:ext cx="0" cy="546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1" name="Line 13"/>
            <p:cNvSpPr>
              <a:spLocks noChangeShapeType="1"/>
            </p:cNvSpPr>
            <p:nvPr/>
          </p:nvSpPr>
          <p:spPr bwMode="auto">
            <a:xfrm>
              <a:off x="1003300" y="3517900"/>
              <a:ext cx="0" cy="812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2" name="Line 14"/>
            <p:cNvSpPr>
              <a:spLocks noChangeShapeType="1"/>
            </p:cNvSpPr>
            <p:nvPr/>
          </p:nvSpPr>
          <p:spPr bwMode="auto">
            <a:xfrm>
              <a:off x="1397000" y="1905000"/>
              <a:ext cx="0" cy="241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3" name="Line 15"/>
            <p:cNvSpPr>
              <a:spLocks noChangeShapeType="1"/>
            </p:cNvSpPr>
            <p:nvPr/>
          </p:nvSpPr>
          <p:spPr bwMode="auto">
            <a:xfrm>
              <a:off x="15748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4" name="Line 16"/>
            <p:cNvSpPr>
              <a:spLocks noChangeShapeType="1"/>
            </p:cNvSpPr>
            <p:nvPr/>
          </p:nvSpPr>
          <p:spPr bwMode="auto">
            <a:xfrm>
              <a:off x="1244600" y="2184400"/>
              <a:ext cx="690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5" name="Line 17"/>
            <p:cNvSpPr>
              <a:spLocks noChangeShapeType="1"/>
            </p:cNvSpPr>
            <p:nvPr/>
          </p:nvSpPr>
          <p:spPr bwMode="auto">
            <a:xfrm>
              <a:off x="1244600" y="2451100"/>
              <a:ext cx="68961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6" name="Line 18"/>
            <p:cNvSpPr>
              <a:spLocks noChangeShapeType="1"/>
            </p:cNvSpPr>
            <p:nvPr/>
          </p:nvSpPr>
          <p:spPr bwMode="auto">
            <a:xfrm>
              <a:off x="1244600" y="2717800"/>
              <a:ext cx="6934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7" name="Line 19"/>
            <p:cNvSpPr>
              <a:spLocks noChangeShapeType="1"/>
            </p:cNvSpPr>
            <p:nvPr/>
          </p:nvSpPr>
          <p:spPr bwMode="auto">
            <a:xfrm>
              <a:off x="1244600" y="2984500"/>
              <a:ext cx="690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8" name="Line 20"/>
            <p:cNvSpPr>
              <a:spLocks noChangeShapeType="1"/>
            </p:cNvSpPr>
            <p:nvPr/>
          </p:nvSpPr>
          <p:spPr bwMode="auto">
            <a:xfrm>
              <a:off x="1244600" y="3251200"/>
              <a:ext cx="690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9" name="Line 21"/>
            <p:cNvSpPr>
              <a:spLocks noChangeShapeType="1"/>
            </p:cNvSpPr>
            <p:nvPr/>
          </p:nvSpPr>
          <p:spPr bwMode="auto">
            <a:xfrm>
              <a:off x="1244600" y="3517900"/>
              <a:ext cx="68961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0" name="Line 22"/>
            <p:cNvSpPr>
              <a:spLocks noChangeShapeType="1"/>
            </p:cNvSpPr>
            <p:nvPr/>
          </p:nvSpPr>
          <p:spPr bwMode="auto">
            <a:xfrm>
              <a:off x="1244600" y="3784600"/>
              <a:ext cx="690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1" name="Line 23"/>
            <p:cNvSpPr>
              <a:spLocks noChangeShapeType="1"/>
            </p:cNvSpPr>
            <p:nvPr/>
          </p:nvSpPr>
          <p:spPr bwMode="auto">
            <a:xfrm>
              <a:off x="1244600" y="4064000"/>
              <a:ext cx="690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2" name="Line 24"/>
            <p:cNvSpPr>
              <a:spLocks noChangeShapeType="1"/>
            </p:cNvSpPr>
            <p:nvPr/>
          </p:nvSpPr>
          <p:spPr bwMode="auto">
            <a:xfrm>
              <a:off x="1739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3" name="Line 25"/>
            <p:cNvSpPr>
              <a:spLocks noChangeShapeType="1"/>
            </p:cNvSpPr>
            <p:nvPr/>
          </p:nvSpPr>
          <p:spPr bwMode="auto">
            <a:xfrm>
              <a:off x="1892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4" name="Line 26"/>
            <p:cNvSpPr>
              <a:spLocks noChangeShapeType="1"/>
            </p:cNvSpPr>
            <p:nvPr/>
          </p:nvSpPr>
          <p:spPr bwMode="auto">
            <a:xfrm>
              <a:off x="2044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5" name="Line 27"/>
            <p:cNvSpPr>
              <a:spLocks noChangeShapeType="1"/>
            </p:cNvSpPr>
            <p:nvPr/>
          </p:nvSpPr>
          <p:spPr bwMode="auto">
            <a:xfrm>
              <a:off x="2197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6" name="Line 28"/>
            <p:cNvSpPr>
              <a:spLocks noChangeShapeType="1"/>
            </p:cNvSpPr>
            <p:nvPr/>
          </p:nvSpPr>
          <p:spPr bwMode="auto">
            <a:xfrm>
              <a:off x="2349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7" name="Line 29"/>
            <p:cNvSpPr>
              <a:spLocks noChangeShapeType="1"/>
            </p:cNvSpPr>
            <p:nvPr/>
          </p:nvSpPr>
          <p:spPr bwMode="auto">
            <a:xfrm>
              <a:off x="2501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8" name="Line 30"/>
            <p:cNvSpPr>
              <a:spLocks noChangeShapeType="1"/>
            </p:cNvSpPr>
            <p:nvPr/>
          </p:nvSpPr>
          <p:spPr bwMode="auto">
            <a:xfrm>
              <a:off x="2654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9" name="Line 31"/>
            <p:cNvSpPr>
              <a:spLocks noChangeShapeType="1"/>
            </p:cNvSpPr>
            <p:nvPr/>
          </p:nvSpPr>
          <p:spPr bwMode="auto">
            <a:xfrm>
              <a:off x="28067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0" name="Line 32"/>
            <p:cNvSpPr>
              <a:spLocks noChangeShapeType="1"/>
            </p:cNvSpPr>
            <p:nvPr/>
          </p:nvSpPr>
          <p:spPr bwMode="auto">
            <a:xfrm>
              <a:off x="2959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1" name="Line 33"/>
            <p:cNvSpPr>
              <a:spLocks noChangeShapeType="1"/>
            </p:cNvSpPr>
            <p:nvPr/>
          </p:nvSpPr>
          <p:spPr bwMode="auto">
            <a:xfrm>
              <a:off x="3111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2" name="Line 34"/>
            <p:cNvSpPr>
              <a:spLocks noChangeShapeType="1"/>
            </p:cNvSpPr>
            <p:nvPr/>
          </p:nvSpPr>
          <p:spPr bwMode="auto">
            <a:xfrm>
              <a:off x="3263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3" name="Line 35"/>
            <p:cNvSpPr>
              <a:spLocks noChangeShapeType="1"/>
            </p:cNvSpPr>
            <p:nvPr/>
          </p:nvSpPr>
          <p:spPr bwMode="auto">
            <a:xfrm>
              <a:off x="3416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4" name="Line 36"/>
            <p:cNvSpPr>
              <a:spLocks noChangeShapeType="1"/>
            </p:cNvSpPr>
            <p:nvPr/>
          </p:nvSpPr>
          <p:spPr bwMode="auto">
            <a:xfrm>
              <a:off x="3568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5" name="Line 37"/>
            <p:cNvSpPr>
              <a:spLocks noChangeShapeType="1"/>
            </p:cNvSpPr>
            <p:nvPr/>
          </p:nvSpPr>
          <p:spPr bwMode="auto">
            <a:xfrm>
              <a:off x="3721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6" name="Line 38"/>
            <p:cNvSpPr>
              <a:spLocks noChangeShapeType="1"/>
            </p:cNvSpPr>
            <p:nvPr/>
          </p:nvSpPr>
          <p:spPr bwMode="auto">
            <a:xfrm>
              <a:off x="3873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7" name="Line 39"/>
            <p:cNvSpPr>
              <a:spLocks noChangeShapeType="1"/>
            </p:cNvSpPr>
            <p:nvPr/>
          </p:nvSpPr>
          <p:spPr bwMode="auto">
            <a:xfrm>
              <a:off x="4025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8" name="Line 40"/>
            <p:cNvSpPr>
              <a:spLocks noChangeShapeType="1"/>
            </p:cNvSpPr>
            <p:nvPr/>
          </p:nvSpPr>
          <p:spPr bwMode="auto">
            <a:xfrm>
              <a:off x="4178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9" name="Line 41"/>
            <p:cNvSpPr>
              <a:spLocks noChangeShapeType="1"/>
            </p:cNvSpPr>
            <p:nvPr/>
          </p:nvSpPr>
          <p:spPr bwMode="auto">
            <a:xfrm>
              <a:off x="4330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0" name="Line 42"/>
            <p:cNvSpPr>
              <a:spLocks noChangeShapeType="1"/>
            </p:cNvSpPr>
            <p:nvPr/>
          </p:nvSpPr>
          <p:spPr bwMode="auto">
            <a:xfrm>
              <a:off x="4483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1" name="Line 43"/>
            <p:cNvSpPr>
              <a:spLocks noChangeShapeType="1"/>
            </p:cNvSpPr>
            <p:nvPr/>
          </p:nvSpPr>
          <p:spPr bwMode="auto">
            <a:xfrm>
              <a:off x="4635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2" name="Line 44"/>
            <p:cNvSpPr>
              <a:spLocks noChangeShapeType="1"/>
            </p:cNvSpPr>
            <p:nvPr/>
          </p:nvSpPr>
          <p:spPr bwMode="auto">
            <a:xfrm>
              <a:off x="4787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3" name="Line 45"/>
            <p:cNvSpPr>
              <a:spLocks noChangeShapeType="1"/>
            </p:cNvSpPr>
            <p:nvPr/>
          </p:nvSpPr>
          <p:spPr bwMode="auto">
            <a:xfrm>
              <a:off x="4940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4" name="Line 46"/>
            <p:cNvSpPr>
              <a:spLocks noChangeShapeType="1"/>
            </p:cNvSpPr>
            <p:nvPr/>
          </p:nvSpPr>
          <p:spPr bwMode="auto">
            <a:xfrm>
              <a:off x="5092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5" name="Line 47"/>
            <p:cNvSpPr>
              <a:spLocks noChangeShapeType="1"/>
            </p:cNvSpPr>
            <p:nvPr/>
          </p:nvSpPr>
          <p:spPr bwMode="auto">
            <a:xfrm>
              <a:off x="5245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6" name="Line 48"/>
            <p:cNvSpPr>
              <a:spLocks noChangeShapeType="1"/>
            </p:cNvSpPr>
            <p:nvPr/>
          </p:nvSpPr>
          <p:spPr bwMode="auto">
            <a:xfrm>
              <a:off x="5397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7" name="Line 49"/>
            <p:cNvSpPr>
              <a:spLocks noChangeShapeType="1"/>
            </p:cNvSpPr>
            <p:nvPr/>
          </p:nvSpPr>
          <p:spPr bwMode="auto">
            <a:xfrm>
              <a:off x="5549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8" name="Line 50"/>
            <p:cNvSpPr>
              <a:spLocks noChangeShapeType="1"/>
            </p:cNvSpPr>
            <p:nvPr/>
          </p:nvSpPr>
          <p:spPr bwMode="auto">
            <a:xfrm>
              <a:off x="5702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9" name="Line 51"/>
            <p:cNvSpPr>
              <a:spLocks noChangeShapeType="1"/>
            </p:cNvSpPr>
            <p:nvPr/>
          </p:nvSpPr>
          <p:spPr bwMode="auto">
            <a:xfrm>
              <a:off x="58547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0" name="Line 52"/>
            <p:cNvSpPr>
              <a:spLocks noChangeShapeType="1"/>
            </p:cNvSpPr>
            <p:nvPr/>
          </p:nvSpPr>
          <p:spPr bwMode="auto">
            <a:xfrm>
              <a:off x="6007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1" name="Line 53"/>
            <p:cNvSpPr>
              <a:spLocks noChangeShapeType="1"/>
            </p:cNvSpPr>
            <p:nvPr/>
          </p:nvSpPr>
          <p:spPr bwMode="auto">
            <a:xfrm>
              <a:off x="6159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2" name="Line 54"/>
            <p:cNvSpPr>
              <a:spLocks noChangeShapeType="1"/>
            </p:cNvSpPr>
            <p:nvPr/>
          </p:nvSpPr>
          <p:spPr bwMode="auto">
            <a:xfrm>
              <a:off x="6311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3" name="Line 55"/>
            <p:cNvSpPr>
              <a:spLocks noChangeShapeType="1"/>
            </p:cNvSpPr>
            <p:nvPr/>
          </p:nvSpPr>
          <p:spPr bwMode="auto">
            <a:xfrm>
              <a:off x="6464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4" name="Line 56"/>
            <p:cNvSpPr>
              <a:spLocks noChangeShapeType="1"/>
            </p:cNvSpPr>
            <p:nvPr/>
          </p:nvSpPr>
          <p:spPr bwMode="auto">
            <a:xfrm>
              <a:off x="6616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5" name="Line 57"/>
            <p:cNvSpPr>
              <a:spLocks noChangeShapeType="1"/>
            </p:cNvSpPr>
            <p:nvPr/>
          </p:nvSpPr>
          <p:spPr bwMode="auto">
            <a:xfrm>
              <a:off x="67691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6" name="Line 58"/>
            <p:cNvSpPr>
              <a:spLocks noChangeShapeType="1"/>
            </p:cNvSpPr>
            <p:nvPr/>
          </p:nvSpPr>
          <p:spPr bwMode="auto">
            <a:xfrm>
              <a:off x="6921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7" name="Line 59"/>
            <p:cNvSpPr>
              <a:spLocks noChangeShapeType="1"/>
            </p:cNvSpPr>
            <p:nvPr/>
          </p:nvSpPr>
          <p:spPr bwMode="auto">
            <a:xfrm>
              <a:off x="7073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8" name="Line 60"/>
            <p:cNvSpPr>
              <a:spLocks noChangeShapeType="1"/>
            </p:cNvSpPr>
            <p:nvPr/>
          </p:nvSpPr>
          <p:spPr bwMode="auto">
            <a:xfrm>
              <a:off x="7226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9" name="Line 61"/>
            <p:cNvSpPr>
              <a:spLocks noChangeShapeType="1"/>
            </p:cNvSpPr>
            <p:nvPr/>
          </p:nvSpPr>
          <p:spPr bwMode="auto">
            <a:xfrm>
              <a:off x="73787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0" name="Line 62"/>
            <p:cNvSpPr>
              <a:spLocks noChangeShapeType="1"/>
            </p:cNvSpPr>
            <p:nvPr/>
          </p:nvSpPr>
          <p:spPr bwMode="auto">
            <a:xfrm>
              <a:off x="7531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1" name="Line 63"/>
            <p:cNvSpPr>
              <a:spLocks noChangeShapeType="1"/>
            </p:cNvSpPr>
            <p:nvPr/>
          </p:nvSpPr>
          <p:spPr bwMode="auto">
            <a:xfrm>
              <a:off x="7683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2" name="Line 64"/>
            <p:cNvSpPr>
              <a:spLocks noChangeShapeType="1"/>
            </p:cNvSpPr>
            <p:nvPr/>
          </p:nvSpPr>
          <p:spPr bwMode="auto">
            <a:xfrm>
              <a:off x="78359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3" name="Line 65"/>
            <p:cNvSpPr>
              <a:spLocks noChangeShapeType="1"/>
            </p:cNvSpPr>
            <p:nvPr/>
          </p:nvSpPr>
          <p:spPr bwMode="auto">
            <a:xfrm>
              <a:off x="7988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4" name="Line 66"/>
            <p:cNvSpPr>
              <a:spLocks noChangeShapeType="1"/>
            </p:cNvSpPr>
            <p:nvPr/>
          </p:nvSpPr>
          <p:spPr bwMode="auto">
            <a:xfrm>
              <a:off x="1003300" y="1917700"/>
              <a:ext cx="1905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5" name="Line 67"/>
            <p:cNvSpPr>
              <a:spLocks noChangeShapeType="1"/>
            </p:cNvSpPr>
            <p:nvPr/>
          </p:nvSpPr>
          <p:spPr bwMode="auto">
            <a:xfrm>
              <a:off x="1003300" y="4330700"/>
              <a:ext cx="1905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6" name="Line 68"/>
            <p:cNvSpPr>
              <a:spLocks noChangeShapeType="1"/>
            </p:cNvSpPr>
            <p:nvPr/>
          </p:nvSpPr>
          <p:spPr bwMode="auto">
            <a:xfrm>
              <a:off x="1320800" y="1905000"/>
              <a:ext cx="0" cy="241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7" name="Line 69"/>
            <p:cNvSpPr>
              <a:spLocks noChangeShapeType="1"/>
            </p:cNvSpPr>
            <p:nvPr/>
          </p:nvSpPr>
          <p:spPr bwMode="auto">
            <a:xfrm>
              <a:off x="14859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8" name="Line 70"/>
            <p:cNvSpPr>
              <a:spLocks noChangeShapeType="1"/>
            </p:cNvSpPr>
            <p:nvPr/>
          </p:nvSpPr>
          <p:spPr bwMode="auto">
            <a:xfrm>
              <a:off x="1663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9" name="Line 71"/>
            <p:cNvSpPr>
              <a:spLocks noChangeShapeType="1"/>
            </p:cNvSpPr>
            <p:nvPr/>
          </p:nvSpPr>
          <p:spPr bwMode="auto">
            <a:xfrm>
              <a:off x="1816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0" name="Line 72"/>
            <p:cNvSpPr>
              <a:spLocks noChangeShapeType="1"/>
            </p:cNvSpPr>
            <p:nvPr/>
          </p:nvSpPr>
          <p:spPr bwMode="auto">
            <a:xfrm>
              <a:off x="1968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1" name="Line 73"/>
            <p:cNvSpPr>
              <a:spLocks noChangeShapeType="1"/>
            </p:cNvSpPr>
            <p:nvPr/>
          </p:nvSpPr>
          <p:spPr bwMode="auto">
            <a:xfrm>
              <a:off x="2120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2" name="Line 74"/>
            <p:cNvSpPr>
              <a:spLocks noChangeShapeType="1"/>
            </p:cNvSpPr>
            <p:nvPr/>
          </p:nvSpPr>
          <p:spPr bwMode="auto">
            <a:xfrm>
              <a:off x="2273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3" name="Line 75"/>
            <p:cNvSpPr>
              <a:spLocks noChangeShapeType="1"/>
            </p:cNvSpPr>
            <p:nvPr/>
          </p:nvSpPr>
          <p:spPr bwMode="auto">
            <a:xfrm>
              <a:off x="2425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4" name="Line 76"/>
            <p:cNvSpPr>
              <a:spLocks noChangeShapeType="1"/>
            </p:cNvSpPr>
            <p:nvPr/>
          </p:nvSpPr>
          <p:spPr bwMode="auto">
            <a:xfrm>
              <a:off x="2578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5" name="Line 77"/>
            <p:cNvSpPr>
              <a:spLocks noChangeShapeType="1"/>
            </p:cNvSpPr>
            <p:nvPr/>
          </p:nvSpPr>
          <p:spPr bwMode="auto">
            <a:xfrm>
              <a:off x="27305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6" name="Line 78"/>
            <p:cNvSpPr>
              <a:spLocks noChangeShapeType="1"/>
            </p:cNvSpPr>
            <p:nvPr/>
          </p:nvSpPr>
          <p:spPr bwMode="auto">
            <a:xfrm>
              <a:off x="2882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7" name="Line 79"/>
            <p:cNvSpPr>
              <a:spLocks noChangeShapeType="1"/>
            </p:cNvSpPr>
            <p:nvPr/>
          </p:nvSpPr>
          <p:spPr bwMode="auto">
            <a:xfrm>
              <a:off x="3035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8" name="Line 80"/>
            <p:cNvSpPr>
              <a:spLocks noChangeShapeType="1"/>
            </p:cNvSpPr>
            <p:nvPr/>
          </p:nvSpPr>
          <p:spPr bwMode="auto">
            <a:xfrm>
              <a:off x="3187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9" name="Line 81"/>
            <p:cNvSpPr>
              <a:spLocks noChangeShapeType="1"/>
            </p:cNvSpPr>
            <p:nvPr/>
          </p:nvSpPr>
          <p:spPr bwMode="auto">
            <a:xfrm>
              <a:off x="3340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0" name="Line 82"/>
            <p:cNvSpPr>
              <a:spLocks noChangeShapeType="1"/>
            </p:cNvSpPr>
            <p:nvPr/>
          </p:nvSpPr>
          <p:spPr bwMode="auto">
            <a:xfrm>
              <a:off x="3492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1" name="Line 83"/>
            <p:cNvSpPr>
              <a:spLocks noChangeShapeType="1"/>
            </p:cNvSpPr>
            <p:nvPr/>
          </p:nvSpPr>
          <p:spPr bwMode="auto">
            <a:xfrm>
              <a:off x="3644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2" name="Line 84"/>
            <p:cNvSpPr>
              <a:spLocks noChangeShapeType="1"/>
            </p:cNvSpPr>
            <p:nvPr/>
          </p:nvSpPr>
          <p:spPr bwMode="auto">
            <a:xfrm>
              <a:off x="3797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3" name="Line 85"/>
            <p:cNvSpPr>
              <a:spLocks noChangeShapeType="1"/>
            </p:cNvSpPr>
            <p:nvPr/>
          </p:nvSpPr>
          <p:spPr bwMode="auto">
            <a:xfrm>
              <a:off x="3949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4" name="Line 86"/>
            <p:cNvSpPr>
              <a:spLocks noChangeShapeType="1"/>
            </p:cNvSpPr>
            <p:nvPr/>
          </p:nvSpPr>
          <p:spPr bwMode="auto">
            <a:xfrm>
              <a:off x="4102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5" name="Line 87"/>
            <p:cNvSpPr>
              <a:spLocks noChangeShapeType="1"/>
            </p:cNvSpPr>
            <p:nvPr/>
          </p:nvSpPr>
          <p:spPr bwMode="auto">
            <a:xfrm>
              <a:off x="4254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6" name="Line 88"/>
            <p:cNvSpPr>
              <a:spLocks noChangeShapeType="1"/>
            </p:cNvSpPr>
            <p:nvPr/>
          </p:nvSpPr>
          <p:spPr bwMode="auto">
            <a:xfrm>
              <a:off x="4406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7" name="Line 89"/>
            <p:cNvSpPr>
              <a:spLocks noChangeShapeType="1"/>
            </p:cNvSpPr>
            <p:nvPr/>
          </p:nvSpPr>
          <p:spPr bwMode="auto">
            <a:xfrm>
              <a:off x="4559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8" name="Line 90"/>
            <p:cNvSpPr>
              <a:spLocks noChangeShapeType="1"/>
            </p:cNvSpPr>
            <p:nvPr/>
          </p:nvSpPr>
          <p:spPr bwMode="auto">
            <a:xfrm>
              <a:off x="4711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9" name="Line 91"/>
            <p:cNvSpPr>
              <a:spLocks noChangeShapeType="1"/>
            </p:cNvSpPr>
            <p:nvPr/>
          </p:nvSpPr>
          <p:spPr bwMode="auto">
            <a:xfrm>
              <a:off x="4864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0" name="Line 92"/>
            <p:cNvSpPr>
              <a:spLocks noChangeShapeType="1"/>
            </p:cNvSpPr>
            <p:nvPr/>
          </p:nvSpPr>
          <p:spPr bwMode="auto">
            <a:xfrm>
              <a:off x="5016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1" name="Line 93"/>
            <p:cNvSpPr>
              <a:spLocks noChangeShapeType="1"/>
            </p:cNvSpPr>
            <p:nvPr/>
          </p:nvSpPr>
          <p:spPr bwMode="auto">
            <a:xfrm>
              <a:off x="5168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2" name="Line 94"/>
            <p:cNvSpPr>
              <a:spLocks noChangeShapeType="1"/>
            </p:cNvSpPr>
            <p:nvPr/>
          </p:nvSpPr>
          <p:spPr bwMode="auto">
            <a:xfrm>
              <a:off x="5321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3" name="Line 95"/>
            <p:cNvSpPr>
              <a:spLocks noChangeShapeType="1"/>
            </p:cNvSpPr>
            <p:nvPr/>
          </p:nvSpPr>
          <p:spPr bwMode="auto">
            <a:xfrm>
              <a:off x="5473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4" name="Line 96"/>
            <p:cNvSpPr>
              <a:spLocks noChangeShapeType="1"/>
            </p:cNvSpPr>
            <p:nvPr/>
          </p:nvSpPr>
          <p:spPr bwMode="auto">
            <a:xfrm>
              <a:off x="5626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5" name="Line 97"/>
            <p:cNvSpPr>
              <a:spLocks noChangeShapeType="1"/>
            </p:cNvSpPr>
            <p:nvPr/>
          </p:nvSpPr>
          <p:spPr bwMode="auto">
            <a:xfrm>
              <a:off x="57785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6" name="Line 98"/>
            <p:cNvSpPr>
              <a:spLocks noChangeShapeType="1"/>
            </p:cNvSpPr>
            <p:nvPr/>
          </p:nvSpPr>
          <p:spPr bwMode="auto">
            <a:xfrm>
              <a:off x="5930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7" name="Line 99"/>
            <p:cNvSpPr>
              <a:spLocks noChangeShapeType="1"/>
            </p:cNvSpPr>
            <p:nvPr/>
          </p:nvSpPr>
          <p:spPr bwMode="auto">
            <a:xfrm>
              <a:off x="6083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8" name="Line 100"/>
            <p:cNvSpPr>
              <a:spLocks noChangeShapeType="1"/>
            </p:cNvSpPr>
            <p:nvPr/>
          </p:nvSpPr>
          <p:spPr bwMode="auto">
            <a:xfrm>
              <a:off x="6235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9" name="Line 101"/>
            <p:cNvSpPr>
              <a:spLocks noChangeShapeType="1"/>
            </p:cNvSpPr>
            <p:nvPr/>
          </p:nvSpPr>
          <p:spPr bwMode="auto">
            <a:xfrm>
              <a:off x="6388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0" name="Line 102"/>
            <p:cNvSpPr>
              <a:spLocks noChangeShapeType="1"/>
            </p:cNvSpPr>
            <p:nvPr/>
          </p:nvSpPr>
          <p:spPr bwMode="auto">
            <a:xfrm>
              <a:off x="6540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1" name="Line 103"/>
            <p:cNvSpPr>
              <a:spLocks noChangeShapeType="1"/>
            </p:cNvSpPr>
            <p:nvPr/>
          </p:nvSpPr>
          <p:spPr bwMode="auto">
            <a:xfrm>
              <a:off x="66929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2" name="Line 104"/>
            <p:cNvSpPr>
              <a:spLocks noChangeShapeType="1"/>
            </p:cNvSpPr>
            <p:nvPr/>
          </p:nvSpPr>
          <p:spPr bwMode="auto">
            <a:xfrm>
              <a:off x="6845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3" name="Line 105"/>
            <p:cNvSpPr>
              <a:spLocks noChangeShapeType="1"/>
            </p:cNvSpPr>
            <p:nvPr/>
          </p:nvSpPr>
          <p:spPr bwMode="auto">
            <a:xfrm>
              <a:off x="6997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4" name="Line 106"/>
            <p:cNvSpPr>
              <a:spLocks noChangeShapeType="1"/>
            </p:cNvSpPr>
            <p:nvPr/>
          </p:nvSpPr>
          <p:spPr bwMode="auto">
            <a:xfrm>
              <a:off x="7150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5" name="Line 107"/>
            <p:cNvSpPr>
              <a:spLocks noChangeShapeType="1"/>
            </p:cNvSpPr>
            <p:nvPr/>
          </p:nvSpPr>
          <p:spPr bwMode="auto">
            <a:xfrm>
              <a:off x="73025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6" name="Line 108"/>
            <p:cNvSpPr>
              <a:spLocks noChangeShapeType="1"/>
            </p:cNvSpPr>
            <p:nvPr/>
          </p:nvSpPr>
          <p:spPr bwMode="auto">
            <a:xfrm>
              <a:off x="7454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7" name="Line 109"/>
            <p:cNvSpPr>
              <a:spLocks noChangeShapeType="1"/>
            </p:cNvSpPr>
            <p:nvPr/>
          </p:nvSpPr>
          <p:spPr bwMode="auto">
            <a:xfrm>
              <a:off x="7607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8" name="Line 110"/>
            <p:cNvSpPr>
              <a:spLocks noChangeShapeType="1"/>
            </p:cNvSpPr>
            <p:nvPr/>
          </p:nvSpPr>
          <p:spPr bwMode="auto">
            <a:xfrm>
              <a:off x="77597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9" name="Line 111"/>
            <p:cNvSpPr>
              <a:spLocks noChangeShapeType="1"/>
            </p:cNvSpPr>
            <p:nvPr/>
          </p:nvSpPr>
          <p:spPr bwMode="auto">
            <a:xfrm>
              <a:off x="7912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0" name="Line 112"/>
            <p:cNvSpPr>
              <a:spLocks noChangeShapeType="1"/>
            </p:cNvSpPr>
            <p:nvPr/>
          </p:nvSpPr>
          <p:spPr bwMode="auto">
            <a:xfrm>
              <a:off x="8064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701" name="Rectangle 114"/>
          <p:cNvSpPr>
            <a:spLocks noChangeArrowheads="1"/>
          </p:cNvSpPr>
          <p:nvPr/>
        </p:nvSpPr>
        <p:spPr bwMode="auto">
          <a:xfrm>
            <a:off x="1460500" y="5461000"/>
            <a:ext cx="88900" cy="25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" name="Slide Number Placeholder 1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92133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371600" y="0"/>
            <a:ext cx="6686550" cy="939800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accent2"/>
                </a:solidFill>
              </a:rPr>
              <a:t>SONET Pointers</a:t>
            </a:r>
          </a:p>
        </p:txBody>
      </p:sp>
      <p:pic>
        <p:nvPicPr>
          <p:cNvPr id="4" name="Picture 5" descr="Fig_6_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89138"/>
            <a:ext cx="6095999" cy="372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1136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chemeClr val="accent2"/>
                </a:solidFill>
              </a:rPr>
              <a:t>SONET STS-1 Frame</a:t>
            </a:r>
          </a:p>
        </p:txBody>
      </p:sp>
      <p:pic>
        <p:nvPicPr>
          <p:cNvPr id="30723" name="Picture 2" descr="http://www.interfacebus.com/Design_SONET_Frame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362200"/>
            <a:ext cx="63246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244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152400"/>
            <a:ext cx="8534400" cy="758825"/>
          </a:xfrm>
        </p:spPr>
        <p:txBody>
          <a:bodyPr/>
          <a:lstStyle/>
          <a:p>
            <a:pPr eaLnBrk="1" hangingPunct="1"/>
            <a:r>
              <a:rPr lang="en-US" sz="3600" smtClean="0">
                <a:solidFill>
                  <a:schemeClr val="accent2"/>
                </a:solidFill>
              </a:rPr>
              <a:t>SONET Virtual Tributaries (VTs)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09563" y="1828800"/>
            <a:ext cx="82296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SONET is designed to carry broadband payloads. Current digital hierarchy data rates, however, are lower than ST-1. To make SONET backward-compatible with the current hierarchy, its frame design includes a system of virtual tributaries (VTs). A virtual tributary is a partial payload that can be inserted into an STS-1.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461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152400"/>
            <a:ext cx="8534400" cy="758825"/>
          </a:xfrm>
        </p:spPr>
        <p:txBody>
          <a:bodyPr/>
          <a:lstStyle/>
          <a:p>
            <a:pPr eaLnBrk="1" hangingPunct="1"/>
            <a:r>
              <a:rPr lang="en-US" sz="3600" smtClean="0">
                <a:solidFill>
                  <a:schemeClr val="accent2"/>
                </a:solidFill>
              </a:rPr>
              <a:t>SONET Virtual Tributaries (VTs)</a:t>
            </a:r>
          </a:p>
        </p:txBody>
      </p:sp>
      <p:pic>
        <p:nvPicPr>
          <p:cNvPr id="51203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138" y="2317750"/>
            <a:ext cx="6316662" cy="255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515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152400"/>
            <a:ext cx="8534400" cy="758825"/>
          </a:xfrm>
        </p:spPr>
        <p:txBody>
          <a:bodyPr/>
          <a:lstStyle/>
          <a:p>
            <a:pPr eaLnBrk="1" hangingPunct="1"/>
            <a:r>
              <a:rPr lang="en-US" sz="3600" smtClean="0">
                <a:solidFill>
                  <a:schemeClr val="accent2"/>
                </a:solidFill>
              </a:rPr>
              <a:t>SONET Virtual Tributaries (VTs)</a:t>
            </a:r>
          </a:p>
        </p:txBody>
      </p:sp>
      <p:pic>
        <p:nvPicPr>
          <p:cNvPr id="52227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81200"/>
            <a:ext cx="7194550" cy="3859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378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371600" y="0"/>
            <a:ext cx="6686550" cy="9398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chemeClr val="accent2"/>
                </a:solidFill>
              </a:rPr>
              <a:t>SONET Virtual Tributaries</a:t>
            </a:r>
          </a:p>
        </p:txBody>
      </p:sp>
      <p:graphicFrame>
        <p:nvGraphicFramePr>
          <p:cNvPr id="433353" name="Group 1225"/>
          <p:cNvGraphicFramePr>
            <a:graphicFrameLocks noGrp="1"/>
          </p:cNvGraphicFramePr>
          <p:nvPr/>
        </p:nvGraphicFramePr>
        <p:xfrm>
          <a:off x="1828800" y="1905000"/>
          <a:ext cx="5207000" cy="2854326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346200"/>
                <a:gridCol w="1727200"/>
                <a:gridCol w="2133600"/>
              </a:tblGrid>
              <a:tr h="8227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46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VT size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46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Rate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46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Payload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078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46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VT 1.5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46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1.728 Mbps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46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DS1   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(1.544 Mbps)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5078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46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VT 2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46300"/>
                        </a:buClr>
                        <a:buSzPct val="7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2.304 Mbps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46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E1      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(2.048 Mbps)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5078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46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VT 3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46300"/>
                        </a:buClr>
                        <a:buSzPct val="7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3.456 Mbps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46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DS1C 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(3.152 Mbps)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5078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46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VT 6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46300"/>
                        </a:buClr>
                        <a:buSzPct val="7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6.912 Mbps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463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DS2    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(6.312 bps)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53277" name="Text Box 1224"/>
          <p:cNvSpPr txBox="1">
            <a:spLocks noChangeArrowheads="1"/>
          </p:cNvSpPr>
          <p:nvPr/>
        </p:nvSpPr>
        <p:spPr bwMode="auto">
          <a:xfrm>
            <a:off x="914400" y="5118100"/>
            <a:ext cx="79216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400">
                <a:cs typeface="Arial" pitchFamily="34" charset="0"/>
              </a:rPr>
              <a:t>Standard PDH rates map </a:t>
            </a:r>
            <a:r>
              <a:rPr lang="en-US" sz="2800">
                <a:cs typeface="Arial" pitchFamily="34" charset="0"/>
              </a:rPr>
              <a:t>efficiently</a:t>
            </a:r>
            <a:r>
              <a:rPr lang="en-US" sz="2400">
                <a:cs typeface="Arial" pitchFamily="34" charset="0"/>
              </a:rPr>
              <a:t> into SONET</a:t>
            </a:r>
            <a:endParaRPr lang="en-US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93978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371600" y="0"/>
            <a:ext cx="6686550" cy="9398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chemeClr val="accent2"/>
                </a:solidFill>
              </a:rPr>
              <a:t>SONET Virtual Tributaries</a:t>
            </a:r>
          </a:p>
        </p:txBody>
      </p:sp>
      <p:pic>
        <p:nvPicPr>
          <p:cNvPr id="5" name="Picture 5" descr="Fig_6_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57400"/>
            <a:ext cx="76200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1197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SONET Equipment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676400"/>
            <a:ext cx="8503920" cy="3200400"/>
          </a:xfrm>
        </p:spPr>
        <p:txBody>
          <a:bodyPr>
            <a:normAutofit/>
          </a:bodyPr>
          <a:lstStyle/>
          <a:p>
            <a:r>
              <a:rPr lang="en-US" dirty="0" smtClean="0"/>
              <a:t>Terminal Multiplexer (TM)</a:t>
            </a:r>
          </a:p>
          <a:p>
            <a:r>
              <a:rPr lang="en-US" dirty="0" smtClean="0"/>
              <a:t>Add-Drop Multiplexers (ADM)</a:t>
            </a:r>
          </a:p>
          <a:p>
            <a:r>
              <a:rPr lang="en-US" dirty="0" smtClean="0"/>
              <a:t>Digital Cross-connect System (DCS)</a:t>
            </a:r>
          </a:p>
          <a:p>
            <a:r>
              <a:rPr lang="en-US" dirty="0" smtClean="0"/>
              <a:t>Regenerator and Amplifiers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9768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SONET Equipment Review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3" name="Picture 5" descr="Fig_6_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752600"/>
            <a:ext cx="67056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3071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SONET Layers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4" name="Picture 5" descr="Fig_6_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89138"/>
            <a:ext cx="6629400" cy="288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133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SONET Layers</a:t>
            </a:r>
            <a:endParaRPr lang="en-US" dirty="0">
              <a:solidFill>
                <a:schemeClr val="accent2"/>
              </a:solidFill>
            </a:endParaRPr>
          </a:p>
        </p:txBody>
      </p:sp>
      <p:grpSp>
        <p:nvGrpSpPr>
          <p:cNvPr id="5" name="Group 145"/>
          <p:cNvGrpSpPr>
            <a:grpSpLocks/>
          </p:cNvGrpSpPr>
          <p:nvPr/>
        </p:nvGrpSpPr>
        <p:grpSpPr bwMode="auto">
          <a:xfrm>
            <a:off x="263525" y="2522538"/>
            <a:ext cx="8604251" cy="1785937"/>
            <a:chOff x="142" y="2768"/>
            <a:chExt cx="5420" cy="1125"/>
          </a:xfrm>
        </p:grpSpPr>
        <p:sp>
          <p:nvSpPr>
            <p:cNvPr id="6" name="Rectangle 146"/>
            <p:cNvSpPr>
              <a:spLocks noChangeArrowheads="1"/>
            </p:cNvSpPr>
            <p:nvPr/>
          </p:nvSpPr>
          <p:spPr bwMode="auto">
            <a:xfrm>
              <a:off x="1789" y="3670"/>
              <a:ext cx="549" cy="21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7" name="Rectangle 147"/>
            <p:cNvSpPr>
              <a:spLocks noChangeArrowheads="1"/>
            </p:cNvSpPr>
            <p:nvPr/>
          </p:nvSpPr>
          <p:spPr bwMode="auto">
            <a:xfrm>
              <a:off x="1789" y="3455"/>
              <a:ext cx="549" cy="21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8" name="Rectangle 148"/>
            <p:cNvSpPr>
              <a:spLocks noChangeArrowheads="1"/>
            </p:cNvSpPr>
            <p:nvPr/>
          </p:nvSpPr>
          <p:spPr bwMode="auto">
            <a:xfrm>
              <a:off x="1789" y="3688"/>
              <a:ext cx="57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 smtClean="0"/>
                <a:t>Physical</a:t>
              </a:r>
              <a:endParaRPr lang="en-US" sz="1400" dirty="0"/>
            </a:p>
          </p:txBody>
        </p:sp>
        <p:sp>
          <p:nvSpPr>
            <p:cNvPr id="9" name="Rectangle 149"/>
            <p:cNvSpPr>
              <a:spLocks noChangeArrowheads="1"/>
            </p:cNvSpPr>
            <p:nvPr/>
          </p:nvSpPr>
          <p:spPr bwMode="auto">
            <a:xfrm>
              <a:off x="1770" y="3439"/>
              <a:ext cx="52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/>
                <a:t>Section</a:t>
              </a:r>
            </a:p>
          </p:txBody>
        </p:sp>
        <p:sp>
          <p:nvSpPr>
            <p:cNvPr id="10" name="Rectangle 150"/>
            <p:cNvSpPr>
              <a:spLocks noChangeArrowheads="1"/>
            </p:cNvSpPr>
            <p:nvPr/>
          </p:nvSpPr>
          <p:spPr bwMode="auto">
            <a:xfrm>
              <a:off x="2559" y="3670"/>
              <a:ext cx="549" cy="21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11" name="Rectangle 151"/>
            <p:cNvSpPr>
              <a:spLocks noChangeArrowheads="1"/>
            </p:cNvSpPr>
            <p:nvPr/>
          </p:nvSpPr>
          <p:spPr bwMode="auto">
            <a:xfrm>
              <a:off x="2559" y="3455"/>
              <a:ext cx="549" cy="21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12" name="Rectangle 152"/>
            <p:cNvSpPr>
              <a:spLocks noChangeArrowheads="1"/>
            </p:cNvSpPr>
            <p:nvPr/>
          </p:nvSpPr>
          <p:spPr bwMode="auto">
            <a:xfrm>
              <a:off x="2556" y="3701"/>
              <a:ext cx="57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 smtClean="0"/>
                <a:t>Physical</a:t>
              </a:r>
              <a:endParaRPr lang="en-US" sz="1400" dirty="0"/>
            </a:p>
          </p:txBody>
        </p:sp>
        <p:sp>
          <p:nvSpPr>
            <p:cNvPr id="13" name="Rectangle 153"/>
            <p:cNvSpPr>
              <a:spLocks noChangeArrowheads="1"/>
            </p:cNvSpPr>
            <p:nvPr/>
          </p:nvSpPr>
          <p:spPr bwMode="auto">
            <a:xfrm>
              <a:off x="2544" y="3452"/>
              <a:ext cx="52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/>
                <a:t>Section</a:t>
              </a:r>
            </a:p>
          </p:txBody>
        </p:sp>
        <p:sp>
          <p:nvSpPr>
            <p:cNvPr id="14" name="Rectangle 154"/>
            <p:cNvSpPr>
              <a:spLocks noChangeArrowheads="1"/>
            </p:cNvSpPr>
            <p:nvPr/>
          </p:nvSpPr>
          <p:spPr bwMode="auto">
            <a:xfrm>
              <a:off x="3375" y="3670"/>
              <a:ext cx="549" cy="21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15" name="Rectangle 155"/>
            <p:cNvSpPr>
              <a:spLocks noChangeArrowheads="1"/>
            </p:cNvSpPr>
            <p:nvPr/>
          </p:nvSpPr>
          <p:spPr bwMode="auto">
            <a:xfrm>
              <a:off x="3375" y="3455"/>
              <a:ext cx="549" cy="21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16" name="Rectangle 156"/>
            <p:cNvSpPr>
              <a:spLocks noChangeArrowheads="1"/>
            </p:cNvSpPr>
            <p:nvPr/>
          </p:nvSpPr>
          <p:spPr bwMode="auto">
            <a:xfrm>
              <a:off x="3367" y="3683"/>
              <a:ext cx="57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 smtClean="0"/>
                <a:t>Physical</a:t>
              </a:r>
              <a:endParaRPr lang="en-US" sz="1400" dirty="0"/>
            </a:p>
          </p:txBody>
        </p:sp>
        <p:sp>
          <p:nvSpPr>
            <p:cNvPr id="17" name="Rectangle 157"/>
            <p:cNvSpPr>
              <a:spLocks noChangeArrowheads="1"/>
            </p:cNvSpPr>
            <p:nvPr/>
          </p:nvSpPr>
          <p:spPr bwMode="auto">
            <a:xfrm>
              <a:off x="3355" y="3434"/>
              <a:ext cx="52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/>
                <a:t>Section</a:t>
              </a:r>
            </a:p>
          </p:txBody>
        </p:sp>
        <p:sp>
          <p:nvSpPr>
            <p:cNvPr id="18" name="Rectangle 158"/>
            <p:cNvSpPr>
              <a:spLocks noChangeArrowheads="1"/>
            </p:cNvSpPr>
            <p:nvPr/>
          </p:nvSpPr>
          <p:spPr bwMode="auto">
            <a:xfrm>
              <a:off x="1059" y="3670"/>
              <a:ext cx="549" cy="21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19" name="Rectangle 159"/>
            <p:cNvSpPr>
              <a:spLocks noChangeArrowheads="1"/>
            </p:cNvSpPr>
            <p:nvPr/>
          </p:nvSpPr>
          <p:spPr bwMode="auto">
            <a:xfrm>
              <a:off x="1052" y="3455"/>
              <a:ext cx="549" cy="21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20" name="Rectangle 160"/>
            <p:cNvSpPr>
              <a:spLocks noChangeArrowheads="1"/>
            </p:cNvSpPr>
            <p:nvPr/>
          </p:nvSpPr>
          <p:spPr bwMode="auto">
            <a:xfrm>
              <a:off x="1052" y="3231"/>
              <a:ext cx="549" cy="216"/>
            </a:xfrm>
            <a:prstGeom prst="rect">
              <a:avLst/>
            </a:prstGeom>
            <a:solidFill>
              <a:schemeClr val="tx2">
                <a:alpha val="59999"/>
              </a:schemeClr>
            </a:solidFill>
            <a:ln w="12700" algn="ctr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21" name="Rectangle 161"/>
            <p:cNvSpPr>
              <a:spLocks noChangeArrowheads="1"/>
            </p:cNvSpPr>
            <p:nvPr/>
          </p:nvSpPr>
          <p:spPr bwMode="auto">
            <a:xfrm>
              <a:off x="1039" y="3681"/>
              <a:ext cx="57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 smtClean="0"/>
                <a:t>Physical</a:t>
              </a:r>
              <a:endParaRPr lang="en-US" sz="1400" dirty="0"/>
            </a:p>
          </p:txBody>
        </p:sp>
        <p:sp>
          <p:nvSpPr>
            <p:cNvPr id="22" name="Rectangle 162"/>
            <p:cNvSpPr>
              <a:spLocks noChangeArrowheads="1"/>
            </p:cNvSpPr>
            <p:nvPr/>
          </p:nvSpPr>
          <p:spPr bwMode="auto">
            <a:xfrm>
              <a:off x="1027" y="3483"/>
              <a:ext cx="52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/>
                <a:t>Section</a:t>
              </a:r>
            </a:p>
          </p:txBody>
        </p:sp>
        <p:sp>
          <p:nvSpPr>
            <p:cNvPr id="23" name="Rectangle 163"/>
            <p:cNvSpPr>
              <a:spLocks noChangeArrowheads="1"/>
            </p:cNvSpPr>
            <p:nvPr/>
          </p:nvSpPr>
          <p:spPr bwMode="auto">
            <a:xfrm>
              <a:off x="1144" y="3227"/>
              <a:ext cx="34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/>
                <a:t>Line</a:t>
              </a:r>
            </a:p>
          </p:txBody>
        </p:sp>
        <p:sp>
          <p:nvSpPr>
            <p:cNvPr id="24" name="Rectangle 164"/>
            <p:cNvSpPr>
              <a:spLocks noChangeArrowheads="1"/>
            </p:cNvSpPr>
            <p:nvPr/>
          </p:nvSpPr>
          <p:spPr bwMode="auto">
            <a:xfrm>
              <a:off x="4214" y="3670"/>
              <a:ext cx="549" cy="21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25" name="Rectangle 165"/>
            <p:cNvSpPr>
              <a:spLocks noChangeArrowheads="1"/>
            </p:cNvSpPr>
            <p:nvPr/>
          </p:nvSpPr>
          <p:spPr bwMode="auto">
            <a:xfrm>
              <a:off x="4214" y="3455"/>
              <a:ext cx="549" cy="21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26" name="Rectangle 166"/>
            <p:cNvSpPr>
              <a:spLocks noChangeArrowheads="1"/>
            </p:cNvSpPr>
            <p:nvPr/>
          </p:nvSpPr>
          <p:spPr bwMode="auto">
            <a:xfrm>
              <a:off x="4214" y="3267"/>
              <a:ext cx="549" cy="216"/>
            </a:xfrm>
            <a:prstGeom prst="rect">
              <a:avLst/>
            </a:prstGeom>
            <a:solidFill>
              <a:schemeClr val="tx2">
                <a:alpha val="59999"/>
              </a:schemeClr>
            </a:solidFill>
            <a:ln w="12700" algn="ctr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27" name="Rectangle 167"/>
            <p:cNvSpPr>
              <a:spLocks noChangeArrowheads="1"/>
            </p:cNvSpPr>
            <p:nvPr/>
          </p:nvSpPr>
          <p:spPr bwMode="auto">
            <a:xfrm>
              <a:off x="4221" y="3689"/>
              <a:ext cx="57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 smtClean="0"/>
                <a:t>Physical</a:t>
              </a:r>
              <a:endParaRPr lang="en-US" sz="1400" dirty="0"/>
            </a:p>
          </p:txBody>
        </p:sp>
        <p:sp>
          <p:nvSpPr>
            <p:cNvPr id="28" name="Rectangle 168"/>
            <p:cNvSpPr>
              <a:spLocks noChangeArrowheads="1"/>
            </p:cNvSpPr>
            <p:nvPr/>
          </p:nvSpPr>
          <p:spPr bwMode="auto">
            <a:xfrm>
              <a:off x="4209" y="3483"/>
              <a:ext cx="52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/>
                <a:t>Section</a:t>
              </a:r>
            </a:p>
          </p:txBody>
        </p:sp>
        <p:sp>
          <p:nvSpPr>
            <p:cNvPr id="29" name="Rectangle 169"/>
            <p:cNvSpPr>
              <a:spLocks noChangeArrowheads="1"/>
            </p:cNvSpPr>
            <p:nvPr/>
          </p:nvSpPr>
          <p:spPr bwMode="auto">
            <a:xfrm>
              <a:off x="4314" y="3234"/>
              <a:ext cx="34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/>
                <a:t>Line</a:t>
              </a:r>
            </a:p>
          </p:txBody>
        </p:sp>
        <p:sp>
          <p:nvSpPr>
            <p:cNvPr id="30" name="Rectangle 170"/>
            <p:cNvSpPr>
              <a:spLocks noChangeArrowheads="1"/>
            </p:cNvSpPr>
            <p:nvPr/>
          </p:nvSpPr>
          <p:spPr bwMode="auto">
            <a:xfrm>
              <a:off x="289" y="3670"/>
              <a:ext cx="549" cy="21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31" name="Rectangle 171"/>
            <p:cNvSpPr>
              <a:spLocks noChangeArrowheads="1"/>
            </p:cNvSpPr>
            <p:nvPr/>
          </p:nvSpPr>
          <p:spPr bwMode="auto">
            <a:xfrm>
              <a:off x="289" y="3455"/>
              <a:ext cx="549" cy="21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32" name="Rectangle 172"/>
            <p:cNvSpPr>
              <a:spLocks noChangeArrowheads="1"/>
            </p:cNvSpPr>
            <p:nvPr/>
          </p:nvSpPr>
          <p:spPr bwMode="auto">
            <a:xfrm>
              <a:off x="289" y="3238"/>
              <a:ext cx="549" cy="216"/>
            </a:xfrm>
            <a:prstGeom prst="rect">
              <a:avLst/>
            </a:prstGeom>
            <a:solidFill>
              <a:schemeClr val="tx2">
                <a:alpha val="59999"/>
              </a:schemeClr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33" name="Rectangle 173"/>
            <p:cNvSpPr>
              <a:spLocks noChangeArrowheads="1"/>
            </p:cNvSpPr>
            <p:nvPr/>
          </p:nvSpPr>
          <p:spPr bwMode="auto">
            <a:xfrm>
              <a:off x="289" y="3016"/>
              <a:ext cx="549" cy="216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34" name="Rectangle 174"/>
            <p:cNvSpPr>
              <a:spLocks noChangeArrowheads="1"/>
            </p:cNvSpPr>
            <p:nvPr/>
          </p:nvSpPr>
          <p:spPr bwMode="auto">
            <a:xfrm>
              <a:off x="277" y="3681"/>
              <a:ext cx="57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 smtClean="0"/>
                <a:t>Physical</a:t>
              </a:r>
              <a:endParaRPr lang="en-US" sz="1400" dirty="0"/>
            </a:p>
          </p:txBody>
        </p:sp>
        <p:sp>
          <p:nvSpPr>
            <p:cNvPr id="35" name="Rectangle 175"/>
            <p:cNvSpPr>
              <a:spLocks noChangeArrowheads="1"/>
            </p:cNvSpPr>
            <p:nvPr/>
          </p:nvSpPr>
          <p:spPr bwMode="auto">
            <a:xfrm>
              <a:off x="265" y="3483"/>
              <a:ext cx="52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/>
                <a:t>Section</a:t>
              </a:r>
            </a:p>
          </p:txBody>
        </p:sp>
        <p:sp>
          <p:nvSpPr>
            <p:cNvPr id="36" name="Rectangle 176"/>
            <p:cNvSpPr>
              <a:spLocks noChangeArrowheads="1"/>
            </p:cNvSpPr>
            <p:nvPr/>
          </p:nvSpPr>
          <p:spPr bwMode="auto">
            <a:xfrm>
              <a:off x="368" y="3291"/>
              <a:ext cx="34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/>
                <a:t>Line</a:t>
              </a:r>
            </a:p>
          </p:txBody>
        </p:sp>
        <p:sp>
          <p:nvSpPr>
            <p:cNvPr id="37" name="Rectangle 177"/>
            <p:cNvSpPr>
              <a:spLocks noChangeArrowheads="1"/>
            </p:cNvSpPr>
            <p:nvPr/>
          </p:nvSpPr>
          <p:spPr bwMode="auto">
            <a:xfrm>
              <a:off x="361" y="3003"/>
              <a:ext cx="35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/>
                <a:t>Path</a:t>
              </a:r>
            </a:p>
          </p:txBody>
        </p:sp>
        <p:sp>
          <p:nvSpPr>
            <p:cNvPr id="38" name="Line 38"/>
            <p:cNvSpPr>
              <a:spLocks noChangeShapeType="1"/>
            </p:cNvSpPr>
            <p:nvPr/>
          </p:nvSpPr>
          <p:spPr bwMode="auto">
            <a:xfrm>
              <a:off x="853" y="3775"/>
              <a:ext cx="191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39"/>
            <p:cNvSpPr>
              <a:spLocks noChangeShapeType="1"/>
            </p:cNvSpPr>
            <p:nvPr/>
          </p:nvSpPr>
          <p:spPr bwMode="auto">
            <a:xfrm>
              <a:off x="1622" y="3775"/>
              <a:ext cx="16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40"/>
            <p:cNvSpPr>
              <a:spLocks noChangeShapeType="1"/>
            </p:cNvSpPr>
            <p:nvPr/>
          </p:nvSpPr>
          <p:spPr bwMode="auto">
            <a:xfrm>
              <a:off x="2351" y="3782"/>
              <a:ext cx="203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41"/>
            <p:cNvSpPr>
              <a:spLocks noChangeShapeType="1"/>
            </p:cNvSpPr>
            <p:nvPr/>
          </p:nvSpPr>
          <p:spPr bwMode="auto">
            <a:xfrm>
              <a:off x="3125" y="3788"/>
              <a:ext cx="24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42"/>
            <p:cNvSpPr>
              <a:spLocks noChangeShapeType="1"/>
            </p:cNvSpPr>
            <p:nvPr/>
          </p:nvSpPr>
          <p:spPr bwMode="auto">
            <a:xfrm>
              <a:off x="3938" y="3795"/>
              <a:ext cx="28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43"/>
            <p:cNvSpPr>
              <a:spLocks noChangeShapeType="1"/>
            </p:cNvSpPr>
            <p:nvPr/>
          </p:nvSpPr>
          <p:spPr bwMode="auto">
            <a:xfrm>
              <a:off x="4777" y="3795"/>
              <a:ext cx="19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44"/>
            <p:cNvSpPr>
              <a:spLocks noChangeShapeType="1"/>
            </p:cNvSpPr>
            <p:nvPr/>
          </p:nvSpPr>
          <p:spPr bwMode="auto">
            <a:xfrm>
              <a:off x="866" y="3557"/>
              <a:ext cx="191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45"/>
            <p:cNvSpPr>
              <a:spLocks noChangeShapeType="1"/>
            </p:cNvSpPr>
            <p:nvPr/>
          </p:nvSpPr>
          <p:spPr bwMode="auto">
            <a:xfrm>
              <a:off x="1615" y="3551"/>
              <a:ext cx="16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46"/>
            <p:cNvSpPr>
              <a:spLocks noChangeShapeType="1"/>
            </p:cNvSpPr>
            <p:nvPr/>
          </p:nvSpPr>
          <p:spPr bwMode="auto">
            <a:xfrm>
              <a:off x="2351" y="3571"/>
              <a:ext cx="203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47"/>
            <p:cNvSpPr>
              <a:spLocks noChangeShapeType="1"/>
            </p:cNvSpPr>
            <p:nvPr/>
          </p:nvSpPr>
          <p:spPr bwMode="auto">
            <a:xfrm>
              <a:off x="3144" y="3571"/>
              <a:ext cx="24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48"/>
            <p:cNvSpPr>
              <a:spLocks noChangeShapeType="1"/>
            </p:cNvSpPr>
            <p:nvPr/>
          </p:nvSpPr>
          <p:spPr bwMode="auto">
            <a:xfrm>
              <a:off x="3931" y="3571"/>
              <a:ext cx="28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49"/>
            <p:cNvSpPr>
              <a:spLocks noChangeShapeType="1"/>
            </p:cNvSpPr>
            <p:nvPr/>
          </p:nvSpPr>
          <p:spPr bwMode="auto">
            <a:xfrm>
              <a:off x="4790" y="3565"/>
              <a:ext cx="19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50"/>
            <p:cNvSpPr>
              <a:spLocks noChangeShapeType="1"/>
            </p:cNvSpPr>
            <p:nvPr/>
          </p:nvSpPr>
          <p:spPr bwMode="auto">
            <a:xfrm>
              <a:off x="853" y="3340"/>
              <a:ext cx="191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51"/>
            <p:cNvSpPr>
              <a:spLocks noChangeShapeType="1"/>
            </p:cNvSpPr>
            <p:nvPr/>
          </p:nvSpPr>
          <p:spPr bwMode="auto">
            <a:xfrm>
              <a:off x="4790" y="3366"/>
              <a:ext cx="19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52"/>
            <p:cNvSpPr>
              <a:spLocks noChangeShapeType="1"/>
            </p:cNvSpPr>
            <p:nvPr/>
          </p:nvSpPr>
          <p:spPr bwMode="auto">
            <a:xfrm>
              <a:off x="1635" y="3340"/>
              <a:ext cx="2577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53"/>
            <p:cNvSpPr>
              <a:spLocks noChangeShapeType="1"/>
            </p:cNvSpPr>
            <p:nvPr/>
          </p:nvSpPr>
          <p:spPr bwMode="auto">
            <a:xfrm>
              <a:off x="847" y="3110"/>
              <a:ext cx="415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Rectangle 194"/>
            <p:cNvSpPr>
              <a:spLocks noChangeArrowheads="1"/>
            </p:cNvSpPr>
            <p:nvPr/>
          </p:nvSpPr>
          <p:spPr bwMode="auto">
            <a:xfrm>
              <a:off x="4994" y="3667"/>
              <a:ext cx="549" cy="21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55" name="Rectangle 195"/>
            <p:cNvSpPr>
              <a:spLocks noChangeArrowheads="1"/>
            </p:cNvSpPr>
            <p:nvPr/>
          </p:nvSpPr>
          <p:spPr bwMode="auto">
            <a:xfrm>
              <a:off x="4994" y="3452"/>
              <a:ext cx="549" cy="21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56" name="Rectangle 196"/>
            <p:cNvSpPr>
              <a:spLocks noChangeArrowheads="1"/>
            </p:cNvSpPr>
            <p:nvPr/>
          </p:nvSpPr>
          <p:spPr bwMode="auto">
            <a:xfrm>
              <a:off x="4994" y="3237"/>
              <a:ext cx="549" cy="216"/>
            </a:xfrm>
            <a:prstGeom prst="rect">
              <a:avLst/>
            </a:prstGeom>
            <a:solidFill>
              <a:schemeClr val="tx2">
                <a:alpha val="59999"/>
              </a:schemeClr>
            </a:solidFill>
            <a:ln w="12700" algn="ctr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57" name="Rectangle 197"/>
            <p:cNvSpPr>
              <a:spLocks noChangeArrowheads="1"/>
            </p:cNvSpPr>
            <p:nvPr/>
          </p:nvSpPr>
          <p:spPr bwMode="auto">
            <a:xfrm>
              <a:off x="4994" y="3020"/>
              <a:ext cx="549" cy="216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400"/>
            </a:p>
          </p:txBody>
        </p:sp>
        <p:sp>
          <p:nvSpPr>
            <p:cNvPr id="58" name="Rectangle 198"/>
            <p:cNvSpPr>
              <a:spLocks noChangeArrowheads="1"/>
            </p:cNvSpPr>
            <p:nvPr/>
          </p:nvSpPr>
          <p:spPr bwMode="auto">
            <a:xfrm>
              <a:off x="4989" y="3678"/>
              <a:ext cx="57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 smtClean="0"/>
                <a:t>Physical</a:t>
              </a:r>
              <a:endParaRPr lang="en-US" sz="1400" dirty="0"/>
            </a:p>
          </p:txBody>
        </p:sp>
        <p:sp>
          <p:nvSpPr>
            <p:cNvPr id="59" name="Rectangle 199"/>
            <p:cNvSpPr>
              <a:spLocks noChangeArrowheads="1"/>
            </p:cNvSpPr>
            <p:nvPr/>
          </p:nvSpPr>
          <p:spPr bwMode="auto">
            <a:xfrm>
              <a:off x="4977" y="3483"/>
              <a:ext cx="52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/>
                <a:t>Section</a:t>
              </a:r>
            </a:p>
          </p:txBody>
        </p:sp>
        <p:sp>
          <p:nvSpPr>
            <p:cNvPr id="60" name="Rectangle 200"/>
            <p:cNvSpPr>
              <a:spLocks noChangeArrowheads="1"/>
            </p:cNvSpPr>
            <p:nvPr/>
          </p:nvSpPr>
          <p:spPr bwMode="auto">
            <a:xfrm>
              <a:off x="5080" y="3243"/>
              <a:ext cx="34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/>
                <a:t>Line</a:t>
              </a:r>
            </a:p>
          </p:txBody>
        </p:sp>
        <p:sp>
          <p:nvSpPr>
            <p:cNvPr id="61" name="Rectangle 201"/>
            <p:cNvSpPr>
              <a:spLocks noChangeArrowheads="1"/>
            </p:cNvSpPr>
            <p:nvPr/>
          </p:nvSpPr>
          <p:spPr bwMode="auto">
            <a:xfrm>
              <a:off x="5073" y="3051"/>
              <a:ext cx="35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dirty="0"/>
                <a:t>Path</a:t>
              </a:r>
            </a:p>
          </p:txBody>
        </p:sp>
        <p:sp>
          <p:nvSpPr>
            <p:cNvPr id="62" name="Text Box 62"/>
            <p:cNvSpPr txBox="1">
              <a:spLocks noChangeArrowheads="1"/>
            </p:cNvSpPr>
            <p:nvPr/>
          </p:nvSpPr>
          <p:spPr bwMode="auto">
            <a:xfrm>
              <a:off x="142" y="2768"/>
              <a:ext cx="11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endParaRPr lang="en-US" sz="1400"/>
            </a:p>
          </p:txBody>
        </p:sp>
      </p:grpSp>
      <p:sp>
        <p:nvSpPr>
          <p:cNvPr id="63" name="Slide Number Placeholder 6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1615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SONET and OSI Layers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63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013" y="1905000"/>
            <a:ext cx="6751637" cy="379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5570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accent2"/>
                </a:solidFill>
              </a:rPr>
              <a:t>SONET STS-1 frame</a:t>
            </a:r>
          </a:p>
        </p:txBody>
      </p:sp>
      <p:sp>
        <p:nvSpPr>
          <p:cNvPr id="2969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057275" y="1600200"/>
            <a:ext cx="7366000" cy="1638300"/>
          </a:xfrm>
          <a:noFill/>
        </p:spPr>
        <p:txBody>
          <a:bodyPr/>
          <a:lstStyle/>
          <a:p>
            <a:pPr eaLnBrk="1" hangingPunct="1">
              <a:buFont typeface="Arial" pitchFamily="34" charset="0"/>
              <a:buChar char="•"/>
            </a:pPr>
            <a:r>
              <a:rPr lang="en-US" sz="1800" smtClean="0"/>
              <a:t>Each STS-1 frame is 90 columns * 9 rows of bytes = 810 bytes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sz="1800" smtClean="0"/>
              <a:t>There are 8000 STS-1 frames per second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Arial" pitchFamily="34" charset="0"/>
              <a:buChar char="•"/>
            </a:pPr>
            <a:r>
              <a:rPr lang="en-US" sz="1800" smtClean="0"/>
              <a:t>so </a:t>
            </a:r>
            <a:r>
              <a:rPr lang="en-US" sz="1800" u="sng" smtClean="0"/>
              <a:t>each</a:t>
            </a:r>
            <a:r>
              <a:rPr lang="en-US" sz="1800" smtClean="0"/>
              <a:t> byte represents 64 kbps </a:t>
            </a:r>
            <a:r>
              <a:rPr lang="en-US" sz="1600" smtClean="0"/>
              <a:t>(each column is 576 kbps)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sz="1800" smtClean="0"/>
              <a:t>Thus the basic STS-1 rate is 51.840 Mbps</a:t>
            </a:r>
          </a:p>
        </p:txBody>
      </p:sp>
      <p:grpSp>
        <p:nvGrpSpPr>
          <p:cNvPr id="29700" name="Group 1"/>
          <p:cNvGrpSpPr>
            <a:grpSpLocks/>
          </p:cNvGrpSpPr>
          <p:nvPr/>
        </p:nvGrpSpPr>
        <p:grpSpPr bwMode="auto">
          <a:xfrm>
            <a:off x="925513" y="3119438"/>
            <a:ext cx="7373937" cy="2895600"/>
            <a:chOff x="804863" y="1447800"/>
            <a:chExt cx="7373937" cy="2895600"/>
          </a:xfrm>
        </p:grpSpPr>
        <p:sp>
          <p:nvSpPr>
            <p:cNvPr id="29702" name="Rectangle 2"/>
            <p:cNvSpPr>
              <a:spLocks noChangeArrowheads="1"/>
            </p:cNvSpPr>
            <p:nvPr/>
          </p:nvSpPr>
          <p:spPr bwMode="auto">
            <a:xfrm>
              <a:off x="1257300" y="1930400"/>
              <a:ext cx="127000" cy="241300"/>
            </a:xfrm>
            <a:prstGeom prst="rect">
              <a:avLst/>
            </a:prstGeom>
            <a:solidFill>
              <a:srgbClr val="00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3" name="Rectangle 5"/>
            <p:cNvSpPr>
              <a:spLocks noChangeArrowheads="1"/>
            </p:cNvSpPr>
            <p:nvPr/>
          </p:nvSpPr>
          <p:spPr bwMode="auto">
            <a:xfrm>
              <a:off x="1244600" y="1917700"/>
              <a:ext cx="6908800" cy="24257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4" name="Text Box 6"/>
            <p:cNvSpPr txBox="1">
              <a:spLocks noChangeArrowheads="1"/>
            </p:cNvSpPr>
            <p:nvPr/>
          </p:nvSpPr>
          <p:spPr bwMode="auto">
            <a:xfrm>
              <a:off x="3898900" y="1447800"/>
              <a:ext cx="172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90 columns</a:t>
              </a:r>
            </a:p>
          </p:txBody>
        </p:sp>
        <p:sp>
          <p:nvSpPr>
            <p:cNvPr id="29705" name="Line 7"/>
            <p:cNvSpPr>
              <a:spLocks noChangeShapeType="1"/>
            </p:cNvSpPr>
            <p:nvPr/>
          </p:nvSpPr>
          <p:spPr bwMode="auto">
            <a:xfrm>
              <a:off x="5219700" y="1651000"/>
              <a:ext cx="292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6" name="Line 8"/>
            <p:cNvSpPr>
              <a:spLocks noChangeShapeType="1"/>
            </p:cNvSpPr>
            <p:nvPr/>
          </p:nvSpPr>
          <p:spPr bwMode="auto">
            <a:xfrm>
              <a:off x="8140700" y="1651000"/>
              <a:ext cx="0" cy="2159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7" name="Line 9"/>
            <p:cNvSpPr>
              <a:spLocks noChangeShapeType="1"/>
            </p:cNvSpPr>
            <p:nvPr/>
          </p:nvSpPr>
          <p:spPr bwMode="auto">
            <a:xfrm>
              <a:off x="1257300" y="1651000"/>
              <a:ext cx="2603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8" name="Line 10"/>
            <p:cNvSpPr>
              <a:spLocks noChangeShapeType="1"/>
            </p:cNvSpPr>
            <p:nvPr/>
          </p:nvSpPr>
          <p:spPr bwMode="auto">
            <a:xfrm>
              <a:off x="1257300" y="1663700"/>
              <a:ext cx="0" cy="2159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9" name="Text Box 11"/>
            <p:cNvSpPr txBox="1">
              <a:spLocks noChangeArrowheads="1"/>
            </p:cNvSpPr>
            <p:nvPr/>
          </p:nvSpPr>
          <p:spPr bwMode="auto">
            <a:xfrm rot="-5400000">
              <a:off x="546101" y="2794000"/>
              <a:ext cx="9144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9 rows</a:t>
              </a:r>
            </a:p>
          </p:txBody>
        </p:sp>
        <p:sp>
          <p:nvSpPr>
            <p:cNvPr id="29710" name="Line 12"/>
            <p:cNvSpPr>
              <a:spLocks noChangeShapeType="1"/>
            </p:cNvSpPr>
            <p:nvPr/>
          </p:nvSpPr>
          <p:spPr bwMode="auto">
            <a:xfrm>
              <a:off x="1003300" y="1917700"/>
              <a:ext cx="0" cy="546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1" name="Line 13"/>
            <p:cNvSpPr>
              <a:spLocks noChangeShapeType="1"/>
            </p:cNvSpPr>
            <p:nvPr/>
          </p:nvSpPr>
          <p:spPr bwMode="auto">
            <a:xfrm>
              <a:off x="1003300" y="3517900"/>
              <a:ext cx="0" cy="812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2" name="Line 14"/>
            <p:cNvSpPr>
              <a:spLocks noChangeShapeType="1"/>
            </p:cNvSpPr>
            <p:nvPr/>
          </p:nvSpPr>
          <p:spPr bwMode="auto">
            <a:xfrm>
              <a:off x="1397000" y="1905000"/>
              <a:ext cx="0" cy="241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3" name="Line 15"/>
            <p:cNvSpPr>
              <a:spLocks noChangeShapeType="1"/>
            </p:cNvSpPr>
            <p:nvPr/>
          </p:nvSpPr>
          <p:spPr bwMode="auto">
            <a:xfrm>
              <a:off x="15748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4" name="Line 16"/>
            <p:cNvSpPr>
              <a:spLocks noChangeShapeType="1"/>
            </p:cNvSpPr>
            <p:nvPr/>
          </p:nvSpPr>
          <p:spPr bwMode="auto">
            <a:xfrm>
              <a:off x="1244600" y="2184400"/>
              <a:ext cx="690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5" name="Line 17"/>
            <p:cNvSpPr>
              <a:spLocks noChangeShapeType="1"/>
            </p:cNvSpPr>
            <p:nvPr/>
          </p:nvSpPr>
          <p:spPr bwMode="auto">
            <a:xfrm>
              <a:off x="1244600" y="2451100"/>
              <a:ext cx="68961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6" name="Line 18"/>
            <p:cNvSpPr>
              <a:spLocks noChangeShapeType="1"/>
            </p:cNvSpPr>
            <p:nvPr/>
          </p:nvSpPr>
          <p:spPr bwMode="auto">
            <a:xfrm>
              <a:off x="1244600" y="2717800"/>
              <a:ext cx="6934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7" name="Line 19"/>
            <p:cNvSpPr>
              <a:spLocks noChangeShapeType="1"/>
            </p:cNvSpPr>
            <p:nvPr/>
          </p:nvSpPr>
          <p:spPr bwMode="auto">
            <a:xfrm>
              <a:off x="1244600" y="2984500"/>
              <a:ext cx="690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8" name="Line 20"/>
            <p:cNvSpPr>
              <a:spLocks noChangeShapeType="1"/>
            </p:cNvSpPr>
            <p:nvPr/>
          </p:nvSpPr>
          <p:spPr bwMode="auto">
            <a:xfrm>
              <a:off x="1244600" y="3251200"/>
              <a:ext cx="690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9" name="Line 21"/>
            <p:cNvSpPr>
              <a:spLocks noChangeShapeType="1"/>
            </p:cNvSpPr>
            <p:nvPr/>
          </p:nvSpPr>
          <p:spPr bwMode="auto">
            <a:xfrm>
              <a:off x="1244600" y="3517900"/>
              <a:ext cx="68961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0" name="Line 22"/>
            <p:cNvSpPr>
              <a:spLocks noChangeShapeType="1"/>
            </p:cNvSpPr>
            <p:nvPr/>
          </p:nvSpPr>
          <p:spPr bwMode="auto">
            <a:xfrm>
              <a:off x="1244600" y="3784600"/>
              <a:ext cx="690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1" name="Line 23"/>
            <p:cNvSpPr>
              <a:spLocks noChangeShapeType="1"/>
            </p:cNvSpPr>
            <p:nvPr/>
          </p:nvSpPr>
          <p:spPr bwMode="auto">
            <a:xfrm>
              <a:off x="1244600" y="4064000"/>
              <a:ext cx="690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2" name="Line 24"/>
            <p:cNvSpPr>
              <a:spLocks noChangeShapeType="1"/>
            </p:cNvSpPr>
            <p:nvPr/>
          </p:nvSpPr>
          <p:spPr bwMode="auto">
            <a:xfrm>
              <a:off x="1739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3" name="Line 25"/>
            <p:cNvSpPr>
              <a:spLocks noChangeShapeType="1"/>
            </p:cNvSpPr>
            <p:nvPr/>
          </p:nvSpPr>
          <p:spPr bwMode="auto">
            <a:xfrm>
              <a:off x="1892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4" name="Line 26"/>
            <p:cNvSpPr>
              <a:spLocks noChangeShapeType="1"/>
            </p:cNvSpPr>
            <p:nvPr/>
          </p:nvSpPr>
          <p:spPr bwMode="auto">
            <a:xfrm>
              <a:off x="2044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5" name="Line 27"/>
            <p:cNvSpPr>
              <a:spLocks noChangeShapeType="1"/>
            </p:cNvSpPr>
            <p:nvPr/>
          </p:nvSpPr>
          <p:spPr bwMode="auto">
            <a:xfrm>
              <a:off x="2197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6" name="Line 28"/>
            <p:cNvSpPr>
              <a:spLocks noChangeShapeType="1"/>
            </p:cNvSpPr>
            <p:nvPr/>
          </p:nvSpPr>
          <p:spPr bwMode="auto">
            <a:xfrm>
              <a:off x="2349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7" name="Line 29"/>
            <p:cNvSpPr>
              <a:spLocks noChangeShapeType="1"/>
            </p:cNvSpPr>
            <p:nvPr/>
          </p:nvSpPr>
          <p:spPr bwMode="auto">
            <a:xfrm>
              <a:off x="2501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8" name="Line 30"/>
            <p:cNvSpPr>
              <a:spLocks noChangeShapeType="1"/>
            </p:cNvSpPr>
            <p:nvPr/>
          </p:nvSpPr>
          <p:spPr bwMode="auto">
            <a:xfrm>
              <a:off x="2654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9" name="Line 31"/>
            <p:cNvSpPr>
              <a:spLocks noChangeShapeType="1"/>
            </p:cNvSpPr>
            <p:nvPr/>
          </p:nvSpPr>
          <p:spPr bwMode="auto">
            <a:xfrm>
              <a:off x="28067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0" name="Line 32"/>
            <p:cNvSpPr>
              <a:spLocks noChangeShapeType="1"/>
            </p:cNvSpPr>
            <p:nvPr/>
          </p:nvSpPr>
          <p:spPr bwMode="auto">
            <a:xfrm>
              <a:off x="2959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1" name="Line 33"/>
            <p:cNvSpPr>
              <a:spLocks noChangeShapeType="1"/>
            </p:cNvSpPr>
            <p:nvPr/>
          </p:nvSpPr>
          <p:spPr bwMode="auto">
            <a:xfrm>
              <a:off x="3111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2" name="Line 34"/>
            <p:cNvSpPr>
              <a:spLocks noChangeShapeType="1"/>
            </p:cNvSpPr>
            <p:nvPr/>
          </p:nvSpPr>
          <p:spPr bwMode="auto">
            <a:xfrm>
              <a:off x="3263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3" name="Line 35"/>
            <p:cNvSpPr>
              <a:spLocks noChangeShapeType="1"/>
            </p:cNvSpPr>
            <p:nvPr/>
          </p:nvSpPr>
          <p:spPr bwMode="auto">
            <a:xfrm>
              <a:off x="3416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4" name="Line 36"/>
            <p:cNvSpPr>
              <a:spLocks noChangeShapeType="1"/>
            </p:cNvSpPr>
            <p:nvPr/>
          </p:nvSpPr>
          <p:spPr bwMode="auto">
            <a:xfrm>
              <a:off x="3568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5" name="Line 37"/>
            <p:cNvSpPr>
              <a:spLocks noChangeShapeType="1"/>
            </p:cNvSpPr>
            <p:nvPr/>
          </p:nvSpPr>
          <p:spPr bwMode="auto">
            <a:xfrm>
              <a:off x="3721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6" name="Line 38"/>
            <p:cNvSpPr>
              <a:spLocks noChangeShapeType="1"/>
            </p:cNvSpPr>
            <p:nvPr/>
          </p:nvSpPr>
          <p:spPr bwMode="auto">
            <a:xfrm>
              <a:off x="3873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7" name="Line 39"/>
            <p:cNvSpPr>
              <a:spLocks noChangeShapeType="1"/>
            </p:cNvSpPr>
            <p:nvPr/>
          </p:nvSpPr>
          <p:spPr bwMode="auto">
            <a:xfrm>
              <a:off x="4025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8" name="Line 40"/>
            <p:cNvSpPr>
              <a:spLocks noChangeShapeType="1"/>
            </p:cNvSpPr>
            <p:nvPr/>
          </p:nvSpPr>
          <p:spPr bwMode="auto">
            <a:xfrm>
              <a:off x="4178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9" name="Line 41"/>
            <p:cNvSpPr>
              <a:spLocks noChangeShapeType="1"/>
            </p:cNvSpPr>
            <p:nvPr/>
          </p:nvSpPr>
          <p:spPr bwMode="auto">
            <a:xfrm>
              <a:off x="4330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0" name="Line 42"/>
            <p:cNvSpPr>
              <a:spLocks noChangeShapeType="1"/>
            </p:cNvSpPr>
            <p:nvPr/>
          </p:nvSpPr>
          <p:spPr bwMode="auto">
            <a:xfrm>
              <a:off x="4483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1" name="Line 43"/>
            <p:cNvSpPr>
              <a:spLocks noChangeShapeType="1"/>
            </p:cNvSpPr>
            <p:nvPr/>
          </p:nvSpPr>
          <p:spPr bwMode="auto">
            <a:xfrm>
              <a:off x="4635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2" name="Line 44"/>
            <p:cNvSpPr>
              <a:spLocks noChangeShapeType="1"/>
            </p:cNvSpPr>
            <p:nvPr/>
          </p:nvSpPr>
          <p:spPr bwMode="auto">
            <a:xfrm>
              <a:off x="4787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3" name="Line 45"/>
            <p:cNvSpPr>
              <a:spLocks noChangeShapeType="1"/>
            </p:cNvSpPr>
            <p:nvPr/>
          </p:nvSpPr>
          <p:spPr bwMode="auto">
            <a:xfrm>
              <a:off x="4940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4" name="Line 46"/>
            <p:cNvSpPr>
              <a:spLocks noChangeShapeType="1"/>
            </p:cNvSpPr>
            <p:nvPr/>
          </p:nvSpPr>
          <p:spPr bwMode="auto">
            <a:xfrm>
              <a:off x="5092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5" name="Line 47"/>
            <p:cNvSpPr>
              <a:spLocks noChangeShapeType="1"/>
            </p:cNvSpPr>
            <p:nvPr/>
          </p:nvSpPr>
          <p:spPr bwMode="auto">
            <a:xfrm>
              <a:off x="5245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6" name="Line 48"/>
            <p:cNvSpPr>
              <a:spLocks noChangeShapeType="1"/>
            </p:cNvSpPr>
            <p:nvPr/>
          </p:nvSpPr>
          <p:spPr bwMode="auto">
            <a:xfrm>
              <a:off x="5397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7" name="Line 49"/>
            <p:cNvSpPr>
              <a:spLocks noChangeShapeType="1"/>
            </p:cNvSpPr>
            <p:nvPr/>
          </p:nvSpPr>
          <p:spPr bwMode="auto">
            <a:xfrm>
              <a:off x="5549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8" name="Line 50"/>
            <p:cNvSpPr>
              <a:spLocks noChangeShapeType="1"/>
            </p:cNvSpPr>
            <p:nvPr/>
          </p:nvSpPr>
          <p:spPr bwMode="auto">
            <a:xfrm>
              <a:off x="5702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9" name="Line 51"/>
            <p:cNvSpPr>
              <a:spLocks noChangeShapeType="1"/>
            </p:cNvSpPr>
            <p:nvPr/>
          </p:nvSpPr>
          <p:spPr bwMode="auto">
            <a:xfrm>
              <a:off x="58547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0" name="Line 52"/>
            <p:cNvSpPr>
              <a:spLocks noChangeShapeType="1"/>
            </p:cNvSpPr>
            <p:nvPr/>
          </p:nvSpPr>
          <p:spPr bwMode="auto">
            <a:xfrm>
              <a:off x="6007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1" name="Line 53"/>
            <p:cNvSpPr>
              <a:spLocks noChangeShapeType="1"/>
            </p:cNvSpPr>
            <p:nvPr/>
          </p:nvSpPr>
          <p:spPr bwMode="auto">
            <a:xfrm>
              <a:off x="6159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2" name="Line 54"/>
            <p:cNvSpPr>
              <a:spLocks noChangeShapeType="1"/>
            </p:cNvSpPr>
            <p:nvPr/>
          </p:nvSpPr>
          <p:spPr bwMode="auto">
            <a:xfrm>
              <a:off x="6311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3" name="Line 55"/>
            <p:cNvSpPr>
              <a:spLocks noChangeShapeType="1"/>
            </p:cNvSpPr>
            <p:nvPr/>
          </p:nvSpPr>
          <p:spPr bwMode="auto">
            <a:xfrm>
              <a:off x="6464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4" name="Line 56"/>
            <p:cNvSpPr>
              <a:spLocks noChangeShapeType="1"/>
            </p:cNvSpPr>
            <p:nvPr/>
          </p:nvSpPr>
          <p:spPr bwMode="auto">
            <a:xfrm>
              <a:off x="6616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5" name="Line 57"/>
            <p:cNvSpPr>
              <a:spLocks noChangeShapeType="1"/>
            </p:cNvSpPr>
            <p:nvPr/>
          </p:nvSpPr>
          <p:spPr bwMode="auto">
            <a:xfrm>
              <a:off x="67691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6" name="Line 58"/>
            <p:cNvSpPr>
              <a:spLocks noChangeShapeType="1"/>
            </p:cNvSpPr>
            <p:nvPr/>
          </p:nvSpPr>
          <p:spPr bwMode="auto">
            <a:xfrm>
              <a:off x="6921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7" name="Line 59"/>
            <p:cNvSpPr>
              <a:spLocks noChangeShapeType="1"/>
            </p:cNvSpPr>
            <p:nvPr/>
          </p:nvSpPr>
          <p:spPr bwMode="auto">
            <a:xfrm>
              <a:off x="7073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8" name="Line 60"/>
            <p:cNvSpPr>
              <a:spLocks noChangeShapeType="1"/>
            </p:cNvSpPr>
            <p:nvPr/>
          </p:nvSpPr>
          <p:spPr bwMode="auto">
            <a:xfrm>
              <a:off x="7226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9" name="Line 61"/>
            <p:cNvSpPr>
              <a:spLocks noChangeShapeType="1"/>
            </p:cNvSpPr>
            <p:nvPr/>
          </p:nvSpPr>
          <p:spPr bwMode="auto">
            <a:xfrm>
              <a:off x="73787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0" name="Line 62"/>
            <p:cNvSpPr>
              <a:spLocks noChangeShapeType="1"/>
            </p:cNvSpPr>
            <p:nvPr/>
          </p:nvSpPr>
          <p:spPr bwMode="auto">
            <a:xfrm>
              <a:off x="7531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1" name="Line 63"/>
            <p:cNvSpPr>
              <a:spLocks noChangeShapeType="1"/>
            </p:cNvSpPr>
            <p:nvPr/>
          </p:nvSpPr>
          <p:spPr bwMode="auto">
            <a:xfrm>
              <a:off x="7683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2" name="Line 64"/>
            <p:cNvSpPr>
              <a:spLocks noChangeShapeType="1"/>
            </p:cNvSpPr>
            <p:nvPr/>
          </p:nvSpPr>
          <p:spPr bwMode="auto">
            <a:xfrm>
              <a:off x="78359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3" name="Line 65"/>
            <p:cNvSpPr>
              <a:spLocks noChangeShapeType="1"/>
            </p:cNvSpPr>
            <p:nvPr/>
          </p:nvSpPr>
          <p:spPr bwMode="auto">
            <a:xfrm>
              <a:off x="7988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4" name="Line 66"/>
            <p:cNvSpPr>
              <a:spLocks noChangeShapeType="1"/>
            </p:cNvSpPr>
            <p:nvPr/>
          </p:nvSpPr>
          <p:spPr bwMode="auto">
            <a:xfrm>
              <a:off x="1003300" y="1917700"/>
              <a:ext cx="1905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5" name="Line 67"/>
            <p:cNvSpPr>
              <a:spLocks noChangeShapeType="1"/>
            </p:cNvSpPr>
            <p:nvPr/>
          </p:nvSpPr>
          <p:spPr bwMode="auto">
            <a:xfrm>
              <a:off x="1003300" y="4330700"/>
              <a:ext cx="1905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6" name="Line 68"/>
            <p:cNvSpPr>
              <a:spLocks noChangeShapeType="1"/>
            </p:cNvSpPr>
            <p:nvPr/>
          </p:nvSpPr>
          <p:spPr bwMode="auto">
            <a:xfrm>
              <a:off x="1320800" y="1905000"/>
              <a:ext cx="0" cy="241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7" name="Line 69"/>
            <p:cNvSpPr>
              <a:spLocks noChangeShapeType="1"/>
            </p:cNvSpPr>
            <p:nvPr/>
          </p:nvSpPr>
          <p:spPr bwMode="auto">
            <a:xfrm>
              <a:off x="14859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8" name="Line 70"/>
            <p:cNvSpPr>
              <a:spLocks noChangeShapeType="1"/>
            </p:cNvSpPr>
            <p:nvPr/>
          </p:nvSpPr>
          <p:spPr bwMode="auto">
            <a:xfrm>
              <a:off x="1663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9" name="Line 71"/>
            <p:cNvSpPr>
              <a:spLocks noChangeShapeType="1"/>
            </p:cNvSpPr>
            <p:nvPr/>
          </p:nvSpPr>
          <p:spPr bwMode="auto">
            <a:xfrm>
              <a:off x="1816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0" name="Line 72"/>
            <p:cNvSpPr>
              <a:spLocks noChangeShapeType="1"/>
            </p:cNvSpPr>
            <p:nvPr/>
          </p:nvSpPr>
          <p:spPr bwMode="auto">
            <a:xfrm>
              <a:off x="1968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1" name="Line 73"/>
            <p:cNvSpPr>
              <a:spLocks noChangeShapeType="1"/>
            </p:cNvSpPr>
            <p:nvPr/>
          </p:nvSpPr>
          <p:spPr bwMode="auto">
            <a:xfrm>
              <a:off x="2120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2" name="Line 74"/>
            <p:cNvSpPr>
              <a:spLocks noChangeShapeType="1"/>
            </p:cNvSpPr>
            <p:nvPr/>
          </p:nvSpPr>
          <p:spPr bwMode="auto">
            <a:xfrm>
              <a:off x="2273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3" name="Line 75"/>
            <p:cNvSpPr>
              <a:spLocks noChangeShapeType="1"/>
            </p:cNvSpPr>
            <p:nvPr/>
          </p:nvSpPr>
          <p:spPr bwMode="auto">
            <a:xfrm>
              <a:off x="2425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4" name="Line 76"/>
            <p:cNvSpPr>
              <a:spLocks noChangeShapeType="1"/>
            </p:cNvSpPr>
            <p:nvPr/>
          </p:nvSpPr>
          <p:spPr bwMode="auto">
            <a:xfrm>
              <a:off x="2578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5" name="Line 77"/>
            <p:cNvSpPr>
              <a:spLocks noChangeShapeType="1"/>
            </p:cNvSpPr>
            <p:nvPr/>
          </p:nvSpPr>
          <p:spPr bwMode="auto">
            <a:xfrm>
              <a:off x="27305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6" name="Line 78"/>
            <p:cNvSpPr>
              <a:spLocks noChangeShapeType="1"/>
            </p:cNvSpPr>
            <p:nvPr/>
          </p:nvSpPr>
          <p:spPr bwMode="auto">
            <a:xfrm>
              <a:off x="2882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7" name="Line 79"/>
            <p:cNvSpPr>
              <a:spLocks noChangeShapeType="1"/>
            </p:cNvSpPr>
            <p:nvPr/>
          </p:nvSpPr>
          <p:spPr bwMode="auto">
            <a:xfrm>
              <a:off x="3035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8" name="Line 80"/>
            <p:cNvSpPr>
              <a:spLocks noChangeShapeType="1"/>
            </p:cNvSpPr>
            <p:nvPr/>
          </p:nvSpPr>
          <p:spPr bwMode="auto">
            <a:xfrm>
              <a:off x="3187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9" name="Line 81"/>
            <p:cNvSpPr>
              <a:spLocks noChangeShapeType="1"/>
            </p:cNvSpPr>
            <p:nvPr/>
          </p:nvSpPr>
          <p:spPr bwMode="auto">
            <a:xfrm>
              <a:off x="3340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0" name="Line 82"/>
            <p:cNvSpPr>
              <a:spLocks noChangeShapeType="1"/>
            </p:cNvSpPr>
            <p:nvPr/>
          </p:nvSpPr>
          <p:spPr bwMode="auto">
            <a:xfrm>
              <a:off x="3492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1" name="Line 83"/>
            <p:cNvSpPr>
              <a:spLocks noChangeShapeType="1"/>
            </p:cNvSpPr>
            <p:nvPr/>
          </p:nvSpPr>
          <p:spPr bwMode="auto">
            <a:xfrm>
              <a:off x="3644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2" name="Line 84"/>
            <p:cNvSpPr>
              <a:spLocks noChangeShapeType="1"/>
            </p:cNvSpPr>
            <p:nvPr/>
          </p:nvSpPr>
          <p:spPr bwMode="auto">
            <a:xfrm>
              <a:off x="3797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3" name="Line 85"/>
            <p:cNvSpPr>
              <a:spLocks noChangeShapeType="1"/>
            </p:cNvSpPr>
            <p:nvPr/>
          </p:nvSpPr>
          <p:spPr bwMode="auto">
            <a:xfrm>
              <a:off x="3949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4" name="Line 86"/>
            <p:cNvSpPr>
              <a:spLocks noChangeShapeType="1"/>
            </p:cNvSpPr>
            <p:nvPr/>
          </p:nvSpPr>
          <p:spPr bwMode="auto">
            <a:xfrm>
              <a:off x="4102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5" name="Line 87"/>
            <p:cNvSpPr>
              <a:spLocks noChangeShapeType="1"/>
            </p:cNvSpPr>
            <p:nvPr/>
          </p:nvSpPr>
          <p:spPr bwMode="auto">
            <a:xfrm>
              <a:off x="4254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6" name="Line 88"/>
            <p:cNvSpPr>
              <a:spLocks noChangeShapeType="1"/>
            </p:cNvSpPr>
            <p:nvPr/>
          </p:nvSpPr>
          <p:spPr bwMode="auto">
            <a:xfrm>
              <a:off x="4406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7" name="Line 89"/>
            <p:cNvSpPr>
              <a:spLocks noChangeShapeType="1"/>
            </p:cNvSpPr>
            <p:nvPr/>
          </p:nvSpPr>
          <p:spPr bwMode="auto">
            <a:xfrm>
              <a:off x="4559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8" name="Line 90"/>
            <p:cNvSpPr>
              <a:spLocks noChangeShapeType="1"/>
            </p:cNvSpPr>
            <p:nvPr/>
          </p:nvSpPr>
          <p:spPr bwMode="auto">
            <a:xfrm>
              <a:off x="4711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9" name="Line 91"/>
            <p:cNvSpPr>
              <a:spLocks noChangeShapeType="1"/>
            </p:cNvSpPr>
            <p:nvPr/>
          </p:nvSpPr>
          <p:spPr bwMode="auto">
            <a:xfrm>
              <a:off x="4864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0" name="Line 92"/>
            <p:cNvSpPr>
              <a:spLocks noChangeShapeType="1"/>
            </p:cNvSpPr>
            <p:nvPr/>
          </p:nvSpPr>
          <p:spPr bwMode="auto">
            <a:xfrm>
              <a:off x="5016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1" name="Line 93"/>
            <p:cNvSpPr>
              <a:spLocks noChangeShapeType="1"/>
            </p:cNvSpPr>
            <p:nvPr/>
          </p:nvSpPr>
          <p:spPr bwMode="auto">
            <a:xfrm>
              <a:off x="5168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2" name="Line 94"/>
            <p:cNvSpPr>
              <a:spLocks noChangeShapeType="1"/>
            </p:cNvSpPr>
            <p:nvPr/>
          </p:nvSpPr>
          <p:spPr bwMode="auto">
            <a:xfrm>
              <a:off x="5321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3" name="Line 95"/>
            <p:cNvSpPr>
              <a:spLocks noChangeShapeType="1"/>
            </p:cNvSpPr>
            <p:nvPr/>
          </p:nvSpPr>
          <p:spPr bwMode="auto">
            <a:xfrm>
              <a:off x="5473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4" name="Line 96"/>
            <p:cNvSpPr>
              <a:spLocks noChangeShapeType="1"/>
            </p:cNvSpPr>
            <p:nvPr/>
          </p:nvSpPr>
          <p:spPr bwMode="auto">
            <a:xfrm>
              <a:off x="5626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5" name="Line 97"/>
            <p:cNvSpPr>
              <a:spLocks noChangeShapeType="1"/>
            </p:cNvSpPr>
            <p:nvPr/>
          </p:nvSpPr>
          <p:spPr bwMode="auto">
            <a:xfrm>
              <a:off x="57785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6" name="Line 98"/>
            <p:cNvSpPr>
              <a:spLocks noChangeShapeType="1"/>
            </p:cNvSpPr>
            <p:nvPr/>
          </p:nvSpPr>
          <p:spPr bwMode="auto">
            <a:xfrm>
              <a:off x="5930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7" name="Line 99"/>
            <p:cNvSpPr>
              <a:spLocks noChangeShapeType="1"/>
            </p:cNvSpPr>
            <p:nvPr/>
          </p:nvSpPr>
          <p:spPr bwMode="auto">
            <a:xfrm>
              <a:off x="6083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8" name="Line 100"/>
            <p:cNvSpPr>
              <a:spLocks noChangeShapeType="1"/>
            </p:cNvSpPr>
            <p:nvPr/>
          </p:nvSpPr>
          <p:spPr bwMode="auto">
            <a:xfrm>
              <a:off x="6235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9" name="Line 101"/>
            <p:cNvSpPr>
              <a:spLocks noChangeShapeType="1"/>
            </p:cNvSpPr>
            <p:nvPr/>
          </p:nvSpPr>
          <p:spPr bwMode="auto">
            <a:xfrm>
              <a:off x="6388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0" name="Line 102"/>
            <p:cNvSpPr>
              <a:spLocks noChangeShapeType="1"/>
            </p:cNvSpPr>
            <p:nvPr/>
          </p:nvSpPr>
          <p:spPr bwMode="auto">
            <a:xfrm>
              <a:off x="6540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1" name="Line 103"/>
            <p:cNvSpPr>
              <a:spLocks noChangeShapeType="1"/>
            </p:cNvSpPr>
            <p:nvPr/>
          </p:nvSpPr>
          <p:spPr bwMode="auto">
            <a:xfrm>
              <a:off x="66929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2" name="Line 104"/>
            <p:cNvSpPr>
              <a:spLocks noChangeShapeType="1"/>
            </p:cNvSpPr>
            <p:nvPr/>
          </p:nvSpPr>
          <p:spPr bwMode="auto">
            <a:xfrm>
              <a:off x="6845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3" name="Line 105"/>
            <p:cNvSpPr>
              <a:spLocks noChangeShapeType="1"/>
            </p:cNvSpPr>
            <p:nvPr/>
          </p:nvSpPr>
          <p:spPr bwMode="auto">
            <a:xfrm>
              <a:off x="69977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4" name="Line 106"/>
            <p:cNvSpPr>
              <a:spLocks noChangeShapeType="1"/>
            </p:cNvSpPr>
            <p:nvPr/>
          </p:nvSpPr>
          <p:spPr bwMode="auto">
            <a:xfrm>
              <a:off x="7150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5" name="Line 107"/>
            <p:cNvSpPr>
              <a:spLocks noChangeShapeType="1"/>
            </p:cNvSpPr>
            <p:nvPr/>
          </p:nvSpPr>
          <p:spPr bwMode="auto">
            <a:xfrm>
              <a:off x="73025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6" name="Line 108"/>
            <p:cNvSpPr>
              <a:spLocks noChangeShapeType="1"/>
            </p:cNvSpPr>
            <p:nvPr/>
          </p:nvSpPr>
          <p:spPr bwMode="auto">
            <a:xfrm>
              <a:off x="74549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7" name="Line 109"/>
            <p:cNvSpPr>
              <a:spLocks noChangeShapeType="1"/>
            </p:cNvSpPr>
            <p:nvPr/>
          </p:nvSpPr>
          <p:spPr bwMode="auto">
            <a:xfrm>
              <a:off x="76073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8" name="Line 110"/>
            <p:cNvSpPr>
              <a:spLocks noChangeShapeType="1"/>
            </p:cNvSpPr>
            <p:nvPr/>
          </p:nvSpPr>
          <p:spPr bwMode="auto">
            <a:xfrm>
              <a:off x="7759700" y="19050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9" name="Line 111"/>
            <p:cNvSpPr>
              <a:spLocks noChangeShapeType="1"/>
            </p:cNvSpPr>
            <p:nvPr/>
          </p:nvSpPr>
          <p:spPr bwMode="auto">
            <a:xfrm>
              <a:off x="79121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0" name="Line 112"/>
            <p:cNvSpPr>
              <a:spLocks noChangeShapeType="1"/>
            </p:cNvSpPr>
            <p:nvPr/>
          </p:nvSpPr>
          <p:spPr bwMode="auto">
            <a:xfrm>
              <a:off x="8064500" y="1917700"/>
              <a:ext cx="0" cy="2425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701" name="Rectangle 114"/>
          <p:cNvSpPr>
            <a:spLocks noChangeArrowheads="1"/>
          </p:cNvSpPr>
          <p:nvPr/>
        </p:nvSpPr>
        <p:spPr bwMode="auto">
          <a:xfrm>
            <a:off x="1460500" y="5461000"/>
            <a:ext cx="88900" cy="25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" name="Slide Number Placeholder 1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92133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accent2"/>
                </a:solidFill>
              </a:rPr>
              <a:t>SONET STS-1 Frame</a:t>
            </a:r>
          </a:p>
        </p:txBody>
      </p:sp>
      <p:pic>
        <p:nvPicPr>
          <p:cNvPr id="30723" name="Picture 2" descr="http://www.interfacebus.com/Design_SONET_Frame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362200"/>
            <a:ext cx="63246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9007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accent2"/>
                </a:solidFill>
              </a:rPr>
              <a:t>SONET STS-1 Frame</a:t>
            </a:r>
          </a:p>
        </p:txBody>
      </p:sp>
      <p:pic>
        <p:nvPicPr>
          <p:cNvPr id="31747" name="Picture 4" descr="http://www.iphelp.ru/doc/3/Cisco.Press,.Optical.Network.Design.and.Implementation.(2004).DDU/1587051052/images/1587051052/graphics/05fig05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8005763" cy="455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833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accent2"/>
                </a:solidFill>
              </a:rPr>
              <a:t>END </a:t>
            </a:r>
            <a:r>
              <a:rPr lang="en-US" smtClean="0">
                <a:solidFill>
                  <a:schemeClr val="accent2"/>
                </a:solidFill>
              </a:rPr>
              <a:t>SESSION 1</a:t>
            </a:r>
            <a:endParaRPr lang="en-US" dirty="0" smtClean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D5F7-DBBB-443F-BC5A-E6BAD04A05C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045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5782</TotalTime>
  <Words>688</Words>
  <Application>Microsoft Office PowerPoint</Application>
  <PresentationFormat>On-screen Show (4:3)</PresentationFormat>
  <Paragraphs>188</Paragraphs>
  <Slides>31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Civic</vt:lpstr>
      <vt:lpstr>Advanced Network Design EETS8332</vt:lpstr>
      <vt:lpstr>Dr. Scott Kingsley Bio</vt:lpstr>
      <vt:lpstr>Past </vt:lpstr>
      <vt:lpstr>North American Digital Hierarchy</vt:lpstr>
      <vt:lpstr>Digital Transport: Channelized T-1</vt:lpstr>
      <vt:lpstr>T-3</vt:lpstr>
      <vt:lpstr>NADH Problems</vt:lpstr>
      <vt:lpstr>SONET/SDH</vt:lpstr>
      <vt:lpstr>Plesiochronous Networks</vt:lpstr>
      <vt:lpstr>SONET Synchronization</vt:lpstr>
      <vt:lpstr>SONET Advantages</vt:lpstr>
      <vt:lpstr>SONET Advantages</vt:lpstr>
      <vt:lpstr>SONET Specifications</vt:lpstr>
      <vt:lpstr>SONET/SDH Hierarchy</vt:lpstr>
      <vt:lpstr>SONET STS-1 frame</vt:lpstr>
      <vt:lpstr>SONET Pointers</vt:lpstr>
      <vt:lpstr>SONET STS-1 Frame</vt:lpstr>
      <vt:lpstr>SONET Virtual Tributaries (VTs)</vt:lpstr>
      <vt:lpstr>SONET Virtual Tributaries (VTs)</vt:lpstr>
      <vt:lpstr>SONET Virtual Tributaries (VTs)</vt:lpstr>
      <vt:lpstr>SONET Virtual Tributaries</vt:lpstr>
      <vt:lpstr>SONET Virtual Tributaries</vt:lpstr>
      <vt:lpstr>SONET Equipment</vt:lpstr>
      <vt:lpstr>SONET Equipment Review</vt:lpstr>
      <vt:lpstr>SONET Layers</vt:lpstr>
      <vt:lpstr>SONET Layers</vt:lpstr>
      <vt:lpstr>SONET and OSI Layers</vt:lpstr>
      <vt:lpstr>SONET STS-1 frame</vt:lpstr>
      <vt:lpstr>SONET STS-1 Frame</vt:lpstr>
      <vt:lpstr>SONET STS-1 Frame</vt:lpstr>
      <vt:lpstr>END SESSION 1</vt:lpstr>
    </vt:vector>
  </TitlesOfParts>
  <Company>DeVry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Telecommunications  EETS7301</dc:title>
  <dc:creator>devry</dc:creator>
  <cp:lastModifiedBy>Marlin Kingsley</cp:lastModifiedBy>
  <cp:revision>106</cp:revision>
  <cp:lastPrinted>2012-06-05T19:21:58Z</cp:lastPrinted>
  <dcterms:created xsi:type="dcterms:W3CDTF">2011-08-14T16:57:04Z</dcterms:created>
  <dcterms:modified xsi:type="dcterms:W3CDTF">2013-02-06T23:42:25Z</dcterms:modified>
</cp:coreProperties>
</file>