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88" r:id="rId1"/>
  </p:sldMasterIdLst>
  <p:notesMasterIdLst>
    <p:notesMasterId r:id="rId72"/>
  </p:notesMasterIdLst>
  <p:handoutMasterIdLst>
    <p:handoutMasterId r:id="rId73"/>
  </p:handoutMasterIdLst>
  <p:sldIdLst>
    <p:sldId id="1031" r:id="rId2"/>
    <p:sldId id="1248" r:id="rId3"/>
    <p:sldId id="1249" r:id="rId4"/>
    <p:sldId id="1250" r:id="rId5"/>
    <p:sldId id="1338" r:id="rId6"/>
    <p:sldId id="1339" r:id="rId7"/>
    <p:sldId id="1251" r:id="rId8"/>
    <p:sldId id="1252" r:id="rId9"/>
    <p:sldId id="1254" r:id="rId10"/>
    <p:sldId id="1253" r:id="rId11"/>
    <p:sldId id="1255" r:id="rId12"/>
    <p:sldId id="1256" r:id="rId13"/>
    <p:sldId id="1257" r:id="rId14"/>
    <p:sldId id="1258" r:id="rId15"/>
    <p:sldId id="1259" r:id="rId16"/>
    <p:sldId id="1260" r:id="rId17"/>
    <p:sldId id="1340" r:id="rId18"/>
    <p:sldId id="1341" r:id="rId19"/>
    <p:sldId id="1342" r:id="rId20"/>
    <p:sldId id="1343" r:id="rId21"/>
    <p:sldId id="1261" r:id="rId22"/>
    <p:sldId id="1262" r:id="rId23"/>
    <p:sldId id="1263" r:id="rId24"/>
    <p:sldId id="1265" r:id="rId25"/>
    <p:sldId id="1266" r:id="rId26"/>
    <p:sldId id="1267" r:id="rId27"/>
    <p:sldId id="1268" r:id="rId28"/>
    <p:sldId id="1269" r:id="rId29"/>
    <p:sldId id="1271" r:id="rId30"/>
    <p:sldId id="1272" r:id="rId31"/>
    <p:sldId id="1274" r:id="rId32"/>
    <p:sldId id="1275" r:id="rId33"/>
    <p:sldId id="1276" r:id="rId34"/>
    <p:sldId id="1277" r:id="rId35"/>
    <p:sldId id="1278" r:id="rId36"/>
    <p:sldId id="1286" r:id="rId37"/>
    <p:sldId id="1331" r:id="rId38"/>
    <p:sldId id="1347" r:id="rId39"/>
    <p:sldId id="1348" r:id="rId40"/>
    <p:sldId id="1287" r:id="rId41"/>
    <p:sldId id="1288" r:id="rId42"/>
    <p:sldId id="1349" r:id="rId43"/>
    <p:sldId id="1350" r:id="rId44"/>
    <p:sldId id="1354" r:id="rId45"/>
    <p:sldId id="1351" r:id="rId46"/>
    <p:sldId id="1353" r:id="rId47"/>
    <p:sldId id="1352" r:id="rId48"/>
    <p:sldId id="1337" r:id="rId49"/>
    <p:sldId id="1302" r:id="rId50"/>
    <p:sldId id="1329" r:id="rId51"/>
    <p:sldId id="1303" r:id="rId52"/>
    <p:sldId id="1304" r:id="rId53"/>
    <p:sldId id="1305" r:id="rId54"/>
    <p:sldId id="1306" r:id="rId55"/>
    <p:sldId id="1336" r:id="rId56"/>
    <p:sldId id="1307" r:id="rId57"/>
    <p:sldId id="1308" r:id="rId58"/>
    <p:sldId id="1330" r:id="rId59"/>
    <p:sldId id="1309" r:id="rId60"/>
    <p:sldId id="1312" r:id="rId61"/>
    <p:sldId id="1313" r:id="rId62"/>
    <p:sldId id="1314" r:id="rId63"/>
    <p:sldId id="1315" r:id="rId64"/>
    <p:sldId id="1316" r:id="rId65"/>
    <p:sldId id="1317" r:id="rId66"/>
    <p:sldId id="1333" r:id="rId67"/>
    <p:sldId id="1334" r:id="rId68"/>
    <p:sldId id="1335" r:id="rId69"/>
    <p:sldId id="1344" r:id="rId70"/>
    <p:sldId id="1346" r:id="rId71"/>
  </p:sldIdLst>
  <p:sldSz cx="9144000" cy="5715000" type="screen16x10"/>
  <p:notesSz cx="6858000" cy="9313863"/>
  <p:defaultTextStyle>
    <a:defPPr>
      <a:defRPr lang="en-US"/>
    </a:defPPr>
    <a:lvl1pPr algn="l" defTabSz="456244" rtl="0" fontAlgn="base">
      <a:spcBef>
        <a:spcPct val="0"/>
      </a:spcBef>
      <a:spcAft>
        <a:spcPct val="0"/>
      </a:spcAft>
      <a:defRPr kern="1200">
        <a:solidFill>
          <a:schemeClr val="tx1"/>
        </a:solidFill>
        <a:latin typeface="Arial" charset="0"/>
        <a:ea typeface="+mn-ea"/>
        <a:cs typeface="+mn-cs"/>
      </a:defRPr>
    </a:lvl1pPr>
    <a:lvl2pPr marL="456244" algn="l" defTabSz="456244" rtl="0" fontAlgn="base">
      <a:spcBef>
        <a:spcPct val="0"/>
      </a:spcBef>
      <a:spcAft>
        <a:spcPct val="0"/>
      </a:spcAft>
      <a:defRPr kern="1200">
        <a:solidFill>
          <a:schemeClr val="tx1"/>
        </a:solidFill>
        <a:latin typeface="Arial" charset="0"/>
        <a:ea typeface="+mn-ea"/>
        <a:cs typeface="+mn-cs"/>
      </a:defRPr>
    </a:lvl2pPr>
    <a:lvl3pPr marL="912491" algn="l" defTabSz="456244" rtl="0" fontAlgn="base">
      <a:spcBef>
        <a:spcPct val="0"/>
      </a:spcBef>
      <a:spcAft>
        <a:spcPct val="0"/>
      </a:spcAft>
      <a:defRPr kern="1200">
        <a:solidFill>
          <a:schemeClr val="tx1"/>
        </a:solidFill>
        <a:latin typeface="Arial" charset="0"/>
        <a:ea typeface="+mn-ea"/>
        <a:cs typeface="+mn-cs"/>
      </a:defRPr>
    </a:lvl3pPr>
    <a:lvl4pPr marL="1368733" algn="l" defTabSz="456244" rtl="0" fontAlgn="base">
      <a:spcBef>
        <a:spcPct val="0"/>
      </a:spcBef>
      <a:spcAft>
        <a:spcPct val="0"/>
      </a:spcAft>
      <a:defRPr kern="1200">
        <a:solidFill>
          <a:schemeClr val="tx1"/>
        </a:solidFill>
        <a:latin typeface="Arial" charset="0"/>
        <a:ea typeface="+mn-ea"/>
        <a:cs typeface="+mn-cs"/>
      </a:defRPr>
    </a:lvl4pPr>
    <a:lvl5pPr marL="1824979" algn="l" defTabSz="456244" rtl="0" fontAlgn="base">
      <a:spcBef>
        <a:spcPct val="0"/>
      </a:spcBef>
      <a:spcAft>
        <a:spcPct val="0"/>
      </a:spcAft>
      <a:defRPr kern="1200">
        <a:solidFill>
          <a:schemeClr val="tx1"/>
        </a:solidFill>
        <a:latin typeface="Arial" charset="0"/>
        <a:ea typeface="+mn-ea"/>
        <a:cs typeface="+mn-cs"/>
      </a:defRPr>
    </a:lvl5pPr>
    <a:lvl6pPr marL="2281226" algn="l" defTabSz="912491" rtl="0" eaLnBrk="1" latinLnBrk="0" hangingPunct="1">
      <a:defRPr kern="1200">
        <a:solidFill>
          <a:schemeClr val="tx1"/>
        </a:solidFill>
        <a:latin typeface="Arial" charset="0"/>
        <a:ea typeface="+mn-ea"/>
        <a:cs typeface="+mn-cs"/>
      </a:defRPr>
    </a:lvl6pPr>
    <a:lvl7pPr marL="2737472" algn="l" defTabSz="912491" rtl="0" eaLnBrk="1" latinLnBrk="0" hangingPunct="1">
      <a:defRPr kern="1200">
        <a:solidFill>
          <a:schemeClr val="tx1"/>
        </a:solidFill>
        <a:latin typeface="Arial" charset="0"/>
        <a:ea typeface="+mn-ea"/>
        <a:cs typeface="+mn-cs"/>
      </a:defRPr>
    </a:lvl7pPr>
    <a:lvl8pPr marL="3193716" algn="l" defTabSz="912491" rtl="0" eaLnBrk="1" latinLnBrk="0" hangingPunct="1">
      <a:defRPr kern="1200">
        <a:solidFill>
          <a:schemeClr val="tx1"/>
        </a:solidFill>
        <a:latin typeface="Arial" charset="0"/>
        <a:ea typeface="+mn-ea"/>
        <a:cs typeface="+mn-cs"/>
      </a:defRPr>
    </a:lvl8pPr>
    <a:lvl9pPr marL="3649961" algn="l" defTabSz="912491"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800">
          <p15:clr>
            <a:srgbClr val="A4A3A4"/>
          </p15:clr>
        </p15:guide>
      </p15:sldGuideLst>
    </p:ext>
    <p:ext uri="{2D200454-40CA-4A62-9FC3-DE9A4176ACB9}">
      <p15:notesGuideLst xmlns:p15="http://schemas.microsoft.com/office/powerpoint/2012/main">
        <p15:guide id="1" orient="horz" pos="2934"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a:srgbClr val="0000FF"/>
    <a:srgbClr val="6699FF"/>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50" autoAdjust="0"/>
    <p:restoredTop sz="85765" autoAdjust="0"/>
  </p:normalViewPr>
  <p:slideViewPr>
    <p:cSldViewPr snapToObjects="1">
      <p:cViewPr varScale="1">
        <p:scale>
          <a:sx n="90" d="100"/>
          <a:sy n="90" d="100"/>
        </p:scale>
        <p:origin x="1320" y="53"/>
      </p:cViewPr>
      <p:guideLst>
        <p:guide orient="horz" pos="2160"/>
        <p:guide pos="2880"/>
        <p:guide orient="horz" pos="1800"/>
      </p:guideLst>
    </p:cSldViewPr>
  </p:slideViewPr>
  <p:outlineViewPr>
    <p:cViewPr>
      <p:scale>
        <a:sx n="33" d="100"/>
        <a:sy n="33" d="100"/>
      </p:scale>
      <p:origin x="0" y="4248"/>
    </p:cViewPr>
  </p:outlineViewPr>
  <p:notesTextViewPr>
    <p:cViewPr>
      <p:scale>
        <a:sx n="100" d="100"/>
        <a:sy n="100" d="100"/>
      </p:scale>
      <p:origin x="0" y="0"/>
    </p:cViewPr>
  </p:notesTextViewPr>
  <p:sorterViewPr>
    <p:cViewPr varScale="1">
      <p:scale>
        <a:sx n="1" d="1"/>
        <a:sy n="1" d="1"/>
      </p:scale>
      <p:origin x="0" y="-19428"/>
    </p:cViewPr>
  </p:sorterViewPr>
  <p:notesViewPr>
    <p:cSldViewPr snapToObjects="1">
      <p:cViewPr varScale="1">
        <p:scale>
          <a:sx n="85" d="100"/>
          <a:sy n="85" d="100"/>
        </p:scale>
        <p:origin x="-3024" y="-84"/>
      </p:cViewPr>
      <p:guideLst>
        <p:guide orient="horz" pos="2934"/>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2" y="4"/>
            <a:ext cx="2972098" cy="465077"/>
          </a:xfrm>
          <a:prstGeom prst="rect">
            <a:avLst/>
          </a:prstGeom>
          <a:noFill/>
          <a:ln w="9525">
            <a:noFill/>
            <a:miter lim="800000"/>
            <a:headEnd/>
            <a:tailEnd/>
          </a:ln>
        </p:spPr>
        <p:txBody>
          <a:bodyPr vert="horz" wrap="square" lIns="92367" tIns="46184" rIns="92367" bIns="46184" numCol="1" anchor="t" anchorCtr="0" compatLnSpc="1">
            <a:prstTxWarp prst="textNoShape">
              <a:avLst/>
            </a:prstTxWarp>
          </a:bodyPr>
          <a:lstStyle>
            <a:lvl1pPr defTabSz="453585">
              <a:defRPr sz="1200">
                <a:latin typeface="Calibri" pitchFamily="34" charset="0"/>
              </a:defRPr>
            </a:lvl1pPr>
          </a:lstStyle>
          <a:p>
            <a:endParaRPr lang="en-US" dirty="0"/>
          </a:p>
        </p:txBody>
      </p:sp>
      <p:sp>
        <p:nvSpPr>
          <p:cNvPr id="3" name="Date Placeholder 2"/>
          <p:cNvSpPr>
            <a:spLocks noGrp="1"/>
          </p:cNvSpPr>
          <p:nvPr>
            <p:ph type="dt" sz="quarter" idx="1"/>
          </p:nvPr>
        </p:nvSpPr>
        <p:spPr bwMode="auto">
          <a:xfrm>
            <a:off x="3884415" y="4"/>
            <a:ext cx="2972098" cy="465077"/>
          </a:xfrm>
          <a:prstGeom prst="rect">
            <a:avLst/>
          </a:prstGeom>
          <a:noFill/>
          <a:ln w="9525">
            <a:noFill/>
            <a:miter lim="800000"/>
            <a:headEnd/>
            <a:tailEnd/>
          </a:ln>
        </p:spPr>
        <p:txBody>
          <a:bodyPr vert="horz" wrap="square" lIns="92367" tIns="46184" rIns="92367" bIns="46184" numCol="1" anchor="t" anchorCtr="0" compatLnSpc="1">
            <a:prstTxWarp prst="textNoShape">
              <a:avLst/>
            </a:prstTxWarp>
          </a:bodyPr>
          <a:lstStyle>
            <a:lvl1pPr algn="r" defTabSz="453585">
              <a:defRPr sz="1200">
                <a:latin typeface="Calibri" pitchFamily="34" charset="0"/>
              </a:defRPr>
            </a:lvl1pPr>
          </a:lstStyle>
          <a:p>
            <a:fld id="{77D031B2-74E4-4A4F-8396-E65B3322A905}" type="datetimeFigureOut">
              <a:rPr lang="en-US"/>
              <a:pPr/>
              <a:t>9/15/2021</a:t>
            </a:fld>
            <a:endParaRPr lang="en-US" dirty="0"/>
          </a:p>
        </p:txBody>
      </p:sp>
      <p:sp>
        <p:nvSpPr>
          <p:cNvPr id="4" name="Footer Placeholder 3"/>
          <p:cNvSpPr>
            <a:spLocks noGrp="1"/>
          </p:cNvSpPr>
          <p:nvPr>
            <p:ph type="ftr" sz="quarter" idx="2"/>
          </p:nvPr>
        </p:nvSpPr>
        <p:spPr bwMode="auto">
          <a:xfrm>
            <a:off x="2" y="8847250"/>
            <a:ext cx="2972098" cy="465077"/>
          </a:xfrm>
          <a:prstGeom prst="rect">
            <a:avLst/>
          </a:prstGeom>
          <a:noFill/>
          <a:ln w="9525">
            <a:noFill/>
            <a:miter lim="800000"/>
            <a:headEnd/>
            <a:tailEnd/>
          </a:ln>
        </p:spPr>
        <p:txBody>
          <a:bodyPr vert="horz" wrap="square" lIns="92367" tIns="46184" rIns="92367" bIns="46184" numCol="1" anchor="b" anchorCtr="0" compatLnSpc="1">
            <a:prstTxWarp prst="textNoShape">
              <a:avLst/>
            </a:prstTxWarp>
          </a:bodyPr>
          <a:lstStyle>
            <a:lvl1pPr defTabSz="453585">
              <a:defRPr sz="1200">
                <a:latin typeface="Calibri" pitchFamily="34" charset="0"/>
              </a:defRPr>
            </a:lvl1pPr>
          </a:lstStyle>
          <a:p>
            <a:endParaRPr lang="en-US" dirty="0"/>
          </a:p>
        </p:txBody>
      </p:sp>
      <p:sp>
        <p:nvSpPr>
          <p:cNvPr id="5" name="Slide Number Placeholder 4"/>
          <p:cNvSpPr>
            <a:spLocks noGrp="1"/>
          </p:cNvSpPr>
          <p:nvPr>
            <p:ph type="sldNum" sz="quarter" idx="3"/>
          </p:nvPr>
        </p:nvSpPr>
        <p:spPr bwMode="auto">
          <a:xfrm>
            <a:off x="3884415" y="8847250"/>
            <a:ext cx="2972098" cy="465077"/>
          </a:xfrm>
          <a:prstGeom prst="rect">
            <a:avLst/>
          </a:prstGeom>
          <a:noFill/>
          <a:ln w="9525">
            <a:noFill/>
            <a:miter lim="800000"/>
            <a:headEnd/>
            <a:tailEnd/>
          </a:ln>
        </p:spPr>
        <p:txBody>
          <a:bodyPr vert="horz" wrap="square" lIns="92367" tIns="46184" rIns="92367" bIns="46184" numCol="1" anchor="b" anchorCtr="0" compatLnSpc="1">
            <a:prstTxWarp prst="textNoShape">
              <a:avLst/>
            </a:prstTxWarp>
          </a:bodyPr>
          <a:lstStyle>
            <a:lvl1pPr algn="r" defTabSz="453585">
              <a:defRPr sz="1200">
                <a:latin typeface="Calibri" pitchFamily="34" charset="0"/>
              </a:defRPr>
            </a:lvl1pPr>
          </a:lstStyle>
          <a:p>
            <a:fld id="{DE89E6E7-C27A-466E-9E11-30D98E4B9A4C}" type="slidenum">
              <a:rPr lang="en-US"/>
              <a:pPr/>
              <a:t>‹#›</a:t>
            </a:fld>
            <a:endParaRPr lang="en-US" dirty="0"/>
          </a:p>
        </p:txBody>
      </p:sp>
    </p:spTree>
    <p:extLst>
      <p:ext uri="{BB962C8B-B14F-4D97-AF65-F5344CB8AC3E}">
        <p14:creationId xmlns:p14="http://schemas.microsoft.com/office/powerpoint/2010/main" val="29637128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4"/>
            <a:ext cx="2972098" cy="465077"/>
          </a:xfrm>
          <a:prstGeom prst="rect">
            <a:avLst/>
          </a:prstGeom>
        </p:spPr>
        <p:txBody>
          <a:bodyPr vert="horz" lIns="87379" tIns="43691" rIns="87379" bIns="43691" rtlCol="0"/>
          <a:lstStyle>
            <a:lvl1pPr algn="l">
              <a:defRPr sz="1200"/>
            </a:lvl1pPr>
          </a:lstStyle>
          <a:p>
            <a:endParaRPr lang="en-US" dirty="0"/>
          </a:p>
        </p:txBody>
      </p:sp>
      <p:sp>
        <p:nvSpPr>
          <p:cNvPr id="3" name="Date Placeholder 2"/>
          <p:cNvSpPr>
            <a:spLocks noGrp="1"/>
          </p:cNvSpPr>
          <p:nvPr>
            <p:ph type="dt" idx="1"/>
          </p:nvPr>
        </p:nvSpPr>
        <p:spPr>
          <a:xfrm>
            <a:off x="3884415" y="4"/>
            <a:ext cx="2972098" cy="465077"/>
          </a:xfrm>
          <a:prstGeom prst="rect">
            <a:avLst/>
          </a:prstGeom>
        </p:spPr>
        <p:txBody>
          <a:bodyPr vert="horz" lIns="87379" tIns="43691" rIns="87379" bIns="43691" rtlCol="0"/>
          <a:lstStyle>
            <a:lvl1pPr algn="r">
              <a:defRPr sz="1200"/>
            </a:lvl1pPr>
          </a:lstStyle>
          <a:p>
            <a:fld id="{2CBBE780-E02B-40B6-AF4E-DB589DE9F15C}" type="datetimeFigureOut">
              <a:rPr lang="en-US" smtClean="0"/>
              <a:pPr/>
              <a:t>9/15/2021</a:t>
            </a:fld>
            <a:endParaRPr lang="en-US" dirty="0"/>
          </a:p>
        </p:txBody>
      </p:sp>
      <p:sp>
        <p:nvSpPr>
          <p:cNvPr id="4" name="Slide Image Placeholder 3"/>
          <p:cNvSpPr>
            <a:spLocks noGrp="1" noRot="1" noChangeAspect="1"/>
          </p:cNvSpPr>
          <p:nvPr>
            <p:ph type="sldImg" idx="2"/>
          </p:nvPr>
        </p:nvSpPr>
        <p:spPr>
          <a:xfrm>
            <a:off x="635000" y="698500"/>
            <a:ext cx="5588000" cy="3494088"/>
          </a:xfrm>
          <a:prstGeom prst="rect">
            <a:avLst/>
          </a:prstGeom>
          <a:noFill/>
          <a:ln w="12700">
            <a:solidFill>
              <a:prstClr val="black"/>
            </a:solidFill>
          </a:ln>
        </p:spPr>
        <p:txBody>
          <a:bodyPr vert="horz" lIns="87379" tIns="43691" rIns="87379" bIns="43691" rtlCol="0" anchor="ctr"/>
          <a:lstStyle/>
          <a:p>
            <a:endParaRPr lang="en-US" dirty="0"/>
          </a:p>
        </p:txBody>
      </p:sp>
      <p:sp>
        <p:nvSpPr>
          <p:cNvPr id="5" name="Notes Placeholder 4"/>
          <p:cNvSpPr>
            <a:spLocks noGrp="1"/>
          </p:cNvSpPr>
          <p:nvPr>
            <p:ph type="body" sz="quarter" idx="3"/>
          </p:nvPr>
        </p:nvSpPr>
        <p:spPr>
          <a:xfrm>
            <a:off x="686100" y="4424397"/>
            <a:ext cx="5485804" cy="4190314"/>
          </a:xfrm>
          <a:prstGeom prst="rect">
            <a:avLst/>
          </a:prstGeom>
        </p:spPr>
        <p:txBody>
          <a:bodyPr vert="horz" lIns="87379" tIns="43691" rIns="87379" bIns="4369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2" y="8847250"/>
            <a:ext cx="2972098" cy="465077"/>
          </a:xfrm>
          <a:prstGeom prst="rect">
            <a:avLst/>
          </a:prstGeom>
        </p:spPr>
        <p:txBody>
          <a:bodyPr vert="horz" lIns="87379" tIns="43691" rIns="87379" bIns="43691"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415" y="8847250"/>
            <a:ext cx="2972098" cy="465077"/>
          </a:xfrm>
          <a:prstGeom prst="rect">
            <a:avLst/>
          </a:prstGeom>
        </p:spPr>
        <p:txBody>
          <a:bodyPr vert="horz" lIns="87379" tIns="43691" rIns="87379" bIns="43691" rtlCol="0" anchor="b"/>
          <a:lstStyle>
            <a:lvl1pPr algn="r">
              <a:defRPr sz="1200"/>
            </a:lvl1pPr>
          </a:lstStyle>
          <a:p>
            <a:fld id="{05BB86F9-A0F8-4925-8F20-9FF57BB0B7C3}" type="slidenum">
              <a:rPr lang="en-US" smtClean="0"/>
              <a:pPr/>
              <a:t>‹#›</a:t>
            </a:fld>
            <a:endParaRPr lang="en-US" dirty="0"/>
          </a:p>
        </p:txBody>
      </p:sp>
    </p:spTree>
    <p:extLst>
      <p:ext uri="{BB962C8B-B14F-4D97-AF65-F5344CB8AC3E}">
        <p14:creationId xmlns:p14="http://schemas.microsoft.com/office/powerpoint/2010/main" val="1689881792"/>
      </p:ext>
    </p:extLst>
  </p:cSld>
  <p:clrMap bg1="lt1" tx1="dk1" bg2="lt2" tx2="dk2" accent1="accent1" accent2="accent2" accent3="accent3" accent4="accent4" accent5="accent5" accent6="accent6" hlink="hlink" folHlink="folHlink"/>
  <p:notesStyle>
    <a:lvl1pPr marL="0" algn="l" defTabSz="912491" rtl="0" eaLnBrk="1" latinLnBrk="0" hangingPunct="1">
      <a:defRPr sz="1200" kern="1200">
        <a:solidFill>
          <a:schemeClr val="tx1"/>
        </a:solidFill>
        <a:latin typeface="+mn-lt"/>
        <a:ea typeface="+mn-ea"/>
        <a:cs typeface="+mn-cs"/>
      </a:defRPr>
    </a:lvl1pPr>
    <a:lvl2pPr marL="456244" algn="l" defTabSz="912491" rtl="0" eaLnBrk="1" latinLnBrk="0" hangingPunct="1">
      <a:defRPr sz="1200" kern="1200">
        <a:solidFill>
          <a:schemeClr val="tx1"/>
        </a:solidFill>
        <a:latin typeface="+mn-lt"/>
        <a:ea typeface="+mn-ea"/>
        <a:cs typeface="+mn-cs"/>
      </a:defRPr>
    </a:lvl2pPr>
    <a:lvl3pPr marL="912491" algn="l" defTabSz="912491" rtl="0" eaLnBrk="1" latinLnBrk="0" hangingPunct="1">
      <a:defRPr sz="1200" kern="1200">
        <a:solidFill>
          <a:schemeClr val="tx1"/>
        </a:solidFill>
        <a:latin typeface="+mn-lt"/>
        <a:ea typeface="+mn-ea"/>
        <a:cs typeface="+mn-cs"/>
      </a:defRPr>
    </a:lvl3pPr>
    <a:lvl4pPr marL="1368733" algn="l" defTabSz="912491" rtl="0" eaLnBrk="1" latinLnBrk="0" hangingPunct="1">
      <a:defRPr sz="1200" kern="1200">
        <a:solidFill>
          <a:schemeClr val="tx1"/>
        </a:solidFill>
        <a:latin typeface="+mn-lt"/>
        <a:ea typeface="+mn-ea"/>
        <a:cs typeface="+mn-cs"/>
      </a:defRPr>
    </a:lvl4pPr>
    <a:lvl5pPr marL="1824979" algn="l" defTabSz="912491" rtl="0" eaLnBrk="1" latinLnBrk="0" hangingPunct="1">
      <a:defRPr sz="1200" kern="1200">
        <a:solidFill>
          <a:schemeClr val="tx1"/>
        </a:solidFill>
        <a:latin typeface="+mn-lt"/>
        <a:ea typeface="+mn-ea"/>
        <a:cs typeface="+mn-cs"/>
      </a:defRPr>
    </a:lvl5pPr>
    <a:lvl6pPr marL="2281226" algn="l" defTabSz="912491" rtl="0" eaLnBrk="1" latinLnBrk="0" hangingPunct="1">
      <a:defRPr sz="1200" kern="1200">
        <a:solidFill>
          <a:schemeClr val="tx1"/>
        </a:solidFill>
        <a:latin typeface="+mn-lt"/>
        <a:ea typeface="+mn-ea"/>
        <a:cs typeface="+mn-cs"/>
      </a:defRPr>
    </a:lvl6pPr>
    <a:lvl7pPr marL="2737472" algn="l" defTabSz="912491" rtl="0" eaLnBrk="1" latinLnBrk="0" hangingPunct="1">
      <a:defRPr sz="1200" kern="1200">
        <a:solidFill>
          <a:schemeClr val="tx1"/>
        </a:solidFill>
        <a:latin typeface="+mn-lt"/>
        <a:ea typeface="+mn-ea"/>
        <a:cs typeface="+mn-cs"/>
      </a:defRPr>
    </a:lvl7pPr>
    <a:lvl8pPr marL="3193716" algn="l" defTabSz="912491" rtl="0" eaLnBrk="1" latinLnBrk="0" hangingPunct="1">
      <a:defRPr sz="1200" kern="1200">
        <a:solidFill>
          <a:schemeClr val="tx1"/>
        </a:solidFill>
        <a:latin typeface="+mn-lt"/>
        <a:ea typeface="+mn-ea"/>
        <a:cs typeface="+mn-cs"/>
      </a:defRPr>
    </a:lvl8pPr>
    <a:lvl9pPr marL="3649961" algn="l" defTabSz="912491"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698500"/>
            <a:ext cx="5588000" cy="349408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2BA01E3-DEAC-4BF5-8327-5F44DED61BA0}" type="slidenum">
              <a:rPr lang="en-US" smtClean="0"/>
              <a:pPr/>
              <a:t>1</a:t>
            </a:fld>
            <a:endParaRPr lang="en-US"/>
          </a:p>
        </p:txBody>
      </p:sp>
    </p:spTree>
    <p:extLst>
      <p:ext uri="{BB962C8B-B14F-4D97-AF65-F5344CB8AC3E}">
        <p14:creationId xmlns:p14="http://schemas.microsoft.com/office/powerpoint/2010/main" val="239244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a:t>
            </a:fld>
            <a:endParaRPr lang="en-US" dirty="0"/>
          </a:p>
        </p:txBody>
      </p:sp>
    </p:spTree>
    <p:extLst>
      <p:ext uri="{BB962C8B-B14F-4D97-AF65-F5344CB8AC3E}">
        <p14:creationId xmlns:p14="http://schemas.microsoft.com/office/powerpoint/2010/main" val="37149425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3</a:t>
            </a:fld>
            <a:endParaRPr lang="en-US" dirty="0"/>
          </a:p>
        </p:txBody>
      </p:sp>
    </p:spTree>
    <p:extLst>
      <p:ext uri="{BB962C8B-B14F-4D97-AF65-F5344CB8AC3E}">
        <p14:creationId xmlns:p14="http://schemas.microsoft.com/office/powerpoint/2010/main" val="10323648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4</a:t>
            </a:fld>
            <a:endParaRPr lang="en-US" dirty="0"/>
          </a:p>
        </p:txBody>
      </p:sp>
    </p:spTree>
    <p:extLst>
      <p:ext uri="{BB962C8B-B14F-4D97-AF65-F5344CB8AC3E}">
        <p14:creationId xmlns:p14="http://schemas.microsoft.com/office/powerpoint/2010/main" val="13362952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5</a:t>
            </a:fld>
            <a:endParaRPr lang="en-US" dirty="0"/>
          </a:p>
        </p:txBody>
      </p:sp>
    </p:spTree>
    <p:extLst>
      <p:ext uri="{BB962C8B-B14F-4D97-AF65-F5344CB8AC3E}">
        <p14:creationId xmlns:p14="http://schemas.microsoft.com/office/powerpoint/2010/main" val="22351442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6</a:t>
            </a:fld>
            <a:endParaRPr lang="en-US" dirty="0"/>
          </a:p>
        </p:txBody>
      </p:sp>
    </p:spTree>
    <p:extLst>
      <p:ext uri="{BB962C8B-B14F-4D97-AF65-F5344CB8AC3E}">
        <p14:creationId xmlns:p14="http://schemas.microsoft.com/office/powerpoint/2010/main" val="32110959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7</a:t>
            </a:fld>
            <a:endParaRPr lang="en-US" dirty="0"/>
          </a:p>
        </p:txBody>
      </p:sp>
    </p:spTree>
    <p:extLst>
      <p:ext uri="{BB962C8B-B14F-4D97-AF65-F5344CB8AC3E}">
        <p14:creationId xmlns:p14="http://schemas.microsoft.com/office/powerpoint/2010/main" val="28582812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8</a:t>
            </a:fld>
            <a:endParaRPr lang="en-US" dirty="0"/>
          </a:p>
        </p:txBody>
      </p:sp>
    </p:spTree>
    <p:extLst>
      <p:ext uri="{BB962C8B-B14F-4D97-AF65-F5344CB8AC3E}">
        <p14:creationId xmlns:p14="http://schemas.microsoft.com/office/powerpoint/2010/main" val="40029146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9</a:t>
            </a:fld>
            <a:endParaRPr lang="en-US" dirty="0"/>
          </a:p>
        </p:txBody>
      </p:sp>
    </p:spTree>
    <p:extLst>
      <p:ext uri="{BB962C8B-B14F-4D97-AF65-F5344CB8AC3E}">
        <p14:creationId xmlns:p14="http://schemas.microsoft.com/office/powerpoint/2010/main" val="37239987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10</a:t>
            </a:fld>
            <a:endParaRPr lang="en-US" dirty="0"/>
          </a:p>
        </p:txBody>
      </p:sp>
    </p:spTree>
    <p:extLst>
      <p:ext uri="{BB962C8B-B14F-4D97-AF65-F5344CB8AC3E}">
        <p14:creationId xmlns:p14="http://schemas.microsoft.com/office/powerpoint/2010/main" val="778912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11</a:t>
            </a:fld>
            <a:endParaRPr lang="en-US" dirty="0"/>
          </a:p>
        </p:txBody>
      </p:sp>
    </p:spTree>
    <p:extLst>
      <p:ext uri="{BB962C8B-B14F-4D97-AF65-F5344CB8AC3E}">
        <p14:creationId xmlns:p14="http://schemas.microsoft.com/office/powerpoint/2010/main" val="28061600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12</a:t>
            </a:fld>
            <a:endParaRPr lang="en-US" dirty="0"/>
          </a:p>
        </p:txBody>
      </p:sp>
    </p:spTree>
    <p:extLst>
      <p:ext uri="{BB962C8B-B14F-4D97-AF65-F5344CB8AC3E}">
        <p14:creationId xmlns:p14="http://schemas.microsoft.com/office/powerpoint/2010/main" val="22494725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13</a:t>
            </a:fld>
            <a:endParaRPr lang="en-US" dirty="0"/>
          </a:p>
        </p:txBody>
      </p:sp>
    </p:spTree>
    <p:extLst>
      <p:ext uri="{BB962C8B-B14F-4D97-AF65-F5344CB8AC3E}">
        <p14:creationId xmlns:p14="http://schemas.microsoft.com/office/powerpoint/2010/main" val="16496525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14</a:t>
            </a:fld>
            <a:endParaRPr lang="en-US" dirty="0"/>
          </a:p>
        </p:txBody>
      </p:sp>
    </p:spTree>
    <p:extLst>
      <p:ext uri="{BB962C8B-B14F-4D97-AF65-F5344CB8AC3E}">
        <p14:creationId xmlns:p14="http://schemas.microsoft.com/office/powerpoint/2010/main" val="14012097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15</a:t>
            </a:fld>
            <a:endParaRPr lang="en-US" dirty="0"/>
          </a:p>
        </p:txBody>
      </p:sp>
    </p:spTree>
    <p:extLst>
      <p:ext uri="{BB962C8B-B14F-4D97-AF65-F5344CB8AC3E}">
        <p14:creationId xmlns:p14="http://schemas.microsoft.com/office/powerpoint/2010/main" val="6520297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16</a:t>
            </a:fld>
            <a:endParaRPr lang="en-US" dirty="0"/>
          </a:p>
        </p:txBody>
      </p:sp>
    </p:spTree>
    <p:extLst>
      <p:ext uri="{BB962C8B-B14F-4D97-AF65-F5344CB8AC3E}">
        <p14:creationId xmlns:p14="http://schemas.microsoft.com/office/powerpoint/2010/main" val="32671914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17</a:t>
            </a:fld>
            <a:endParaRPr lang="en-US" dirty="0"/>
          </a:p>
        </p:txBody>
      </p:sp>
    </p:spTree>
    <p:extLst>
      <p:ext uri="{BB962C8B-B14F-4D97-AF65-F5344CB8AC3E}">
        <p14:creationId xmlns:p14="http://schemas.microsoft.com/office/powerpoint/2010/main" val="6874114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0"/>
          <p:cNvSpPr>
            <a:spLocks noGrp="1" noChangeArrowheads="1"/>
          </p:cNvSpPr>
          <p:nvPr>
            <p:ph type="sldNum" sz="quarter" idx="5"/>
          </p:nvPr>
        </p:nvSpPr>
        <p:spPr>
          <a:noFill/>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D5C2DCE8-7CEA-48A7-8050-C1930C759840}" type="slidenum">
              <a:rPr lang="en-US" altLang="en-US" b="0"/>
              <a:pPr/>
              <a:t>18</a:t>
            </a:fld>
            <a:endParaRPr lang="en-US" altLang="en-US" b="0"/>
          </a:p>
        </p:txBody>
      </p:sp>
      <p:sp>
        <p:nvSpPr>
          <p:cNvPr id="72707" name="Rectangle 2"/>
          <p:cNvSpPr>
            <a:spLocks noGrp="1" noRot="1" noChangeAspect="1" noChangeArrowheads="1" noTextEdit="1"/>
          </p:cNvSpPr>
          <p:nvPr>
            <p:ph type="sldImg"/>
          </p:nvPr>
        </p:nvSpPr>
        <p:spPr>
          <a:xfrm>
            <a:off x="1560513" y="1174750"/>
            <a:ext cx="3719512" cy="2789238"/>
          </a:xfrm>
          <a:ln w="12700" cap="flat">
            <a:solidFill>
              <a:schemeClr val="tx1"/>
            </a:solidFill>
          </a:ln>
        </p:spPr>
      </p:sp>
      <p:sp>
        <p:nvSpPr>
          <p:cNvPr id="72708" name="Rectangle 3"/>
          <p:cNvSpPr>
            <a:spLocks noGrp="1" noChangeArrowheads="1"/>
          </p:cNvSpPr>
          <p:nvPr>
            <p:ph type="body" idx="1"/>
          </p:nvPr>
        </p:nvSpPr>
        <p:spPr>
          <a:xfrm>
            <a:off x="930275" y="4149725"/>
            <a:ext cx="5122863" cy="4140200"/>
          </a:xfrm>
          <a:noFill/>
        </p:spPr>
        <p:txBody>
          <a:bodyPr lIns="93662" tIns="46038" rIns="93662" bIns="46038"/>
          <a:lstStyle/>
          <a:p>
            <a:endParaRPr lang="nl-NL" altLang="en-US" smtClean="0"/>
          </a:p>
        </p:txBody>
      </p:sp>
    </p:spTree>
    <p:extLst>
      <p:ext uri="{BB962C8B-B14F-4D97-AF65-F5344CB8AC3E}">
        <p14:creationId xmlns:p14="http://schemas.microsoft.com/office/powerpoint/2010/main" val="29007760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10"/>
          <p:cNvSpPr>
            <a:spLocks noGrp="1" noChangeArrowheads="1"/>
          </p:cNvSpPr>
          <p:nvPr>
            <p:ph type="sldNum" sz="quarter" idx="5"/>
          </p:nvPr>
        </p:nvSpPr>
        <p:spPr>
          <a:noFill/>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F83B8AEA-F19E-4600-94E6-C2839ACEAF20}" type="slidenum">
              <a:rPr lang="en-US" altLang="en-US" b="0"/>
              <a:pPr/>
              <a:t>19</a:t>
            </a:fld>
            <a:endParaRPr lang="en-US" altLang="en-US" b="0"/>
          </a:p>
        </p:txBody>
      </p:sp>
      <p:sp>
        <p:nvSpPr>
          <p:cNvPr id="75779" name="Rectangle 2"/>
          <p:cNvSpPr>
            <a:spLocks noGrp="1" noRot="1" noChangeAspect="1" noChangeArrowheads="1" noTextEdit="1"/>
          </p:cNvSpPr>
          <p:nvPr>
            <p:ph type="sldImg"/>
          </p:nvPr>
        </p:nvSpPr>
        <p:spPr>
          <a:xfrm>
            <a:off x="1560513" y="1174750"/>
            <a:ext cx="3719512" cy="2789238"/>
          </a:xfrm>
          <a:ln w="12700" cap="flat">
            <a:solidFill>
              <a:schemeClr val="tx1"/>
            </a:solidFill>
          </a:ln>
        </p:spPr>
      </p:sp>
      <p:sp>
        <p:nvSpPr>
          <p:cNvPr id="75780" name="Rectangle 3"/>
          <p:cNvSpPr>
            <a:spLocks noGrp="1" noChangeArrowheads="1"/>
          </p:cNvSpPr>
          <p:nvPr>
            <p:ph type="body" idx="1"/>
          </p:nvPr>
        </p:nvSpPr>
        <p:spPr>
          <a:xfrm>
            <a:off x="930275" y="4149725"/>
            <a:ext cx="5122863" cy="4140200"/>
          </a:xfrm>
          <a:noFill/>
        </p:spPr>
        <p:txBody>
          <a:bodyPr lIns="93662" tIns="46038" rIns="93662" bIns="46038"/>
          <a:lstStyle/>
          <a:p>
            <a:endParaRPr lang="nl-NL" altLang="en-US" smtClean="0"/>
          </a:p>
        </p:txBody>
      </p:sp>
    </p:spTree>
    <p:extLst>
      <p:ext uri="{BB962C8B-B14F-4D97-AF65-F5344CB8AC3E}">
        <p14:creationId xmlns:p14="http://schemas.microsoft.com/office/powerpoint/2010/main" val="13258730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0"/>
          <p:cNvSpPr>
            <a:spLocks noGrp="1" noChangeArrowheads="1"/>
          </p:cNvSpPr>
          <p:nvPr>
            <p:ph type="sldNum" sz="quarter" idx="5"/>
          </p:nvPr>
        </p:nvSpPr>
        <p:spPr>
          <a:noFill/>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63EDECEE-2346-470C-B798-F9C945F801E4}" type="slidenum">
              <a:rPr lang="en-US" altLang="en-US" b="0"/>
              <a:pPr/>
              <a:t>20</a:t>
            </a:fld>
            <a:endParaRPr lang="en-US" altLang="en-US" b="0"/>
          </a:p>
        </p:txBody>
      </p:sp>
      <p:sp>
        <p:nvSpPr>
          <p:cNvPr id="77827" name="Rectangle 2"/>
          <p:cNvSpPr>
            <a:spLocks noGrp="1" noRot="1" noChangeAspect="1" noChangeArrowheads="1" noTextEdit="1"/>
          </p:cNvSpPr>
          <p:nvPr>
            <p:ph type="sldImg"/>
          </p:nvPr>
        </p:nvSpPr>
        <p:spPr>
          <a:xfrm>
            <a:off x="1560513" y="1174750"/>
            <a:ext cx="3719512" cy="2789238"/>
          </a:xfrm>
          <a:ln w="12700" cap="flat">
            <a:solidFill>
              <a:schemeClr val="tx1"/>
            </a:solidFill>
          </a:ln>
        </p:spPr>
      </p:sp>
      <p:sp>
        <p:nvSpPr>
          <p:cNvPr id="77828" name="Rectangle 3"/>
          <p:cNvSpPr>
            <a:spLocks noGrp="1" noChangeArrowheads="1"/>
          </p:cNvSpPr>
          <p:nvPr>
            <p:ph type="body" idx="1"/>
          </p:nvPr>
        </p:nvSpPr>
        <p:spPr>
          <a:xfrm>
            <a:off x="930275" y="4149725"/>
            <a:ext cx="5122863" cy="4140200"/>
          </a:xfrm>
          <a:noFill/>
        </p:spPr>
        <p:txBody>
          <a:bodyPr lIns="93662" tIns="46038" rIns="93662" bIns="46038"/>
          <a:lstStyle/>
          <a:p>
            <a:pPr marL="0" indent="0" defTabSz="930275"/>
            <a:endParaRPr lang="nl-NL" altLang="en-US" smtClean="0"/>
          </a:p>
        </p:txBody>
      </p:sp>
    </p:spTree>
    <p:extLst>
      <p:ext uri="{BB962C8B-B14F-4D97-AF65-F5344CB8AC3E}">
        <p14:creationId xmlns:p14="http://schemas.microsoft.com/office/powerpoint/2010/main" val="36588881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21</a:t>
            </a:fld>
            <a:endParaRPr lang="en-US" dirty="0"/>
          </a:p>
        </p:txBody>
      </p:sp>
    </p:spTree>
    <p:extLst>
      <p:ext uri="{BB962C8B-B14F-4D97-AF65-F5344CB8AC3E}">
        <p14:creationId xmlns:p14="http://schemas.microsoft.com/office/powerpoint/2010/main" val="26458641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22</a:t>
            </a:fld>
            <a:endParaRPr lang="en-US" dirty="0"/>
          </a:p>
        </p:txBody>
      </p:sp>
    </p:spTree>
    <p:extLst>
      <p:ext uri="{BB962C8B-B14F-4D97-AF65-F5344CB8AC3E}">
        <p14:creationId xmlns:p14="http://schemas.microsoft.com/office/powerpoint/2010/main" val="6943567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23</a:t>
            </a:fld>
            <a:endParaRPr lang="en-US" dirty="0"/>
          </a:p>
        </p:txBody>
      </p:sp>
    </p:spTree>
    <p:extLst>
      <p:ext uri="{BB962C8B-B14F-4D97-AF65-F5344CB8AC3E}">
        <p14:creationId xmlns:p14="http://schemas.microsoft.com/office/powerpoint/2010/main" val="41250268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24</a:t>
            </a:fld>
            <a:endParaRPr lang="en-US" dirty="0"/>
          </a:p>
        </p:txBody>
      </p:sp>
    </p:spTree>
    <p:extLst>
      <p:ext uri="{BB962C8B-B14F-4D97-AF65-F5344CB8AC3E}">
        <p14:creationId xmlns:p14="http://schemas.microsoft.com/office/powerpoint/2010/main" val="31896284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25</a:t>
            </a:fld>
            <a:endParaRPr lang="en-US" dirty="0"/>
          </a:p>
        </p:txBody>
      </p:sp>
    </p:spTree>
    <p:extLst>
      <p:ext uri="{BB962C8B-B14F-4D97-AF65-F5344CB8AC3E}">
        <p14:creationId xmlns:p14="http://schemas.microsoft.com/office/powerpoint/2010/main" val="24141117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26</a:t>
            </a:fld>
            <a:endParaRPr lang="en-US" dirty="0"/>
          </a:p>
        </p:txBody>
      </p:sp>
    </p:spTree>
    <p:extLst>
      <p:ext uri="{BB962C8B-B14F-4D97-AF65-F5344CB8AC3E}">
        <p14:creationId xmlns:p14="http://schemas.microsoft.com/office/powerpoint/2010/main" val="28512020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27</a:t>
            </a:fld>
            <a:endParaRPr lang="en-US" dirty="0"/>
          </a:p>
        </p:txBody>
      </p:sp>
    </p:spTree>
    <p:extLst>
      <p:ext uri="{BB962C8B-B14F-4D97-AF65-F5344CB8AC3E}">
        <p14:creationId xmlns:p14="http://schemas.microsoft.com/office/powerpoint/2010/main" val="16391429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28</a:t>
            </a:fld>
            <a:endParaRPr lang="en-US" dirty="0"/>
          </a:p>
        </p:txBody>
      </p:sp>
    </p:spTree>
    <p:extLst>
      <p:ext uri="{BB962C8B-B14F-4D97-AF65-F5344CB8AC3E}">
        <p14:creationId xmlns:p14="http://schemas.microsoft.com/office/powerpoint/2010/main" val="15233960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29</a:t>
            </a:fld>
            <a:endParaRPr lang="en-US" dirty="0"/>
          </a:p>
        </p:txBody>
      </p:sp>
    </p:spTree>
    <p:extLst>
      <p:ext uri="{BB962C8B-B14F-4D97-AF65-F5344CB8AC3E}">
        <p14:creationId xmlns:p14="http://schemas.microsoft.com/office/powerpoint/2010/main" val="38309285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30</a:t>
            </a:fld>
            <a:endParaRPr lang="en-US" dirty="0"/>
          </a:p>
        </p:txBody>
      </p:sp>
    </p:spTree>
    <p:extLst>
      <p:ext uri="{BB962C8B-B14F-4D97-AF65-F5344CB8AC3E}">
        <p14:creationId xmlns:p14="http://schemas.microsoft.com/office/powerpoint/2010/main" val="11399995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31</a:t>
            </a:fld>
            <a:endParaRPr lang="en-US" dirty="0"/>
          </a:p>
        </p:txBody>
      </p:sp>
    </p:spTree>
    <p:extLst>
      <p:ext uri="{BB962C8B-B14F-4D97-AF65-F5344CB8AC3E}">
        <p14:creationId xmlns:p14="http://schemas.microsoft.com/office/powerpoint/2010/main" val="40274407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32</a:t>
            </a:fld>
            <a:endParaRPr lang="en-US" dirty="0"/>
          </a:p>
        </p:txBody>
      </p:sp>
    </p:spTree>
    <p:extLst>
      <p:ext uri="{BB962C8B-B14F-4D97-AF65-F5344CB8AC3E}">
        <p14:creationId xmlns:p14="http://schemas.microsoft.com/office/powerpoint/2010/main" val="34161532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33</a:t>
            </a:fld>
            <a:endParaRPr lang="en-US" dirty="0"/>
          </a:p>
        </p:txBody>
      </p:sp>
    </p:spTree>
    <p:extLst>
      <p:ext uri="{BB962C8B-B14F-4D97-AF65-F5344CB8AC3E}">
        <p14:creationId xmlns:p14="http://schemas.microsoft.com/office/powerpoint/2010/main" val="28402260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34</a:t>
            </a:fld>
            <a:endParaRPr lang="en-US" dirty="0"/>
          </a:p>
        </p:txBody>
      </p:sp>
    </p:spTree>
    <p:extLst>
      <p:ext uri="{BB962C8B-B14F-4D97-AF65-F5344CB8AC3E}">
        <p14:creationId xmlns:p14="http://schemas.microsoft.com/office/powerpoint/2010/main" val="15612861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35</a:t>
            </a:fld>
            <a:endParaRPr lang="en-US" dirty="0"/>
          </a:p>
        </p:txBody>
      </p:sp>
    </p:spTree>
    <p:extLst>
      <p:ext uri="{BB962C8B-B14F-4D97-AF65-F5344CB8AC3E}">
        <p14:creationId xmlns:p14="http://schemas.microsoft.com/office/powerpoint/2010/main" val="428916253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36</a:t>
            </a:fld>
            <a:endParaRPr lang="en-US" dirty="0"/>
          </a:p>
        </p:txBody>
      </p:sp>
    </p:spTree>
    <p:extLst>
      <p:ext uri="{BB962C8B-B14F-4D97-AF65-F5344CB8AC3E}">
        <p14:creationId xmlns:p14="http://schemas.microsoft.com/office/powerpoint/2010/main" val="2763359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37</a:t>
            </a:fld>
            <a:endParaRPr lang="en-US" dirty="0"/>
          </a:p>
        </p:txBody>
      </p:sp>
    </p:spTree>
    <p:extLst>
      <p:ext uri="{BB962C8B-B14F-4D97-AF65-F5344CB8AC3E}">
        <p14:creationId xmlns:p14="http://schemas.microsoft.com/office/powerpoint/2010/main" val="24885681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38</a:t>
            </a:fld>
            <a:endParaRPr lang="en-US" dirty="0"/>
          </a:p>
        </p:txBody>
      </p:sp>
    </p:spTree>
    <p:extLst>
      <p:ext uri="{BB962C8B-B14F-4D97-AF65-F5344CB8AC3E}">
        <p14:creationId xmlns:p14="http://schemas.microsoft.com/office/powerpoint/2010/main" val="5860603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39</a:t>
            </a:fld>
            <a:endParaRPr lang="en-US" dirty="0"/>
          </a:p>
        </p:txBody>
      </p:sp>
    </p:spTree>
    <p:extLst>
      <p:ext uri="{BB962C8B-B14F-4D97-AF65-F5344CB8AC3E}">
        <p14:creationId xmlns:p14="http://schemas.microsoft.com/office/powerpoint/2010/main" val="31930377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40</a:t>
            </a:fld>
            <a:endParaRPr lang="en-US" dirty="0"/>
          </a:p>
        </p:txBody>
      </p:sp>
    </p:spTree>
    <p:extLst>
      <p:ext uri="{BB962C8B-B14F-4D97-AF65-F5344CB8AC3E}">
        <p14:creationId xmlns:p14="http://schemas.microsoft.com/office/powerpoint/2010/main" val="23706696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41</a:t>
            </a:fld>
            <a:endParaRPr lang="en-US" dirty="0"/>
          </a:p>
        </p:txBody>
      </p:sp>
    </p:spTree>
    <p:extLst>
      <p:ext uri="{BB962C8B-B14F-4D97-AF65-F5344CB8AC3E}">
        <p14:creationId xmlns:p14="http://schemas.microsoft.com/office/powerpoint/2010/main" val="26932360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42</a:t>
            </a:fld>
            <a:endParaRPr lang="en-US" dirty="0"/>
          </a:p>
        </p:txBody>
      </p:sp>
    </p:spTree>
    <p:extLst>
      <p:ext uri="{BB962C8B-B14F-4D97-AF65-F5344CB8AC3E}">
        <p14:creationId xmlns:p14="http://schemas.microsoft.com/office/powerpoint/2010/main" val="362153010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43</a:t>
            </a:fld>
            <a:endParaRPr lang="en-US" dirty="0"/>
          </a:p>
        </p:txBody>
      </p:sp>
    </p:spTree>
    <p:extLst>
      <p:ext uri="{BB962C8B-B14F-4D97-AF65-F5344CB8AC3E}">
        <p14:creationId xmlns:p14="http://schemas.microsoft.com/office/powerpoint/2010/main" val="2862925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44</a:t>
            </a:fld>
            <a:endParaRPr lang="en-US" dirty="0"/>
          </a:p>
        </p:txBody>
      </p:sp>
    </p:spTree>
    <p:extLst>
      <p:ext uri="{BB962C8B-B14F-4D97-AF65-F5344CB8AC3E}">
        <p14:creationId xmlns:p14="http://schemas.microsoft.com/office/powerpoint/2010/main" val="51748496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45</a:t>
            </a:fld>
            <a:endParaRPr lang="en-US" dirty="0"/>
          </a:p>
        </p:txBody>
      </p:sp>
    </p:spTree>
    <p:extLst>
      <p:ext uri="{BB962C8B-B14F-4D97-AF65-F5344CB8AC3E}">
        <p14:creationId xmlns:p14="http://schemas.microsoft.com/office/powerpoint/2010/main" val="223050680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46</a:t>
            </a:fld>
            <a:endParaRPr lang="en-US" dirty="0"/>
          </a:p>
        </p:txBody>
      </p:sp>
    </p:spTree>
    <p:extLst>
      <p:ext uri="{BB962C8B-B14F-4D97-AF65-F5344CB8AC3E}">
        <p14:creationId xmlns:p14="http://schemas.microsoft.com/office/powerpoint/2010/main" val="570357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47</a:t>
            </a:fld>
            <a:endParaRPr lang="en-US" dirty="0"/>
          </a:p>
        </p:txBody>
      </p:sp>
    </p:spTree>
    <p:extLst>
      <p:ext uri="{BB962C8B-B14F-4D97-AF65-F5344CB8AC3E}">
        <p14:creationId xmlns:p14="http://schemas.microsoft.com/office/powerpoint/2010/main" val="212555523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48</a:t>
            </a:fld>
            <a:endParaRPr lang="en-US" dirty="0"/>
          </a:p>
        </p:txBody>
      </p:sp>
    </p:spTree>
    <p:extLst>
      <p:ext uri="{BB962C8B-B14F-4D97-AF65-F5344CB8AC3E}">
        <p14:creationId xmlns:p14="http://schemas.microsoft.com/office/powerpoint/2010/main" val="362494818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49</a:t>
            </a:fld>
            <a:endParaRPr lang="en-US" dirty="0"/>
          </a:p>
        </p:txBody>
      </p:sp>
    </p:spTree>
    <p:extLst>
      <p:ext uri="{BB962C8B-B14F-4D97-AF65-F5344CB8AC3E}">
        <p14:creationId xmlns:p14="http://schemas.microsoft.com/office/powerpoint/2010/main" val="82884075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50</a:t>
            </a:fld>
            <a:endParaRPr lang="en-US" dirty="0"/>
          </a:p>
        </p:txBody>
      </p:sp>
    </p:spTree>
    <p:extLst>
      <p:ext uri="{BB962C8B-B14F-4D97-AF65-F5344CB8AC3E}">
        <p14:creationId xmlns:p14="http://schemas.microsoft.com/office/powerpoint/2010/main" val="327169772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51</a:t>
            </a:fld>
            <a:endParaRPr lang="en-US" dirty="0"/>
          </a:p>
        </p:txBody>
      </p:sp>
    </p:spTree>
    <p:extLst>
      <p:ext uri="{BB962C8B-B14F-4D97-AF65-F5344CB8AC3E}">
        <p14:creationId xmlns:p14="http://schemas.microsoft.com/office/powerpoint/2010/main" val="251702219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52</a:t>
            </a:fld>
            <a:endParaRPr lang="en-US" dirty="0"/>
          </a:p>
        </p:txBody>
      </p:sp>
    </p:spTree>
    <p:extLst>
      <p:ext uri="{BB962C8B-B14F-4D97-AF65-F5344CB8AC3E}">
        <p14:creationId xmlns:p14="http://schemas.microsoft.com/office/powerpoint/2010/main" val="250749830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53</a:t>
            </a:fld>
            <a:endParaRPr lang="en-US" dirty="0"/>
          </a:p>
        </p:txBody>
      </p:sp>
    </p:spTree>
    <p:extLst>
      <p:ext uri="{BB962C8B-B14F-4D97-AF65-F5344CB8AC3E}">
        <p14:creationId xmlns:p14="http://schemas.microsoft.com/office/powerpoint/2010/main" val="425994689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54</a:t>
            </a:fld>
            <a:endParaRPr lang="en-US" dirty="0"/>
          </a:p>
        </p:txBody>
      </p:sp>
    </p:spTree>
    <p:extLst>
      <p:ext uri="{BB962C8B-B14F-4D97-AF65-F5344CB8AC3E}">
        <p14:creationId xmlns:p14="http://schemas.microsoft.com/office/powerpoint/2010/main" val="195692858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55</a:t>
            </a:fld>
            <a:endParaRPr lang="en-US" dirty="0"/>
          </a:p>
        </p:txBody>
      </p:sp>
    </p:spTree>
    <p:extLst>
      <p:ext uri="{BB962C8B-B14F-4D97-AF65-F5344CB8AC3E}">
        <p14:creationId xmlns:p14="http://schemas.microsoft.com/office/powerpoint/2010/main" val="5317126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56</a:t>
            </a:fld>
            <a:endParaRPr lang="en-US" dirty="0"/>
          </a:p>
        </p:txBody>
      </p:sp>
    </p:spTree>
    <p:extLst>
      <p:ext uri="{BB962C8B-B14F-4D97-AF65-F5344CB8AC3E}">
        <p14:creationId xmlns:p14="http://schemas.microsoft.com/office/powerpoint/2010/main" val="342879574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57</a:t>
            </a:fld>
            <a:endParaRPr lang="en-US" dirty="0"/>
          </a:p>
        </p:txBody>
      </p:sp>
    </p:spTree>
    <p:extLst>
      <p:ext uri="{BB962C8B-B14F-4D97-AF65-F5344CB8AC3E}">
        <p14:creationId xmlns:p14="http://schemas.microsoft.com/office/powerpoint/2010/main" val="141102641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58</a:t>
            </a:fld>
            <a:endParaRPr lang="en-US" dirty="0"/>
          </a:p>
        </p:txBody>
      </p:sp>
    </p:spTree>
    <p:extLst>
      <p:ext uri="{BB962C8B-B14F-4D97-AF65-F5344CB8AC3E}">
        <p14:creationId xmlns:p14="http://schemas.microsoft.com/office/powerpoint/2010/main" val="198124924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59</a:t>
            </a:fld>
            <a:endParaRPr lang="en-US" dirty="0"/>
          </a:p>
        </p:txBody>
      </p:sp>
    </p:spTree>
    <p:extLst>
      <p:ext uri="{BB962C8B-B14F-4D97-AF65-F5344CB8AC3E}">
        <p14:creationId xmlns:p14="http://schemas.microsoft.com/office/powerpoint/2010/main" val="414370905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60</a:t>
            </a:fld>
            <a:endParaRPr lang="en-US" dirty="0"/>
          </a:p>
        </p:txBody>
      </p:sp>
    </p:spTree>
    <p:extLst>
      <p:ext uri="{BB962C8B-B14F-4D97-AF65-F5344CB8AC3E}">
        <p14:creationId xmlns:p14="http://schemas.microsoft.com/office/powerpoint/2010/main" val="19525786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61</a:t>
            </a:fld>
            <a:endParaRPr lang="en-US" dirty="0"/>
          </a:p>
        </p:txBody>
      </p:sp>
    </p:spTree>
    <p:extLst>
      <p:ext uri="{BB962C8B-B14F-4D97-AF65-F5344CB8AC3E}">
        <p14:creationId xmlns:p14="http://schemas.microsoft.com/office/powerpoint/2010/main" val="99312197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62</a:t>
            </a:fld>
            <a:endParaRPr lang="en-US" dirty="0"/>
          </a:p>
        </p:txBody>
      </p:sp>
    </p:spTree>
    <p:extLst>
      <p:ext uri="{BB962C8B-B14F-4D97-AF65-F5344CB8AC3E}">
        <p14:creationId xmlns:p14="http://schemas.microsoft.com/office/powerpoint/2010/main" val="287248063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63</a:t>
            </a:fld>
            <a:endParaRPr lang="en-US" dirty="0"/>
          </a:p>
        </p:txBody>
      </p:sp>
    </p:spTree>
    <p:extLst>
      <p:ext uri="{BB962C8B-B14F-4D97-AF65-F5344CB8AC3E}">
        <p14:creationId xmlns:p14="http://schemas.microsoft.com/office/powerpoint/2010/main" val="319624173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64</a:t>
            </a:fld>
            <a:endParaRPr lang="en-US" dirty="0"/>
          </a:p>
        </p:txBody>
      </p:sp>
    </p:spTree>
    <p:extLst>
      <p:ext uri="{BB962C8B-B14F-4D97-AF65-F5344CB8AC3E}">
        <p14:creationId xmlns:p14="http://schemas.microsoft.com/office/powerpoint/2010/main" val="377401303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65</a:t>
            </a:fld>
            <a:endParaRPr lang="en-US" dirty="0"/>
          </a:p>
        </p:txBody>
      </p:sp>
    </p:spTree>
    <p:extLst>
      <p:ext uri="{BB962C8B-B14F-4D97-AF65-F5344CB8AC3E}">
        <p14:creationId xmlns:p14="http://schemas.microsoft.com/office/powerpoint/2010/main" val="299658875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66</a:t>
            </a:fld>
            <a:endParaRPr lang="en-US" dirty="0"/>
          </a:p>
        </p:txBody>
      </p:sp>
    </p:spTree>
    <p:extLst>
      <p:ext uri="{BB962C8B-B14F-4D97-AF65-F5344CB8AC3E}">
        <p14:creationId xmlns:p14="http://schemas.microsoft.com/office/powerpoint/2010/main" val="204056021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67</a:t>
            </a:fld>
            <a:endParaRPr lang="en-US" dirty="0"/>
          </a:p>
        </p:txBody>
      </p:sp>
    </p:spTree>
    <p:extLst>
      <p:ext uri="{BB962C8B-B14F-4D97-AF65-F5344CB8AC3E}">
        <p14:creationId xmlns:p14="http://schemas.microsoft.com/office/powerpoint/2010/main" val="164673596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68</a:t>
            </a:fld>
            <a:endParaRPr lang="en-US" dirty="0"/>
          </a:p>
        </p:txBody>
      </p:sp>
    </p:spTree>
    <p:extLst>
      <p:ext uri="{BB962C8B-B14F-4D97-AF65-F5344CB8AC3E}">
        <p14:creationId xmlns:p14="http://schemas.microsoft.com/office/powerpoint/2010/main" val="377654276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69</a:t>
            </a:fld>
            <a:endParaRPr lang="en-US" dirty="0"/>
          </a:p>
        </p:txBody>
      </p:sp>
    </p:spTree>
    <p:extLst>
      <p:ext uri="{BB962C8B-B14F-4D97-AF65-F5344CB8AC3E}">
        <p14:creationId xmlns:p14="http://schemas.microsoft.com/office/powerpoint/2010/main" val="236041414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70</a:t>
            </a:fld>
            <a:endParaRPr lang="en-US" dirty="0"/>
          </a:p>
        </p:txBody>
      </p:sp>
    </p:spTree>
    <p:extLst>
      <p:ext uri="{BB962C8B-B14F-4D97-AF65-F5344CB8AC3E}">
        <p14:creationId xmlns:p14="http://schemas.microsoft.com/office/powerpoint/2010/main" val="12787901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buClr>
                <a:schemeClr val="accent1"/>
              </a:buClr>
              <a:defRPr/>
            </a:lvl1pPr>
            <a:lvl2pPr>
              <a:buClr>
                <a:schemeClr val="accent1"/>
              </a:buClr>
              <a:defRPr/>
            </a:lvl2pPr>
            <a:lvl3pPr>
              <a:buClr>
                <a:schemeClr val="accent1"/>
              </a:buClr>
              <a:defRPr/>
            </a:lvl3pPr>
          </a:lstStyle>
          <a:p>
            <a:pPr lvl="0"/>
            <a:r>
              <a:rPr lang="en-US" smtClean="0"/>
              <a:t>Click to edit Master text styles</a:t>
            </a:r>
          </a:p>
          <a:p>
            <a:pPr lvl="1"/>
            <a:r>
              <a:rPr lang="en-US" smtClean="0"/>
              <a:t>Second level</a:t>
            </a:r>
          </a:p>
          <a:p>
            <a:pPr lvl="2"/>
            <a:r>
              <a:rPr lang="en-US" smtClean="0"/>
              <a:t>Third level</a:t>
            </a:r>
          </a:p>
        </p:txBody>
      </p:sp>
      <p:sp>
        <p:nvSpPr>
          <p:cNvPr id="5" name="Rectangle 1"/>
          <p:cNvSpPr>
            <a:spLocks noChangeArrowheads="1"/>
          </p:cNvSpPr>
          <p:nvPr userDrawn="1"/>
        </p:nvSpPr>
        <p:spPr bwMode="auto">
          <a:xfrm>
            <a:off x="0" y="5334000"/>
            <a:ext cx="9144000" cy="381000"/>
          </a:xfrm>
          <a:prstGeom prst="rect">
            <a:avLst/>
          </a:prstGeom>
          <a:solidFill>
            <a:schemeClr val="tx2"/>
          </a:solidFill>
          <a:ln w="9525">
            <a:noFill/>
            <a:miter lim="800000"/>
            <a:headEnd/>
            <a:tailEnd/>
          </a:ln>
        </p:spPr>
        <p:txBody>
          <a:bodyPr lIns="91249" tIns="45623" rIns="91249" bIns="45623"/>
          <a:lstStyle/>
          <a:p>
            <a:pPr defTabSz="912491"/>
            <a:endParaRPr lang="en-US" sz="2400">
              <a:solidFill>
                <a:srgbClr val="000000"/>
              </a:solidFill>
              <a:cs typeface="Arial" charset="0"/>
              <a:sym typeface="Arial" charset="0"/>
            </a:endParaRPr>
          </a:p>
        </p:txBody>
      </p:sp>
      <p:pic>
        <p:nvPicPr>
          <p:cNvPr id="6" name="Picture 5" descr="B lyle Schengin.png"/>
          <p:cNvPicPr>
            <a:picLocks noChangeAspect="1"/>
          </p:cNvPicPr>
          <p:nvPr userDrawn="1"/>
        </p:nvPicPr>
        <p:blipFill>
          <a:blip r:embed="rId2" cstate="print"/>
          <a:stretch>
            <a:fillRect/>
          </a:stretch>
        </p:blipFill>
        <p:spPr>
          <a:xfrm>
            <a:off x="457225" y="5362884"/>
            <a:ext cx="2590775" cy="30188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76508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cSld name="Title Slide">
    <p:spTree>
      <p:nvGrpSpPr>
        <p:cNvPr id="1" name=""/>
        <p:cNvGrpSpPr/>
        <p:nvPr/>
      </p:nvGrpSpPr>
      <p:grpSpPr>
        <a:xfrm>
          <a:off x="0" y="0"/>
          <a:ext cx="0" cy="0"/>
          <a:chOff x="0" y="0"/>
          <a:chExt cx="0" cy="0"/>
        </a:xfrm>
      </p:grpSpPr>
      <p:pic>
        <p:nvPicPr>
          <p:cNvPr id="6" name="Picture 5" descr="23947D_041.tif"/>
          <p:cNvPicPr>
            <a:picLocks noChangeAspect="1"/>
          </p:cNvPicPr>
          <p:nvPr userDrawn="1"/>
        </p:nvPicPr>
        <p:blipFill rotWithShape="1">
          <a:blip r:embed="rId2" cstate="email">
            <a:extLst>
              <a:ext uri="{28A0092B-C50C-407E-A947-70E740481C1C}">
                <a14:useLocalDpi xmlns:a14="http://schemas.microsoft.com/office/drawing/2010/main" val="0"/>
              </a:ext>
            </a:extLst>
          </a:blip>
          <a:srcRect t="27246" b="16674"/>
          <a:stretch/>
        </p:blipFill>
        <p:spPr>
          <a:xfrm>
            <a:off x="5574984" y="642987"/>
            <a:ext cx="3569016" cy="1109928"/>
          </a:xfrm>
          <a:prstGeom prst="rect">
            <a:avLst/>
          </a:prstGeom>
        </p:spPr>
      </p:pic>
      <p:pic>
        <p:nvPicPr>
          <p:cNvPr id="3" name="Picture 2" descr="23661D_001.jpg"/>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3859101" y="669420"/>
            <a:ext cx="1773974" cy="2221506"/>
          </a:xfrm>
          <a:prstGeom prst="rect">
            <a:avLst/>
          </a:prstGeom>
        </p:spPr>
      </p:pic>
      <p:pic>
        <p:nvPicPr>
          <p:cNvPr id="4" name="Picture 3" descr="23741D_006_RT_Final.jpg"/>
          <p:cNvPicPr>
            <a:picLocks noChangeAspect="1"/>
          </p:cNvPicPr>
          <p:nvPr userDrawn="1"/>
        </p:nvPicPr>
        <p:blipFill rotWithShape="1">
          <a:blip r:embed="rId4" cstate="email">
            <a:extLst>
              <a:ext uri="{28A0092B-C50C-407E-A947-70E740481C1C}">
                <a14:useLocalDpi xmlns:a14="http://schemas.microsoft.com/office/drawing/2010/main" val="0"/>
              </a:ext>
            </a:extLst>
          </a:blip>
          <a:srcRect l="-1" r="-107"/>
          <a:stretch/>
        </p:blipFill>
        <p:spPr>
          <a:xfrm>
            <a:off x="28" y="648090"/>
            <a:ext cx="4010279" cy="2266326"/>
          </a:xfrm>
          <a:prstGeom prst="rect">
            <a:avLst/>
          </a:prstGeom>
        </p:spPr>
      </p:pic>
      <p:pic>
        <p:nvPicPr>
          <p:cNvPr id="5" name="Picture 4" descr="24817D_005.jpg"/>
          <p:cNvPicPr>
            <a:picLocks noChangeAspect="1"/>
          </p:cNvPicPr>
          <p:nvPr userDrawn="1"/>
        </p:nvPicPr>
        <p:blipFill rotWithShape="1">
          <a:blip r:embed="rId5" cstate="email">
            <a:extLst>
              <a:ext uri="{28A0092B-C50C-407E-A947-70E740481C1C}">
                <a14:useLocalDpi xmlns:a14="http://schemas.microsoft.com/office/drawing/2010/main" val="0"/>
              </a:ext>
            </a:extLst>
          </a:blip>
          <a:srcRect t="26617" b="13903"/>
          <a:stretch/>
        </p:blipFill>
        <p:spPr>
          <a:xfrm>
            <a:off x="5633069" y="1736216"/>
            <a:ext cx="3510934" cy="1158064"/>
          </a:xfrm>
          <a:prstGeom prst="rect">
            <a:avLst/>
          </a:prstGeom>
        </p:spPr>
      </p:pic>
      <p:pic>
        <p:nvPicPr>
          <p:cNvPr id="47" name="Picture 2" descr="http://smu.edu/brand/logos/lyle/LylebbEngineering.RB.jpg"/>
          <p:cNvPicPr>
            <a:picLocks noChangeAspect="1" noChangeArrowheads="1"/>
          </p:cNvPicPr>
          <p:nvPr userDrawn="1"/>
        </p:nvPicPr>
        <p:blipFill>
          <a:blip r:embed="rId6" cstate="email">
            <a:extLst>
              <a:ext uri="{28A0092B-C50C-407E-A947-70E740481C1C}">
                <a14:useLocalDpi xmlns:a14="http://schemas.microsoft.com/office/drawing/2010/main" val="0"/>
              </a:ext>
            </a:extLst>
          </a:blip>
          <a:srcRect/>
          <a:stretch>
            <a:fillRect/>
          </a:stretch>
        </p:blipFill>
        <p:spPr bwMode="auto">
          <a:xfrm>
            <a:off x="313973" y="23009"/>
            <a:ext cx="4029439" cy="574250"/>
          </a:xfrm>
          <a:prstGeom prst="rect">
            <a:avLst/>
          </a:prstGeom>
          <a:noFill/>
          <a:extLst>
            <a:ext uri="{909E8E84-426E-40DD-AFC4-6F175D3DCCD1}">
              <a14:hiddenFill xmlns:a14="http://schemas.microsoft.com/office/drawing/2010/main">
                <a:solidFill>
                  <a:srgbClr val="FFFFFF"/>
                </a:solidFill>
              </a14:hiddenFill>
            </a:ext>
          </a:extLst>
        </p:spPr>
      </p:pic>
      <p:sp>
        <p:nvSpPr>
          <p:cNvPr id="44" name="Line 14"/>
          <p:cNvSpPr>
            <a:spLocks noChangeShapeType="1"/>
          </p:cNvSpPr>
          <p:nvPr userDrawn="1"/>
        </p:nvSpPr>
        <p:spPr bwMode="auto">
          <a:xfrm>
            <a:off x="0" y="643614"/>
            <a:ext cx="9144000" cy="1323"/>
          </a:xfrm>
          <a:prstGeom prst="line">
            <a:avLst/>
          </a:prstGeom>
          <a:noFill/>
          <a:ln w="50800">
            <a:solidFill>
              <a:schemeClr val="bg2">
                <a:lumMod val="90000"/>
              </a:schemeClr>
            </a:solidFill>
            <a:round/>
            <a:headEnd/>
            <a:tailEnd/>
          </a:ln>
        </p:spPr>
        <p:txBody>
          <a:bodyPr lIns="91249" tIns="45623" rIns="91249" bIns="45623"/>
          <a:lstStyle/>
          <a:p>
            <a:pPr defTabSz="912491"/>
            <a:endParaRPr lang="en-US" sz="2400">
              <a:solidFill>
                <a:srgbClr val="000000"/>
              </a:solidFill>
              <a:cs typeface="Arial" charset="0"/>
              <a:sym typeface="Arial" charset="0"/>
            </a:endParaRPr>
          </a:p>
        </p:txBody>
      </p:sp>
      <p:sp>
        <p:nvSpPr>
          <p:cNvPr id="45" name="Line 15"/>
          <p:cNvSpPr>
            <a:spLocks noChangeShapeType="1"/>
          </p:cNvSpPr>
          <p:nvPr userDrawn="1"/>
        </p:nvSpPr>
        <p:spPr bwMode="auto">
          <a:xfrm>
            <a:off x="0" y="670065"/>
            <a:ext cx="9144000" cy="1323"/>
          </a:xfrm>
          <a:prstGeom prst="line">
            <a:avLst/>
          </a:prstGeom>
          <a:noFill/>
          <a:ln w="25400">
            <a:solidFill>
              <a:srgbClr val="FFFFFF"/>
            </a:solidFill>
            <a:round/>
            <a:headEnd/>
            <a:tailEnd/>
          </a:ln>
        </p:spPr>
        <p:txBody>
          <a:bodyPr lIns="91249" tIns="45623" rIns="91249" bIns="45623"/>
          <a:lstStyle/>
          <a:p>
            <a:pPr defTabSz="912491"/>
            <a:endParaRPr lang="en-US" sz="2400">
              <a:solidFill>
                <a:srgbClr val="000000"/>
              </a:solidFill>
              <a:cs typeface="Arial" charset="0"/>
              <a:sym typeface="Arial" charset="0"/>
            </a:endParaRPr>
          </a:p>
        </p:txBody>
      </p:sp>
      <p:sp>
        <p:nvSpPr>
          <p:cNvPr id="29" name="Rectangle 6"/>
          <p:cNvSpPr>
            <a:spLocks noChangeArrowheads="1"/>
          </p:cNvSpPr>
          <p:nvPr/>
        </p:nvSpPr>
        <p:spPr bwMode="auto">
          <a:xfrm>
            <a:off x="0" y="2956781"/>
            <a:ext cx="9144000" cy="2338917"/>
          </a:xfrm>
          <a:prstGeom prst="rect">
            <a:avLst/>
          </a:prstGeom>
          <a:solidFill>
            <a:srgbClr val="032B66"/>
          </a:solidFill>
          <a:ln w="9525">
            <a:noFill/>
            <a:miter lim="800000"/>
            <a:headEnd/>
            <a:tailEnd/>
          </a:ln>
        </p:spPr>
        <p:txBody>
          <a:bodyPr lIns="91249" tIns="45623" rIns="91249" bIns="45623"/>
          <a:lstStyle/>
          <a:p>
            <a:pPr defTabSz="912491"/>
            <a:endParaRPr lang="en-US" sz="2400">
              <a:solidFill>
                <a:srgbClr val="000000"/>
              </a:solidFill>
              <a:cs typeface="Arial" charset="0"/>
              <a:sym typeface="Arial" charset="0"/>
            </a:endParaRPr>
          </a:p>
        </p:txBody>
      </p:sp>
      <p:sp>
        <p:nvSpPr>
          <p:cNvPr id="22" name="Rectangle 21"/>
          <p:cNvSpPr/>
          <p:nvPr/>
        </p:nvSpPr>
        <p:spPr>
          <a:xfrm>
            <a:off x="0" y="5270503"/>
            <a:ext cx="9144000" cy="444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249" tIns="45623" rIns="91249" bIns="45623" rtlCol="0" anchor="ctr"/>
          <a:lstStyle/>
          <a:p>
            <a:pPr algn="ctr" defTabSz="912491"/>
            <a:endParaRPr lang="en-US" sz="2400">
              <a:solidFill>
                <a:prstClr val="white"/>
              </a:solidFill>
              <a:sym typeface="Arial" charset="0"/>
            </a:endParaRPr>
          </a:p>
        </p:txBody>
      </p:sp>
      <p:sp>
        <p:nvSpPr>
          <p:cNvPr id="15" name="Line 10"/>
          <p:cNvSpPr>
            <a:spLocks noChangeShapeType="1"/>
          </p:cNvSpPr>
          <p:nvPr/>
        </p:nvSpPr>
        <p:spPr bwMode="auto">
          <a:xfrm>
            <a:off x="0" y="2914468"/>
            <a:ext cx="9144000" cy="1323"/>
          </a:xfrm>
          <a:prstGeom prst="line">
            <a:avLst/>
          </a:prstGeom>
          <a:noFill/>
          <a:ln w="50800">
            <a:solidFill>
              <a:srgbClr val="CCCC9A"/>
            </a:solidFill>
            <a:round/>
            <a:headEnd/>
            <a:tailEnd/>
          </a:ln>
        </p:spPr>
        <p:txBody>
          <a:bodyPr lIns="91249" tIns="45623" rIns="91249" bIns="45623"/>
          <a:lstStyle/>
          <a:p>
            <a:pPr defTabSz="912491"/>
            <a:endParaRPr lang="en-US" sz="2400">
              <a:solidFill>
                <a:srgbClr val="000000"/>
              </a:solidFill>
              <a:cs typeface="Arial" charset="0"/>
              <a:sym typeface="Arial" charset="0"/>
            </a:endParaRPr>
          </a:p>
        </p:txBody>
      </p:sp>
      <p:sp>
        <p:nvSpPr>
          <p:cNvPr id="16" name="Line 11"/>
          <p:cNvSpPr>
            <a:spLocks noChangeShapeType="1"/>
          </p:cNvSpPr>
          <p:nvPr/>
        </p:nvSpPr>
        <p:spPr bwMode="auto">
          <a:xfrm>
            <a:off x="-7938" y="5334675"/>
            <a:ext cx="9151938" cy="1323"/>
          </a:xfrm>
          <a:prstGeom prst="line">
            <a:avLst/>
          </a:prstGeom>
          <a:noFill/>
          <a:ln w="50800">
            <a:solidFill>
              <a:srgbClr val="DBD1A8"/>
            </a:solidFill>
            <a:round/>
            <a:headEnd/>
            <a:tailEnd/>
          </a:ln>
        </p:spPr>
        <p:txBody>
          <a:bodyPr lIns="91249" tIns="45623" rIns="91249" bIns="45623"/>
          <a:lstStyle/>
          <a:p>
            <a:pPr defTabSz="912491"/>
            <a:endParaRPr lang="en-US" sz="2400">
              <a:solidFill>
                <a:srgbClr val="000000"/>
              </a:solidFill>
              <a:cs typeface="Arial" charset="0"/>
              <a:sym typeface="Arial" charset="0"/>
            </a:endParaRPr>
          </a:p>
        </p:txBody>
      </p:sp>
      <p:sp>
        <p:nvSpPr>
          <p:cNvPr id="18" name="Line 14"/>
          <p:cNvSpPr>
            <a:spLocks noChangeShapeType="1"/>
          </p:cNvSpPr>
          <p:nvPr/>
        </p:nvSpPr>
        <p:spPr bwMode="auto">
          <a:xfrm>
            <a:off x="0" y="643614"/>
            <a:ext cx="9144000" cy="1323"/>
          </a:xfrm>
          <a:prstGeom prst="line">
            <a:avLst/>
          </a:prstGeom>
          <a:noFill/>
          <a:ln w="50800">
            <a:solidFill>
              <a:srgbClr val="DBD1A8"/>
            </a:solidFill>
            <a:round/>
            <a:headEnd/>
            <a:tailEnd/>
          </a:ln>
        </p:spPr>
        <p:txBody>
          <a:bodyPr lIns="91249" tIns="45623" rIns="91249" bIns="45623"/>
          <a:lstStyle/>
          <a:p>
            <a:pPr defTabSz="912491"/>
            <a:endParaRPr lang="en-US" sz="2400">
              <a:solidFill>
                <a:srgbClr val="000000"/>
              </a:solidFill>
              <a:cs typeface="Arial" charset="0"/>
              <a:sym typeface="Arial" charset="0"/>
            </a:endParaRPr>
          </a:p>
        </p:txBody>
      </p:sp>
      <p:sp>
        <p:nvSpPr>
          <p:cNvPr id="19" name="Line 15"/>
          <p:cNvSpPr>
            <a:spLocks noChangeShapeType="1"/>
          </p:cNvSpPr>
          <p:nvPr/>
        </p:nvSpPr>
        <p:spPr bwMode="auto">
          <a:xfrm>
            <a:off x="0" y="670065"/>
            <a:ext cx="9144000" cy="1323"/>
          </a:xfrm>
          <a:prstGeom prst="line">
            <a:avLst/>
          </a:prstGeom>
          <a:noFill/>
          <a:ln w="25400">
            <a:solidFill>
              <a:srgbClr val="FFFFFF"/>
            </a:solidFill>
            <a:round/>
            <a:headEnd/>
            <a:tailEnd/>
          </a:ln>
        </p:spPr>
        <p:txBody>
          <a:bodyPr lIns="91249" tIns="45623" rIns="91249" bIns="45623"/>
          <a:lstStyle/>
          <a:p>
            <a:pPr defTabSz="912491"/>
            <a:endParaRPr lang="en-US" sz="2400">
              <a:solidFill>
                <a:srgbClr val="000000"/>
              </a:solidFill>
              <a:cs typeface="Arial" charset="0"/>
              <a:sym typeface="Arial" charset="0"/>
            </a:endParaRPr>
          </a:p>
        </p:txBody>
      </p:sp>
      <p:sp>
        <p:nvSpPr>
          <p:cNvPr id="23" name="Title 22"/>
          <p:cNvSpPr>
            <a:spLocks noGrp="1"/>
          </p:cNvSpPr>
          <p:nvPr>
            <p:ph type="title"/>
          </p:nvPr>
        </p:nvSpPr>
        <p:spPr>
          <a:xfrm>
            <a:off x="457208" y="3037880"/>
            <a:ext cx="8229600" cy="899153"/>
          </a:xfrm>
        </p:spPr>
        <p:txBody>
          <a:bodyPr anchor="b">
            <a:normAutofit/>
          </a:bodyPr>
          <a:lstStyle>
            <a:lvl1pPr algn="l">
              <a:defRPr sz="3200" b="0">
                <a:solidFill>
                  <a:schemeClr val="bg1"/>
                </a:solidFill>
                <a:latin typeface="Times"/>
                <a:cs typeface="Times"/>
              </a:defRPr>
            </a:lvl1pPr>
          </a:lstStyle>
          <a:p>
            <a:r>
              <a:rPr lang="en-US" dirty="0" smtClean="0"/>
              <a:t>Click to edit Master title style</a:t>
            </a:r>
            <a:endParaRPr lang="en-US" dirty="0"/>
          </a:p>
        </p:txBody>
      </p:sp>
      <p:sp>
        <p:nvSpPr>
          <p:cNvPr id="28" name="Content Placeholder 27"/>
          <p:cNvSpPr>
            <a:spLocks noGrp="1"/>
          </p:cNvSpPr>
          <p:nvPr>
            <p:ph sz="quarter" idx="10"/>
          </p:nvPr>
        </p:nvSpPr>
        <p:spPr>
          <a:xfrm>
            <a:off x="457208" y="3937000"/>
            <a:ext cx="8229600" cy="1333500"/>
          </a:xfrm>
        </p:spPr>
        <p:txBody>
          <a:bodyPr>
            <a:noAutofit/>
          </a:bodyPr>
          <a:lstStyle>
            <a:lvl1pPr marL="0" indent="0">
              <a:buFontTx/>
              <a:buNone/>
              <a:defRPr sz="2000">
                <a:solidFill>
                  <a:schemeClr val="bg2"/>
                </a:solidFill>
                <a:latin typeface="Helvetica"/>
                <a:cs typeface="Helvetica"/>
              </a:defRPr>
            </a:lvl1pPr>
            <a:lvl2pPr>
              <a:buFontTx/>
              <a:buNone/>
              <a:defRPr sz="1800">
                <a:solidFill>
                  <a:schemeClr val="bg2"/>
                </a:solidFill>
                <a:latin typeface="Helvetica"/>
                <a:cs typeface="Helvetica"/>
              </a:defRPr>
            </a:lvl2pPr>
            <a:lvl3pPr>
              <a:buFontTx/>
              <a:buNone/>
              <a:defRPr sz="1600">
                <a:solidFill>
                  <a:schemeClr val="bg2"/>
                </a:solidFill>
                <a:latin typeface="Helvetica"/>
                <a:cs typeface="Helvetica"/>
              </a:defRPr>
            </a:lvl3pPr>
            <a:lvl4pPr>
              <a:buFontTx/>
              <a:buNone/>
              <a:defRPr sz="1800">
                <a:solidFill>
                  <a:schemeClr val="bg2"/>
                </a:solidFill>
              </a:defRPr>
            </a:lvl4pPr>
            <a:lvl5pPr>
              <a:buFontTx/>
              <a:buNone/>
              <a:defRPr sz="1800">
                <a:solidFill>
                  <a:schemeClr val="bg2"/>
                </a:solidFill>
              </a:defRPr>
            </a:lvl5pPr>
          </a:lstStyle>
          <a:p>
            <a:pPr lvl="0"/>
            <a:r>
              <a:rPr lang="en-US" dirty="0" smtClean="0"/>
              <a:t>Click to edit Master text styles</a:t>
            </a:r>
          </a:p>
          <a:p>
            <a:pPr lvl="1"/>
            <a:r>
              <a:rPr lang="en-US" dirty="0" smtClean="0"/>
              <a:t>Second level</a:t>
            </a:r>
          </a:p>
          <a:p>
            <a:pPr lvl="2"/>
            <a:r>
              <a:rPr lang="en-US" dirty="0" smtClean="0"/>
              <a:t>Third level</a:t>
            </a:r>
          </a:p>
        </p:txBody>
      </p:sp>
      <p:sp>
        <p:nvSpPr>
          <p:cNvPr id="31" name="Line 10"/>
          <p:cNvSpPr>
            <a:spLocks noChangeShapeType="1"/>
          </p:cNvSpPr>
          <p:nvPr/>
        </p:nvSpPr>
        <p:spPr bwMode="auto">
          <a:xfrm>
            <a:off x="0" y="2914468"/>
            <a:ext cx="9144000" cy="1323"/>
          </a:xfrm>
          <a:prstGeom prst="line">
            <a:avLst/>
          </a:prstGeom>
          <a:noFill/>
          <a:ln w="50800">
            <a:solidFill>
              <a:schemeClr val="bg2"/>
            </a:solidFill>
            <a:round/>
            <a:headEnd/>
            <a:tailEnd/>
          </a:ln>
        </p:spPr>
        <p:txBody>
          <a:bodyPr lIns="91249" tIns="45623" rIns="91249" bIns="45623"/>
          <a:lstStyle/>
          <a:p>
            <a:pPr defTabSz="912491"/>
            <a:endParaRPr lang="en-US" sz="2400">
              <a:solidFill>
                <a:srgbClr val="000000"/>
              </a:solidFill>
              <a:cs typeface="Arial" charset="0"/>
              <a:sym typeface="Arial" charset="0"/>
            </a:endParaRPr>
          </a:p>
        </p:txBody>
      </p:sp>
      <p:sp>
        <p:nvSpPr>
          <p:cNvPr id="39" name="Line 3"/>
          <p:cNvSpPr>
            <a:spLocks noChangeShapeType="1"/>
          </p:cNvSpPr>
          <p:nvPr userDrawn="1"/>
        </p:nvSpPr>
        <p:spPr bwMode="auto">
          <a:xfrm>
            <a:off x="5633069" y="1736193"/>
            <a:ext cx="3510934" cy="0"/>
          </a:xfrm>
          <a:prstGeom prst="line">
            <a:avLst/>
          </a:prstGeom>
          <a:noFill/>
          <a:ln w="38100" cmpd="sng">
            <a:solidFill>
              <a:srgbClr val="FFFFFF"/>
            </a:solidFill>
            <a:round/>
            <a:headEnd/>
            <a:tailEnd/>
          </a:ln>
        </p:spPr>
        <p:txBody>
          <a:bodyPr lIns="91249" tIns="45623" rIns="91249" bIns="45623"/>
          <a:lstStyle/>
          <a:p>
            <a:pPr defTabSz="912491"/>
            <a:endParaRPr lang="en-US" sz="2400">
              <a:solidFill>
                <a:srgbClr val="000000"/>
              </a:solidFill>
              <a:cs typeface="Arial" charset="0"/>
              <a:sym typeface="Arial" charset="0"/>
            </a:endParaRPr>
          </a:p>
        </p:txBody>
      </p:sp>
      <p:sp>
        <p:nvSpPr>
          <p:cNvPr id="40" name="Line 4"/>
          <p:cNvSpPr>
            <a:spLocks noChangeShapeType="1"/>
          </p:cNvSpPr>
          <p:nvPr userDrawn="1"/>
        </p:nvSpPr>
        <p:spPr bwMode="auto">
          <a:xfrm rot="10800000" flipH="1">
            <a:off x="4011864" y="669449"/>
            <a:ext cx="0" cy="2224861"/>
          </a:xfrm>
          <a:prstGeom prst="line">
            <a:avLst/>
          </a:prstGeom>
          <a:noFill/>
          <a:ln w="38100" cmpd="sng">
            <a:solidFill>
              <a:srgbClr val="FFFFFF"/>
            </a:solidFill>
            <a:round/>
            <a:headEnd/>
            <a:tailEnd/>
          </a:ln>
        </p:spPr>
        <p:txBody>
          <a:bodyPr lIns="91249" tIns="45623" rIns="91249" bIns="45623"/>
          <a:lstStyle/>
          <a:p>
            <a:pPr defTabSz="912491"/>
            <a:endParaRPr lang="en-US" sz="2400">
              <a:solidFill>
                <a:srgbClr val="000000"/>
              </a:solidFill>
              <a:cs typeface="Arial" charset="0"/>
              <a:sym typeface="Arial" charset="0"/>
            </a:endParaRPr>
          </a:p>
        </p:txBody>
      </p:sp>
      <p:sp>
        <p:nvSpPr>
          <p:cNvPr id="42" name="Line 10"/>
          <p:cNvSpPr>
            <a:spLocks noChangeShapeType="1"/>
          </p:cNvSpPr>
          <p:nvPr userDrawn="1"/>
        </p:nvSpPr>
        <p:spPr bwMode="auto">
          <a:xfrm>
            <a:off x="0" y="2914468"/>
            <a:ext cx="9144000" cy="1323"/>
          </a:xfrm>
          <a:prstGeom prst="line">
            <a:avLst/>
          </a:prstGeom>
          <a:noFill/>
          <a:ln w="50800">
            <a:solidFill>
              <a:schemeClr val="bg2"/>
            </a:solidFill>
            <a:round/>
            <a:headEnd/>
            <a:tailEnd/>
          </a:ln>
        </p:spPr>
        <p:txBody>
          <a:bodyPr lIns="91249" tIns="45623" rIns="91249" bIns="45623"/>
          <a:lstStyle/>
          <a:p>
            <a:pPr defTabSz="912491"/>
            <a:endParaRPr lang="en-US" sz="2400">
              <a:solidFill>
                <a:srgbClr val="000000"/>
              </a:solidFill>
              <a:cs typeface="Arial" charset="0"/>
              <a:sym typeface="Arial" charset="0"/>
            </a:endParaRPr>
          </a:p>
        </p:txBody>
      </p:sp>
      <p:sp>
        <p:nvSpPr>
          <p:cNvPr id="48" name="Line 4"/>
          <p:cNvSpPr>
            <a:spLocks noChangeShapeType="1"/>
          </p:cNvSpPr>
          <p:nvPr userDrawn="1"/>
        </p:nvSpPr>
        <p:spPr bwMode="auto">
          <a:xfrm rot="10800000" flipH="1">
            <a:off x="5633066" y="669449"/>
            <a:ext cx="0" cy="2224861"/>
          </a:xfrm>
          <a:prstGeom prst="line">
            <a:avLst/>
          </a:prstGeom>
          <a:noFill/>
          <a:ln w="38100" cmpd="sng">
            <a:solidFill>
              <a:srgbClr val="FFFFFF"/>
            </a:solidFill>
            <a:round/>
            <a:headEnd/>
            <a:tailEnd/>
          </a:ln>
        </p:spPr>
        <p:txBody>
          <a:bodyPr lIns="91249" tIns="45623" rIns="91249" bIns="45623"/>
          <a:lstStyle/>
          <a:p>
            <a:pPr defTabSz="912491"/>
            <a:endParaRPr lang="en-US" sz="2400">
              <a:solidFill>
                <a:srgbClr val="000000"/>
              </a:solidFill>
              <a:cs typeface="Arial" charset="0"/>
              <a:sym typeface="Arial"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8" y="45680"/>
            <a:ext cx="8229600" cy="952500"/>
          </a:xfrm>
          <a:prstGeom prst="rect">
            <a:avLst/>
          </a:prstGeom>
        </p:spPr>
        <p:txBody>
          <a:bodyPr vert="horz" lIns="91249" tIns="45623" rIns="91249" bIns="45623" rtlCol="0" anchor="b">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8" y="1225815"/>
            <a:ext cx="8229600" cy="3879338"/>
          </a:xfrm>
          <a:prstGeom prst="rect">
            <a:avLst/>
          </a:prstGeom>
        </p:spPr>
        <p:txBody>
          <a:bodyPr vert="horz" lIns="91249" tIns="45623" rIns="91249" bIns="45623"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5297297"/>
            <a:ext cx="2133600" cy="304271"/>
          </a:xfrm>
          <a:prstGeom prst="rect">
            <a:avLst/>
          </a:prstGeom>
        </p:spPr>
        <p:txBody>
          <a:bodyPr vert="horz" lIns="91249" tIns="45623" rIns="91249" bIns="45623" rtlCol="0" anchor="ctr"/>
          <a:lstStyle>
            <a:lvl1pPr algn="l">
              <a:defRPr sz="1200">
                <a:solidFill>
                  <a:schemeClr val="tx1">
                    <a:tint val="75000"/>
                  </a:schemeClr>
                </a:solidFill>
              </a:defRPr>
            </a:lvl1pPr>
          </a:lstStyle>
          <a:p>
            <a:pPr defTabSz="912491"/>
            <a:fld id="{E4FA1864-10DF-4F57-AD50-523C627EDA7F}" type="datetimeFigureOut">
              <a:rPr lang="en-US" smtClean="0">
                <a:solidFill>
                  <a:prstClr val="black">
                    <a:tint val="75000"/>
                  </a:prstClr>
                </a:solidFill>
                <a:cs typeface="Arial" charset="0"/>
                <a:sym typeface="Arial" charset="0"/>
              </a:rPr>
              <a:pPr defTabSz="912491"/>
              <a:t>9/15/2021</a:t>
            </a:fld>
            <a:endParaRPr lang="en-US">
              <a:solidFill>
                <a:prstClr val="black">
                  <a:tint val="75000"/>
                </a:prstClr>
              </a:solidFill>
              <a:cs typeface="Arial" charset="0"/>
              <a:sym typeface="Arial" charset="0"/>
            </a:endParaRPr>
          </a:p>
        </p:txBody>
      </p:sp>
      <p:sp>
        <p:nvSpPr>
          <p:cNvPr id="5" name="Footer Placeholder 4"/>
          <p:cNvSpPr>
            <a:spLocks noGrp="1"/>
          </p:cNvSpPr>
          <p:nvPr>
            <p:ph type="ftr" sz="quarter" idx="3"/>
          </p:nvPr>
        </p:nvSpPr>
        <p:spPr>
          <a:xfrm>
            <a:off x="3124200" y="5297297"/>
            <a:ext cx="2895600" cy="304271"/>
          </a:xfrm>
          <a:prstGeom prst="rect">
            <a:avLst/>
          </a:prstGeom>
        </p:spPr>
        <p:txBody>
          <a:bodyPr vert="horz" lIns="91249" tIns="45623" rIns="91249" bIns="45623" rtlCol="0" anchor="ctr"/>
          <a:lstStyle>
            <a:lvl1pPr algn="ctr">
              <a:defRPr sz="1200">
                <a:solidFill>
                  <a:schemeClr val="tx1">
                    <a:tint val="75000"/>
                  </a:schemeClr>
                </a:solidFill>
              </a:defRPr>
            </a:lvl1pPr>
          </a:lstStyle>
          <a:p>
            <a:pPr defTabSz="912491"/>
            <a:endParaRPr lang="en-US">
              <a:solidFill>
                <a:prstClr val="black">
                  <a:tint val="75000"/>
                </a:prstClr>
              </a:solidFill>
              <a:cs typeface="Arial" charset="0"/>
              <a:sym typeface="Arial" charset="0"/>
            </a:endParaRPr>
          </a:p>
        </p:txBody>
      </p:sp>
      <p:sp>
        <p:nvSpPr>
          <p:cNvPr id="6" name="Slide Number Placeholder 5"/>
          <p:cNvSpPr>
            <a:spLocks noGrp="1"/>
          </p:cNvSpPr>
          <p:nvPr>
            <p:ph type="sldNum" sz="quarter" idx="4"/>
          </p:nvPr>
        </p:nvSpPr>
        <p:spPr>
          <a:xfrm>
            <a:off x="6553200" y="5297297"/>
            <a:ext cx="2133600" cy="304271"/>
          </a:xfrm>
          <a:prstGeom prst="rect">
            <a:avLst/>
          </a:prstGeom>
        </p:spPr>
        <p:txBody>
          <a:bodyPr vert="horz" lIns="91249" tIns="45623" rIns="91249" bIns="45623" rtlCol="0" anchor="ctr"/>
          <a:lstStyle>
            <a:lvl1pPr algn="r">
              <a:defRPr sz="1200">
                <a:solidFill>
                  <a:schemeClr val="tx1">
                    <a:tint val="75000"/>
                  </a:schemeClr>
                </a:solidFill>
              </a:defRPr>
            </a:lvl1pPr>
          </a:lstStyle>
          <a:p>
            <a:pPr defTabSz="912491"/>
            <a:fld id="{AC772D7E-03FB-4095-8969-6E29B316B4FF}" type="slidenum">
              <a:rPr lang="en-US" smtClean="0">
                <a:solidFill>
                  <a:prstClr val="black">
                    <a:tint val="75000"/>
                  </a:prstClr>
                </a:solidFill>
                <a:cs typeface="Arial" charset="0"/>
                <a:sym typeface="Arial" charset="0"/>
              </a:rPr>
              <a:pPr defTabSz="912491"/>
              <a:t>‹#›</a:t>
            </a:fld>
            <a:endParaRPr lang="en-US">
              <a:solidFill>
                <a:prstClr val="black">
                  <a:tint val="75000"/>
                </a:prstClr>
              </a:solidFill>
              <a:cs typeface="Arial" charset="0"/>
              <a:sym typeface="Arial" charset="0"/>
            </a:endParaRPr>
          </a:p>
        </p:txBody>
      </p:sp>
      <p:sp>
        <p:nvSpPr>
          <p:cNvPr id="7" name="Rectangle 1"/>
          <p:cNvSpPr>
            <a:spLocks noChangeArrowheads="1"/>
          </p:cNvSpPr>
          <p:nvPr/>
        </p:nvSpPr>
        <p:spPr bwMode="auto">
          <a:xfrm>
            <a:off x="0" y="5334000"/>
            <a:ext cx="9144000" cy="381000"/>
          </a:xfrm>
          <a:prstGeom prst="rect">
            <a:avLst/>
          </a:prstGeom>
          <a:solidFill>
            <a:schemeClr val="tx2"/>
          </a:solidFill>
          <a:ln w="9525">
            <a:noFill/>
            <a:miter lim="800000"/>
            <a:headEnd/>
            <a:tailEnd/>
          </a:ln>
        </p:spPr>
        <p:txBody>
          <a:bodyPr lIns="91249" tIns="45623" rIns="91249" bIns="45623"/>
          <a:lstStyle/>
          <a:p>
            <a:pPr defTabSz="912491"/>
            <a:endParaRPr lang="en-US" sz="2400">
              <a:solidFill>
                <a:srgbClr val="000000"/>
              </a:solidFill>
              <a:cs typeface="Arial" charset="0"/>
              <a:sym typeface="Arial" charset="0"/>
            </a:endParaRPr>
          </a:p>
        </p:txBody>
      </p:sp>
      <p:sp>
        <p:nvSpPr>
          <p:cNvPr id="8" name="Line 2"/>
          <p:cNvSpPr>
            <a:spLocks noChangeShapeType="1"/>
          </p:cNvSpPr>
          <p:nvPr/>
        </p:nvSpPr>
        <p:spPr bwMode="auto">
          <a:xfrm>
            <a:off x="0" y="5294985"/>
            <a:ext cx="9144000" cy="1323"/>
          </a:xfrm>
          <a:prstGeom prst="line">
            <a:avLst/>
          </a:prstGeom>
          <a:noFill/>
          <a:ln w="50800">
            <a:solidFill>
              <a:schemeClr val="bg2"/>
            </a:solidFill>
            <a:round/>
            <a:headEnd/>
            <a:tailEnd/>
          </a:ln>
        </p:spPr>
        <p:txBody>
          <a:bodyPr lIns="91249" tIns="45623" rIns="91249" bIns="45623"/>
          <a:lstStyle/>
          <a:p>
            <a:pPr defTabSz="912491"/>
            <a:endParaRPr lang="en-US" sz="2400">
              <a:solidFill>
                <a:srgbClr val="000000"/>
              </a:solidFill>
              <a:cs typeface="Arial" charset="0"/>
              <a:sym typeface="Arial" charset="0"/>
            </a:endParaRPr>
          </a:p>
        </p:txBody>
      </p:sp>
      <p:sp>
        <p:nvSpPr>
          <p:cNvPr id="9" name="Line 5"/>
          <p:cNvSpPr>
            <a:spLocks noChangeShapeType="1"/>
          </p:cNvSpPr>
          <p:nvPr/>
        </p:nvSpPr>
        <p:spPr bwMode="auto">
          <a:xfrm>
            <a:off x="2154" y="1037167"/>
            <a:ext cx="9144000" cy="0"/>
          </a:xfrm>
          <a:prstGeom prst="line">
            <a:avLst/>
          </a:prstGeom>
          <a:noFill/>
          <a:ln w="63500">
            <a:solidFill>
              <a:schemeClr val="bg2"/>
            </a:solidFill>
            <a:round/>
            <a:headEnd/>
            <a:tailEnd/>
          </a:ln>
        </p:spPr>
        <p:txBody>
          <a:bodyPr lIns="91249" tIns="45623" rIns="91249" bIns="45623"/>
          <a:lstStyle/>
          <a:p>
            <a:pPr defTabSz="912491"/>
            <a:endParaRPr lang="en-US" sz="2400">
              <a:solidFill>
                <a:srgbClr val="000000"/>
              </a:solidFill>
              <a:cs typeface="Arial" charset="0"/>
              <a:sym typeface="Arial" charset="0"/>
            </a:endParaRPr>
          </a:p>
        </p:txBody>
      </p:sp>
      <p:pic>
        <p:nvPicPr>
          <p:cNvPr id="11" name="Picture 10" descr="B lyle Schengin.png"/>
          <p:cNvPicPr>
            <a:picLocks noChangeAspect="1"/>
          </p:cNvPicPr>
          <p:nvPr userDrawn="1"/>
        </p:nvPicPr>
        <p:blipFill>
          <a:blip r:embed="rId4" cstate="print"/>
          <a:stretch>
            <a:fillRect/>
          </a:stretch>
        </p:blipFill>
        <p:spPr>
          <a:xfrm>
            <a:off x="457242" y="5362905"/>
            <a:ext cx="3115425" cy="301883"/>
          </a:xfrm>
          <a:prstGeom prst="rect">
            <a:avLst/>
          </a:prstGeom>
          <a:ln>
            <a:noFill/>
          </a:ln>
          <a:effectLst>
            <a:outerShdw blurRad="292100" dist="139700" dir="2700000" algn="tl" rotWithShape="0">
              <a:srgbClr val="333333">
                <a:alpha val="65000"/>
              </a:srgbClr>
            </a:outerShdw>
          </a:effectLst>
        </p:spPr>
      </p:pic>
      <p:sp>
        <p:nvSpPr>
          <p:cNvPr id="12" name="Rectangle 1"/>
          <p:cNvSpPr>
            <a:spLocks noChangeArrowheads="1"/>
          </p:cNvSpPr>
          <p:nvPr userDrawn="1"/>
        </p:nvSpPr>
        <p:spPr bwMode="auto">
          <a:xfrm>
            <a:off x="0" y="5334000"/>
            <a:ext cx="9144000" cy="381000"/>
          </a:xfrm>
          <a:prstGeom prst="rect">
            <a:avLst/>
          </a:prstGeom>
          <a:solidFill>
            <a:schemeClr val="tx2"/>
          </a:solidFill>
          <a:ln w="9525">
            <a:noFill/>
            <a:miter lim="800000"/>
            <a:headEnd/>
            <a:tailEnd/>
          </a:ln>
        </p:spPr>
        <p:txBody>
          <a:bodyPr lIns="91249" tIns="45623" rIns="91249" bIns="45623"/>
          <a:lstStyle/>
          <a:p>
            <a:pPr defTabSz="912491"/>
            <a:endParaRPr lang="en-US" sz="2400">
              <a:solidFill>
                <a:srgbClr val="000000"/>
              </a:solidFill>
              <a:cs typeface="Arial" charset="0"/>
              <a:sym typeface="Arial" charset="0"/>
            </a:endParaRPr>
          </a:p>
        </p:txBody>
      </p:sp>
      <p:pic>
        <p:nvPicPr>
          <p:cNvPr id="13" name="Picture 12" descr="B lyle Schengin.png"/>
          <p:cNvPicPr>
            <a:picLocks noChangeAspect="1"/>
          </p:cNvPicPr>
          <p:nvPr userDrawn="1"/>
        </p:nvPicPr>
        <p:blipFill>
          <a:blip r:embed="rId4" cstate="print"/>
          <a:stretch>
            <a:fillRect/>
          </a:stretch>
        </p:blipFill>
        <p:spPr>
          <a:xfrm>
            <a:off x="457225" y="5362884"/>
            <a:ext cx="2590775" cy="30188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5351020"/>
      </p:ext>
    </p:extLst>
  </p:cSld>
  <p:clrMap bg1="lt1" tx1="dk1" bg2="lt2" tx2="dk2" accent1="accent1" accent2="accent2" accent3="accent3" accent4="accent4" accent5="accent5" accent6="accent6" hlink="hlink" folHlink="folHlink"/>
  <p:sldLayoutIdLst>
    <p:sldLayoutId id="2147483990" r:id="rId1"/>
    <p:sldLayoutId id="2147484002" r:id="rId2"/>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hf hdr="0" ftr="0" dt="0"/>
  <p:txStyles>
    <p:titleStyle>
      <a:lvl1pPr algn="l" defTabSz="912491" rtl="0" eaLnBrk="1" latinLnBrk="0" hangingPunct="1">
        <a:spcBef>
          <a:spcPct val="0"/>
        </a:spcBef>
        <a:buNone/>
        <a:defRPr sz="3200" b="1" kern="1200">
          <a:solidFill>
            <a:schemeClr val="tx2"/>
          </a:solidFill>
          <a:latin typeface="Times"/>
          <a:ea typeface="+mj-ea"/>
          <a:cs typeface="Times"/>
        </a:defRPr>
      </a:lvl1pPr>
    </p:titleStyle>
    <p:bodyStyle>
      <a:lvl1pPr marL="228124" indent="-228124" algn="l" defTabSz="912491" rtl="0" eaLnBrk="1" latinLnBrk="0" hangingPunct="1">
        <a:spcBef>
          <a:spcPts val="0"/>
        </a:spcBef>
        <a:spcAft>
          <a:spcPts val="1200"/>
        </a:spcAft>
        <a:buClr>
          <a:schemeClr val="accent1"/>
        </a:buClr>
        <a:buFont typeface="Arial" pitchFamily="34" charset="0"/>
        <a:buChar char="•"/>
        <a:defRPr sz="2400" kern="1200">
          <a:solidFill>
            <a:schemeClr val="tx1"/>
          </a:solidFill>
          <a:latin typeface="Helvetica"/>
          <a:ea typeface="+mn-ea"/>
          <a:cs typeface="Helvetica"/>
        </a:defRPr>
      </a:lvl1pPr>
      <a:lvl2pPr marL="684372" indent="-228124" algn="l" defTabSz="912491" rtl="0" eaLnBrk="1" latinLnBrk="0" hangingPunct="1">
        <a:spcBef>
          <a:spcPts val="0"/>
        </a:spcBef>
        <a:spcAft>
          <a:spcPts val="1200"/>
        </a:spcAft>
        <a:buClr>
          <a:schemeClr val="accent1"/>
        </a:buClr>
        <a:buFont typeface="Arial" pitchFamily="34" charset="0"/>
        <a:buChar char="–"/>
        <a:defRPr sz="2000" kern="1200">
          <a:solidFill>
            <a:schemeClr val="tx1"/>
          </a:solidFill>
          <a:latin typeface="Helvetica"/>
          <a:ea typeface="+mn-ea"/>
          <a:cs typeface="Helvetica"/>
        </a:defRPr>
      </a:lvl2pPr>
      <a:lvl3pPr marL="1140614" indent="-228124" algn="l" defTabSz="912491" rtl="0" eaLnBrk="1" latinLnBrk="0" hangingPunct="1">
        <a:spcBef>
          <a:spcPts val="0"/>
        </a:spcBef>
        <a:spcAft>
          <a:spcPts val="1200"/>
        </a:spcAft>
        <a:buClr>
          <a:schemeClr val="accent1"/>
        </a:buClr>
        <a:buFont typeface="Arial" pitchFamily="34" charset="0"/>
        <a:buChar char="•"/>
        <a:defRPr sz="1800" kern="1200">
          <a:solidFill>
            <a:schemeClr val="tx1"/>
          </a:solidFill>
          <a:latin typeface="Helvetica"/>
          <a:ea typeface="+mn-ea"/>
          <a:cs typeface="Helvetica"/>
        </a:defRPr>
      </a:lvl3pPr>
      <a:lvl4pPr marL="1596856" indent="-228124" algn="l" defTabSz="912491" rtl="0" eaLnBrk="1" latinLnBrk="0" hangingPunct="1">
        <a:spcBef>
          <a:spcPts val="0"/>
        </a:spcBef>
        <a:spcAft>
          <a:spcPts val="1200"/>
        </a:spcAft>
        <a:buClr>
          <a:schemeClr val="accent1"/>
        </a:buClr>
        <a:buFont typeface="Arial" pitchFamily="34" charset="0"/>
        <a:buChar char="–"/>
        <a:defRPr sz="1600" kern="1200">
          <a:solidFill>
            <a:schemeClr val="tx1"/>
          </a:solidFill>
          <a:latin typeface="Helvetica"/>
          <a:ea typeface="+mn-ea"/>
          <a:cs typeface="Helvetica"/>
        </a:defRPr>
      </a:lvl4pPr>
      <a:lvl5pPr marL="2053103" indent="-228124" algn="l" defTabSz="912491" rtl="0" eaLnBrk="1" latinLnBrk="0" hangingPunct="1">
        <a:spcBef>
          <a:spcPts val="0"/>
        </a:spcBef>
        <a:spcAft>
          <a:spcPts val="1200"/>
        </a:spcAft>
        <a:buClr>
          <a:schemeClr val="accent1"/>
        </a:buClr>
        <a:buFont typeface="Arial" pitchFamily="34" charset="0"/>
        <a:buChar char="»"/>
        <a:defRPr sz="1400" kern="1200">
          <a:solidFill>
            <a:schemeClr val="tx1"/>
          </a:solidFill>
          <a:latin typeface="Helvetica"/>
          <a:ea typeface="+mn-ea"/>
          <a:cs typeface="Helvetica"/>
        </a:defRPr>
      </a:lvl5pPr>
      <a:lvl6pPr marL="2509348" indent="-228124" algn="l" defTabSz="91249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5592" indent="-228124" algn="l" defTabSz="91249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1841" indent="-228124" algn="l" defTabSz="91249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8085" indent="-228124" algn="l" defTabSz="912491"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2491" rtl="0" eaLnBrk="1" latinLnBrk="0" hangingPunct="1">
        <a:defRPr sz="1800" kern="1200">
          <a:solidFill>
            <a:schemeClr val="tx1"/>
          </a:solidFill>
          <a:latin typeface="+mn-lt"/>
          <a:ea typeface="+mn-ea"/>
          <a:cs typeface="+mn-cs"/>
        </a:defRPr>
      </a:lvl1pPr>
      <a:lvl2pPr marL="456244" algn="l" defTabSz="912491" rtl="0" eaLnBrk="1" latinLnBrk="0" hangingPunct="1">
        <a:defRPr sz="1800" kern="1200">
          <a:solidFill>
            <a:schemeClr val="tx1"/>
          </a:solidFill>
          <a:latin typeface="+mn-lt"/>
          <a:ea typeface="+mn-ea"/>
          <a:cs typeface="+mn-cs"/>
        </a:defRPr>
      </a:lvl2pPr>
      <a:lvl3pPr marL="912491" algn="l" defTabSz="912491" rtl="0" eaLnBrk="1" latinLnBrk="0" hangingPunct="1">
        <a:defRPr sz="1800" kern="1200">
          <a:solidFill>
            <a:schemeClr val="tx1"/>
          </a:solidFill>
          <a:latin typeface="+mn-lt"/>
          <a:ea typeface="+mn-ea"/>
          <a:cs typeface="+mn-cs"/>
        </a:defRPr>
      </a:lvl3pPr>
      <a:lvl4pPr marL="1368733" algn="l" defTabSz="912491" rtl="0" eaLnBrk="1" latinLnBrk="0" hangingPunct="1">
        <a:defRPr sz="1800" kern="1200">
          <a:solidFill>
            <a:schemeClr val="tx1"/>
          </a:solidFill>
          <a:latin typeface="+mn-lt"/>
          <a:ea typeface="+mn-ea"/>
          <a:cs typeface="+mn-cs"/>
        </a:defRPr>
      </a:lvl4pPr>
      <a:lvl5pPr marL="1824979" algn="l" defTabSz="912491" rtl="0" eaLnBrk="1" latinLnBrk="0" hangingPunct="1">
        <a:defRPr sz="1800" kern="1200">
          <a:solidFill>
            <a:schemeClr val="tx1"/>
          </a:solidFill>
          <a:latin typeface="+mn-lt"/>
          <a:ea typeface="+mn-ea"/>
          <a:cs typeface="+mn-cs"/>
        </a:defRPr>
      </a:lvl5pPr>
      <a:lvl6pPr marL="2281226" algn="l" defTabSz="912491" rtl="0" eaLnBrk="1" latinLnBrk="0" hangingPunct="1">
        <a:defRPr sz="1800" kern="1200">
          <a:solidFill>
            <a:schemeClr val="tx1"/>
          </a:solidFill>
          <a:latin typeface="+mn-lt"/>
          <a:ea typeface="+mn-ea"/>
          <a:cs typeface="+mn-cs"/>
        </a:defRPr>
      </a:lvl6pPr>
      <a:lvl7pPr marL="2737472" algn="l" defTabSz="912491" rtl="0" eaLnBrk="1" latinLnBrk="0" hangingPunct="1">
        <a:defRPr sz="1800" kern="1200">
          <a:solidFill>
            <a:schemeClr val="tx1"/>
          </a:solidFill>
          <a:latin typeface="+mn-lt"/>
          <a:ea typeface="+mn-ea"/>
          <a:cs typeface="+mn-cs"/>
        </a:defRPr>
      </a:lvl7pPr>
      <a:lvl8pPr marL="3193716" algn="l" defTabSz="912491" rtl="0" eaLnBrk="1" latinLnBrk="0" hangingPunct="1">
        <a:defRPr sz="1800" kern="1200">
          <a:solidFill>
            <a:schemeClr val="tx1"/>
          </a:solidFill>
          <a:latin typeface="+mn-lt"/>
          <a:ea typeface="+mn-ea"/>
          <a:cs typeface="+mn-cs"/>
        </a:defRPr>
      </a:lvl8pPr>
      <a:lvl9pPr marL="3649961" algn="l" defTabSz="912491"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9.w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hyperlink" Target="https://www.youtube.com/watch?v=tUf5q28Q1lM" TargetMode="External"/><Relationship Id="rId2" Type="http://schemas.openxmlformats.org/officeDocument/2006/relationships/notesSlide" Target="../notesSlides/notesSlide69.xml"/><Relationship Id="rId1" Type="http://schemas.openxmlformats.org/officeDocument/2006/relationships/slideLayout" Target="../slideLayouts/slideLayout1.xml"/><Relationship Id="rId4" Type="http://schemas.openxmlformats.org/officeDocument/2006/relationships/hyperlink" Target="http://packetlife.net/media/library/9/IS-IS.pdf" TargetMode="External"/></Relationships>
</file>

<file path=ppt/slides/_rels/slide70.xml.rels><?xml version="1.0" encoding="UTF-8" standalone="yes"?>
<Relationships xmlns="http://schemas.openxmlformats.org/package/2006/relationships"><Relationship Id="rId3" Type="http://schemas.openxmlformats.org/officeDocument/2006/relationships/hyperlink" Target="https://www.youtube.com/watch?v=tUf5q28Q1lM" TargetMode="External"/><Relationship Id="rId2" Type="http://schemas.openxmlformats.org/officeDocument/2006/relationships/notesSlide" Target="../notesSlides/notesSlide70.xml"/><Relationship Id="rId1" Type="http://schemas.openxmlformats.org/officeDocument/2006/relationships/slideLayout" Target="../slideLayouts/slideLayout1.xml"/><Relationship Id="rId4" Type="http://schemas.openxmlformats.org/officeDocument/2006/relationships/hyperlink" Target="https://www.youtube.com/watch?v=o1k1TlxL5D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81300"/>
            <a:ext cx="8610600" cy="899153"/>
          </a:xfrm>
        </p:spPr>
        <p:txBody>
          <a:bodyPr>
            <a:normAutofit/>
          </a:bodyPr>
          <a:lstStyle/>
          <a:p>
            <a:r>
              <a:rPr lang="en-US" dirty="0" smtClean="0"/>
              <a:t>EETS 8332 Advanced Network Design</a:t>
            </a:r>
            <a:endParaRPr lang="en-US" dirty="0"/>
          </a:p>
        </p:txBody>
      </p:sp>
      <p:sp>
        <p:nvSpPr>
          <p:cNvPr id="6" name="Content Placeholder 5"/>
          <p:cNvSpPr>
            <a:spLocks noGrp="1"/>
          </p:cNvSpPr>
          <p:nvPr>
            <p:ph sz="quarter" idx="10"/>
          </p:nvPr>
        </p:nvSpPr>
        <p:spPr>
          <a:xfrm>
            <a:off x="457208" y="3680453"/>
            <a:ext cx="8229600" cy="1333500"/>
          </a:xfrm>
        </p:spPr>
        <p:txBody>
          <a:bodyPr/>
          <a:lstStyle/>
          <a:p>
            <a:r>
              <a:rPr lang="en-US" sz="2400" dirty="0" smtClean="0"/>
              <a:t>Dr. Scott Kingsley</a:t>
            </a:r>
          </a:p>
        </p:txBody>
      </p:sp>
    </p:spTree>
    <p:extLst>
      <p:ext uri="{BB962C8B-B14F-4D97-AF65-F5344CB8AC3E}">
        <p14:creationId xmlns:p14="http://schemas.microsoft.com/office/powerpoint/2010/main" val="5865377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2</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18366"/>
            <a:ext cx="8229600" cy="3879338"/>
          </a:xfrm>
        </p:spPr>
        <p:txBody>
          <a:bodyPr>
            <a:noAutofit/>
          </a:bodyPr>
          <a:lstStyle/>
          <a:p>
            <a:pPr>
              <a:buFont typeface="Wingdings" panose="05000000000000000000" pitchFamily="2" charset="2"/>
              <a:buChar char="Ø"/>
            </a:pPr>
            <a:r>
              <a:rPr lang="en-US" sz="2000" dirty="0" smtClean="0">
                <a:latin typeface="Verdana" panose="020B0604030504040204" pitchFamily="34" charset="0"/>
                <a:ea typeface="Verdana" panose="020B0604030504040204" pitchFamily="34" charset="0"/>
                <a:cs typeface="Verdana" panose="020B0604030504040204" pitchFamily="34" charset="0"/>
              </a:rPr>
              <a:t>History</a:t>
            </a:r>
          </a:p>
          <a:p>
            <a:pPr lvl="1">
              <a:buFont typeface="Wingdings" panose="05000000000000000000" pitchFamily="2" charset="2"/>
              <a:buChar char="Ø"/>
            </a:pPr>
            <a:r>
              <a:rPr lang="en-US" sz="1600" dirty="0" smtClean="0">
                <a:latin typeface="Verdana" panose="020B0604030504040204" pitchFamily="34" charset="0"/>
                <a:ea typeface="Verdana" panose="020B0604030504040204" pitchFamily="34" charset="0"/>
                <a:cs typeface="Verdana" panose="020B0604030504040204" pitchFamily="34" charset="0"/>
              </a:rPr>
              <a:t>IS- </a:t>
            </a:r>
            <a:r>
              <a:rPr lang="en-US" sz="1600" dirty="0">
                <a:latin typeface="Verdana" panose="020B0604030504040204" pitchFamily="34" charset="0"/>
                <a:ea typeface="Verdana" panose="020B0604030504040204" pitchFamily="34" charset="0"/>
                <a:cs typeface="Verdana" panose="020B0604030504040204" pitchFamily="34" charset="0"/>
              </a:rPr>
              <a:t>IS stands for Intermediate System to Intermediate System</a:t>
            </a:r>
          </a:p>
          <a:p>
            <a:pPr lvl="1">
              <a:buFont typeface="Wingdings" panose="05000000000000000000" pitchFamily="2" charset="2"/>
              <a:buChar char="Ø"/>
            </a:pPr>
            <a:r>
              <a:rPr lang="en-US" sz="1600" dirty="0">
                <a:latin typeface="Verdana" panose="020B0604030504040204" pitchFamily="34" charset="0"/>
                <a:ea typeface="Verdana" panose="020B0604030504040204" pitchFamily="34" charset="0"/>
                <a:cs typeface="Verdana" panose="020B0604030504040204" pitchFamily="34" charset="0"/>
              </a:rPr>
              <a:t>IS-IS is the routing protocol for the ISO’s Connectionless Network Protocol (CNLP). It is described in ISO 10589.</a:t>
            </a:r>
          </a:p>
          <a:p>
            <a:pPr lvl="1">
              <a:buFont typeface="Wingdings" panose="05000000000000000000" pitchFamily="2" charset="2"/>
              <a:buChar char="Ø"/>
            </a:pPr>
            <a:r>
              <a:rPr lang="en-US" sz="1600" dirty="0">
                <a:latin typeface="Verdana" panose="020B0604030504040204" pitchFamily="34" charset="0"/>
                <a:ea typeface="Verdana" panose="020B0604030504040204" pitchFamily="34" charset="0"/>
                <a:cs typeface="Verdana" panose="020B0604030504040204" pitchFamily="34" charset="0"/>
              </a:rPr>
              <a:t>Unlike OSPF, which was developed and standardized by the Internet Engineering Task Force (IETF), IS-IS is an ANSI ISO protocol and was originally based on the Digital Equipment Corporation DECNET Phase V Network Technology.</a:t>
            </a:r>
          </a:p>
          <a:p>
            <a:pPr lvl="1">
              <a:buFont typeface="Wingdings" panose="05000000000000000000" pitchFamily="2" charset="2"/>
              <a:buChar char="Ø"/>
            </a:pPr>
            <a:r>
              <a:rPr lang="en-US" sz="1600" dirty="0">
                <a:latin typeface="Verdana" panose="020B0604030504040204" pitchFamily="34" charset="0"/>
                <a:ea typeface="Verdana" panose="020B0604030504040204" pitchFamily="34" charset="0"/>
                <a:cs typeface="Verdana" panose="020B0604030504040204" pitchFamily="34" charset="0"/>
              </a:rPr>
              <a:t>To support the predicted transition from TCP/IP to OSI, an extension to IS-IS, known as Integrated IS-IS was proposed in RFC 1195</a:t>
            </a:r>
          </a:p>
          <a:p>
            <a:pPr lvl="1">
              <a:buFont typeface="Wingdings" panose="05000000000000000000" pitchFamily="2" charset="2"/>
              <a:buChar char="Ø"/>
            </a:pPr>
            <a:r>
              <a:rPr lang="en-US" sz="1600" dirty="0">
                <a:latin typeface="Verdana" panose="020B0604030504040204" pitchFamily="34" charset="0"/>
                <a:ea typeface="Verdana" panose="020B0604030504040204" pitchFamily="34" charset="0"/>
                <a:cs typeface="Verdana" panose="020B0604030504040204" pitchFamily="34" charset="0"/>
              </a:rPr>
              <a:t>The purpose of Integrated IS-IS, also known as Dual IS-IS, was to provide a single routing protocol with the capabilities of routing both CLNP and IP.</a:t>
            </a:r>
          </a:p>
          <a:p>
            <a:pPr lvl="1">
              <a:buFont typeface="Wingdings" panose="05000000000000000000" pitchFamily="2" charset="2"/>
              <a:buChar char="Ø"/>
            </a:pPr>
            <a:r>
              <a:rPr lang="en-US" sz="1600" dirty="0">
                <a:latin typeface="Verdana" panose="020B0604030504040204" pitchFamily="34" charset="0"/>
                <a:ea typeface="Verdana" panose="020B0604030504040204" pitchFamily="34" charset="0"/>
                <a:cs typeface="Verdana" panose="020B0604030504040204" pitchFamily="34" charset="0"/>
              </a:rPr>
              <a:t>Predominantly used in ISP environment.</a:t>
            </a:r>
          </a:p>
        </p:txBody>
      </p:sp>
    </p:spTree>
    <p:extLst>
      <p:ext uri="{BB962C8B-B14F-4D97-AF65-F5344CB8AC3E}">
        <p14:creationId xmlns:p14="http://schemas.microsoft.com/office/powerpoint/2010/main" val="38980126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3</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18366"/>
            <a:ext cx="8229600" cy="3879338"/>
          </a:xfrm>
        </p:spPr>
        <p:txBody>
          <a:bodyPr>
            <a:noAutofit/>
          </a:bodyPr>
          <a:lstStyle/>
          <a:p>
            <a:pPr>
              <a:buFont typeface="Wingdings" panose="05000000000000000000" pitchFamily="2" charset="2"/>
              <a:buChar char="Ø"/>
            </a:pPr>
            <a:r>
              <a:rPr lang="en-US" sz="2800" dirty="0" smtClean="0">
                <a:latin typeface="Verdana" panose="020B0604030504040204" pitchFamily="34" charset="0"/>
                <a:ea typeface="Verdana" panose="020B0604030504040204" pitchFamily="34" charset="0"/>
                <a:cs typeface="Verdana" panose="020B0604030504040204" pitchFamily="34" charset="0"/>
              </a:rPr>
              <a:t>Introduction</a:t>
            </a:r>
          </a:p>
          <a:p>
            <a:pPr lvl="1">
              <a:buFont typeface="Wingdings" panose="05000000000000000000" pitchFamily="2" charset="2"/>
              <a:buChar char="Ø"/>
            </a:pPr>
            <a:r>
              <a:rPr lang="en-US" sz="1600" dirty="0">
                <a:latin typeface="Verdana" panose="020B0604030504040204" pitchFamily="34" charset="0"/>
                <a:ea typeface="Verdana" panose="020B0604030504040204" pitchFamily="34" charset="0"/>
                <a:cs typeface="Verdana" panose="020B0604030504040204" pitchFamily="34" charset="0"/>
              </a:rPr>
              <a:t>IS-IS is a Link state routing protocol and uses the SPF algorithm for computing best path just like OSPF.</a:t>
            </a:r>
          </a:p>
          <a:p>
            <a:pPr lvl="1">
              <a:buFont typeface="Wingdings" panose="05000000000000000000" pitchFamily="2" charset="2"/>
              <a:buChar char="Ø"/>
            </a:pPr>
            <a:r>
              <a:rPr lang="en-US" sz="1600" dirty="0">
                <a:latin typeface="Verdana" panose="020B0604030504040204" pitchFamily="34" charset="0"/>
                <a:ea typeface="Verdana" panose="020B0604030504040204" pitchFamily="34" charset="0"/>
                <a:cs typeface="Verdana" panose="020B0604030504040204" pitchFamily="34" charset="0"/>
              </a:rPr>
              <a:t>IS-IS is an IGP used for routing within a single administrative domain.</a:t>
            </a:r>
          </a:p>
          <a:p>
            <a:pPr lvl="1">
              <a:buFont typeface="Wingdings" panose="05000000000000000000" pitchFamily="2" charset="2"/>
              <a:buChar char="Ø"/>
            </a:pPr>
            <a:r>
              <a:rPr lang="en-US" sz="1600" dirty="0">
                <a:latin typeface="Verdana" panose="020B0604030504040204" pitchFamily="34" charset="0"/>
                <a:ea typeface="Verdana" panose="020B0604030504040204" pitchFamily="34" charset="0"/>
                <a:cs typeface="Verdana" panose="020B0604030504040204" pitchFamily="34" charset="0"/>
              </a:rPr>
              <a:t>It may be used as an IGP to support IP as well as OSI. This allows a single routing protocol to be used to support pure IP environments, pure OSI environments, and dual environments.</a:t>
            </a:r>
          </a:p>
          <a:p>
            <a:pPr lvl="1">
              <a:buFont typeface="Wingdings" panose="05000000000000000000" pitchFamily="2" charset="2"/>
              <a:buChar char="Ø"/>
            </a:pPr>
            <a:r>
              <a:rPr lang="en-US" sz="1600" dirty="0">
                <a:latin typeface="Verdana" panose="020B0604030504040204" pitchFamily="34" charset="0"/>
                <a:ea typeface="Verdana" panose="020B0604030504040204" pitchFamily="34" charset="0"/>
                <a:cs typeface="Verdana" panose="020B0604030504040204" pitchFamily="34" charset="0"/>
              </a:rPr>
              <a:t>Less widely implemented on router platforms</a:t>
            </a:r>
          </a:p>
          <a:p>
            <a:pPr lvl="1">
              <a:buFont typeface="Wingdings" panose="05000000000000000000" pitchFamily="2" charset="2"/>
              <a:buChar char="Ø"/>
            </a:pPr>
            <a:r>
              <a:rPr lang="en-US" sz="1600" dirty="0">
                <a:latin typeface="Verdana" panose="020B0604030504040204" pitchFamily="34" charset="0"/>
                <a:ea typeface="Verdana" panose="020B0604030504040204" pitchFamily="34" charset="0"/>
                <a:cs typeface="Verdana" panose="020B0604030504040204" pitchFamily="34" charset="0"/>
              </a:rPr>
              <a:t>Runs on data link layer, OSPF runs on IP layer</a:t>
            </a:r>
            <a:endParaRPr lang="en-US" sz="2800" dirty="0"/>
          </a:p>
          <a:p>
            <a:pPr lvl="1">
              <a:buFont typeface="Wingdings" panose="05000000000000000000" pitchFamily="2" charset="2"/>
              <a:buChar char="Ø"/>
            </a:pPr>
            <a:r>
              <a:rPr lang="en-US" sz="1600" dirty="0" smtClean="0">
                <a:latin typeface="Verdana" panose="020B0604030504040204" pitchFamily="34" charset="0"/>
                <a:ea typeface="Verdana" panose="020B0604030504040204" pitchFamily="34" charset="0"/>
                <a:cs typeface="Verdana" panose="020B0604030504040204" pitchFamily="34" charset="0"/>
              </a:rPr>
              <a:t>Predominantly </a:t>
            </a:r>
            <a:r>
              <a:rPr lang="en-US" sz="1600" dirty="0">
                <a:latin typeface="Verdana" panose="020B0604030504040204" pitchFamily="34" charset="0"/>
                <a:ea typeface="Verdana" panose="020B0604030504040204" pitchFamily="34" charset="0"/>
                <a:cs typeface="Verdana" panose="020B0604030504040204" pitchFamily="34" charset="0"/>
              </a:rPr>
              <a:t>used in ISP environment.</a:t>
            </a:r>
          </a:p>
        </p:txBody>
      </p:sp>
    </p:spTree>
    <p:extLst>
      <p:ext uri="{BB962C8B-B14F-4D97-AF65-F5344CB8AC3E}">
        <p14:creationId xmlns:p14="http://schemas.microsoft.com/office/powerpoint/2010/main" val="14706454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4</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18366"/>
            <a:ext cx="8229600" cy="3879338"/>
          </a:xfrm>
        </p:spPr>
        <p:txBody>
          <a:bodyPr>
            <a:noAutofit/>
          </a:bodyPr>
          <a:lstStyle/>
          <a:p>
            <a:pPr>
              <a:buFont typeface="Wingdings" panose="05000000000000000000" pitchFamily="2" charset="2"/>
              <a:buChar char="Ø"/>
            </a:pPr>
            <a:r>
              <a:rPr lang="en-US" sz="1800" dirty="0">
                <a:latin typeface="Verdana" panose="020B0604030504040204" pitchFamily="34" charset="0"/>
                <a:ea typeface="Verdana" panose="020B0604030504040204" pitchFamily="34" charset="0"/>
                <a:cs typeface="Verdana" panose="020B0604030504040204" pitchFamily="34" charset="0"/>
              </a:rPr>
              <a:t>ISIS uses Networking Service Access Point( NSAP) addressing scheme avoids dependencies on IP as with OSPF</a:t>
            </a:r>
          </a:p>
          <a:p>
            <a:pPr>
              <a:buFont typeface="Wingdings" panose="05000000000000000000" pitchFamily="2" charset="2"/>
              <a:buChar char="Ø"/>
            </a:pPr>
            <a:r>
              <a:rPr lang="en-US" sz="1800" dirty="0">
                <a:latin typeface="Verdana" panose="020B0604030504040204" pitchFamily="34" charset="0"/>
                <a:ea typeface="Verdana" panose="020B0604030504040204" pitchFamily="34" charset="0"/>
                <a:cs typeface="Verdana" panose="020B0604030504040204" pitchFamily="34" charset="0"/>
              </a:rPr>
              <a:t>Suits ISPs with “stringy” networks, diverse infrastructure, </a:t>
            </a:r>
            <a:r>
              <a:rPr lang="en-US" sz="1800" dirty="0" err="1">
                <a:latin typeface="Verdana" panose="020B0604030504040204" pitchFamily="34" charset="0"/>
                <a:ea typeface="Verdana" panose="020B0604030504040204" pitchFamily="34" charset="0"/>
                <a:cs typeface="Verdana" panose="020B0604030504040204" pitchFamily="34" charset="0"/>
              </a:rPr>
              <a:t>etc</a:t>
            </a:r>
            <a:r>
              <a:rPr lang="en-US" sz="1800" dirty="0">
                <a:latin typeface="Verdana" panose="020B0604030504040204" pitchFamily="34" charset="0"/>
                <a:ea typeface="Verdana" panose="020B0604030504040204" pitchFamily="34" charset="0"/>
                <a:cs typeface="Verdana" panose="020B0604030504040204" pitchFamily="34" charset="0"/>
              </a:rPr>
              <a:t>, not fitting central core model of OSPF. More flexible than OSPF, but easier to make mistakes </a:t>
            </a:r>
            <a:r>
              <a:rPr lang="en-US" sz="1800" dirty="0" smtClean="0">
                <a:latin typeface="Verdana" panose="020B0604030504040204" pitchFamily="34" charset="0"/>
                <a:ea typeface="Verdana" panose="020B0604030504040204" pitchFamily="34" charset="0"/>
                <a:cs typeface="Verdana" panose="020B0604030504040204" pitchFamily="34" charset="0"/>
              </a:rPr>
              <a:t>too</a:t>
            </a:r>
            <a:endParaRPr lang="en-US" sz="1800" dirty="0">
              <a:latin typeface="Verdana" panose="020B0604030504040204" pitchFamily="34" charset="0"/>
              <a:ea typeface="Verdana" panose="020B0604030504040204" pitchFamily="34" charset="0"/>
              <a:cs typeface="Verdana" panose="020B0604030504040204" pitchFamily="34" charset="0"/>
            </a:endParaRPr>
          </a:p>
          <a:p>
            <a:pPr>
              <a:buFont typeface="Wingdings" panose="05000000000000000000" pitchFamily="2" charset="2"/>
              <a:buChar char="Ø"/>
            </a:pPr>
            <a:r>
              <a:rPr lang="en-US" sz="1800" dirty="0">
                <a:latin typeface="Verdana" panose="020B0604030504040204" pitchFamily="34" charset="0"/>
                <a:ea typeface="Verdana" panose="020B0604030504040204" pitchFamily="34" charset="0"/>
                <a:cs typeface="Verdana" panose="020B0604030504040204" pitchFamily="34" charset="0"/>
              </a:rPr>
              <a:t>Supports a 2-level hierarchy : level-1 (areas) and level-2 (backbone)</a:t>
            </a:r>
          </a:p>
          <a:p>
            <a:pPr>
              <a:buFont typeface="Wingdings" panose="05000000000000000000" pitchFamily="2" charset="2"/>
              <a:buChar char="Ø"/>
            </a:pPr>
            <a:r>
              <a:rPr lang="en-US" sz="1800" dirty="0">
                <a:latin typeface="Verdana" panose="020B0604030504040204" pitchFamily="34" charset="0"/>
                <a:ea typeface="Verdana" panose="020B0604030504040204" pitchFamily="34" charset="0"/>
                <a:cs typeface="Verdana" panose="020B0604030504040204" pitchFamily="34" charset="0"/>
              </a:rPr>
              <a:t>IS-IS routes have an administrative distance of 115</a:t>
            </a:r>
          </a:p>
          <a:p>
            <a:pPr>
              <a:buFont typeface="Wingdings" panose="05000000000000000000" pitchFamily="2" charset="2"/>
              <a:buChar char="Ø"/>
            </a:pPr>
            <a:r>
              <a:rPr lang="en-US" sz="1800" dirty="0">
                <a:latin typeface="Verdana" panose="020B0604030504040204" pitchFamily="34" charset="0"/>
                <a:ea typeface="Verdana" panose="020B0604030504040204" pitchFamily="34" charset="0"/>
                <a:cs typeface="Verdana" panose="020B0604030504040204" pitchFamily="34" charset="0"/>
              </a:rPr>
              <a:t>IS-IS uses an arbitrary cost for its metric. IS-IS additionally has three optional metrics: delay, expense, and error</a:t>
            </a:r>
          </a:p>
          <a:p>
            <a:pPr>
              <a:buFont typeface="Wingdings" panose="05000000000000000000" pitchFamily="2" charset="2"/>
              <a:buChar char="Ø"/>
            </a:pPr>
            <a:r>
              <a:rPr lang="en-US" sz="1800" dirty="0">
                <a:latin typeface="Verdana" panose="020B0604030504040204" pitchFamily="34" charset="0"/>
                <a:ea typeface="Verdana" panose="020B0604030504040204" pitchFamily="34" charset="0"/>
                <a:cs typeface="Verdana" panose="020B0604030504040204" pitchFamily="34" charset="0"/>
              </a:rPr>
              <a:t>IS-IS has no hop-count limit</a:t>
            </a:r>
            <a:r>
              <a:rPr lang="en-US" sz="3200" dirty="0">
                <a:latin typeface="Verdana" panose="020B0604030504040204" pitchFamily="34" charset="0"/>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32272677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5</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18366"/>
            <a:ext cx="8229600" cy="3879338"/>
          </a:xfrm>
        </p:spPr>
        <p:txBody>
          <a:bodyPr>
            <a:noAutofit/>
          </a:bodyPr>
          <a:lstStyle/>
          <a:p>
            <a:pPr defTabSz="914400" eaLnBrk="0" fontAlgn="base" hangingPunct="0">
              <a:spcBef>
                <a:spcPct val="0"/>
              </a:spcBef>
              <a:spcAft>
                <a:spcPct val="0"/>
              </a:spcAft>
              <a:buClrTx/>
            </a:pPr>
            <a:r>
              <a:rPr lang="en-US" altLang="en-US" sz="1600" dirty="0">
                <a:latin typeface="Arial Unicode MS" panose="020B0604020202020204" pitchFamily="34" charset="-128"/>
              </a:rPr>
              <a:t>There are two main methods that are available for routing protocols to support dual OSI and IP routers. </a:t>
            </a:r>
            <a:endParaRPr lang="en-US" altLang="en-US" sz="1600" dirty="0" smtClean="0">
              <a:latin typeface="Arial Unicode MS" panose="020B0604020202020204" pitchFamily="34" charset="-128"/>
            </a:endParaRPr>
          </a:p>
          <a:p>
            <a:pPr defTabSz="914400" eaLnBrk="0" fontAlgn="base" hangingPunct="0">
              <a:spcBef>
                <a:spcPct val="0"/>
              </a:spcBef>
              <a:spcAft>
                <a:spcPct val="0"/>
              </a:spcAft>
              <a:buClrTx/>
            </a:pPr>
            <a:r>
              <a:rPr lang="en-US" altLang="en-US" sz="1600" dirty="0" smtClean="0">
                <a:latin typeface="Arial Unicode MS" panose="020B0604020202020204" pitchFamily="34" charset="-128"/>
              </a:rPr>
              <a:t>One </a:t>
            </a:r>
            <a:r>
              <a:rPr lang="en-US" altLang="en-US" sz="1600" dirty="0">
                <a:latin typeface="Arial Unicode MS" panose="020B0604020202020204" pitchFamily="34" charset="-128"/>
              </a:rPr>
              <a:t>method, known as "Ships in the Night", makes use of completely independent routing protocols for each of the two protocol suites. A</a:t>
            </a:r>
            <a:r>
              <a:rPr lang="en-US" altLang="en-US" sz="1600" dirty="0" smtClean="0">
                <a:latin typeface="Arial Unicode MS" panose="020B0604020202020204" pitchFamily="34" charset="-128"/>
              </a:rPr>
              <a:t>n </a:t>
            </a:r>
            <a:r>
              <a:rPr lang="en-US" altLang="en-US" sz="1600" dirty="0">
                <a:latin typeface="Arial Unicode MS" panose="020B0604020202020204" pitchFamily="34" charset="-128"/>
              </a:rPr>
              <a:t>alternate </a:t>
            </a:r>
            <a:r>
              <a:rPr lang="en-US" altLang="en-US" sz="1600" dirty="0" smtClean="0">
                <a:latin typeface="Arial Unicode MS" panose="020B0604020202020204" pitchFamily="34" charset="-128"/>
              </a:rPr>
              <a:t>approach is more prevalent which </a:t>
            </a:r>
            <a:r>
              <a:rPr lang="en-US" altLang="en-US" sz="1600" dirty="0">
                <a:latin typeface="Arial Unicode MS" panose="020B0604020202020204" pitchFamily="34" charset="-128"/>
              </a:rPr>
              <a:t>makes use of a single integrated protocol for interior routing (i.e., for calculating routes within a routing domain) for both protocol </a:t>
            </a:r>
            <a:r>
              <a:rPr lang="en-US" altLang="en-US" sz="1600" dirty="0" smtClean="0">
                <a:latin typeface="Arial Unicode MS" panose="020B0604020202020204" pitchFamily="34" charset="-128"/>
              </a:rPr>
              <a:t>suites.</a:t>
            </a:r>
          </a:p>
          <a:p>
            <a:pPr lvl="0" defTabSz="914400" eaLnBrk="0" fontAlgn="base" hangingPunct="0">
              <a:spcBef>
                <a:spcPct val="0"/>
              </a:spcBef>
              <a:spcAft>
                <a:spcPct val="0"/>
              </a:spcAft>
              <a:buClrTx/>
            </a:pPr>
            <a:r>
              <a:rPr lang="en-US" altLang="en-US" sz="1600" dirty="0">
                <a:latin typeface="Arial Unicode MS" panose="020B0604020202020204" pitchFamily="34" charset="-128"/>
              </a:rPr>
              <a:t>This integrated protocol design is based on the OSI Intra-domain IS- IS routing protocol </a:t>
            </a:r>
            <a:r>
              <a:rPr lang="en-US" altLang="en-US" sz="1600" dirty="0" smtClean="0">
                <a:latin typeface="Arial Unicode MS" panose="020B0604020202020204" pitchFamily="34" charset="-128"/>
              </a:rPr>
              <a:t>with </a:t>
            </a:r>
            <a:r>
              <a:rPr lang="en-US" altLang="en-US" sz="1600" dirty="0">
                <a:latin typeface="Arial Unicode MS" panose="020B0604020202020204" pitchFamily="34" charset="-128"/>
              </a:rPr>
              <a:t>IP-specific functions added. </a:t>
            </a:r>
            <a:endParaRPr lang="en-US" altLang="en-US" sz="1600" dirty="0" smtClean="0">
              <a:latin typeface="Arial Unicode MS" panose="020B0604020202020204" pitchFamily="34" charset="-128"/>
            </a:endParaRPr>
          </a:p>
          <a:p>
            <a:pPr defTabSz="914400" eaLnBrk="0" fontAlgn="base" hangingPunct="0">
              <a:spcBef>
                <a:spcPct val="0"/>
              </a:spcBef>
              <a:spcAft>
                <a:spcPct val="0"/>
              </a:spcAft>
              <a:buClrTx/>
            </a:pPr>
            <a:r>
              <a:rPr lang="en-US" altLang="en-US" sz="1600" dirty="0">
                <a:latin typeface="Arial Unicode MS" panose="020B0604020202020204" pitchFamily="34" charset="-128"/>
              </a:rPr>
              <a:t>By supporting both IP and OSI traffic, this integrated protocol design supports traffic to IP hosts, OSI end systems, and dual end systems. </a:t>
            </a:r>
            <a:endParaRPr lang="en-US" altLang="en-US" sz="1600" dirty="0" smtClean="0">
              <a:latin typeface="Arial Unicode MS" panose="020B0604020202020204" pitchFamily="34" charset="-128"/>
            </a:endParaRPr>
          </a:p>
          <a:p>
            <a:pPr defTabSz="914400" eaLnBrk="0" fontAlgn="base" hangingPunct="0">
              <a:spcBef>
                <a:spcPct val="0"/>
              </a:spcBef>
              <a:spcAft>
                <a:spcPct val="0"/>
              </a:spcAft>
              <a:buClrTx/>
            </a:pPr>
            <a:r>
              <a:rPr lang="en-US" altLang="en-US" sz="1600" dirty="0" smtClean="0">
                <a:latin typeface="Arial Unicode MS" panose="020B0604020202020204" pitchFamily="34" charset="-128"/>
              </a:rPr>
              <a:t>This </a:t>
            </a:r>
            <a:r>
              <a:rPr lang="en-US" altLang="en-US" sz="1600" dirty="0">
                <a:latin typeface="Arial Unicode MS" panose="020B0604020202020204" pitchFamily="34" charset="-128"/>
              </a:rPr>
              <a:t>approach is "integrated" in the sense that the IS-IS protocol can be used to support pure-IP environments, pure-OSI environments, and dual environments. In addition, this approach allows interconnection of dual (IP and OSI) routing domains with other dual domains, with IP-only domains, and with OSI-only domains.</a:t>
            </a:r>
            <a:r>
              <a:rPr lang="en-US" altLang="en-US" sz="1200" dirty="0"/>
              <a:t> </a:t>
            </a:r>
            <a:endParaRPr lang="en-US" altLang="en-US" sz="3600" dirty="0">
              <a:latin typeface="Arial" panose="020B0604020202020204" pitchFamily="34" charset="0"/>
            </a:endParaRPr>
          </a:p>
          <a:p>
            <a:pPr lvl="0" defTabSz="914400" eaLnBrk="0" fontAlgn="base" hangingPunct="0">
              <a:spcBef>
                <a:spcPct val="0"/>
              </a:spcBef>
              <a:spcAft>
                <a:spcPct val="0"/>
              </a:spcAft>
              <a:buClrTx/>
            </a:pPr>
            <a:endParaRPr lang="en-US" altLang="en-US" sz="1600" dirty="0" smtClean="0">
              <a:latin typeface="Arial Unicode MS" panose="020B0604020202020204" pitchFamily="34" charset="-128"/>
            </a:endParaRPr>
          </a:p>
          <a:p>
            <a:pPr lvl="0" defTabSz="914400" eaLnBrk="0" fontAlgn="base" hangingPunct="0">
              <a:spcBef>
                <a:spcPct val="0"/>
              </a:spcBef>
              <a:spcAft>
                <a:spcPct val="0"/>
              </a:spcAft>
              <a:buClrTx/>
            </a:pPr>
            <a:endParaRPr lang="en-US" altLang="en-US" sz="1600" dirty="0" smtClean="0">
              <a:latin typeface="Arial Unicode MS" panose="020B0604020202020204" pitchFamily="34" charset="-128"/>
            </a:endParaRPr>
          </a:p>
          <a:p>
            <a:pPr defTabSz="914400" eaLnBrk="0" fontAlgn="base" hangingPunct="0">
              <a:spcBef>
                <a:spcPct val="0"/>
              </a:spcBef>
              <a:spcAft>
                <a:spcPct val="0"/>
              </a:spcAft>
              <a:buClrTx/>
            </a:pPr>
            <a:endParaRPr lang="en-US" altLang="en-US" sz="1200" dirty="0" smtClean="0"/>
          </a:p>
          <a:p>
            <a:pPr defTabSz="914400" eaLnBrk="0" fontAlgn="base" hangingPunct="0">
              <a:spcBef>
                <a:spcPct val="0"/>
              </a:spcBef>
              <a:spcAft>
                <a:spcPct val="0"/>
              </a:spcAft>
              <a:buClrTx/>
            </a:pPr>
            <a:endParaRPr lang="en-US" altLang="en-US" sz="3600" dirty="0">
              <a:latin typeface="Arial" panose="020B0604020202020204" pitchFamily="34" charset="0"/>
            </a:endParaRPr>
          </a:p>
        </p:txBody>
      </p:sp>
      <p:sp>
        <p:nvSpPr>
          <p:cNvPr id="3"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607671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6</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18366"/>
            <a:ext cx="8229600" cy="3879338"/>
          </a:xfrm>
        </p:spPr>
        <p:txBody>
          <a:bodyPr>
            <a:noAutofit/>
          </a:bodyPr>
          <a:lstStyle/>
          <a:p>
            <a:pPr defTabSz="914400" eaLnBrk="0" fontAlgn="base" hangingPunct="0">
              <a:spcBef>
                <a:spcPct val="0"/>
              </a:spcBef>
              <a:spcAft>
                <a:spcPct val="0"/>
              </a:spcAft>
              <a:buClrTx/>
            </a:pPr>
            <a:r>
              <a:rPr lang="en-US" altLang="en-US" sz="2000" dirty="0">
                <a:latin typeface="Arial Unicode MS" panose="020B0604020202020204" pitchFamily="34" charset="-128"/>
              </a:rPr>
              <a:t>This approach does not change the way that IP </a:t>
            </a:r>
            <a:r>
              <a:rPr lang="en-US" altLang="en-US" sz="2000" dirty="0" smtClean="0">
                <a:latin typeface="Arial Unicode MS" panose="020B0604020202020204" pitchFamily="34" charset="-128"/>
              </a:rPr>
              <a:t>or OSI packets </a:t>
            </a:r>
            <a:r>
              <a:rPr lang="en-US" altLang="en-US" sz="2000" dirty="0">
                <a:latin typeface="Arial Unicode MS" panose="020B0604020202020204" pitchFamily="34" charset="-128"/>
              </a:rPr>
              <a:t>are handled.</a:t>
            </a:r>
            <a:r>
              <a:rPr lang="en-US" altLang="en-US" sz="2000" dirty="0"/>
              <a:t> </a:t>
            </a:r>
            <a:endParaRPr lang="en-US" altLang="en-US" sz="2000" dirty="0" smtClean="0"/>
          </a:p>
          <a:p>
            <a:pPr lvl="0" defTabSz="914400" eaLnBrk="0" fontAlgn="base" hangingPunct="0">
              <a:spcBef>
                <a:spcPct val="0"/>
              </a:spcBef>
              <a:spcAft>
                <a:spcPct val="0"/>
              </a:spcAft>
              <a:buClrTx/>
            </a:pPr>
            <a:r>
              <a:rPr lang="en-US" altLang="en-US" sz="2000" dirty="0" smtClean="0">
                <a:latin typeface="Arial Unicode MS" panose="020B0604020202020204" pitchFamily="34" charset="-128"/>
              </a:rPr>
              <a:t>It makes </a:t>
            </a:r>
            <a:r>
              <a:rPr lang="en-US" altLang="en-US" sz="2000" dirty="0">
                <a:latin typeface="Arial Unicode MS" panose="020B0604020202020204" pitchFamily="34" charset="-128"/>
              </a:rPr>
              <a:t>use of the existing IS-IS packets, with IP- specific fields added. </a:t>
            </a:r>
            <a:endParaRPr lang="en-US" altLang="en-US" sz="2000" dirty="0">
              <a:latin typeface="Arial" panose="020B0604020202020204" pitchFamily="34" charset="0"/>
            </a:endParaRPr>
          </a:p>
          <a:p>
            <a:pPr defTabSz="914400" eaLnBrk="0" fontAlgn="base" hangingPunct="0">
              <a:spcBef>
                <a:spcPct val="0"/>
              </a:spcBef>
              <a:spcAft>
                <a:spcPct val="0"/>
              </a:spcAft>
              <a:buClrTx/>
            </a:pPr>
            <a:endParaRPr lang="en-US" altLang="en-US" sz="2000" dirty="0"/>
          </a:p>
          <a:p>
            <a:pPr defTabSz="914400" eaLnBrk="0" fontAlgn="base" hangingPunct="0">
              <a:spcBef>
                <a:spcPct val="0"/>
              </a:spcBef>
              <a:spcAft>
                <a:spcPct val="0"/>
              </a:spcAft>
              <a:buClrTx/>
            </a:pPr>
            <a:endParaRPr lang="en-US" altLang="en-US" sz="2000" dirty="0">
              <a:latin typeface="Arial" panose="020B0604020202020204" pitchFamily="34" charset="0"/>
            </a:endParaRPr>
          </a:p>
          <a:p>
            <a:pPr lvl="0" defTabSz="914400" eaLnBrk="0" fontAlgn="base" hangingPunct="0">
              <a:spcBef>
                <a:spcPct val="0"/>
              </a:spcBef>
              <a:spcAft>
                <a:spcPct val="0"/>
              </a:spcAft>
              <a:buClrTx/>
            </a:pPr>
            <a:endParaRPr lang="en-US" altLang="en-US" sz="1600" dirty="0" smtClean="0">
              <a:latin typeface="Arial Unicode MS" panose="020B0604020202020204" pitchFamily="34" charset="-128"/>
            </a:endParaRPr>
          </a:p>
          <a:p>
            <a:pPr lvl="0" defTabSz="914400" eaLnBrk="0" fontAlgn="base" hangingPunct="0">
              <a:spcBef>
                <a:spcPct val="0"/>
              </a:spcBef>
              <a:spcAft>
                <a:spcPct val="0"/>
              </a:spcAft>
              <a:buClrTx/>
            </a:pPr>
            <a:endParaRPr lang="en-US" altLang="en-US" sz="1600" dirty="0" smtClean="0">
              <a:latin typeface="Arial Unicode MS" panose="020B0604020202020204" pitchFamily="34" charset="-128"/>
            </a:endParaRPr>
          </a:p>
          <a:p>
            <a:pPr defTabSz="914400" eaLnBrk="0" fontAlgn="base" hangingPunct="0">
              <a:spcBef>
                <a:spcPct val="0"/>
              </a:spcBef>
              <a:spcAft>
                <a:spcPct val="0"/>
              </a:spcAft>
              <a:buClrTx/>
            </a:pPr>
            <a:endParaRPr lang="en-US" altLang="en-US" sz="1200" dirty="0" smtClean="0"/>
          </a:p>
          <a:p>
            <a:pPr defTabSz="914400" eaLnBrk="0" fontAlgn="base" hangingPunct="0">
              <a:spcBef>
                <a:spcPct val="0"/>
              </a:spcBef>
              <a:spcAft>
                <a:spcPct val="0"/>
              </a:spcAft>
              <a:buClrTx/>
            </a:pPr>
            <a:endParaRPr lang="en-US" altLang="en-US" sz="3600" dirty="0">
              <a:latin typeface="Arial" panose="020B0604020202020204" pitchFamily="34" charset="0"/>
            </a:endParaRPr>
          </a:p>
        </p:txBody>
      </p:sp>
      <p:sp>
        <p:nvSpPr>
          <p:cNvPr id="3"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405599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7</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18366"/>
            <a:ext cx="8229600" cy="3879338"/>
          </a:xfrm>
        </p:spPr>
        <p:txBody>
          <a:bodyPr>
            <a:noAutofit/>
          </a:bodyPr>
          <a:lstStyle/>
          <a:p>
            <a:pPr>
              <a:buFont typeface="Wingdings" panose="05000000000000000000" pitchFamily="2" charset="2"/>
              <a:buChar char="Ø"/>
            </a:pPr>
            <a:r>
              <a:rPr lang="en-US" sz="2800" dirty="0" smtClean="0">
                <a:latin typeface="Verdana" panose="020B0604030504040204" pitchFamily="34" charset="0"/>
                <a:ea typeface="Verdana" panose="020B0604030504040204" pitchFamily="34" charset="0"/>
                <a:cs typeface="Verdana" panose="020B0604030504040204" pitchFamily="34" charset="0"/>
              </a:rPr>
              <a:t>IS-IS versus OSPF</a:t>
            </a:r>
          </a:p>
          <a:p>
            <a:pPr>
              <a:buFont typeface="Wingdings" panose="05000000000000000000" pitchFamily="2" charset="2"/>
              <a:buChar char="Ø"/>
            </a:pPr>
            <a:r>
              <a:rPr lang="en-US" sz="2300" dirty="0">
                <a:latin typeface="Verdana" panose="020B0604030504040204" pitchFamily="34" charset="0"/>
                <a:ea typeface="Verdana" panose="020B0604030504040204" pitchFamily="34" charset="0"/>
                <a:cs typeface="Verdana" panose="020B0604030504040204" pitchFamily="34" charset="0"/>
              </a:rPr>
              <a:t>The ISO ( IS-IS) often uses different terms than the IETF (OSPF)  to </a:t>
            </a:r>
            <a:r>
              <a:rPr lang="en-US" sz="2300" dirty="0" smtClean="0">
                <a:latin typeface="Verdana" panose="020B0604030504040204" pitchFamily="34" charset="0"/>
                <a:ea typeface="Verdana" panose="020B0604030504040204" pitchFamily="34" charset="0"/>
                <a:cs typeface="Verdana" panose="020B0604030504040204" pitchFamily="34" charset="0"/>
              </a:rPr>
              <a:t>describe the </a:t>
            </a:r>
            <a:r>
              <a:rPr lang="en-US" sz="2300" dirty="0">
                <a:latin typeface="Verdana" panose="020B0604030504040204" pitchFamily="34" charset="0"/>
                <a:ea typeface="Verdana" panose="020B0604030504040204" pitchFamily="34" charset="0"/>
                <a:cs typeface="Verdana" panose="020B0604030504040204" pitchFamily="34" charset="0"/>
              </a:rPr>
              <a:t>same entities. </a:t>
            </a:r>
            <a:endParaRPr lang="en-US" sz="2300" dirty="0" smtClean="0">
              <a:latin typeface="Verdana" panose="020B0604030504040204" pitchFamily="34" charset="0"/>
              <a:ea typeface="Verdana" panose="020B0604030504040204" pitchFamily="34" charset="0"/>
              <a:cs typeface="Verdana" panose="020B0604030504040204" pitchFamily="34" charset="0"/>
            </a:endParaRPr>
          </a:p>
          <a:p>
            <a:pPr marL="0" indent="0">
              <a:buNone/>
            </a:pPr>
            <a:endParaRPr lang="en-US" sz="19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026711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8</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18366"/>
            <a:ext cx="8229600" cy="3879338"/>
          </a:xfrm>
        </p:spPr>
        <p:txBody>
          <a:bodyPr>
            <a:noAutofit/>
          </a:bodyPr>
          <a:lstStyle/>
          <a:p>
            <a:pPr>
              <a:buFont typeface="Wingdings" panose="05000000000000000000" pitchFamily="2" charset="2"/>
              <a:buChar char="Ø"/>
            </a:pPr>
            <a:r>
              <a:rPr lang="en-US" sz="18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rPr>
              <a:t>IS-IS</a:t>
            </a:r>
            <a:r>
              <a:rPr lang="en-US" sz="14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rPr>
              <a:t> 			</a:t>
            </a:r>
            <a:r>
              <a:rPr lang="en-US" sz="18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rPr>
              <a:t>             </a:t>
            </a:r>
            <a:r>
              <a:rPr lang="en-US" sz="1800" b="1" dirty="0" smtClean="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rPr>
              <a:t> OSPF</a:t>
            </a:r>
            <a:endParaRPr lang="en-US" sz="18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endParaRPr>
          </a:p>
          <a:p>
            <a:r>
              <a:rPr lang="en-US" sz="1400" dirty="0">
                <a:latin typeface="Verdana" panose="020B0604030504040204" pitchFamily="34" charset="0"/>
                <a:ea typeface="Verdana" panose="020B0604030504040204" pitchFamily="34" charset="0"/>
                <a:cs typeface="Verdana" panose="020B0604030504040204" pitchFamily="34" charset="0"/>
              </a:rPr>
              <a:t>End System (ES)			  </a:t>
            </a:r>
            <a:r>
              <a:rPr lang="en-US" sz="1400" dirty="0" smtClean="0">
                <a:latin typeface="Verdana" panose="020B0604030504040204" pitchFamily="34" charset="0"/>
                <a:ea typeface="Verdana" panose="020B0604030504040204" pitchFamily="34" charset="0"/>
                <a:cs typeface="Verdana" panose="020B0604030504040204" pitchFamily="34" charset="0"/>
              </a:rPr>
              <a:t>                </a:t>
            </a:r>
            <a:r>
              <a:rPr lang="en-US" sz="1400" dirty="0">
                <a:latin typeface="Verdana" panose="020B0604030504040204" pitchFamily="34" charset="0"/>
                <a:ea typeface="Verdana" panose="020B0604030504040204" pitchFamily="34" charset="0"/>
                <a:cs typeface="Verdana" panose="020B0604030504040204" pitchFamily="34" charset="0"/>
              </a:rPr>
              <a:t>Host </a:t>
            </a:r>
          </a:p>
          <a:p>
            <a:r>
              <a:rPr lang="en-US" sz="1400" dirty="0">
                <a:latin typeface="Verdana" panose="020B0604030504040204" pitchFamily="34" charset="0"/>
                <a:ea typeface="Verdana" panose="020B0604030504040204" pitchFamily="34" charset="0"/>
                <a:cs typeface="Verdana" panose="020B0604030504040204" pitchFamily="34" charset="0"/>
              </a:rPr>
              <a:t>Intermediate System (IS)		</a:t>
            </a:r>
            <a:r>
              <a:rPr lang="en-US" sz="1400" dirty="0" smtClean="0">
                <a:latin typeface="Verdana" panose="020B0604030504040204" pitchFamily="34" charset="0"/>
                <a:ea typeface="Verdana" panose="020B0604030504040204" pitchFamily="34" charset="0"/>
                <a:cs typeface="Verdana" panose="020B0604030504040204" pitchFamily="34" charset="0"/>
              </a:rPr>
              <a:t>                  </a:t>
            </a:r>
            <a:r>
              <a:rPr lang="en-US" sz="1400" dirty="0">
                <a:latin typeface="Verdana" panose="020B0604030504040204" pitchFamily="34" charset="0"/>
                <a:ea typeface="Verdana" panose="020B0604030504040204" pitchFamily="34" charset="0"/>
                <a:cs typeface="Verdana" panose="020B0604030504040204" pitchFamily="34" charset="0"/>
              </a:rPr>
              <a:t>Router</a:t>
            </a:r>
          </a:p>
          <a:p>
            <a:r>
              <a:rPr lang="en-US" sz="1400" dirty="0">
                <a:latin typeface="Verdana" panose="020B0604030504040204" pitchFamily="34" charset="0"/>
                <a:ea typeface="Verdana" panose="020B0604030504040204" pitchFamily="34" charset="0"/>
                <a:cs typeface="Verdana" panose="020B0604030504040204" pitchFamily="34" charset="0"/>
              </a:rPr>
              <a:t>Circuit				</a:t>
            </a:r>
            <a:r>
              <a:rPr lang="en-US" sz="1400" dirty="0" smtClean="0">
                <a:latin typeface="Verdana" panose="020B0604030504040204" pitchFamily="34" charset="0"/>
                <a:ea typeface="Verdana" panose="020B0604030504040204" pitchFamily="34" charset="0"/>
                <a:cs typeface="Verdana" panose="020B0604030504040204" pitchFamily="34" charset="0"/>
              </a:rPr>
              <a:t>                  </a:t>
            </a:r>
            <a:r>
              <a:rPr lang="en-US" sz="1400" dirty="0">
                <a:latin typeface="Verdana" panose="020B0604030504040204" pitchFamily="34" charset="0"/>
                <a:ea typeface="Verdana" panose="020B0604030504040204" pitchFamily="34" charset="0"/>
                <a:cs typeface="Verdana" panose="020B0604030504040204" pitchFamily="34" charset="0"/>
              </a:rPr>
              <a:t>Link</a:t>
            </a:r>
          </a:p>
          <a:p>
            <a:r>
              <a:rPr lang="en-US" sz="1400" dirty="0">
                <a:latin typeface="Verdana" panose="020B0604030504040204" pitchFamily="34" charset="0"/>
                <a:ea typeface="Verdana" panose="020B0604030504040204" pitchFamily="34" charset="0"/>
                <a:cs typeface="Verdana" panose="020B0604030504040204" pitchFamily="34" charset="0"/>
              </a:rPr>
              <a:t>Packet Data Unit ( PDU)		  </a:t>
            </a:r>
            <a:r>
              <a:rPr lang="en-US" sz="1400" dirty="0" smtClean="0">
                <a:latin typeface="Verdana" panose="020B0604030504040204" pitchFamily="34" charset="0"/>
                <a:ea typeface="Verdana" panose="020B0604030504040204" pitchFamily="34" charset="0"/>
                <a:cs typeface="Verdana" panose="020B0604030504040204" pitchFamily="34" charset="0"/>
              </a:rPr>
              <a:t>                Packet</a:t>
            </a:r>
            <a:endParaRPr lang="en-US" sz="1400" dirty="0">
              <a:latin typeface="Verdana" panose="020B0604030504040204" pitchFamily="34" charset="0"/>
              <a:ea typeface="Verdana" panose="020B0604030504040204" pitchFamily="34" charset="0"/>
              <a:cs typeface="Verdana" panose="020B0604030504040204" pitchFamily="34" charset="0"/>
            </a:endParaRPr>
          </a:p>
          <a:p>
            <a:r>
              <a:rPr lang="en-US" sz="1400" dirty="0">
                <a:latin typeface="Verdana" panose="020B0604030504040204" pitchFamily="34" charset="0"/>
                <a:ea typeface="Verdana" panose="020B0604030504040204" pitchFamily="34" charset="0"/>
                <a:cs typeface="Verdana" panose="020B0604030504040204" pitchFamily="34" charset="0"/>
              </a:rPr>
              <a:t>Designated IS (DIS)                                  </a:t>
            </a:r>
            <a:r>
              <a:rPr lang="en-US" sz="1400" dirty="0" smtClean="0">
                <a:latin typeface="Verdana" panose="020B0604030504040204" pitchFamily="34" charset="0"/>
                <a:ea typeface="Verdana" panose="020B0604030504040204" pitchFamily="34" charset="0"/>
                <a:cs typeface="Verdana" panose="020B0604030504040204" pitchFamily="34" charset="0"/>
              </a:rPr>
              <a:t>          </a:t>
            </a:r>
            <a:r>
              <a:rPr lang="en-US" sz="1400" dirty="0">
                <a:latin typeface="Verdana" panose="020B0604030504040204" pitchFamily="34" charset="0"/>
                <a:ea typeface="Verdana" panose="020B0604030504040204" pitchFamily="34" charset="0"/>
                <a:cs typeface="Verdana" panose="020B0604030504040204" pitchFamily="34" charset="0"/>
              </a:rPr>
              <a:t>Designated Router (DR)</a:t>
            </a:r>
          </a:p>
          <a:p>
            <a:r>
              <a:rPr lang="en-US" sz="1400" dirty="0">
                <a:latin typeface="Verdana" panose="020B0604030504040204" pitchFamily="34" charset="0"/>
                <a:ea typeface="Verdana" panose="020B0604030504040204" pitchFamily="34" charset="0"/>
                <a:cs typeface="Verdana" panose="020B0604030504040204" pitchFamily="34" charset="0"/>
              </a:rPr>
              <a:t>NO BDIS				   BDR</a:t>
            </a:r>
          </a:p>
          <a:p>
            <a:r>
              <a:rPr lang="en-US" sz="1400" dirty="0">
                <a:latin typeface="Verdana" panose="020B0604030504040204" pitchFamily="34" charset="0"/>
                <a:ea typeface="Verdana" panose="020B0604030504040204" pitchFamily="34" charset="0"/>
                <a:cs typeface="Verdana" panose="020B0604030504040204" pitchFamily="34" charset="0"/>
              </a:rPr>
              <a:t>Link-state PDU (LSP) 			   Link-state Advertisement (LSA) </a:t>
            </a:r>
          </a:p>
          <a:p>
            <a:r>
              <a:rPr lang="en-US" sz="1400" dirty="0">
                <a:latin typeface="Verdana" panose="020B0604030504040204" pitchFamily="34" charset="0"/>
                <a:ea typeface="Verdana" panose="020B0604030504040204" pitchFamily="34" charset="0"/>
                <a:cs typeface="Verdana" panose="020B0604030504040204" pitchFamily="34" charset="0"/>
              </a:rPr>
              <a:t>IIH PDU				   Hello Packet 	</a:t>
            </a:r>
          </a:p>
          <a:p>
            <a:r>
              <a:rPr lang="en-US" sz="1400" dirty="0">
                <a:latin typeface="Verdana" panose="020B0604030504040204" pitchFamily="34" charset="0"/>
                <a:ea typeface="Verdana" panose="020B0604030504040204" pitchFamily="34" charset="0"/>
                <a:cs typeface="Verdana" panose="020B0604030504040204" pitchFamily="34" charset="0"/>
              </a:rPr>
              <a:t>Complete sequence number PDU (CSNP)	   Database Description (DBD)	</a:t>
            </a:r>
          </a:p>
          <a:p>
            <a:pPr marL="0" indent="0">
              <a:buNone/>
            </a:pPr>
            <a:r>
              <a:rPr lang="en-US" sz="1400" dirty="0">
                <a:latin typeface="Verdana" panose="020B0604030504040204" pitchFamily="34" charset="0"/>
                <a:ea typeface="Verdana" panose="020B0604030504040204" pitchFamily="34" charset="0"/>
                <a:cs typeface="Verdana" panose="020B0604030504040204" pitchFamily="34" charset="0"/>
              </a:rPr>
              <a:t>	</a:t>
            </a:r>
            <a:endParaRPr lang="en-US" sz="40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494279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9</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18366"/>
            <a:ext cx="8229600" cy="3879338"/>
          </a:xfrm>
        </p:spPr>
        <p:txBody>
          <a:bodyPr>
            <a:noAutofit/>
          </a:bodyPr>
          <a:lstStyle/>
          <a:p>
            <a:pPr marL="0" indent="0">
              <a:buNone/>
            </a:pPr>
            <a:r>
              <a:rPr lang="en-US" sz="14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rPr>
              <a:t> </a:t>
            </a:r>
            <a:r>
              <a:rPr lang="en-US" sz="1400" b="1" dirty="0" smtClean="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rPr>
              <a:t>   </a:t>
            </a:r>
            <a:r>
              <a:rPr lang="en-US" sz="2000" b="1" dirty="0" smtClean="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rPr>
              <a:t>IS-IS </a:t>
            </a:r>
            <a:r>
              <a:rPr lang="en-US" sz="20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rPr>
              <a:t>			   OSPF</a:t>
            </a:r>
            <a:endParaRPr lang="en-US" sz="1400" dirty="0">
              <a:latin typeface="Verdana" panose="020B0604030504040204" pitchFamily="34" charset="0"/>
              <a:ea typeface="Verdana" panose="020B0604030504040204" pitchFamily="34" charset="0"/>
              <a:cs typeface="Verdana" panose="020B0604030504040204" pitchFamily="34" charset="0"/>
            </a:endParaRPr>
          </a:p>
          <a:p>
            <a:pPr>
              <a:lnSpc>
                <a:spcPct val="74000"/>
              </a:lnSpc>
            </a:pPr>
            <a:r>
              <a:rPr lang="en-US" sz="1400" dirty="0">
                <a:latin typeface="Verdana" panose="020B0604030504040204" pitchFamily="34" charset="0"/>
                <a:ea typeface="Verdana" panose="020B0604030504040204" pitchFamily="34" charset="0"/>
                <a:cs typeface="Verdana" panose="020B0604030504040204" pitchFamily="34" charset="0"/>
              </a:rPr>
              <a:t>Sub-Domain Area	               </a:t>
            </a:r>
            <a:r>
              <a:rPr lang="en-US" sz="1400" dirty="0" smtClean="0">
                <a:latin typeface="Verdana" panose="020B0604030504040204" pitchFamily="34" charset="0"/>
                <a:ea typeface="Verdana" panose="020B0604030504040204" pitchFamily="34" charset="0"/>
                <a:cs typeface="Verdana" panose="020B0604030504040204" pitchFamily="34" charset="0"/>
              </a:rPr>
              <a:t>                   </a:t>
            </a:r>
            <a:r>
              <a:rPr lang="en-US" sz="1400" dirty="0">
                <a:latin typeface="Verdana" panose="020B0604030504040204" pitchFamily="34" charset="0"/>
                <a:ea typeface="Verdana" panose="020B0604030504040204" pitchFamily="34" charset="0"/>
                <a:cs typeface="Verdana" panose="020B0604030504040204" pitchFamily="34" charset="0"/>
              </a:rPr>
              <a:t>Area</a:t>
            </a:r>
          </a:p>
          <a:p>
            <a:pPr>
              <a:lnSpc>
                <a:spcPct val="74000"/>
              </a:lnSpc>
            </a:pPr>
            <a:r>
              <a:rPr lang="en-US" sz="1400" dirty="0">
                <a:latin typeface="Verdana" panose="020B0604030504040204" pitchFamily="34" charset="0"/>
                <a:ea typeface="Verdana" panose="020B0604030504040204" pitchFamily="34" charset="0"/>
                <a:cs typeface="Verdana" panose="020B0604030504040204" pitchFamily="34" charset="0"/>
              </a:rPr>
              <a:t>Level-1 Area		               </a:t>
            </a:r>
            <a:r>
              <a:rPr lang="en-US" sz="1400" dirty="0" smtClean="0">
                <a:latin typeface="Verdana" panose="020B0604030504040204" pitchFamily="34" charset="0"/>
                <a:ea typeface="Verdana" panose="020B0604030504040204" pitchFamily="34" charset="0"/>
                <a:cs typeface="Verdana" panose="020B0604030504040204" pitchFamily="34" charset="0"/>
              </a:rPr>
              <a:t>    </a:t>
            </a:r>
            <a:r>
              <a:rPr lang="en-US" sz="1400" dirty="0">
                <a:latin typeface="Verdana" panose="020B0604030504040204" pitchFamily="34" charset="0"/>
                <a:ea typeface="Verdana" panose="020B0604030504040204" pitchFamily="34" charset="0"/>
                <a:cs typeface="Verdana" panose="020B0604030504040204" pitchFamily="34" charset="0"/>
              </a:rPr>
              <a:t>Non-backbone Area</a:t>
            </a:r>
          </a:p>
          <a:p>
            <a:pPr>
              <a:lnSpc>
                <a:spcPct val="74000"/>
              </a:lnSpc>
            </a:pPr>
            <a:r>
              <a:rPr lang="en-US" sz="1400" dirty="0">
                <a:latin typeface="Verdana" panose="020B0604030504040204" pitchFamily="34" charset="0"/>
                <a:ea typeface="Verdana" panose="020B0604030504040204" pitchFamily="34" charset="0"/>
                <a:cs typeface="Verdana" panose="020B0604030504040204" pitchFamily="34" charset="0"/>
              </a:rPr>
              <a:t>Level-2 Sub-Domain Area              </a:t>
            </a:r>
            <a:r>
              <a:rPr lang="en-US" sz="1400" dirty="0" smtClean="0">
                <a:latin typeface="Verdana" panose="020B0604030504040204" pitchFamily="34" charset="0"/>
                <a:ea typeface="Verdana" panose="020B0604030504040204" pitchFamily="34" charset="0"/>
                <a:cs typeface="Verdana" panose="020B0604030504040204" pitchFamily="34" charset="0"/>
              </a:rPr>
              <a:t>         Backbone </a:t>
            </a:r>
            <a:r>
              <a:rPr lang="en-US" sz="1400" dirty="0">
                <a:latin typeface="Verdana" panose="020B0604030504040204" pitchFamily="34" charset="0"/>
                <a:ea typeface="Verdana" panose="020B0604030504040204" pitchFamily="34" charset="0"/>
                <a:cs typeface="Verdana" panose="020B0604030504040204" pitchFamily="34" charset="0"/>
              </a:rPr>
              <a:t>Area	</a:t>
            </a:r>
          </a:p>
          <a:p>
            <a:pPr>
              <a:lnSpc>
                <a:spcPct val="74000"/>
              </a:lnSpc>
            </a:pPr>
            <a:r>
              <a:rPr lang="en-US" sz="1400" dirty="0">
                <a:latin typeface="Verdana" panose="020B0604030504040204" pitchFamily="34" charset="0"/>
                <a:ea typeface="Verdana" panose="020B0604030504040204" pitchFamily="34" charset="0"/>
                <a:cs typeface="Verdana" panose="020B0604030504040204" pitchFamily="34" charset="0"/>
              </a:rPr>
              <a:t>L1/L2 Router 		                   ABR  </a:t>
            </a:r>
          </a:p>
          <a:p>
            <a:pPr>
              <a:lnSpc>
                <a:spcPct val="74000"/>
              </a:lnSpc>
            </a:pPr>
            <a:r>
              <a:rPr lang="en-US" sz="1400" dirty="0">
                <a:latin typeface="Verdana" panose="020B0604030504040204" pitchFamily="34" charset="0"/>
                <a:ea typeface="Verdana" panose="020B0604030504040204" pitchFamily="34" charset="0"/>
                <a:cs typeface="Verdana" panose="020B0604030504040204" pitchFamily="34" charset="0"/>
              </a:rPr>
              <a:t>Any IS 	                             </a:t>
            </a:r>
            <a:r>
              <a:rPr lang="en-US" sz="1400" dirty="0" smtClean="0">
                <a:latin typeface="Verdana" panose="020B0604030504040204" pitchFamily="34" charset="0"/>
                <a:ea typeface="Verdana" panose="020B0604030504040204" pitchFamily="34" charset="0"/>
                <a:cs typeface="Verdana" panose="020B0604030504040204" pitchFamily="34" charset="0"/>
              </a:rPr>
              <a:t>                   ASBR</a:t>
            </a:r>
            <a:endParaRPr lang="en-US" sz="40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5304510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10</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18366"/>
            <a:ext cx="8229600" cy="3879338"/>
          </a:xfrm>
        </p:spPr>
        <p:txBody>
          <a:bodyPr>
            <a:noAutofit/>
          </a:bodyPr>
          <a:lstStyle/>
          <a:p>
            <a:pPr>
              <a:buFont typeface="Wingdings" panose="05000000000000000000" pitchFamily="2" charset="2"/>
              <a:buChar char="Ø"/>
            </a:pPr>
            <a:r>
              <a:rPr lang="en-US" sz="2000" dirty="0" smtClean="0">
                <a:latin typeface="Verdana" panose="020B0604030504040204" pitchFamily="34" charset="0"/>
                <a:ea typeface="Verdana" panose="020B0604030504040204" pitchFamily="34" charset="0"/>
                <a:cs typeface="Verdana" panose="020B0604030504040204" pitchFamily="34" charset="0"/>
              </a:rPr>
              <a:t>IS-IS/OSPF similarities</a:t>
            </a:r>
          </a:p>
          <a:p>
            <a:pPr lvl="1">
              <a:buFont typeface="Wingdings" panose="05000000000000000000" pitchFamily="2" charset="2"/>
              <a:buChar char="Ø"/>
            </a:pPr>
            <a:r>
              <a:rPr lang="en-US" sz="1600" dirty="0" smtClean="0">
                <a:latin typeface="Verdana" panose="020B0604030504040204" pitchFamily="34" charset="0"/>
                <a:ea typeface="Verdana" panose="020B0604030504040204" pitchFamily="34" charset="0"/>
                <a:cs typeface="Verdana" panose="020B0604030504040204" pitchFamily="34" charset="0"/>
              </a:rPr>
              <a:t>Both </a:t>
            </a:r>
            <a:r>
              <a:rPr lang="en-US" sz="1600" dirty="0">
                <a:latin typeface="Verdana" panose="020B0604030504040204" pitchFamily="34" charset="0"/>
                <a:ea typeface="Verdana" panose="020B0604030504040204" pitchFamily="34" charset="0"/>
                <a:cs typeface="Verdana" panose="020B0604030504040204" pitchFamily="34" charset="0"/>
              </a:rPr>
              <a:t>are link-state routing protocols.</a:t>
            </a:r>
          </a:p>
          <a:p>
            <a:pPr lvl="1">
              <a:buFont typeface="Wingdings" panose="05000000000000000000" pitchFamily="2" charset="2"/>
              <a:buChar char="Ø"/>
            </a:pPr>
            <a:r>
              <a:rPr lang="en-US" sz="1600" dirty="0">
                <a:latin typeface="Verdana" panose="020B0604030504040204" pitchFamily="34" charset="0"/>
                <a:ea typeface="Verdana" panose="020B0604030504040204" pitchFamily="34" charset="0"/>
                <a:cs typeface="Verdana" panose="020B0604030504040204" pitchFamily="34" charset="0"/>
              </a:rPr>
              <a:t>Both are using the SPF algorithm to calculate the best paths.</a:t>
            </a:r>
          </a:p>
          <a:p>
            <a:pPr lvl="1">
              <a:buFont typeface="Wingdings" panose="05000000000000000000" pitchFamily="2" charset="2"/>
              <a:buChar char="Ø"/>
            </a:pPr>
            <a:r>
              <a:rPr lang="en-US" sz="1600" dirty="0">
                <a:latin typeface="Verdana" panose="020B0604030504040204" pitchFamily="34" charset="0"/>
                <a:ea typeface="Verdana" panose="020B0604030504040204" pitchFamily="34" charset="0"/>
                <a:cs typeface="Verdana" panose="020B0604030504040204" pitchFamily="34" charset="0"/>
              </a:rPr>
              <a:t>Both are classless routing protocols.</a:t>
            </a:r>
          </a:p>
          <a:p>
            <a:pPr lvl="1">
              <a:buFont typeface="Wingdings" panose="05000000000000000000" pitchFamily="2" charset="2"/>
              <a:buChar char="Ø"/>
            </a:pPr>
            <a:r>
              <a:rPr lang="en-US" sz="1600" dirty="0">
                <a:latin typeface="Verdana" panose="020B0604030504040204" pitchFamily="34" charset="0"/>
                <a:ea typeface="Verdana" panose="020B0604030504040204" pitchFamily="34" charset="0"/>
                <a:cs typeface="Verdana" panose="020B0604030504040204" pitchFamily="34" charset="0"/>
              </a:rPr>
              <a:t>Both build adjacencies with their direct connected neighbors.</a:t>
            </a:r>
          </a:p>
          <a:p>
            <a:pPr lvl="1">
              <a:buFont typeface="Wingdings" panose="05000000000000000000" pitchFamily="2" charset="2"/>
              <a:buChar char="Ø"/>
            </a:pPr>
            <a:r>
              <a:rPr lang="en-US" sz="1600" dirty="0">
                <a:latin typeface="Verdana" panose="020B0604030504040204" pitchFamily="34" charset="0"/>
                <a:ea typeface="Verdana" panose="020B0604030504040204" pitchFamily="34" charset="0"/>
                <a:cs typeface="Verdana" panose="020B0604030504040204" pitchFamily="34" charset="0"/>
              </a:rPr>
              <a:t>Both support the concept of areas to allow hierarchical network topology.</a:t>
            </a:r>
          </a:p>
          <a:p>
            <a:pPr lvl="1">
              <a:buFont typeface="Wingdings" panose="05000000000000000000" pitchFamily="2" charset="2"/>
              <a:buChar char="Ø"/>
            </a:pPr>
            <a:r>
              <a:rPr lang="en-US" sz="1600" dirty="0">
                <a:latin typeface="Verdana" panose="020B0604030504040204" pitchFamily="34" charset="0"/>
                <a:ea typeface="Verdana" panose="020B0604030504040204" pitchFamily="34" charset="0"/>
                <a:cs typeface="Verdana" panose="020B0604030504040204" pitchFamily="34" charset="0"/>
              </a:rPr>
              <a:t>Both elect a DR on for broadcast multi-access networks.</a:t>
            </a:r>
          </a:p>
          <a:p>
            <a:pPr lvl="1">
              <a:buFont typeface="Wingdings" panose="05000000000000000000" pitchFamily="2" charset="2"/>
              <a:buChar char="Ø"/>
            </a:pPr>
            <a:r>
              <a:rPr lang="en-US" sz="1600" dirty="0">
                <a:latin typeface="Verdana" panose="020B0604030504040204" pitchFamily="34" charset="0"/>
                <a:ea typeface="Verdana" panose="020B0604030504040204" pitchFamily="34" charset="0"/>
                <a:cs typeface="Verdana" panose="020B0604030504040204" pitchFamily="34" charset="0"/>
              </a:rPr>
              <a:t>Both routers support authentication.</a:t>
            </a:r>
          </a:p>
          <a:p>
            <a:pPr lvl="1">
              <a:buFont typeface="Wingdings" panose="05000000000000000000" pitchFamily="2" charset="2"/>
              <a:buChar char="Ø"/>
            </a:pPr>
            <a:r>
              <a:rPr lang="en-US" sz="1600" dirty="0">
                <a:latin typeface="Verdana" panose="020B0604030504040204" pitchFamily="34" charset="0"/>
                <a:ea typeface="Verdana" panose="020B0604030504040204" pitchFamily="34" charset="0"/>
                <a:cs typeface="Verdana" panose="020B0604030504040204" pitchFamily="34" charset="0"/>
              </a:rPr>
              <a:t>Cisco routers allow multiple instances per device of both protocols.</a:t>
            </a:r>
          </a:p>
        </p:txBody>
      </p:sp>
    </p:spTree>
    <p:extLst>
      <p:ext uri="{BB962C8B-B14F-4D97-AF65-F5344CB8AC3E}">
        <p14:creationId xmlns:p14="http://schemas.microsoft.com/office/powerpoint/2010/main" val="26207872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11</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18366"/>
            <a:ext cx="8229600" cy="3879338"/>
          </a:xfrm>
        </p:spPr>
        <p:txBody>
          <a:bodyPr>
            <a:noAutofit/>
          </a:bodyPr>
          <a:lstStyle/>
          <a:p>
            <a:pPr>
              <a:buFont typeface="Wingdings" panose="05000000000000000000" pitchFamily="2" charset="2"/>
              <a:buChar char="Ø"/>
            </a:pPr>
            <a:r>
              <a:rPr lang="en-US" sz="2000" dirty="0" smtClean="0">
                <a:latin typeface="Verdana" panose="020B0604030504040204" pitchFamily="34" charset="0"/>
                <a:ea typeface="Verdana" panose="020B0604030504040204" pitchFamily="34" charset="0"/>
                <a:cs typeface="Verdana" panose="020B0604030504040204" pitchFamily="34" charset="0"/>
              </a:rPr>
              <a:t>IS-IS/OSPF differences</a:t>
            </a:r>
          </a:p>
          <a:p>
            <a:pPr lvl="1">
              <a:buFont typeface="Wingdings" panose="05000000000000000000" pitchFamily="2" charset="2"/>
              <a:buChar char="Ø"/>
            </a:pPr>
            <a:r>
              <a:rPr lang="en-US" sz="1800" dirty="0">
                <a:latin typeface="Verdana" panose="020B0604030504040204" pitchFamily="34" charset="0"/>
                <a:ea typeface="Verdana" panose="020B0604030504040204" pitchFamily="34" charset="0"/>
                <a:cs typeface="Verdana" panose="020B0604030504040204" pitchFamily="34" charset="0"/>
              </a:rPr>
              <a:t>IS-IS router can only belong to one area while an OSPF router can belong to multiple areas.</a:t>
            </a:r>
          </a:p>
          <a:p>
            <a:pPr lvl="1">
              <a:buFont typeface="Wingdings" panose="05000000000000000000" pitchFamily="2" charset="2"/>
              <a:buChar char="Ø"/>
            </a:pPr>
            <a:r>
              <a:rPr lang="en-US" sz="1800" dirty="0">
                <a:latin typeface="Verdana" panose="020B0604030504040204" pitchFamily="34" charset="0"/>
                <a:ea typeface="Verdana" panose="020B0604030504040204" pitchFamily="34" charset="0"/>
                <a:cs typeface="Verdana" panose="020B0604030504040204" pitchFamily="34" charset="0"/>
              </a:rPr>
              <a:t>IS-IS uses CLNS to send information between routers while OSPF is a pure IP routing protocol.</a:t>
            </a:r>
          </a:p>
          <a:p>
            <a:pPr lvl="1">
              <a:buFont typeface="Wingdings" panose="05000000000000000000" pitchFamily="2" charset="2"/>
              <a:buChar char="Ø"/>
            </a:pPr>
            <a:r>
              <a:rPr lang="en-US" sz="1800" dirty="0">
                <a:latin typeface="Verdana" panose="020B0604030504040204" pitchFamily="34" charset="0"/>
                <a:ea typeface="Verdana" panose="020B0604030504040204" pitchFamily="34" charset="0"/>
                <a:cs typeface="Verdana" panose="020B0604030504040204" pitchFamily="34" charset="0"/>
              </a:rPr>
              <a:t>IS-IS backbone is the contiguous Level 2 routers; OSPF uses the concept of Area 0 for this purpose.</a:t>
            </a:r>
          </a:p>
          <a:p>
            <a:pPr lvl="1">
              <a:buFont typeface="Wingdings" panose="05000000000000000000" pitchFamily="2" charset="2"/>
              <a:buChar char="Ø"/>
            </a:pPr>
            <a:r>
              <a:rPr lang="en-US" sz="1800" dirty="0">
                <a:latin typeface="Verdana" panose="020B0604030504040204" pitchFamily="34" charset="0"/>
                <a:ea typeface="Verdana" panose="020B0604030504040204" pitchFamily="34" charset="0"/>
                <a:cs typeface="Verdana" panose="020B0604030504040204" pitchFamily="34" charset="0"/>
              </a:rPr>
              <a:t>IS-IS all routers form adjacencies with the DIS and each other while  for OSPF the routers form adjacencies with the DR only.</a:t>
            </a:r>
          </a:p>
          <a:p>
            <a:pPr>
              <a:buFont typeface="Wingdings" panose="05000000000000000000" pitchFamily="2" charset="2"/>
              <a:buChar char="Ø"/>
            </a:pPr>
            <a:endParaRPr lang="en-US"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2204388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12</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18366"/>
            <a:ext cx="8229600" cy="3879338"/>
          </a:xfrm>
        </p:spPr>
        <p:txBody>
          <a:bodyPr>
            <a:noAutofit/>
          </a:bodyPr>
          <a:lstStyle/>
          <a:p>
            <a:pPr>
              <a:buFont typeface="Wingdings" panose="05000000000000000000" pitchFamily="2" charset="2"/>
              <a:buChar char="Ø"/>
            </a:pPr>
            <a:r>
              <a:rPr lang="en-US" sz="2000" dirty="0" smtClean="0">
                <a:latin typeface="Verdana" panose="020B0604030504040204" pitchFamily="34" charset="0"/>
                <a:ea typeface="Verdana" panose="020B0604030504040204" pitchFamily="34" charset="0"/>
                <a:cs typeface="Verdana" panose="020B0604030504040204" pitchFamily="34" charset="0"/>
              </a:rPr>
              <a:t>IS-IS hierarchy</a:t>
            </a:r>
          </a:p>
          <a:p>
            <a:pPr lvl="2">
              <a:buFont typeface="Wingdings" panose="05000000000000000000" pitchFamily="2" charset="2"/>
              <a:buChar char="Ø"/>
            </a:pPr>
            <a:r>
              <a:rPr lang="en-US" dirty="0"/>
              <a:t>Supports 2 Level hierarchy</a:t>
            </a:r>
          </a:p>
          <a:p>
            <a:pPr marL="912490" lvl="2" indent="0">
              <a:buNone/>
            </a:pPr>
            <a:r>
              <a:rPr lang="en-US" dirty="0"/>
              <a:t>                Level-2 (The backbone)</a:t>
            </a:r>
          </a:p>
          <a:p>
            <a:pPr marL="912490" lvl="2" indent="0">
              <a:buNone/>
            </a:pPr>
            <a:r>
              <a:rPr lang="en-US" dirty="0"/>
              <a:t>                Level-1 (The areas)</a:t>
            </a:r>
          </a:p>
          <a:p>
            <a:pPr lvl="2">
              <a:buFont typeface="Wingdings" panose="05000000000000000000" pitchFamily="2" charset="2"/>
              <a:buChar char="Ø"/>
            </a:pPr>
            <a:r>
              <a:rPr lang="en-US" dirty="0"/>
              <a:t>A Router can be </a:t>
            </a:r>
          </a:p>
          <a:p>
            <a:pPr marL="912490" lvl="2" indent="0">
              <a:buNone/>
            </a:pPr>
            <a:r>
              <a:rPr lang="en-US" dirty="0"/>
              <a:t>                Level-1 (L1 ) Router</a:t>
            </a:r>
          </a:p>
          <a:p>
            <a:pPr marL="912490" lvl="2" indent="0">
              <a:buNone/>
            </a:pPr>
            <a:r>
              <a:rPr lang="en-US" dirty="0"/>
              <a:t>                Level-2 (L2) Router</a:t>
            </a:r>
          </a:p>
          <a:p>
            <a:pPr marL="912490" lvl="2" indent="0">
              <a:buNone/>
            </a:pPr>
            <a:r>
              <a:rPr lang="en-US" dirty="0"/>
              <a:t>	  Level-1/2( L1/L2) Router</a:t>
            </a:r>
          </a:p>
          <a:p>
            <a:pPr>
              <a:buFont typeface="Wingdings" panose="05000000000000000000" pitchFamily="2" charset="2"/>
              <a:buChar char="Ø"/>
            </a:pPr>
            <a:endParaRPr lang="en-US"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1474679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13</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18366"/>
            <a:ext cx="8229600" cy="3879338"/>
          </a:xfrm>
        </p:spPr>
        <p:txBody>
          <a:bodyPr>
            <a:noAutofit/>
          </a:bodyPr>
          <a:lstStyle/>
          <a:p>
            <a:pPr>
              <a:buFont typeface="Wingdings" panose="05000000000000000000" pitchFamily="2" charset="2"/>
              <a:buChar char="Ø"/>
            </a:pPr>
            <a:r>
              <a:rPr lang="en-US" sz="1400" dirty="0">
                <a:latin typeface="Verdana" panose="020B0604030504040204" pitchFamily="34" charset="0"/>
                <a:ea typeface="Verdana" panose="020B0604030504040204" pitchFamily="34" charset="0"/>
                <a:cs typeface="Verdana" panose="020B0604030504040204" pitchFamily="34" charset="0"/>
              </a:rPr>
              <a:t>Level-1 Router</a:t>
            </a:r>
          </a:p>
          <a:p>
            <a:pPr marL="0" indent="0">
              <a:buNone/>
            </a:pPr>
            <a:r>
              <a:rPr lang="en-US" sz="1400" dirty="0">
                <a:latin typeface="Verdana" panose="020B0604030504040204" pitchFamily="34" charset="0"/>
                <a:ea typeface="Verdana" panose="020B0604030504040204" pitchFamily="34" charset="0"/>
                <a:cs typeface="Verdana" panose="020B0604030504040204" pitchFamily="34" charset="0"/>
              </a:rPr>
              <a:t>         Form neighbors only on the same area.</a:t>
            </a:r>
          </a:p>
          <a:p>
            <a:pPr marL="0" indent="0">
              <a:lnSpc>
                <a:spcPct val="100000"/>
              </a:lnSpc>
              <a:buNone/>
            </a:pPr>
            <a:r>
              <a:rPr lang="en-US" sz="1400" dirty="0">
                <a:latin typeface="Verdana" panose="020B0604030504040204" pitchFamily="34" charset="0"/>
                <a:ea typeface="Verdana" panose="020B0604030504040204" pitchFamily="34" charset="0"/>
                <a:cs typeface="Verdana" panose="020B0604030504040204" pitchFamily="34" charset="0"/>
              </a:rPr>
              <a:t>         Maintain only Level-1 link-state database with all routing information for the Area.</a:t>
            </a:r>
          </a:p>
          <a:p>
            <a:pPr marL="0" indent="0">
              <a:lnSpc>
                <a:spcPct val="100000"/>
              </a:lnSpc>
              <a:buNone/>
            </a:pPr>
            <a:r>
              <a:rPr lang="en-US" sz="1400" dirty="0">
                <a:latin typeface="Verdana" panose="020B0604030504040204" pitchFamily="34" charset="0"/>
                <a:ea typeface="Verdana" panose="020B0604030504040204" pitchFamily="34" charset="0"/>
                <a:cs typeface="Verdana" panose="020B0604030504040204" pitchFamily="34" charset="0"/>
              </a:rPr>
              <a:t>         Every L1 router within an Area maintains an identical link-state database.</a:t>
            </a:r>
          </a:p>
          <a:p>
            <a:pPr>
              <a:lnSpc>
                <a:spcPct val="100000"/>
              </a:lnSpc>
              <a:buFont typeface="Wingdings" panose="05000000000000000000" pitchFamily="2" charset="2"/>
              <a:buChar char="Ø"/>
            </a:pPr>
            <a:r>
              <a:rPr lang="en-US" sz="1400" dirty="0">
                <a:latin typeface="Verdana" panose="020B0604030504040204" pitchFamily="34" charset="0"/>
                <a:ea typeface="Verdana" panose="020B0604030504040204" pitchFamily="34" charset="0"/>
                <a:cs typeface="Verdana" panose="020B0604030504040204" pitchFamily="34" charset="0"/>
              </a:rPr>
              <a:t>Level-2 Router</a:t>
            </a:r>
          </a:p>
          <a:p>
            <a:pPr marL="0" indent="0">
              <a:lnSpc>
                <a:spcPct val="100000"/>
              </a:lnSpc>
              <a:buNone/>
            </a:pPr>
            <a:r>
              <a:rPr lang="en-US" sz="1400" dirty="0">
                <a:latin typeface="Verdana" panose="020B0604030504040204" pitchFamily="34" charset="0"/>
                <a:ea typeface="Verdana" panose="020B0604030504040204" pitchFamily="34" charset="0"/>
                <a:cs typeface="Verdana" panose="020B0604030504040204" pitchFamily="34" charset="0"/>
              </a:rPr>
              <a:t>         Form neighbors in the same or other areas,</a:t>
            </a:r>
          </a:p>
          <a:p>
            <a:pPr marL="0" indent="0">
              <a:lnSpc>
                <a:spcPct val="100000"/>
              </a:lnSpc>
              <a:buNone/>
            </a:pPr>
            <a:r>
              <a:rPr lang="en-US" sz="1400" dirty="0">
                <a:latin typeface="Verdana" panose="020B0604030504040204" pitchFamily="34" charset="0"/>
                <a:ea typeface="Verdana" panose="020B0604030504040204" pitchFamily="34" charset="0"/>
                <a:cs typeface="Verdana" panose="020B0604030504040204" pitchFamily="34" charset="0"/>
              </a:rPr>
              <a:t>         Maintain only Level-2 link-state database with all routing information for the Inter-</a:t>
            </a:r>
          </a:p>
          <a:p>
            <a:pPr marL="0" indent="0">
              <a:lnSpc>
                <a:spcPct val="100000"/>
              </a:lnSpc>
              <a:buNone/>
            </a:pPr>
            <a:r>
              <a:rPr lang="en-US" sz="1400" dirty="0">
                <a:latin typeface="Verdana" panose="020B0604030504040204" pitchFamily="34" charset="0"/>
                <a:ea typeface="Verdana" panose="020B0604030504040204" pitchFamily="34" charset="0"/>
                <a:cs typeface="Verdana" panose="020B0604030504040204" pitchFamily="34" charset="0"/>
              </a:rPr>
              <a:t>         Area routing.</a:t>
            </a:r>
          </a:p>
          <a:p>
            <a:pPr>
              <a:lnSpc>
                <a:spcPct val="100000"/>
              </a:lnSpc>
              <a:buFont typeface="Wingdings" panose="05000000000000000000" pitchFamily="2" charset="2"/>
              <a:buChar char="Ø"/>
            </a:pPr>
            <a:r>
              <a:rPr lang="en-US" sz="1400" dirty="0">
                <a:latin typeface="Verdana" panose="020B0604030504040204" pitchFamily="34" charset="0"/>
                <a:ea typeface="Verdana" panose="020B0604030504040204" pitchFamily="34" charset="0"/>
                <a:cs typeface="Verdana" panose="020B0604030504040204" pitchFamily="34" charset="0"/>
              </a:rPr>
              <a:t>Level-3 Router </a:t>
            </a:r>
          </a:p>
          <a:p>
            <a:pPr marL="0" indent="0">
              <a:lnSpc>
                <a:spcPct val="100000"/>
              </a:lnSpc>
              <a:buNone/>
            </a:pPr>
            <a:r>
              <a:rPr lang="en-US" sz="1400" dirty="0">
                <a:latin typeface="Verdana" panose="020B0604030504040204" pitchFamily="34" charset="0"/>
                <a:ea typeface="Verdana" panose="020B0604030504040204" pitchFamily="34" charset="0"/>
                <a:cs typeface="Verdana" panose="020B0604030504040204" pitchFamily="34" charset="0"/>
              </a:rPr>
              <a:t>          Form neighbors on any Area.</a:t>
            </a:r>
          </a:p>
          <a:p>
            <a:pPr marL="0" indent="0">
              <a:lnSpc>
                <a:spcPct val="100000"/>
              </a:lnSpc>
              <a:buNone/>
            </a:pPr>
            <a:r>
              <a:rPr lang="en-US" sz="1400" dirty="0">
                <a:latin typeface="Verdana" panose="020B0604030504040204" pitchFamily="34" charset="0"/>
                <a:ea typeface="Verdana" panose="020B0604030504040204" pitchFamily="34" charset="0"/>
                <a:cs typeface="Verdana" panose="020B0604030504040204" pitchFamily="34" charset="0"/>
              </a:rPr>
              <a:t>          Must maintain two separate link-state database: level-1 LSDB &amp; level -2 LSDB</a:t>
            </a:r>
          </a:p>
          <a:p>
            <a:pPr>
              <a:buFont typeface="Wingdings" panose="05000000000000000000" pitchFamily="2" charset="2"/>
              <a:buChar char="Ø"/>
            </a:pPr>
            <a:endParaRPr lang="en-US" sz="16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6348320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14</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18366"/>
            <a:ext cx="2371435" cy="3879338"/>
          </a:xfrm>
        </p:spPr>
        <p:txBody>
          <a:bodyPr>
            <a:noAutofit/>
          </a:bodyPr>
          <a:lstStyle/>
          <a:p>
            <a:pPr>
              <a:buFont typeface="Wingdings" panose="05000000000000000000" pitchFamily="2" charset="2"/>
              <a:buChar char="Ø"/>
            </a:pPr>
            <a:r>
              <a:rPr lang="en-US" sz="2000" dirty="0" smtClean="0"/>
              <a:t>IS-IS are design </a:t>
            </a:r>
          </a:p>
          <a:p>
            <a:pPr lvl="1">
              <a:buFont typeface="Wingdings" panose="05000000000000000000" pitchFamily="2" charset="2"/>
              <a:buChar char="Ø"/>
            </a:pPr>
            <a:r>
              <a:rPr lang="en-US" sz="1600" dirty="0" smtClean="0"/>
              <a:t>Each </a:t>
            </a:r>
            <a:r>
              <a:rPr lang="en-US" sz="1600" dirty="0"/>
              <a:t>IS-IS router belongs to exactly one Area.</a:t>
            </a:r>
          </a:p>
          <a:p>
            <a:pPr lvl="1">
              <a:buFont typeface="Wingdings" panose="05000000000000000000" pitchFamily="2" charset="2"/>
              <a:buChar char="Ø"/>
            </a:pPr>
            <a:r>
              <a:rPr lang="en-US" sz="1600" dirty="0"/>
              <a:t>IS-IS is more flexible when extending the backbone.</a:t>
            </a:r>
          </a:p>
          <a:p>
            <a:pPr marL="0" indent="0">
              <a:buNone/>
            </a:pPr>
            <a:endParaRPr lang="en-US" dirty="0">
              <a:latin typeface="Verdana" panose="020B0604030504040204" pitchFamily="34" charset="0"/>
              <a:ea typeface="Verdana" panose="020B0604030504040204" pitchFamily="34" charset="0"/>
              <a:cs typeface="Verdana" panose="020B0604030504040204" pitchFamily="34" charset="0"/>
            </a:endParaRPr>
          </a:p>
        </p:txBody>
      </p:sp>
      <p:pic>
        <p:nvPicPr>
          <p:cNvPr id="19458" name="Picture 2" descr="http://etutorials.org/shared/images/tutorials/tutorial_162/NGE3cmRhNXM4bXJ0L2cxL2VjcGkxZ3BoMC8yN2lYL2M5Zi4wYjcwaWcxczJj.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1331567"/>
            <a:ext cx="47625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14547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15</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104900"/>
            <a:ext cx="8229600" cy="3879338"/>
          </a:xfrm>
        </p:spPr>
        <p:txBody>
          <a:bodyPr>
            <a:noAutofit/>
          </a:bodyPr>
          <a:lstStyle/>
          <a:p>
            <a:pPr>
              <a:buFont typeface="Wingdings" panose="05000000000000000000" pitchFamily="2" charset="2"/>
              <a:buChar char="Ø"/>
            </a:pPr>
            <a:r>
              <a:rPr lang="en-US" dirty="0" smtClean="0"/>
              <a:t>IS-IS Areas</a:t>
            </a:r>
          </a:p>
          <a:p>
            <a:pPr lvl="1">
              <a:buFont typeface="Wingdings" panose="05000000000000000000" pitchFamily="2" charset="2"/>
              <a:buChar char="Ø"/>
            </a:pPr>
            <a:r>
              <a:rPr lang="en-US" sz="1600" dirty="0" smtClean="0"/>
              <a:t>IS-IS </a:t>
            </a:r>
            <a:r>
              <a:rPr lang="en-US" sz="1600" dirty="0"/>
              <a:t>use areas to create a two-level hierarchical topology like OSPF, difference   exists in the way in which the two protocols define their areas</a:t>
            </a:r>
          </a:p>
          <a:p>
            <a:pPr lvl="1">
              <a:buFont typeface="Wingdings" panose="05000000000000000000" pitchFamily="2" charset="2"/>
              <a:buChar char="Ø"/>
            </a:pPr>
            <a:r>
              <a:rPr lang="en-US" sz="1600" dirty="0"/>
              <a:t>OSPF area borders fall within </a:t>
            </a:r>
            <a:r>
              <a:rPr lang="en-US" sz="1600" dirty="0">
                <a:solidFill>
                  <a:srgbClr val="FF0000"/>
                </a:solidFill>
              </a:rPr>
              <a:t>routers</a:t>
            </a:r>
            <a:r>
              <a:rPr lang="en-US" sz="1600" dirty="0"/>
              <a:t> and the routers that connect the area are        ABRs, while IS-IS areas fall on </a:t>
            </a:r>
            <a:r>
              <a:rPr lang="en-US" sz="1600" dirty="0">
                <a:solidFill>
                  <a:srgbClr val="FF0000"/>
                </a:solidFill>
              </a:rPr>
              <a:t>links</a:t>
            </a:r>
            <a:r>
              <a:rPr lang="en-US" sz="1600" dirty="0"/>
              <a:t> and the routers that connect the areas are level 2 routers.</a:t>
            </a:r>
          </a:p>
          <a:p>
            <a:pPr lvl="1">
              <a:buFont typeface="Wingdings" panose="05000000000000000000" pitchFamily="2" charset="2"/>
              <a:buChar char="Ø"/>
            </a:pPr>
            <a:r>
              <a:rPr lang="en-US" sz="1600" dirty="0"/>
              <a:t>ISIS does not have a backbone area as  such like OSPF. Instead the backbone is the contiguous collection of Level-2 capable routers.</a:t>
            </a:r>
          </a:p>
          <a:p>
            <a:pPr lvl="1">
              <a:buFont typeface="Wingdings" panose="05000000000000000000" pitchFamily="2" charset="2"/>
              <a:buChar char="Ø"/>
            </a:pPr>
            <a:r>
              <a:rPr lang="en-US" sz="1600" dirty="0"/>
              <a:t>Routers that have no direct connectivity to another area are called Level 1 routers.</a:t>
            </a:r>
          </a:p>
          <a:p>
            <a:pPr lvl="1">
              <a:buFont typeface="Wingdings" panose="05000000000000000000" pitchFamily="2" charset="2"/>
              <a:buChar char="Ø"/>
            </a:pPr>
            <a:r>
              <a:rPr lang="en-US" sz="1600" dirty="0"/>
              <a:t>L1 routers are analogous to OSPF non-backbone internal routers  and L2 routers are analogous to OSPF backbone routers, and L1/L2 routers are analogous to OSPF ABRs.</a:t>
            </a:r>
          </a:p>
        </p:txBody>
      </p:sp>
    </p:spTree>
    <p:extLst>
      <p:ext uri="{BB962C8B-B14F-4D97-AF65-F5344CB8AC3E}">
        <p14:creationId xmlns:p14="http://schemas.microsoft.com/office/powerpoint/2010/main" val="3633185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16</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08069"/>
            <a:ext cx="8229600" cy="3879338"/>
          </a:xfrm>
        </p:spPr>
        <p:txBody>
          <a:bodyPr>
            <a:noAutofit/>
          </a:bodyPr>
          <a:lstStyle/>
          <a:p>
            <a:pPr lvl="1">
              <a:buFont typeface="Wingdings" panose="05000000000000000000" pitchFamily="2" charset="2"/>
              <a:buChar char="Ø"/>
            </a:pPr>
            <a:r>
              <a:rPr lang="en-US" dirty="0"/>
              <a:t>L1/L2 routers must maintain both a level 1 link state database and a level 2 link state database.</a:t>
            </a:r>
          </a:p>
          <a:p>
            <a:pPr lvl="1">
              <a:buFont typeface="Wingdings" panose="05000000000000000000" pitchFamily="2" charset="2"/>
              <a:buChar char="Ø"/>
            </a:pPr>
            <a:r>
              <a:rPr lang="en-US" dirty="0"/>
              <a:t>L1/L2 routers do not advertise L2 routes to L1 routers, so L1 routers have no knowledge of destinations outside of its own area. </a:t>
            </a:r>
          </a:p>
          <a:p>
            <a:pPr lvl="1">
              <a:buFont typeface="Wingdings" panose="05000000000000000000" pitchFamily="2" charset="2"/>
              <a:buChar char="Ø"/>
            </a:pPr>
            <a:r>
              <a:rPr lang="en-US" dirty="0"/>
              <a:t>L1/L2 routers maintaining separate level 1 and level 2 link state databases will calculate separate SPF trees for the level 1 and level 2 topology.</a:t>
            </a:r>
          </a:p>
          <a:p>
            <a:pPr lvl="1">
              <a:buFont typeface="Wingdings" panose="05000000000000000000" pitchFamily="2" charset="2"/>
              <a:buChar char="Ø"/>
            </a:pPr>
            <a:r>
              <a:rPr lang="en-US" dirty="0"/>
              <a:t>Each router is identified with Network Entity Title (NET).</a:t>
            </a:r>
          </a:p>
        </p:txBody>
      </p:sp>
    </p:spTree>
    <p:extLst>
      <p:ext uri="{BB962C8B-B14F-4D97-AF65-F5344CB8AC3E}">
        <p14:creationId xmlns:p14="http://schemas.microsoft.com/office/powerpoint/2010/main" val="6682390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pPr algn="ctr"/>
            <a:r>
              <a:rPr lang="en-US" dirty="0"/>
              <a:t>IS-IS PDU Format – LAN Hello PDU, Point-to-Point Hello PDU, LSP, CSNP, and PSNP</a:t>
            </a:r>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17</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grpSp>
        <p:nvGrpSpPr>
          <p:cNvPr id="141" name="Group 140"/>
          <p:cNvGrpSpPr/>
          <p:nvPr/>
        </p:nvGrpSpPr>
        <p:grpSpPr>
          <a:xfrm>
            <a:off x="209558" y="1526355"/>
            <a:ext cx="8724900" cy="3767274"/>
            <a:chOff x="0" y="1676400"/>
            <a:chExt cx="8915400" cy="5181600"/>
          </a:xfrm>
        </p:grpSpPr>
        <p:pic>
          <p:nvPicPr>
            <p:cNvPr id="142" name="Picture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1905000"/>
              <a:ext cx="18288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 name="Picture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800" y="4267200"/>
              <a:ext cx="28956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4" name="Picture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676400"/>
              <a:ext cx="51816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5" name="Picture 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105400"/>
              <a:ext cx="28956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6" name="Line 8"/>
            <p:cNvSpPr>
              <a:spLocks noChangeShapeType="1"/>
            </p:cNvSpPr>
            <p:nvPr/>
          </p:nvSpPr>
          <p:spPr bwMode="auto">
            <a:xfrm flipH="1" flipV="1">
              <a:off x="6553200" y="2667000"/>
              <a:ext cx="304800" cy="2133600"/>
            </a:xfrm>
            <a:prstGeom prst="line">
              <a:avLst/>
            </a:prstGeom>
            <a:noFill/>
            <a:ln w="25400">
              <a:solidFill>
                <a:srgbClr val="CC020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en-US"/>
            </a:p>
          </p:txBody>
        </p:sp>
        <p:sp>
          <p:nvSpPr>
            <p:cNvPr id="147" name="Line 9"/>
            <p:cNvSpPr>
              <a:spLocks noChangeShapeType="1"/>
            </p:cNvSpPr>
            <p:nvPr/>
          </p:nvSpPr>
          <p:spPr bwMode="auto">
            <a:xfrm flipH="1" flipV="1">
              <a:off x="6858000" y="4800600"/>
              <a:ext cx="1219200" cy="381000"/>
            </a:xfrm>
            <a:prstGeom prst="line">
              <a:avLst/>
            </a:prstGeom>
            <a:noFill/>
            <a:ln w="25400">
              <a:solidFill>
                <a:srgbClr val="CC020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en-US"/>
            </a:p>
          </p:txBody>
        </p:sp>
        <p:sp>
          <p:nvSpPr>
            <p:cNvPr id="148" name="Line 11"/>
            <p:cNvSpPr>
              <a:spLocks noChangeShapeType="1"/>
            </p:cNvSpPr>
            <p:nvPr/>
          </p:nvSpPr>
          <p:spPr bwMode="auto">
            <a:xfrm flipH="1">
              <a:off x="4419600" y="2438400"/>
              <a:ext cx="2133600" cy="533400"/>
            </a:xfrm>
            <a:prstGeom prst="line">
              <a:avLst/>
            </a:prstGeom>
            <a:noFill/>
            <a:ln w="25400">
              <a:solidFill>
                <a:srgbClr val="CC020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en-US"/>
            </a:p>
          </p:txBody>
        </p:sp>
        <p:sp>
          <p:nvSpPr>
            <p:cNvPr id="149" name="Line 12"/>
            <p:cNvSpPr>
              <a:spLocks noChangeShapeType="1"/>
            </p:cNvSpPr>
            <p:nvPr/>
          </p:nvSpPr>
          <p:spPr bwMode="auto">
            <a:xfrm flipH="1" flipV="1">
              <a:off x="2895600" y="2209800"/>
              <a:ext cx="1524000" cy="762000"/>
            </a:xfrm>
            <a:prstGeom prst="line">
              <a:avLst/>
            </a:prstGeom>
            <a:noFill/>
            <a:ln w="25400">
              <a:solidFill>
                <a:srgbClr val="CC020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en-US"/>
            </a:p>
          </p:txBody>
        </p:sp>
        <p:sp>
          <p:nvSpPr>
            <p:cNvPr id="150" name="Line 13"/>
            <p:cNvSpPr>
              <a:spLocks noChangeShapeType="1"/>
            </p:cNvSpPr>
            <p:nvPr/>
          </p:nvSpPr>
          <p:spPr bwMode="auto">
            <a:xfrm flipH="1">
              <a:off x="1828800" y="2209800"/>
              <a:ext cx="1066800" cy="1143000"/>
            </a:xfrm>
            <a:prstGeom prst="line">
              <a:avLst/>
            </a:prstGeom>
            <a:noFill/>
            <a:ln w="25400">
              <a:solidFill>
                <a:srgbClr val="CC020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en-US"/>
            </a:p>
          </p:txBody>
        </p:sp>
        <p:sp>
          <p:nvSpPr>
            <p:cNvPr id="151" name="Line 14"/>
            <p:cNvSpPr>
              <a:spLocks noChangeShapeType="1"/>
            </p:cNvSpPr>
            <p:nvPr/>
          </p:nvSpPr>
          <p:spPr bwMode="auto">
            <a:xfrm>
              <a:off x="1828800" y="3352800"/>
              <a:ext cx="1371600" cy="304800"/>
            </a:xfrm>
            <a:prstGeom prst="line">
              <a:avLst/>
            </a:prstGeom>
            <a:noFill/>
            <a:ln w="25400">
              <a:solidFill>
                <a:srgbClr val="CC020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en-US"/>
            </a:p>
          </p:txBody>
        </p:sp>
        <p:sp>
          <p:nvSpPr>
            <p:cNvPr id="152" name="Line 15"/>
            <p:cNvSpPr>
              <a:spLocks noChangeShapeType="1"/>
            </p:cNvSpPr>
            <p:nvPr/>
          </p:nvSpPr>
          <p:spPr bwMode="auto">
            <a:xfrm flipV="1">
              <a:off x="3200400" y="2971800"/>
              <a:ext cx="1219200" cy="685800"/>
            </a:xfrm>
            <a:prstGeom prst="line">
              <a:avLst/>
            </a:prstGeom>
            <a:noFill/>
            <a:ln w="25400">
              <a:solidFill>
                <a:srgbClr val="CC020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en-US"/>
            </a:p>
          </p:txBody>
        </p:sp>
        <p:sp>
          <p:nvSpPr>
            <p:cNvPr id="153" name="Line 16"/>
            <p:cNvSpPr>
              <a:spLocks noChangeShapeType="1"/>
            </p:cNvSpPr>
            <p:nvPr/>
          </p:nvSpPr>
          <p:spPr bwMode="auto">
            <a:xfrm flipV="1">
              <a:off x="2590800" y="3657600"/>
              <a:ext cx="609600" cy="990600"/>
            </a:xfrm>
            <a:prstGeom prst="line">
              <a:avLst/>
            </a:prstGeom>
            <a:noFill/>
            <a:ln w="25400">
              <a:solidFill>
                <a:srgbClr val="CC020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en-US"/>
            </a:p>
          </p:txBody>
        </p:sp>
        <p:sp>
          <p:nvSpPr>
            <p:cNvPr id="154" name="Line 17"/>
            <p:cNvSpPr>
              <a:spLocks noChangeShapeType="1"/>
            </p:cNvSpPr>
            <p:nvPr/>
          </p:nvSpPr>
          <p:spPr bwMode="auto">
            <a:xfrm flipV="1">
              <a:off x="762000" y="5715000"/>
              <a:ext cx="1143000" cy="381000"/>
            </a:xfrm>
            <a:prstGeom prst="line">
              <a:avLst/>
            </a:prstGeom>
            <a:noFill/>
            <a:ln w="25400">
              <a:solidFill>
                <a:srgbClr val="CC020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en-US"/>
            </a:p>
          </p:txBody>
        </p:sp>
        <p:grpSp>
          <p:nvGrpSpPr>
            <p:cNvPr id="155" name="Group 18"/>
            <p:cNvGrpSpPr>
              <a:grpSpLocks/>
            </p:cNvGrpSpPr>
            <p:nvPr/>
          </p:nvGrpSpPr>
          <p:grpSpPr bwMode="auto">
            <a:xfrm>
              <a:off x="228600" y="5791200"/>
              <a:ext cx="1108075" cy="747713"/>
              <a:chOff x="144" y="3456"/>
              <a:chExt cx="698" cy="471"/>
            </a:xfrm>
          </p:grpSpPr>
          <p:pic>
            <p:nvPicPr>
              <p:cNvPr id="285" name="Picture 1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 y="3456"/>
                <a:ext cx="698" cy="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6" name="Rectangle 20"/>
              <p:cNvSpPr>
                <a:spLocks noChangeArrowheads="1"/>
              </p:cNvSpPr>
              <p:nvPr/>
            </p:nvSpPr>
            <p:spPr bwMode="auto">
              <a:xfrm>
                <a:off x="240" y="3552"/>
                <a:ext cx="464" cy="179"/>
              </a:xfrm>
              <a:prstGeom prst="rect">
                <a:avLst/>
              </a:prstGeom>
              <a:solidFill>
                <a:schemeClr val="tx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GB" altLang="en-US" sz="1200">
                    <a:solidFill>
                      <a:schemeClr val="bg1"/>
                    </a:solidFill>
                  </a:rPr>
                  <a:t>L1-only</a:t>
                </a:r>
              </a:p>
            </p:txBody>
          </p:sp>
        </p:grpSp>
        <p:grpSp>
          <p:nvGrpSpPr>
            <p:cNvPr id="156" name="Group 24"/>
            <p:cNvGrpSpPr>
              <a:grpSpLocks/>
            </p:cNvGrpSpPr>
            <p:nvPr/>
          </p:nvGrpSpPr>
          <p:grpSpPr bwMode="auto">
            <a:xfrm>
              <a:off x="2362200" y="1905000"/>
              <a:ext cx="1108075" cy="747713"/>
              <a:chOff x="1488" y="1536"/>
              <a:chExt cx="698" cy="471"/>
            </a:xfrm>
          </p:grpSpPr>
          <p:pic>
            <p:nvPicPr>
              <p:cNvPr id="283" name="Picture 2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8" y="1536"/>
                <a:ext cx="698" cy="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4" name="Rectangle 26"/>
              <p:cNvSpPr>
                <a:spLocks noChangeArrowheads="1"/>
              </p:cNvSpPr>
              <p:nvPr/>
            </p:nvSpPr>
            <p:spPr bwMode="auto">
              <a:xfrm>
                <a:off x="1584" y="1632"/>
                <a:ext cx="464" cy="179"/>
              </a:xfrm>
              <a:prstGeom prst="rect">
                <a:avLst/>
              </a:prstGeom>
              <a:solidFill>
                <a:schemeClr val="tx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GB" altLang="en-US" sz="1200">
                    <a:solidFill>
                      <a:schemeClr val="bg1"/>
                    </a:solidFill>
                  </a:rPr>
                  <a:t>L1-only</a:t>
                </a:r>
              </a:p>
            </p:txBody>
          </p:sp>
        </p:grpSp>
        <p:grpSp>
          <p:nvGrpSpPr>
            <p:cNvPr id="157" name="Group 27"/>
            <p:cNvGrpSpPr>
              <a:grpSpLocks/>
            </p:cNvGrpSpPr>
            <p:nvPr/>
          </p:nvGrpSpPr>
          <p:grpSpPr bwMode="auto">
            <a:xfrm>
              <a:off x="7467600" y="4953000"/>
              <a:ext cx="1108075" cy="747713"/>
              <a:chOff x="4704" y="3456"/>
              <a:chExt cx="698" cy="471"/>
            </a:xfrm>
          </p:grpSpPr>
          <p:pic>
            <p:nvPicPr>
              <p:cNvPr id="281" name="Picture 2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4" y="3456"/>
                <a:ext cx="698" cy="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2" name="Rectangle 29"/>
              <p:cNvSpPr>
                <a:spLocks noChangeArrowheads="1"/>
              </p:cNvSpPr>
              <p:nvPr/>
            </p:nvSpPr>
            <p:spPr bwMode="auto">
              <a:xfrm>
                <a:off x="4800" y="3552"/>
                <a:ext cx="464" cy="179"/>
              </a:xfrm>
              <a:prstGeom prst="rect">
                <a:avLst/>
              </a:prstGeom>
              <a:solidFill>
                <a:schemeClr val="tx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GB" altLang="en-US" sz="1200">
                    <a:solidFill>
                      <a:schemeClr val="bg1"/>
                    </a:solidFill>
                  </a:rPr>
                  <a:t>L1-only</a:t>
                </a:r>
              </a:p>
            </p:txBody>
          </p:sp>
        </p:grpSp>
        <p:grpSp>
          <p:nvGrpSpPr>
            <p:cNvPr id="158" name="Group 30"/>
            <p:cNvGrpSpPr>
              <a:grpSpLocks/>
            </p:cNvGrpSpPr>
            <p:nvPr/>
          </p:nvGrpSpPr>
          <p:grpSpPr bwMode="auto">
            <a:xfrm>
              <a:off x="6400800" y="4572000"/>
              <a:ext cx="963613" cy="631825"/>
              <a:chOff x="4032" y="3216"/>
              <a:chExt cx="607" cy="398"/>
            </a:xfrm>
          </p:grpSpPr>
          <p:grpSp>
            <p:nvGrpSpPr>
              <p:cNvPr id="264" name="Group 31"/>
              <p:cNvGrpSpPr>
                <a:grpSpLocks/>
              </p:cNvGrpSpPr>
              <p:nvPr/>
            </p:nvGrpSpPr>
            <p:grpSpPr bwMode="auto">
              <a:xfrm>
                <a:off x="4032" y="3216"/>
                <a:ext cx="607" cy="398"/>
                <a:chOff x="331" y="1428"/>
                <a:chExt cx="463" cy="302"/>
              </a:xfrm>
            </p:grpSpPr>
            <p:sp>
              <p:nvSpPr>
                <p:cNvPr id="266" name="Rectangle 32"/>
                <p:cNvSpPr>
                  <a:spLocks noChangeArrowheads="1"/>
                </p:cNvSpPr>
                <p:nvPr/>
              </p:nvSpPr>
              <p:spPr bwMode="auto">
                <a:xfrm>
                  <a:off x="340" y="1541"/>
                  <a:ext cx="454" cy="10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267" name="Oval 33"/>
                <p:cNvSpPr>
                  <a:spLocks noChangeArrowheads="1"/>
                </p:cNvSpPr>
                <p:nvPr/>
              </p:nvSpPr>
              <p:spPr bwMode="auto">
                <a:xfrm>
                  <a:off x="344" y="1444"/>
                  <a:ext cx="450" cy="19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268" name="Rectangle 34"/>
                <p:cNvSpPr>
                  <a:spLocks noChangeArrowheads="1"/>
                </p:cNvSpPr>
                <p:nvPr/>
              </p:nvSpPr>
              <p:spPr bwMode="auto">
                <a:xfrm>
                  <a:off x="331" y="1525"/>
                  <a:ext cx="454" cy="108"/>
                </a:xfrm>
                <a:prstGeom prst="rect">
                  <a:avLst/>
                </a:prstGeom>
                <a:solidFill>
                  <a:srgbClr val="CC020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269" name="Oval 35"/>
                <p:cNvSpPr>
                  <a:spLocks noChangeArrowheads="1"/>
                </p:cNvSpPr>
                <p:nvPr/>
              </p:nvSpPr>
              <p:spPr bwMode="auto">
                <a:xfrm>
                  <a:off x="336" y="1536"/>
                  <a:ext cx="449" cy="194"/>
                </a:xfrm>
                <a:prstGeom prst="ellipse">
                  <a:avLst/>
                </a:prstGeom>
                <a:solidFill>
                  <a:srgbClr val="CC020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270" name="Oval 36"/>
                <p:cNvSpPr>
                  <a:spLocks noChangeArrowheads="1"/>
                </p:cNvSpPr>
                <p:nvPr/>
              </p:nvSpPr>
              <p:spPr bwMode="auto">
                <a:xfrm>
                  <a:off x="336" y="1428"/>
                  <a:ext cx="449" cy="195"/>
                </a:xfrm>
                <a:prstGeom prst="ellipse">
                  <a:avLst/>
                </a:prstGeom>
                <a:solidFill>
                  <a:srgbClr val="CC020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grpSp>
              <p:nvGrpSpPr>
                <p:cNvPr id="271" name="Group 37"/>
                <p:cNvGrpSpPr>
                  <a:grpSpLocks/>
                </p:cNvGrpSpPr>
                <p:nvPr/>
              </p:nvGrpSpPr>
              <p:grpSpPr bwMode="auto">
                <a:xfrm>
                  <a:off x="419" y="1454"/>
                  <a:ext cx="283" cy="143"/>
                  <a:chOff x="1100" y="1711"/>
                  <a:chExt cx="283" cy="143"/>
                </a:xfrm>
              </p:grpSpPr>
              <p:sp>
                <p:nvSpPr>
                  <p:cNvPr id="277" name="Freeform 38"/>
                  <p:cNvSpPr>
                    <a:spLocks/>
                  </p:cNvSpPr>
                  <p:nvPr/>
                </p:nvSpPr>
                <p:spPr bwMode="auto">
                  <a:xfrm>
                    <a:off x="1100" y="1711"/>
                    <a:ext cx="128" cy="56"/>
                  </a:xfrm>
                  <a:custGeom>
                    <a:avLst/>
                    <a:gdLst>
                      <a:gd name="T0" fmla="*/ 0 w 128"/>
                      <a:gd name="T1" fmla="*/ 10 h 56"/>
                      <a:gd name="T2" fmla="*/ 31 w 128"/>
                      <a:gd name="T3" fmla="*/ 0 h 56"/>
                      <a:gd name="T4" fmla="*/ 97 w 128"/>
                      <a:gd name="T5" fmla="*/ 31 h 56"/>
                      <a:gd name="T6" fmla="*/ 128 w 128"/>
                      <a:gd name="T7" fmla="*/ 20 h 56"/>
                      <a:gd name="T8" fmla="*/ 119 w 128"/>
                      <a:gd name="T9" fmla="*/ 56 h 56"/>
                      <a:gd name="T10" fmla="*/ 31 w 128"/>
                      <a:gd name="T11" fmla="*/ 56 h 56"/>
                      <a:gd name="T12" fmla="*/ 71 w 128"/>
                      <a:gd name="T13" fmla="*/ 46 h 56"/>
                      <a:gd name="T14" fmla="*/ 0 w 128"/>
                      <a:gd name="T15" fmla="*/ 10 h 5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8" h="56">
                        <a:moveTo>
                          <a:pt x="0" y="10"/>
                        </a:moveTo>
                        <a:lnTo>
                          <a:pt x="31" y="0"/>
                        </a:lnTo>
                        <a:lnTo>
                          <a:pt x="97" y="31"/>
                        </a:lnTo>
                        <a:lnTo>
                          <a:pt x="128" y="20"/>
                        </a:lnTo>
                        <a:lnTo>
                          <a:pt x="119" y="56"/>
                        </a:lnTo>
                        <a:lnTo>
                          <a:pt x="31" y="56"/>
                        </a:lnTo>
                        <a:lnTo>
                          <a:pt x="71" y="46"/>
                        </a:lnTo>
                        <a:lnTo>
                          <a:pt x="0"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8" name="Freeform 39"/>
                  <p:cNvSpPr>
                    <a:spLocks/>
                  </p:cNvSpPr>
                  <p:nvPr/>
                </p:nvSpPr>
                <p:spPr bwMode="auto">
                  <a:xfrm>
                    <a:off x="1100" y="1711"/>
                    <a:ext cx="128" cy="56"/>
                  </a:xfrm>
                  <a:custGeom>
                    <a:avLst/>
                    <a:gdLst>
                      <a:gd name="T0" fmla="*/ 0 w 128"/>
                      <a:gd name="T1" fmla="*/ 10 h 56"/>
                      <a:gd name="T2" fmla="*/ 31 w 128"/>
                      <a:gd name="T3" fmla="*/ 0 h 56"/>
                      <a:gd name="T4" fmla="*/ 97 w 128"/>
                      <a:gd name="T5" fmla="*/ 31 h 56"/>
                      <a:gd name="T6" fmla="*/ 128 w 128"/>
                      <a:gd name="T7" fmla="*/ 20 h 56"/>
                      <a:gd name="T8" fmla="*/ 119 w 128"/>
                      <a:gd name="T9" fmla="*/ 56 h 56"/>
                      <a:gd name="T10" fmla="*/ 31 w 128"/>
                      <a:gd name="T11" fmla="*/ 56 h 56"/>
                      <a:gd name="T12" fmla="*/ 71 w 128"/>
                      <a:gd name="T13" fmla="*/ 46 h 56"/>
                      <a:gd name="T14" fmla="*/ 0 w 128"/>
                      <a:gd name="T15" fmla="*/ 10 h 5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8" h="56">
                        <a:moveTo>
                          <a:pt x="0" y="10"/>
                        </a:moveTo>
                        <a:lnTo>
                          <a:pt x="31" y="0"/>
                        </a:lnTo>
                        <a:lnTo>
                          <a:pt x="97" y="31"/>
                        </a:lnTo>
                        <a:lnTo>
                          <a:pt x="128" y="20"/>
                        </a:lnTo>
                        <a:lnTo>
                          <a:pt x="119" y="56"/>
                        </a:lnTo>
                        <a:lnTo>
                          <a:pt x="31" y="56"/>
                        </a:lnTo>
                        <a:lnTo>
                          <a:pt x="71" y="46"/>
                        </a:lnTo>
                        <a:lnTo>
                          <a:pt x="0"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9" name="Freeform 40"/>
                  <p:cNvSpPr>
                    <a:spLocks/>
                  </p:cNvSpPr>
                  <p:nvPr/>
                </p:nvSpPr>
                <p:spPr bwMode="auto">
                  <a:xfrm>
                    <a:off x="1250" y="1803"/>
                    <a:ext cx="133" cy="51"/>
                  </a:xfrm>
                  <a:custGeom>
                    <a:avLst/>
                    <a:gdLst>
                      <a:gd name="T0" fmla="*/ 133 w 133"/>
                      <a:gd name="T1" fmla="*/ 41 h 51"/>
                      <a:gd name="T2" fmla="*/ 102 w 133"/>
                      <a:gd name="T3" fmla="*/ 51 h 51"/>
                      <a:gd name="T4" fmla="*/ 31 w 133"/>
                      <a:gd name="T5" fmla="*/ 25 h 51"/>
                      <a:gd name="T6" fmla="*/ 0 w 133"/>
                      <a:gd name="T7" fmla="*/ 41 h 51"/>
                      <a:gd name="T8" fmla="*/ 9 w 133"/>
                      <a:gd name="T9" fmla="*/ 0 h 51"/>
                      <a:gd name="T10" fmla="*/ 102 w 133"/>
                      <a:gd name="T11" fmla="*/ 0 h 51"/>
                      <a:gd name="T12" fmla="*/ 66 w 133"/>
                      <a:gd name="T13" fmla="*/ 15 h 51"/>
                      <a:gd name="T14" fmla="*/ 133 w 133"/>
                      <a:gd name="T15" fmla="*/ 41 h 5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3" h="51">
                        <a:moveTo>
                          <a:pt x="133" y="41"/>
                        </a:moveTo>
                        <a:lnTo>
                          <a:pt x="102" y="51"/>
                        </a:lnTo>
                        <a:lnTo>
                          <a:pt x="31" y="25"/>
                        </a:lnTo>
                        <a:lnTo>
                          <a:pt x="0" y="41"/>
                        </a:lnTo>
                        <a:lnTo>
                          <a:pt x="9" y="0"/>
                        </a:lnTo>
                        <a:lnTo>
                          <a:pt x="102" y="0"/>
                        </a:lnTo>
                        <a:lnTo>
                          <a:pt x="66" y="15"/>
                        </a:lnTo>
                        <a:lnTo>
                          <a:pt x="133"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0" name="Freeform 41"/>
                  <p:cNvSpPr>
                    <a:spLocks/>
                  </p:cNvSpPr>
                  <p:nvPr/>
                </p:nvSpPr>
                <p:spPr bwMode="auto">
                  <a:xfrm>
                    <a:off x="1250" y="1803"/>
                    <a:ext cx="133" cy="51"/>
                  </a:xfrm>
                  <a:custGeom>
                    <a:avLst/>
                    <a:gdLst>
                      <a:gd name="T0" fmla="*/ 133 w 133"/>
                      <a:gd name="T1" fmla="*/ 41 h 51"/>
                      <a:gd name="T2" fmla="*/ 102 w 133"/>
                      <a:gd name="T3" fmla="*/ 51 h 51"/>
                      <a:gd name="T4" fmla="*/ 31 w 133"/>
                      <a:gd name="T5" fmla="*/ 25 h 51"/>
                      <a:gd name="T6" fmla="*/ 0 w 133"/>
                      <a:gd name="T7" fmla="*/ 41 h 51"/>
                      <a:gd name="T8" fmla="*/ 9 w 133"/>
                      <a:gd name="T9" fmla="*/ 0 h 51"/>
                      <a:gd name="T10" fmla="*/ 102 w 133"/>
                      <a:gd name="T11" fmla="*/ 0 h 51"/>
                      <a:gd name="T12" fmla="*/ 66 w 133"/>
                      <a:gd name="T13" fmla="*/ 15 h 51"/>
                      <a:gd name="T14" fmla="*/ 133 w 133"/>
                      <a:gd name="T15" fmla="*/ 41 h 5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3" h="51">
                        <a:moveTo>
                          <a:pt x="133" y="41"/>
                        </a:moveTo>
                        <a:lnTo>
                          <a:pt x="102" y="51"/>
                        </a:lnTo>
                        <a:lnTo>
                          <a:pt x="31" y="25"/>
                        </a:lnTo>
                        <a:lnTo>
                          <a:pt x="0" y="41"/>
                        </a:lnTo>
                        <a:lnTo>
                          <a:pt x="9" y="0"/>
                        </a:lnTo>
                        <a:lnTo>
                          <a:pt x="102" y="0"/>
                        </a:lnTo>
                        <a:lnTo>
                          <a:pt x="66" y="15"/>
                        </a:lnTo>
                        <a:lnTo>
                          <a:pt x="133"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72" name="Group 42"/>
                <p:cNvGrpSpPr>
                  <a:grpSpLocks/>
                </p:cNvGrpSpPr>
                <p:nvPr/>
              </p:nvGrpSpPr>
              <p:grpSpPr bwMode="auto">
                <a:xfrm>
                  <a:off x="428" y="1454"/>
                  <a:ext cx="265" cy="143"/>
                  <a:chOff x="1109" y="1711"/>
                  <a:chExt cx="265" cy="143"/>
                </a:xfrm>
              </p:grpSpPr>
              <p:sp>
                <p:nvSpPr>
                  <p:cNvPr id="273" name="Freeform 43"/>
                  <p:cNvSpPr>
                    <a:spLocks/>
                  </p:cNvSpPr>
                  <p:nvPr/>
                </p:nvSpPr>
                <p:spPr bwMode="auto">
                  <a:xfrm>
                    <a:off x="1241" y="1711"/>
                    <a:ext cx="133" cy="56"/>
                  </a:xfrm>
                  <a:custGeom>
                    <a:avLst/>
                    <a:gdLst>
                      <a:gd name="T0" fmla="*/ 0 w 133"/>
                      <a:gd name="T1" fmla="*/ 46 h 56"/>
                      <a:gd name="T2" fmla="*/ 31 w 133"/>
                      <a:gd name="T3" fmla="*/ 56 h 56"/>
                      <a:gd name="T4" fmla="*/ 97 w 133"/>
                      <a:gd name="T5" fmla="*/ 20 h 56"/>
                      <a:gd name="T6" fmla="*/ 133 w 133"/>
                      <a:gd name="T7" fmla="*/ 31 h 56"/>
                      <a:gd name="T8" fmla="*/ 120 w 133"/>
                      <a:gd name="T9" fmla="*/ 0 h 56"/>
                      <a:gd name="T10" fmla="*/ 31 w 133"/>
                      <a:gd name="T11" fmla="*/ 0 h 56"/>
                      <a:gd name="T12" fmla="*/ 75 w 133"/>
                      <a:gd name="T13" fmla="*/ 10 h 56"/>
                      <a:gd name="T14" fmla="*/ 0 w 133"/>
                      <a:gd name="T15" fmla="*/ 46 h 5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3" h="56">
                        <a:moveTo>
                          <a:pt x="0" y="46"/>
                        </a:moveTo>
                        <a:lnTo>
                          <a:pt x="31" y="56"/>
                        </a:lnTo>
                        <a:lnTo>
                          <a:pt x="97" y="20"/>
                        </a:lnTo>
                        <a:lnTo>
                          <a:pt x="133" y="31"/>
                        </a:lnTo>
                        <a:lnTo>
                          <a:pt x="120" y="0"/>
                        </a:lnTo>
                        <a:lnTo>
                          <a:pt x="31" y="0"/>
                        </a:lnTo>
                        <a:lnTo>
                          <a:pt x="75" y="10"/>
                        </a:lnTo>
                        <a:lnTo>
                          <a:pt x="0"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4" name="Freeform 44"/>
                  <p:cNvSpPr>
                    <a:spLocks/>
                  </p:cNvSpPr>
                  <p:nvPr/>
                </p:nvSpPr>
                <p:spPr bwMode="auto">
                  <a:xfrm>
                    <a:off x="1241" y="1711"/>
                    <a:ext cx="133" cy="56"/>
                  </a:xfrm>
                  <a:custGeom>
                    <a:avLst/>
                    <a:gdLst>
                      <a:gd name="T0" fmla="*/ 0 w 133"/>
                      <a:gd name="T1" fmla="*/ 46 h 56"/>
                      <a:gd name="T2" fmla="*/ 31 w 133"/>
                      <a:gd name="T3" fmla="*/ 56 h 56"/>
                      <a:gd name="T4" fmla="*/ 97 w 133"/>
                      <a:gd name="T5" fmla="*/ 20 h 56"/>
                      <a:gd name="T6" fmla="*/ 133 w 133"/>
                      <a:gd name="T7" fmla="*/ 31 h 56"/>
                      <a:gd name="T8" fmla="*/ 120 w 133"/>
                      <a:gd name="T9" fmla="*/ 0 h 56"/>
                      <a:gd name="T10" fmla="*/ 31 w 133"/>
                      <a:gd name="T11" fmla="*/ 0 h 56"/>
                      <a:gd name="T12" fmla="*/ 75 w 133"/>
                      <a:gd name="T13" fmla="*/ 10 h 56"/>
                      <a:gd name="T14" fmla="*/ 0 w 133"/>
                      <a:gd name="T15" fmla="*/ 46 h 5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3" h="56">
                        <a:moveTo>
                          <a:pt x="0" y="46"/>
                        </a:moveTo>
                        <a:lnTo>
                          <a:pt x="31" y="56"/>
                        </a:lnTo>
                        <a:lnTo>
                          <a:pt x="97" y="20"/>
                        </a:lnTo>
                        <a:lnTo>
                          <a:pt x="133" y="31"/>
                        </a:lnTo>
                        <a:lnTo>
                          <a:pt x="120" y="0"/>
                        </a:lnTo>
                        <a:lnTo>
                          <a:pt x="31" y="0"/>
                        </a:lnTo>
                        <a:lnTo>
                          <a:pt x="75" y="10"/>
                        </a:lnTo>
                        <a:lnTo>
                          <a:pt x="0"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5" name="Freeform 45"/>
                  <p:cNvSpPr>
                    <a:spLocks/>
                  </p:cNvSpPr>
                  <p:nvPr/>
                </p:nvSpPr>
                <p:spPr bwMode="auto">
                  <a:xfrm>
                    <a:off x="1109" y="1793"/>
                    <a:ext cx="128" cy="61"/>
                  </a:xfrm>
                  <a:custGeom>
                    <a:avLst/>
                    <a:gdLst>
                      <a:gd name="T0" fmla="*/ 128 w 128"/>
                      <a:gd name="T1" fmla="*/ 10 h 61"/>
                      <a:gd name="T2" fmla="*/ 97 w 128"/>
                      <a:gd name="T3" fmla="*/ 0 h 61"/>
                      <a:gd name="T4" fmla="*/ 31 w 128"/>
                      <a:gd name="T5" fmla="*/ 35 h 61"/>
                      <a:gd name="T6" fmla="*/ 0 w 128"/>
                      <a:gd name="T7" fmla="*/ 25 h 61"/>
                      <a:gd name="T8" fmla="*/ 9 w 128"/>
                      <a:gd name="T9" fmla="*/ 61 h 61"/>
                      <a:gd name="T10" fmla="*/ 97 w 128"/>
                      <a:gd name="T11" fmla="*/ 61 h 61"/>
                      <a:gd name="T12" fmla="*/ 58 w 128"/>
                      <a:gd name="T13" fmla="*/ 51 h 61"/>
                      <a:gd name="T14" fmla="*/ 128 w 128"/>
                      <a:gd name="T15" fmla="*/ 1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8" h="61">
                        <a:moveTo>
                          <a:pt x="128" y="10"/>
                        </a:moveTo>
                        <a:lnTo>
                          <a:pt x="97" y="0"/>
                        </a:lnTo>
                        <a:lnTo>
                          <a:pt x="31" y="35"/>
                        </a:lnTo>
                        <a:lnTo>
                          <a:pt x="0" y="25"/>
                        </a:lnTo>
                        <a:lnTo>
                          <a:pt x="9" y="61"/>
                        </a:lnTo>
                        <a:lnTo>
                          <a:pt x="97" y="61"/>
                        </a:lnTo>
                        <a:lnTo>
                          <a:pt x="58" y="51"/>
                        </a:lnTo>
                        <a:lnTo>
                          <a:pt x="128"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 name="Freeform 46"/>
                  <p:cNvSpPr>
                    <a:spLocks/>
                  </p:cNvSpPr>
                  <p:nvPr/>
                </p:nvSpPr>
                <p:spPr bwMode="auto">
                  <a:xfrm>
                    <a:off x="1109" y="1793"/>
                    <a:ext cx="128" cy="61"/>
                  </a:xfrm>
                  <a:custGeom>
                    <a:avLst/>
                    <a:gdLst>
                      <a:gd name="T0" fmla="*/ 128 w 128"/>
                      <a:gd name="T1" fmla="*/ 10 h 61"/>
                      <a:gd name="T2" fmla="*/ 97 w 128"/>
                      <a:gd name="T3" fmla="*/ 0 h 61"/>
                      <a:gd name="T4" fmla="*/ 31 w 128"/>
                      <a:gd name="T5" fmla="*/ 35 h 61"/>
                      <a:gd name="T6" fmla="*/ 0 w 128"/>
                      <a:gd name="T7" fmla="*/ 25 h 61"/>
                      <a:gd name="T8" fmla="*/ 9 w 128"/>
                      <a:gd name="T9" fmla="*/ 61 h 61"/>
                      <a:gd name="T10" fmla="*/ 97 w 128"/>
                      <a:gd name="T11" fmla="*/ 61 h 61"/>
                      <a:gd name="T12" fmla="*/ 58 w 128"/>
                      <a:gd name="T13" fmla="*/ 51 h 61"/>
                      <a:gd name="T14" fmla="*/ 128 w 128"/>
                      <a:gd name="T15" fmla="*/ 1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8" h="61">
                        <a:moveTo>
                          <a:pt x="128" y="10"/>
                        </a:moveTo>
                        <a:lnTo>
                          <a:pt x="97" y="0"/>
                        </a:lnTo>
                        <a:lnTo>
                          <a:pt x="31" y="35"/>
                        </a:lnTo>
                        <a:lnTo>
                          <a:pt x="0" y="25"/>
                        </a:lnTo>
                        <a:lnTo>
                          <a:pt x="9" y="61"/>
                        </a:lnTo>
                        <a:lnTo>
                          <a:pt x="97" y="61"/>
                        </a:lnTo>
                        <a:lnTo>
                          <a:pt x="58" y="51"/>
                        </a:lnTo>
                        <a:lnTo>
                          <a:pt x="128"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265" name="Rectangle 47"/>
              <p:cNvSpPr>
                <a:spLocks noChangeArrowheads="1"/>
              </p:cNvSpPr>
              <p:nvPr/>
            </p:nvSpPr>
            <p:spPr bwMode="auto">
              <a:xfrm>
                <a:off x="4176" y="3312"/>
                <a:ext cx="378" cy="179"/>
              </a:xfrm>
              <a:prstGeom prst="rect">
                <a:avLst/>
              </a:prstGeom>
              <a:solidFill>
                <a:schemeClr val="tx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GB" altLang="en-US" sz="1200">
                    <a:solidFill>
                      <a:schemeClr val="bg1"/>
                    </a:solidFill>
                  </a:rPr>
                  <a:t>L1-L2</a:t>
                </a:r>
              </a:p>
            </p:txBody>
          </p:sp>
        </p:grpSp>
        <p:grpSp>
          <p:nvGrpSpPr>
            <p:cNvPr id="159" name="Group 48"/>
            <p:cNvGrpSpPr>
              <a:grpSpLocks/>
            </p:cNvGrpSpPr>
            <p:nvPr/>
          </p:nvGrpSpPr>
          <p:grpSpPr bwMode="auto">
            <a:xfrm>
              <a:off x="3962400" y="2743200"/>
              <a:ext cx="963613" cy="631825"/>
              <a:chOff x="2544" y="2448"/>
              <a:chExt cx="607" cy="398"/>
            </a:xfrm>
          </p:grpSpPr>
          <p:grpSp>
            <p:nvGrpSpPr>
              <p:cNvPr id="247" name="Group 49"/>
              <p:cNvGrpSpPr>
                <a:grpSpLocks/>
              </p:cNvGrpSpPr>
              <p:nvPr/>
            </p:nvGrpSpPr>
            <p:grpSpPr bwMode="auto">
              <a:xfrm>
                <a:off x="2544" y="2448"/>
                <a:ext cx="607" cy="398"/>
                <a:chOff x="331" y="1428"/>
                <a:chExt cx="463" cy="302"/>
              </a:xfrm>
            </p:grpSpPr>
            <p:sp>
              <p:nvSpPr>
                <p:cNvPr id="249" name="Rectangle 50"/>
                <p:cNvSpPr>
                  <a:spLocks noChangeArrowheads="1"/>
                </p:cNvSpPr>
                <p:nvPr/>
              </p:nvSpPr>
              <p:spPr bwMode="auto">
                <a:xfrm>
                  <a:off x="340" y="1541"/>
                  <a:ext cx="454" cy="10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250" name="Oval 51"/>
                <p:cNvSpPr>
                  <a:spLocks noChangeArrowheads="1"/>
                </p:cNvSpPr>
                <p:nvPr/>
              </p:nvSpPr>
              <p:spPr bwMode="auto">
                <a:xfrm>
                  <a:off x="344" y="1444"/>
                  <a:ext cx="450" cy="19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251" name="Rectangle 52"/>
                <p:cNvSpPr>
                  <a:spLocks noChangeArrowheads="1"/>
                </p:cNvSpPr>
                <p:nvPr/>
              </p:nvSpPr>
              <p:spPr bwMode="auto">
                <a:xfrm>
                  <a:off x="331" y="1525"/>
                  <a:ext cx="454" cy="108"/>
                </a:xfrm>
                <a:prstGeom prst="rect">
                  <a:avLst/>
                </a:prstGeom>
                <a:solidFill>
                  <a:srgbClr val="CC020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252" name="Oval 53"/>
                <p:cNvSpPr>
                  <a:spLocks noChangeArrowheads="1"/>
                </p:cNvSpPr>
                <p:nvPr/>
              </p:nvSpPr>
              <p:spPr bwMode="auto">
                <a:xfrm>
                  <a:off x="336" y="1536"/>
                  <a:ext cx="449" cy="194"/>
                </a:xfrm>
                <a:prstGeom prst="ellipse">
                  <a:avLst/>
                </a:prstGeom>
                <a:solidFill>
                  <a:srgbClr val="CC020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253" name="Oval 54"/>
                <p:cNvSpPr>
                  <a:spLocks noChangeArrowheads="1"/>
                </p:cNvSpPr>
                <p:nvPr/>
              </p:nvSpPr>
              <p:spPr bwMode="auto">
                <a:xfrm>
                  <a:off x="336" y="1428"/>
                  <a:ext cx="449" cy="195"/>
                </a:xfrm>
                <a:prstGeom prst="ellipse">
                  <a:avLst/>
                </a:prstGeom>
                <a:solidFill>
                  <a:srgbClr val="CC020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grpSp>
              <p:nvGrpSpPr>
                <p:cNvPr id="254" name="Group 55"/>
                <p:cNvGrpSpPr>
                  <a:grpSpLocks/>
                </p:cNvGrpSpPr>
                <p:nvPr/>
              </p:nvGrpSpPr>
              <p:grpSpPr bwMode="auto">
                <a:xfrm>
                  <a:off x="419" y="1454"/>
                  <a:ext cx="283" cy="143"/>
                  <a:chOff x="1100" y="1711"/>
                  <a:chExt cx="283" cy="143"/>
                </a:xfrm>
              </p:grpSpPr>
              <p:sp>
                <p:nvSpPr>
                  <p:cNvPr id="260" name="Freeform 56"/>
                  <p:cNvSpPr>
                    <a:spLocks/>
                  </p:cNvSpPr>
                  <p:nvPr/>
                </p:nvSpPr>
                <p:spPr bwMode="auto">
                  <a:xfrm>
                    <a:off x="1100" y="1711"/>
                    <a:ext cx="128" cy="56"/>
                  </a:xfrm>
                  <a:custGeom>
                    <a:avLst/>
                    <a:gdLst>
                      <a:gd name="T0" fmla="*/ 0 w 128"/>
                      <a:gd name="T1" fmla="*/ 10 h 56"/>
                      <a:gd name="T2" fmla="*/ 31 w 128"/>
                      <a:gd name="T3" fmla="*/ 0 h 56"/>
                      <a:gd name="T4" fmla="*/ 97 w 128"/>
                      <a:gd name="T5" fmla="*/ 31 h 56"/>
                      <a:gd name="T6" fmla="*/ 128 w 128"/>
                      <a:gd name="T7" fmla="*/ 20 h 56"/>
                      <a:gd name="T8" fmla="*/ 119 w 128"/>
                      <a:gd name="T9" fmla="*/ 56 h 56"/>
                      <a:gd name="T10" fmla="*/ 31 w 128"/>
                      <a:gd name="T11" fmla="*/ 56 h 56"/>
                      <a:gd name="T12" fmla="*/ 71 w 128"/>
                      <a:gd name="T13" fmla="*/ 46 h 56"/>
                      <a:gd name="T14" fmla="*/ 0 w 128"/>
                      <a:gd name="T15" fmla="*/ 10 h 5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8" h="56">
                        <a:moveTo>
                          <a:pt x="0" y="10"/>
                        </a:moveTo>
                        <a:lnTo>
                          <a:pt x="31" y="0"/>
                        </a:lnTo>
                        <a:lnTo>
                          <a:pt x="97" y="31"/>
                        </a:lnTo>
                        <a:lnTo>
                          <a:pt x="128" y="20"/>
                        </a:lnTo>
                        <a:lnTo>
                          <a:pt x="119" y="56"/>
                        </a:lnTo>
                        <a:lnTo>
                          <a:pt x="31" y="56"/>
                        </a:lnTo>
                        <a:lnTo>
                          <a:pt x="71" y="46"/>
                        </a:lnTo>
                        <a:lnTo>
                          <a:pt x="0"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1" name="Freeform 57"/>
                  <p:cNvSpPr>
                    <a:spLocks/>
                  </p:cNvSpPr>
                  <p:nvPr/>
                </p:nvSpPr>
                <p:spPr bwMode="auto">
                  <a:xfrm>
                    <a:off x="1100" y="1711"/>
                    <a:ext cx="128" cy="56"/>
                  </a:xfrm>
                  <a:custGeom>
                    <a:avLst/>
                    <a:gdLst>
                      <a:gd name="T0" fmla="*/ 0 w 128"/>
                      <a:gd name="T1" fmla="*/ 10 h 56"/>
                      <a:gd name="T2" fmla="*/ 31 w 128"/>
                      <a:gd name="T3" fmla="*/ 0 h 56"/>
                      <a:gd name="T4" fmla="*/ 97 w 128"/>
                      <a:gd name="T5" fmla="*/ 31 h 56"/>
                      <a:gd name="T6" fmla="*/ 128 w 128"/>
                      <a:gd name="T7" fmla="*/ 20 h 56"/>
                      <a:gd name="T8" fmla="*/ 119 w 128"/>
                      <a:gd name="T9" fmla="*/ 56 h 56"/>
                      <a:gd name="T10" fmla="*/ 31 w 128"/>
                      <a:gd name="T11" fmla="*/ 56 h 56"/>
                      <a:gd name="T12" fmla="*/ 71 w 128"/>
                      <a:gd name="T13" fmla="*/ 46 h 56"/>
                      <a:gd name="T14" fmla="*/ 0 w 128"/>
                      <a:gd name="T15" fmla="*/ 10 h 5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8" h="56">
                        <a:moveTo>
                          <a:pt x="0" y="10"/>
                        </a:moveTo>
                        <a:lnTo>
                          <a:pt x="31" y="0"/>
                        </a:lnTo>
                        <a:lnTo>
                          <a:pt x="97" y="31"/>
                        </a:lnTo>
                        <a:lnTo>
                          <a:pt x="128" y="20"/>
                        </a:lnTo>
                        <a:lnTo>
                          <a:pt x="119" y="56"/>
                        </a:lnTo>
                        <a:lnTo>
                          <a:pt x="31" y="56"/>
                        </a:lnTo>
                        <a:lnTo>
                          <a:pt x="71" y="46"/>
                        </a:lnTo>
                        <a:lnTo>
                          <a:pt x="0"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2" name="Freeform 58"/>
                  <p:cNvSpPr>
                    <a:spLocks/>
                  </p:cNvSpPr>
                  <p:nvPr/>
                </p:nvSpPr>
                <p:spPr bwMode="auto">
                  <a:xfrm>
                    <a:off x="1250" y="1803"/>
                    <a:ext cx="133" cy="51"/>
                  </a:xfrm>
                  <a:custGeom>
                    <a:avLst/>
                    <a:gdLst>
                      <a:gd name="T0" fmla="*/ 133 w 133"/>
                      <a:gd name="T1" fmla="*/ 41 h 51"/>
                      <a:gd name="T2" fmla="*/ 102 w 133"/>
                      <a:gd name="T3" fmla="*/ 51 h 51"/>
                      <a:gd name="T4" fmla="*/ 31 w 133"/>
                      <a:gd name="T5" fmla="*/ 25 h 51"/>
                      <a:gd name="T6" fmla="*/ 0 w 133"/>
                      <a:gd name="T7" fmla="*/ 41 h 51"/>
                      <a:gd name="T8" fmla="*/ 9 w 133"/>
                      <a:gd name="T9" fmla="*/ 0 h 51"/>
                      <a:gd name="T10" fmla="*/ 102 w 133"/>
                      <a:gd name="T11" fmla="*/ 0 h 51"/>
                      <a:gd name="T12" fmla="*/ 66 w 133"/>
                      <a:gd name="T13" fmla="*/ 15 h 51"/>
                      <a:gd name="T14" fmla="*/ 133 w 133"/>
                      <a:gd name="T15" fmla="*/ 41 h 5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3" h="51">
                        <a:moveTo>
                          <a:pt x="133" y="41"/>
                        </a:moveTo>
                        <a:lnTo>
                          <a:pt x="102" y="51"/>
                        </a:lnTo>
                        <a:lnTo>
                          <a:pt x="31" y="25"/>
                        </a:lnTo>
                        <a:lnTo>
                          <a:pt x="0" y="41"/>
                        </a:lnTo>
                        <a:lnTo>
                          <a:pt x="9" y="0"/>
                        </a:lnTo>
                        <a:lnTo>
                          <a:pt x="102" y="0"/>
                        </a:lnTo>
                        <a:lnTo>
                          <a:pt x="66" y="15"/>
                        </a:lnTo>
                        <a:lnTo>
                          <a:pt x="133"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3" name="Freeform 59"/>
                  <p:cNvSpPr>
                    <a:spLocks/>
                  </p:cNvSpPr>
                  <p:nvPr/>
                </p:nvSpPr>
                <p:spPr bwMode="auto">
                  <a:xfrm>
                    <a:off x="1250" y="1803"/>
                    <a:ext cx="133" cy="51"/>
                  </a:xfrm>
                  <a:custGeom>
                    <a:avLst/>
                    <a:gdLst>
                      <a:gd name="T0" fmla="*/ 133 w 133"/>
                      <a:gd name="T1" fmla="*/ 41 h 51"/>
                      <a:gd name="T2" fmla="*/ 102 w 133"/>
                      <a:gd name="T3" fmla="*/ 51 h 51"/>
                      <a:gd name="T4" fmla="*/ 31 w 133"/>
                      <a:gd name="T5" fmla="*/ 25 h 51"/>
                      <a:gd name="T6" fmla="*/ 0 w 133"/>
                      <a:gd name="T7" fmla="*/ 41 h 51"/>
                      <a:gd name="T8" fmla="*/ 9 w 133"/>
                      <a:gd name="T9" fmla="*/ 0 h 51"/>
                      <a:gd name="T10" fmla="*/ 102 w 133"/>
                      <a:gd name="T11" fmla="*/ 0 h 51"/>
                      <a:gd name="T12" fmla="*/ 66 w 133"/>
                      <a:gd name="T13" fmla="*/ 15 h 51"/>
                      <a:gd name="T14" fmla="*/ 133 w 133"/>
                      <a:gd name="T15" fmla="*/ 41 h 5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3" h="51">
                        <a:moveTo>
                          <a:pt x="133" y="41"/>
                        </a:moveTo>
                        <a:lnTo>
                          <a:pt x="102" y="51"/>
                        </a:lnTo>
                        <a:lnTo>
                          <a:pt x="31" y="25"/>
                        </a:lnTo>
                        <a:lnTo>
                          <a:pt x="0" y="41"/>
                        </a:lnTo>
                        <a:lnTo>
                          <a:pt x="9" y="0"/>
                        </a:lnTo>
                        <a:lnTo>
                          <a:pt x="102" y="0"/>
                        </a:lnTo>
                        <a:lnTo>
                          <a:pt x="66" y="15"/>
                        </a:lnTo>
                        <a:lnTo>
                          <a:pt x="133"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55" name="Group 60"/>
                <p:cNvGrpSpPr>
                  <a:grpSpLocks/>
                </p:cNvGrpSpPr>
                <p:nvPr/>
              </p:nvGrpSpPr>
              <p:grpSpPr bwMode="auto">
                <a:xfrm>
                  <a:off x="428" y="1454"/>
                  <a:ext cx="265" cy="143"/>
                  <a:chOff x="1109" y="1711"/>
                  <a:chExt cx="265" cy="143"/>
                </a:xfrm>
              </p:grpSpPr>
              <p:sp>
                <p:nvSpPr>
                  <p:cNvPr id="256" name="Freeform 61"/>
                  <p:cNvSpPr>
                    <a:spLocks/>
                  </p:cNvSpPr>
                  <p:nvPr/>
                </p:nvSpPr>
                <p:spPr bwMode="auto">
                  <a:xfrm>
                    <a:off x="1241" y="1711"/>
                    <a:ext cx="133" cy="56"/>
                  </a:xfrm>
                  <a:custGeom>
                    <a:avLst/>
                    <a:gdLst>
                      <a:gd name="T0" fmla="*/ 0 w 133"/>
                      <a:gd name="T1" fmla="*/ 46 h 56"/>
                      <a:gd name="T2" fmla="*/ 31 w 133"/>
                      <a:gd name="T3" fmla="*/ 56 h 56"/>
                      <a:gd name="T4" fmla="*/ 97 w 133"/>
                      <a:gd name="T5" fmla="*/ 20 h 56"/>
                      <a:gd name="T6" fmla="*/ 133 w 133"/>
                      <a:gd name="T7" fmla="*/ 31 h 56"/>
                      <a:gd name="T8" fmla="*/ 120 w 133"/>
                      <a:gd name="T9" fmla="*/ 0 h 56"/>
                      <a:gd name="T10" fmla="*/ 31 w 133"/>
                      <a:gd name="T11" fmla="*/ 0 h 56"/>
                      <a:gd name="T12" fmla="*/ 75 w 133"/>
                      <a:gd name="T13" fmla="*/ 10 h 56"/>
                      <a:gd name="T14" fmla="*/ 0 w 133"/>
                      <a:gd name="T15" fmla="*/ 46 h 5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3" h="56">
                        <a:moveTo>
                          <a:pt x="0" y="46"/>
                        </a:moveTo>
                        <a:lnTo>
                          <a:pt x="31" y="56"/>
                        </a:lnTo>
                        <a:lnTo>
                          <a:pt x="97" y="20"/>
                        </a:lnTo>
                        <a:lnTo>
                          <a:pt x="133" y="31"/>
                        </a:lnTo>
                        <a:lnTo>
                          <a:pt x="120" y="0"/>
                        </a:lnTo>
                        <a:lnTo>
                          <a:pt x="31" y="0"/>
                        </a:lnTo>
                        <a:lnTo>
                          <a:pt x="75" y="10"/>
                        </a:lnTo>
                        <a:lnTo>
                          <a:pt x="0"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7" name="Freeform 62"/>
                  <p:cNvSpPr>
                    <a:spLocks/>
                  </p:cNvSpPr>
                  <p:nvPr/>
                </p:nvSpPr>
                <p:spPr bwMode="auto">
                  <a:xfrm>
                    <a:off x="1241" y="1711"/>
                    <a:ext cx="133" cy="56"/>
                  </a:xfrm>
                  <a:custGeom>
                    <a:avLst/>
                    <a:gdLst>
                      <a:gd name="T0" fmla="*/ 0 w 133"/>
                      <a:gd name="T1" fmla="*/ 46 h 56"/>
                      <a:gd name="T2" fmla="*/ 31 w 133"/>
                      <a:gd name="T3" fmla="*/ 56 h 56"/>
                      <a:gd name="T4" fmla="*/ 97 w 133"/>
                      <a:gd name="T5" fmla="*/ 20 h 56"/>
                      <a:gd name="T6" fmla="*/ 133 w 133"/>
                      <a:gd name="T7" fmla="*/ 31 h 56"/>
                      <a:gd name="T8" fmla="*/ 120 w 133"/>
                      <a:gd name="T9" fmla="*/ 0 h 56"/>
                      <a:gd name="T10" fmla="*/ 31 w 133"/>
                      <a:gd name="T11" fmla="*/ 0 h 56"/>
                      <a:gd name="T12" fmla="*/ 75 w 133"/>
                      <a:gd name="T13" fmla="*/ 10 h 56"/>
                      <a:gd name="T14" fmla="*/ 0 w 133"/>
                      <a:gd name="T15" fmla="*/ 46 h 5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3" h="56">
                        <a:moveTo>
                          <a:pt x="0" y="46"/>
                        </a:moveTo>
                        <a:lnTo>
                          <a:pt x="31" y="56"/>
                        </a:lnTo>
                        <a:lnTo>
                          <a:pt x="97" y="20"/>
                        </a:lnTo>
                        <a:lnTo>
                          <a:pt x="133" y="31"/>
                        </a:lnTo>
                        <a:lnTo>
                          <a:pt x="120" y="0"/>
                        </a:lnTo>
                        <a:lnTo>
                          <a:pt x="31" y="0"/>
                        </a:lnTo>
                        <a:lnTo>
                          <a:pt x="75" y="10"/>
                        </a:lnTo>
                        <a:lnTo>
                          <a:pt x="0"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8" name="Freeform 63"/>
                  <p:cNvSpPr>
                    <a:spLocks/>
                  </p:cNvSpPr>
                  <p:nvPr/>
                </p:nvSpPr>
                <p:spPr bwMode="auto">
                  <a:xfrm>
                    <a:off x="1109" y="1793"/>
                    <a:ext cx="128" cy="61"/>
                  </a:xfrm>
                  <a:custGeom>
                    <a:avLst/>
                    <a:gdLst>
                      <a:gd name="T0" fmla="*/ 128 w 128"/>
                      <a:gd name="T1" fmla="*/ 10 h 61"/>
                      <a:gd name="T2" fmla="*/ 97 w 128"/>
                      <a:gd name="T3" fmla="*/ 0 h 61"/>
                      <a:gd name="T4" fmla="*/ 31 w 128"/>
                      <a:gd name="T5" fmla="*/ 35 h 61"/>
                      <a:gd name="T6" fmla="*/ 0 w 128"/>
                      <a:gd name="T7" fmla="*/ 25 h 61"/>
                      <a:gd name="T8" fmla="*/ 9 w 128"/>
                      <a:gd name="T9" fmla="*/ 61 h 61"/>
                      <a:gd name="T10" fmla="*/ 97 w 128"/>
                      <a:gd name="T11" fmla="*/ 61 h 61"/>
                      <a:gd name="T12" fmla="*/ 58 w 128"/>
                      <a:gd name="T13" fmla="*/ 51 h 61"/>
                      <a:gd name="T14" fmla="*/ 128 w 128"/>
                      <a:gd name="T15" fmla="*/ 1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8" h="61">
                        <a:moveTo>
                          <a:pt x="128" y="10"/>
                        </a:moveTo>
                        <a:lnTo>
                          <a:pt x="97" y="0"/>
                        </a:lnTo>
                        <a:lnTo>
                          <a:pt x="31" y="35"/>
                        </a:lnTo>
                        <a:lnTo>
                          <a:pt x="0" y="25"/>
                        </a:lnTo>
                        <a:lnTo>
                          <a:pt x="9" y="61"/>
                        </a:lnTo>
                        <a:lnTo>
                          <a:pt x="97" y="61"/>
                        </a:lnTo>
                        <a:lnTo>
                          <a:pt x="58" y="51"/>
                        </a:lnTo>
                        <a:lnTo>
                          <a:pt x="128"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9" name="Freeform 64"/>
                  <p:cNvSpPr>
                    <a:spLocks/>
                  </p:cNvSpPr>
                  <p:nvPr/>
                </p:nvSpPr>
                <p:spPr bwMode="auto">
                  <a:xfrm>
                    <a:off x="1109" y="1793"/>
                    <a:ext cx="128" cy="61"/>
                  </a:xfrm>
                  <a:custGeom>
                    <a:avLst/>
                    <a:gdLst>
                      <a:gd name="T0" fmla="*/ 128 w 128"/>
                      <a:gd name="T1" fmla="*/ 10 h 61"/>
                      <a:gd name="T2" fmla="*/ 97 w 128"/>
                      <a:gd name="T3" fmla="*/ 0 h 61"/>
                      <a:gd name="T4" fmla="*/ 31 w 128"/>
                      <a:gd name="T5" fmla="*/ 35 h 61"/>
                      <a:gd name="T6" fmla="*/ 0 w 128"/>
                      <a:gd name="T7" fmla="*/ 25 h 61"/>
                      <a:gd name="T8" fmla="*/ 9 w 128"/>
                      <a:gd name="T9" fmla="*/ 61 h 61"/>
                      <a:gd name="T10" fmla="*/ 97 w 128"/>
                      <a:gd name="T11" fmla="*/ 61 h 61"/>
                      <a:gd name="T12" fmla="*/ 58 w 128"/>
                      <a:gd name="T13" fmla="*/ 51 h 61"/>
                      <a:gd name="T14" fmla="*/ 128 w 128"/>
                      <a:gd name="T15" fmla="*/ 1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8" h="61">
                        <a:moveTo>
                          <a:pt x="128" y="10"/>
                        </a:moveTo>
                        <a:lnTo>
                          <a:pt x="97" y="0"/>
                        </a:lnTo>
                        <a:lnTo>
                          <a:pt x="31" y="35"/>
                        </a:lnTo>
                        <a:lnTo>
                          <a:pt x="0" y="25"/>
                        </a:lnTo>
                        <a:lnTo>
                          <a:pt x="9" y="61"/>
                        </a:lnTo>
                        <a:lnTo>
                          <a:pt x="97" y="61"/>
                        </a:lnTo>
                        <a:lnTo>
                          <a:pt x="58" y="51"/>
                        </a:lnTo>
                        <a:lnTo>
                          <a:pt x="128"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248" name="Rectangle 65"/>
              <p:cNvSpPr>
                <a:spLocks noChangeArrowheads="1"/>
              </p:cNvSpPr>
              <p:nvPr/>
            </p:nvSpPr>
            <p:spPr bwMode="auto">
              <a:xfrm>
                <a:off x="2640" y="2544"/>
                <a:ext cx="378" cy="179"/>
              </a:xfrm>
              <a:prstGeom prst="rect">
                <a:avLst/>
              </a:prstGeom>
              <a:solidFill>
                <a:schemeClr val="tx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GB" altLang="en-US" sz="1200">
                    <a:solidFill>
                      <a:schemeClr val="bg1"/>
                    </a:solidFill>
                  </a:rPr>
                  <a:t>L1-L2</a:t>
                </a:r>
              </a:p>
            </p:txBody>
          </p:sp>
        </p:grpSp>
        <p:grpSp>
          <p:nvGrpSpPr>
            <p:cNvPr id="160" name="Group 84"/>
            <p:cNvGrpSpPr>
              <a:grpSpLocks/>
            </p:cNvGrpSpPr>
            <p:nvPr/>
          </p:nvGrpSpPr>
          <p:grpSpPr bwMode="auto">
            <a:xfrm>
              <a:off x="5943600" y="2286000"/>
              <a:ext cx="1041400" cy="584200"/>
              <a:chOff x="2448" y="3218"/>
              <a:chExt cx="656" cy="368"/>
            </a:xfrm>
          </p:grpSpPr>
          <p:grpSp>
            <p:nvGrpSpPr>
              <p:cNvPr id="220" name="Group 85"/>
              <p:cNvGrpSpPr>
                <a:grpSpLocks/>
              </p:cNvGrpSpPr>
              <p:nvPr/>
            </p:nvGrpSpPr>
            <p:grpSpPr bwMode="auto">
              <a:xfrm>
                <a:off x="2448" y="3218"/>
                <a:ext cx="656" cy="368"/>
                <a:chOff x="2448" y="3218"/>
                <a:chExt cx="656" cy="368"/>
              </a:xfrm>
            </p:grpSpPr>
            <p:sp>
              <p:nvSpPr>
                <p:cNvPr id="222" name="Oval 86"/>
                <p:cNvSpPr>
                  <a:spLocks noChangeArrowheads="1"/>
                </p:cNvSpPr>
                <p:nvPr/>
              </p:nvSpPr>
              <p:spPr bwMode="auto">
                <a:xfrm>
                  <a:off x="2450" y="3371"/>
                  <a:ext cx="654" cy="215"/>
                </a:xfrm>
                <a:prstGeom prst="ellipse">
                  <a:avLst/>
                </a:prstGeom>
                <a:solidFill>
                  <a:srgbClr val="327852"/>
                </a:solidFill>
                <a:ln w="6350">
                  <a:solidFill>
                    <a:srgbClr val="AAE6FF"/>
                  </a:solidFill>
                  <a:round/>
                  <a:headEnd/>
                  <a:tailEnd/>
                </a:ln>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223" name="Rectangle 87"/>
                <p:cNvSpPr>
                  <a:spLocks noChangeArrowheads="1"/>
                </p:cNvSpPr>
                <p:nvPr/>
              </p:nvSpPr>
              <p:spPr bwMode="auto">
                <a:xfrm>
                  <a:off x="2448" y="3327"/>
                  <a:ext cx="654" cy="153"/>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224" name="Rectangle 88"/>
                <p:cNvSpPr>
                  <a:spLocks noChangeArrowheads="1"/>
                </p:cNvSpPr>
                <p:nvPr/>
              </p:nvSpPr>
              <p:spPr bwMode="auto">
                <a:xfrm>
                  <a:off x="2448" y="3327"/>
                  <a:ext cx="654" cy="153"/>
                </a:xfrm>
                <a:prstGeom prst="rect">
                  <a:avLst/>
                </a:prstGeom>
                <a:solidFill>
                  <a:srgbClr val="32785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225" name="Oval 89"/>
                <p:cNvSpPr>
                  <a:spLocks noChangeArrowheads="1"/>
                </p:cNvSpPr>
                <p:nvPr/>
              </p:nvSpPr>
              <p:spPr bwMode="auto">
                <a:xfrm>
                  <a:off x="2450" y="3218"/>
                  <a:ext cx="654" cy="214"/>
                </a:xfrm>
                <a:prstGeom prst="ellipse">
                  <a:avLst/>
                </a:prstGeom>
                <a:solidFill>
                  <a:srgbClr val="17872A"/>
                </a:solidFill>
                <a:ln w="6350">
                  <a:solidFill>
                    <a:srgbClr val="AAE6FF"/>
                  </a:solidFill>
                  <a:round/>
                  <a:headEnd/>
                  <a:tailEnd/>
                </a:ln>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grpSp>
              <p:nvGrpSpPr>
                <p:cNvPr id="226" name="Group 90"/>
                <p:cNvGrpSpPr>
                  <a:grpSpLocks/>
                </p:cNvGrpSpPr>
                <p:nvPr/>
              </p:nvGrpSpPr>
              <p:grpSpPr bwMode="auto">
                <a:xfrm>
                  <a:off x="2570" y="3243"/>
                  <a:ext cx="454" cy="165"/>
                  <a:chOff x="2548" y="3243"/>
                  <a:chExt cx="454" cy="165"/>
                </a:xfrm>
              </p:grpSpPr>
              <p:grpSp>
                <p:nvGrpSpPr>
                  <p:cNvPr id="229" name="Group 91"/>
                  <p:cNvGrpSpPr>
                    <a:grpSpLocks/>
                  </p:cNvGrpSpPr>
                  <p:nvPr/>
                </p:nvGrpSpPr>
                <p:grpSpPr bwMode="auto">
                  <a:xfrm>
                    <a:off x="2548" y="3243"/>
                    <a:ext cx="450" cy="161"/>
                    <a:chOff x="2548" y="3243"/>
                    <a:chExt cx="450" cy="161"/>
                  </a:xfrm>
                </p:grpSpPr>
                <p:sp>
                  <p:nvSpPr>
                    <p:cNvPr id="239" name="Freeform 92"/>
                    <p:cNvSpPr>
                      <a:spLocks/>
                    </p:cNvSpPr>
                    <p:nvPr/>
                  </p:nvSpPr>
                  <p:spPr bwMode="auto">
                    <a:xfrm>
                      <a:off x="2783" y="3247"/>
                      <a:ext cx="215" cy="68"/>
                    </a:xfrm>
                    <a:custGeom>
                      <a:avLst/>
                      <a:gdLst>
                        <a:gd name="T0" fmla="*/ 0 w 645"/>
                        <a:gd name="T1" fmla="*/ 53 h 206"/>
                        <a:gd name="T2" fmla="*/ 47 w 645"/>
                        <a:gd name="T3" fmla="*/ 68 h 206"/>
                        <a:gd name="T4" fmla="*/ 163 w 645"/>
                        <a:gd name="T5" fmla="*/ 23 h 206"/>
                        <a:gd name="T6" fmla="*/ 215 w 645"/>
                        <a:gd name="T7" fmla="*/ 38 h 206"/>
                        <a:gd name="T8" fmla="*/ 187 w 645"/>
                        <a:gd name="T9" fmla="*/ 0 h 206"/>
                        <a:gd name="T10" fmla="*/ 51 w 645"/>
                        <a:gd name="T11" fmla="*/ 0 h 206"/>
                        <a:gd name="T12" fmla="*/ 107 w 645"/>
                        <a:gd name="T13" fmla="*/ 12 h 206"/>
                        <a:gd name="T14" fmla="*/ 0 w 645"/>
                        <a:gd name="T15" fmla="*/ 53 h 2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45" h="206">
                          <a:moveTo>
                            <a:pt x="0" y="160"/>
                          </a:moveTo>
                          <a:lnTo>
                            <a:pt x="142" y="206"/>
                          </a:lnTo>
                          <a:lnTo>
                            <a:pt x="489" y="69"/>
                          </a:lnTo>
                          <a:lnTo>
                            <a:pt x="645" y="114"/>
                          </a:lnTo>
                          <a:lnTo>
                            <a:pt x="561" y="0"/>
                          </a:lnTo>
                          <a:lnTo>
                            <a:pt x="154" y="0"/>
                          </a:lnTo>
                          <a:lnTo>
                            <a:pt x="321" y="35"/>
                          </a:lnTo>
                          <a:lnTo>
                            <a:pt x="0" y="1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0" name="Freeform 93"/>
                    <p:cNvSpPr>
                      <a:spLocks/>
                    </p:cNvSpPr>
                    <p:nvPr/>
                  </p:nvSpPr>
                  <p:spPr bwMode="auto">
                    <a:xfrm>
                      <a:off x="2783" y="3247"/>
                      <a:ext cx="215" cy="68"/>
                    </a:xfrm>
                    <a:custGeom>
                      <a:avLst/>
                      <a:gdLst>
                        <a:gd name="T0" fmla="*/ 0 w 645"/>
                        <a:gd name="T1" fmla="*/ 53 h 206"/>
                        <a:gd name="T2" fmla="*/ 47 w 645"/>
                        <a:gd name="T3" fmla="*/ 68 h 206"/>
                        <a:gd name="T4" fmla="*/ 163 w 645"/>
                        <a:gd name="T5" fmla="*/ 23 h 206"/>
                        <a:gd name="T6" fmla="*/ 215 w 645"/>
                        <a:gd name="T7" fmla="*/ 38 h 206"/>
                        <a:gd name="T8" fmla="*/ 187 w 645"/>
                        <a:gd name="T9" fmla="*/ 0 h 206"/>
                        <a:gd name="T10" fmla="*/ 51 w 645"/>
                        <a:gd name="T11" fmla="*/ 0 h 206"/>
                        <a:gd name="T12" fmla="*/ 107 w 645"/>
                        <a:gd name="T13" fmla="*/ 12 h 206"/>
                        <a:gd name="T14" fmla="*/ 0 w 645"/>
                        <a:gd name="T15" fmla="*/ 53 h 2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45" h="206">
                          <a:moveTo>
                            <a:pt x="0" y="160"/>
                          </a:moveTo>
                          <a:lnTo>
                            <a:pt x="142" y="206"/>
                          </a:lnTo>
                          <a:lnTo>
                            <a:pt x="489" y="69"/>
                          </a:lnTo>
                          <a:lnTo>
                            <a:pt x="645" y="114"/>
                          </a:lnTo>
                          <a:lnTo>
                            <a:pt x="561" y="0"/>
                          </a:lnTo>
                          <a:lnTo>
                            <a:pt x="154" y="0"/>
                          </a:lnTo>
                          <a:lnTo>
                            <a:pt x="321" y="35"/>
                          </a:lnTo>
                          <a:lnTo>
                            <a:pt x="0" y="1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1" name="Freeform 94"/>
                    <p:cNvSpPr>
                      <a:spLocks/>
                    </p:cNvSpPr>
                    <p:nvPr/>
                  </p:nvSpPr>
                  <p:spPr bwMode="auto">
                    <a:xfrm>
                      <a:off x="2548" y="3327"/>
                      <a:ext cx="215" cy="73"/>
                    </a:xfrm>
                    <a:custGeom>
                      <a:avLst/>
                      <a:gdLst>
                        <a:gd name="T0" fmla="*/ 215 w 647"/>
                        <a:gd name="T1" fmla="*/ 15 h 219"/>
                        <a:gd name="T2" fmla="*/ 167 w 647"/>
                        <a:gd name="T3" fmla="*/ 0 h 219"/>
                        <a:gd name="T4" fmla="*/ 56 w 647"/>
                        <a:gd name="T5" fmla="*/ 46 h 219"/>
                        <a:gd name="T6" fmla="*/ 0 w 647"/>
                        <a:gd name="T7" fmla="*/ 31 h 219"/>
                        <a:gd name="T8" fmla="*/ 28 w 647"/>
                        <a:gd name="T9" fmla="*/ 73 h 219"/>
                        <a:gd name="T10" fmla="*/ 167 w 647"/>
                        <a:gd name="T11" fmla="*/ 73 h 219"/>
                        <a:gd name="T12" fmla="*/ 108 w 647"/>
                        <a:gd name="T13" fmla="*/ 57 h 219"/>
                        <a:gd name="T14" fmla="*/ 215 w 647"/>
                        <a:gd name="T15" fmla="*/ 15 h 2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47" h="219">
                          <a:moveTo>
                            <a:pt x="647" y="46"/>
                          </a:moveTo>
                          <a:lnTo>
                            <a:pt x="503" y="0"/>
                          </a:lnTo>
                          <a:lnTo>
                            <a:pt x="168" y="138"/>
                          </a:lnTo>
                          <a:lnTo>
                            <a:pt x="0" y="92"/>
                          </a:lnTo>
                          <a:lnTo>
                            <a:pt x="84" y="219"/>
                          </a:lnTo>
                          <a:lnTo>
                            <a:pt x="503" y="219"/>
                          </a:lnTo>
                          <a:lnTo>
                            <a:pt x="324" y="172"/>
                          </a:lnTo>
                          <a:lnTo>
                            <a:pt x="647"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2" name="Freeform 95"/>
                    <p:cNvSpPr>
                      <a:spLocks/>
                    </p:cNvSpPr>
                    <p:nvPr/>
                  </p:nvSpPr>
                  <p:spPr bwMode="auto">
                    <a:xfrm>
                      <a:off x="2548" y="3327"/>
                      <a:ext cx="215" cy="73"/>
                    </a:xfrm>
                    <a:custGeom>
                      <a:avLst/>
                      <a:gdLst>
                        <a:gd name="T0" fmla="*/ 215 w 647"/>
                        <a:gd name="T1" fmla="*/ 15 h 219"/>
                        <a:gd name="T2" fmla="*/ 167 w 647"/>
                        <a:gd name="T3" fmla="*/ 0 h 219"/>
                        <a:gd name="T4" fmla="*/ 56 w 647"/>
                        <a:gd name="T5" fmla="*/ 46 h 219"/>
                        <a:gd name="T6" fmla="*/ 0 w 647"/>
                        <a:gd name="T7" fmla="*/ 31 h 219"/>
                        <a:gd name="T8" fmla="*/ 28 w 647"/>
                        <a:gd name="T9" fmla="*/ 73 h 219"/>
                        <a:gd name="T10" fmla="*/ 167 w 647"/>
                        <a:gd name="T11" fmla="*/ 73 h 219"/>
                        <a:gd name="T12" fmla="*/ 108 w 647"/>
                        <a:gd name="T13" fmla="*/ 57 h 219"/>
                        <a:gd name="T14" fmla="*/ 215 w 647"/>
                        <a:gd name="T15" fmla="*/ 15 h 2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47" h="219">
                          <a:moveTo>
                            <a:pt x="647" y="46"/>
                          </a:moveTo>
                          <a:lnTo>
                            <a:pt x="503" y="0"/>
                          </a:lnTo>
                          <a:lnTo>
                            <a:pt x="168" y="138"/>
                          </a:lnTo>
                          <a:lnTo>
                            <a:pt x="0" y="92"/>
                          </a:lnTo>
                          <a:lnTo>
                            <a:pt x="84" y="219"/>
                          </a:lnTo>
                          <a:lnTo>
                            <a:pt x="503" y="219"/>
                          </a:lnTo>
                          <a:lnTo>
                            <a:pt x="324" y="172"/>
                          </a:lnTo>
                          <a:lnTo>
                            <a:pt x="647"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3" name="Freeform 96"/>
                    <p:cNvSpPr>
                      <a:spLocks/>
                    </p:cNvSpPr>
                    <p:nvPr/>
                  </p:nvSpPr>
                  <p:spPr bwMode="auto">
                    <a:xfrm>
                      <a:off x="2560" y="3243"/>
                      <a:ext cx="215" cy="69"/>
                    </a:xfrm>
                    <a:custGeom>
                      <a:avLst/>
                      <a:gdLst>
                        <a:gd name="T0" fmla="*/ 0 w 647"/>
                        <a:gd name="T1" fmla="*/ 15 h 206"/>
                        <a:gd name="T2" fmla="*/ 48 w 647"/>
                        <a:gd name="T3" fmla="*/ 0 h 206"/>
                        <a:gd name="T4" fmla="*/ 163 w 647"/>
                        <a:gd name="T5" fmla="*/ 42 h 206"/>
                        <a:gd name="T6" fmla="*/ 215 w 647"/>
                        <a:gd name="T7" fmla="*/ 31 h 206"/>
                        <a:gd name="T8" fmla="*/ 187 w 647"/>
                        <a:gd name="T9" fmla="*/ 69 h 206"/>
                        <a:gd name="T10" fmla="*/ 52 w 647"/>
                        <a:gd name="T11" fmla="*/ 69 h 206"/>
                        <a:gd name="T12" fmla="*/ 107 w 647"/>
                        <a:gd name="T13" fmla="*/ 57 h 206"/>
                        <a:gd name="T14" fmla="*/ 0 w 647"/>
                        <a:gd name="T15" fmla="*/ 15 h 2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47" h="206">
                          <a:moveTo>
                            <a:pt x="0" y="46"/>
                          </a:moveTo>
                          <a:lnTo>
                            <a:pt x="144" y="0"/>
                          </a:lnTo>
                          <a:lnTo>
                            <a:pt x="491" y="125"/>
                          </a:lnTo>
                          <a:lnTo>
                            <a:pt x="647" y="92"/>
                          </a:lnTo>
                          <a:lnTo>
                            <a:pt x="563" y="206"/>
                          </a:lnTo>
                          <a:lnTo>
                            <a:pt x="156" y="206"/>
                          </a:lnTo>
                          <a:lnTo>
                            <a:pt x="323" y="171"/>
                          </a:lnTo>
                          <a:lnTo>
                            <a:pt x="0"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4" name="Freeform 97"/>
                    <p:cNvSpPr>
                      <a:spLocks/>
                    </p:cNvSpPr>
                    <p:nvPr/>
                  </p:nvSpPr>
                  <p:spPr bwMode="auto">
                    <a:xfrm>
                      <a:off x="2560" y="3243"/>
                      <a:ext cx="215" cy="69"/>
                    </a:xfrm>
                    <a:custGeom>
                      <a:avLst/>
                      <a:gdLst>
                        <a:gd name="T0" fmla="*/ 0 w 647"/>
                        <a:gd name="T1" fmla="*/ 15 h 206"/>
                        <a:gd name="T2" fmla="*/ 48 w 647"/>
                        <a:gd name="T3" fmla="*/ 0 h 206"/>
                        <a:gd name="T4" fmla="*/ 163 w 647"/>
                        <a:gd name="T5" fmla="*/ 42 h 206"/>
                        <a:gd name="T6" fmla="*/ 215 w 647"/>
                        <a:gd name="T7" fmla="*/ 31 h 206"/>
                        <a:gd name="T8" fmla="*/ 187 w 647"/>
                        <a:gd name="T9" fmla="*/ 69 h 206"/>
                        <a:gd name="T10" fmla="*/ 52 w 647"/>
                        <a:gd name="T11" fmla="*/ 69 h 206"/>
                        <a:gd name="T12" fmla="*/ 107 w 647"/>
                        <a:gd name="T13" fmla="*/ 57 h 206"/>
                        <a:gd name="T14" fmla="*/ 0 w 647"/>
                        <a:gd name="T15" fmla="*/ 15 h 2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47" h="206">
                          <a:moveTo>
                            <a:pt x="0" y="46"/>
                          </a:moveTo>
                          <a:lnTo>
                            <a:pt x="144" y="0"/>
                          </a:lnTo>
                          <a:lnTo>
                            <a:pt x="491" y="125"/>
                          </a:lnTo>
                          <a:lnTo>
                            <a:pt x="647" y="92"/>
                          </a:lnTo>
                          <a:lnTo>
                            <a:pt x="563" y="206"/>
                          </a:lnTo>
                          <a:lnTo>
                            <a:pt x="156" y="206"/>
                          </a:lnTo>
                          <a:lnTo>
                            <a:pt x="323" y="171"/>
                          </a:lnTo>
                          <a:lnTo>
                            <a:pt x="0"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5" name="Freeform 98"/>
                    <p:cNvSpPr>
                      <a:spLocks/>
                    </p:cNvSpPr>
                    <p:nvPr/>
                  </p:nvSpPr>
                  <p:spPr bwMode="auto">
                    <a:xfrm>
                      <a:off x="2775" y="3335"/>
                      <a:ext cx="215" cy="69"/>
                    </a:xfrm>
                    <a:custGeom>
                      <a:avLst/>
                      <a:gdLst>
                        <a:gd name="T0" fmla="*/ 215 w 645"/>
                        <a:gd name="T1" fmla="*/ 54 h 207"/>
                        <a:gd name="T2" fmla="*/ 167 w 645"/>
                        <a:gd name="T3" fmla="*/ 69 h 207"/>
                        <a:gd name="T4" fmla="*/ 55 w 645"/>
                        <a:gd name="T5" fmla="*/ 23 h 207"/>
                        <a:gd name="T6" fmla="*/ 0 w 645"/>
                        <a:gd name="T7" fmla="*/ 38 h 207"/>
                        <a:gd name="T8" fmla="*/ 27 w 645"/>
                        <a:gd name="T9" fmla="*/ 0 h 207"/>
                        <a:gd name="T10" fmla="*/ 167 w 645"/>
                        <a:gd name="T11" fmla="*/ 0 h 207"/>
                        <a:gd name="T12" fmla="*/ 107 w 645"/>
                        <a:gd name="T13" fmla="*/ 11 h 207"/>
                        <a:gd name="T14" fmla="*/ 215 w 645"/>
                        <a:gd name="T15" fmla="*/ 54 h 20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45" h="207">
                          <a:moveTo>
                            <a:pt x="645" y="161"/>
                          </a:moveTo>
                          <a:lnTo>
                            <a:pt x="501" y="207"/>
                          </a:lnTo>
                          <a:lnTo>
                            <a:pt x="166" y="69"/>
                          </a:lnTo>
                          <a:lnTo>
                            <a:pt x="0" y="115"/>
                          </a:lnTo>
                          <a:lnTo>
                            <a:pt x="82" y="0"/>
                          </a:lnTo>
                          <a:lnTo>
                            <a:pt x="501" y="0"/>
                          </a:lnTo>
                          <a:lnTo>
                            <a:pt x="322" y="34"/>
                          </a:lnTo>
                          <a:lnTo>
                            <a:pt x="645" y="1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 name="Freeform 99"/>
                    <p:cNvSpPr>
                      <a:spLocks/>
                    </p:cNvSpPr>
                    <p:nvPr/>
                  </p:nvSpPr>
                  <p:spPr bwMode="auto">
                    <a:xfrm>
                      <a:off x="2775" y="3335"/>
                      <a:ext cx="215" cy="69"/>
                    </a:xfrm>
                    <a:custGeom>
                      <a:avLst/>
                      <a:gdLst>
                        <a:gd name="T0" fmla="*/ 215 w 645"/>
                        <a:gd name="T1" fmla="*/ 54 h 207"/>
                        <a:gd name="T2" fmla="*/ 167 w 645"/>
                        <a:gd name="T3" fmla="*/ 69 h 207"/>
                        <a:gd name="T4" fmla="*/ 55 w 645"/>
                        <a:gd name="T5" fmla="*/ 23 h 207"/>
                        <a:gd name="T6" fmla="*/ 0 w 645"/>
                        <a:gd name="T7" fmla="*/ 38 h 207"/>
                        <a:gd name="T8" fmla="*/ 27 w 645"/>
                        <a:gd name="T9" fmla="*/ 0 h 207"/>
                        <a:gd name="T10" fmla="*/ 167 w 645"/>
                        <a:gd name="T11" fmla="*/ 0 h 207"/>
                        <a:gd name="T12" fmla="*/ 107 w 645"/>
                        <a:gd name="T13" fmla="*/ 11 h 207"/>
                        <a:gd name="T14" fmla="*/ 215 w 645"/>
                        <a:gd name="T15" fmla="*/ 54 h 20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45" h="207">
                          <a:moveTo>
                            <a:pt x="645" y="161"/>
                          </a:moveTo>
                          <a:lnTo>
                            <a:pt x="501" y="207"/>
                          </a:lnTo>
                          <a:lnTo>
                            <a:pt x="166" y="69"/>
                          </a:lnTo>
                          <a:lnTo>
                            <a:pt x="0" y="115"/>
                          </a:lnTo>
                          <a:lnTo>
                            <a:pt x="82" y="0"/>
                          </a:lnTo>
                          <a:lnTo>
                            <a:pt x="501" y="0"/>
                          </a:lnTo>
                          <a:lnTo>
                            <a:pt x="322" y="34"/>
                          </a:lnTo>
                          <a:lnTo>
                            <a:pt x="645" y="1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30" name="Group 100"/>
                  <p:cNvGrpSpPr>
                    <a:grpSpLocks/>
                  </p:cNvGrpSpPr>
                  <p:nvPr/>
                </p:nvGrpSpPr>
                <p:grpSpPr bwMode="auto">
                  <a:xfrm>
                    <a:off x="2552" y="3247"/>
                    <a:ext cx="450" cy="161"/>
                    <a:chOff x="2552" y="3247"/>
                    <a:chExt cx="450" cy="161"/>
                  </a:xfrm>
                </p:grpSpPr>
                <p:sp>
                  <p:nvSpPr>
                    <p:cNvPr id="231" name="Freeform 101"/>
                    <p:cNvSpPr>
                      <a:spLocks/>
                    </p:cNvSpPr>
                    <p:nvPr/>
                  </p:nvSpPr>
                  <p:spPr bwMode="auto">
                    <a:xfrm>
                      <a:off x="2787" y="3251"/>
                      <a:ext cx="215" cy="68"/>
                    </a:xfrm>
                    <a:custGeom>
                      <a:avLst/>
                      <a:gdLst>
                        <a:gd name="T0" fmla="*/ 0 w 645"/>
                        <a:gd name="T1" fmla="*/ 53 h 206"/>
                        <a:gd name="T2" fmla="*/ 47 w 645"/>
                        <a:gd name="T3" fmla="*/ 68 h 206"/>
                        <a:gd name="T4" fmla="*/ 163 w 645"/>
                        <a:gd name="T5" fmla="*/ 23 h 206"/>
                        <a:gd name="T6" fmla="*/ 215 w 645"/>
                        <a:gd name="T7" fmla="*/ 37 h 206"/>
                        <a:gd name="T8" fmla="*/ 187 w 645"/>
                        <a:gd name="T9" fmla="*/ 0 h 206"/>
                        <a:gd name="T10" fmla="*/ 51 w 645"/>
                        <a:gd name="T11" fmla="*/ 0 h 206"/>
                        <a:gd name="T12" fmla="*/ 107 w 645"/>
                        <a:gd name="T13" fmla="*/ 11 h 206"/>
                        <a:gd name="T14" fmla="*/ 0 w 645"/>
                        <a:gd name="T15" fmla="*/ 53 h 2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45" h="206">
                          <a:moveTo>
                            <a:pt x="0" y="160"/>
                          </a:moveTo>
                          <a:lnTo>
                            <a:pt x="142" y="206"/>
                          </a:lnTo>
                          <a:lnTo>
                            <a:pt x="489" y="69"/>
                          </a:lnTo>
                          <a:lnTo>
                            <a:pt x="645" y="113"/>
                          </a:lnTo>
                          <a:lnTo>
                            <a:pt x="561" y="0"/>
                          </a:lnTo>
                          <a:lnTo>
                            <a:pt x="154" y="0"/>
                          </a:lnTo>
                          <a:lnTo>
                            <a:pt x="321" y="34"/>
                          </a:lnTo>
                          <a:lnTo>
                            <a:pt x="0" y="16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2" name="Freeform 102"/>
                    <p:cNvSpPr>
                      <a:spLocks/>
                    </p:cNvSpPr>
                    <p:nvPr/>
                  </p:nvSpPr>
                  <p:spPr bwMode="auto">
                    <a:xfrm>
                      <a:off x="2787" y="3251"/>
                      <a:ext cx="215" cy="68"/>
                    </a:xfrm>
                    <a:custGeom>
                      <a:avLst/>
                      <a:gdLst>
                        <a:gd name="T0" fmla="*/ 0 w 645"/>
                        <a:gd name="T1" fmla="*/ 53 h 206"/>
                        <a:gd name="T2" fmla="*/ 47 w 645"/>
                        <a:gd name="T3" fmla="*/ 68 h 206"/>
                        <a:gd name="T4" fmla="*/ 163 w 645"/>
                        <a:gd name="T5" fmla="*/ 23 h 206"/>
                        <a:gd name="T6" fmla="*/ 215 w 645"/>
                        <a:gd name="T7" fmla="*/ 37 h 206"/>
                        <a:gd name="T8" fmla="*/ 187 w 645"/>
                        <a:gd name="T9" fmla="*/ 0 h 206"/>
                        <a:gd name="T10" fmla="*/ 51 w 645"/>
                        <a:gd name="T11" fmla="*/ 0 h 206"/>
                        <a:gd name="T12" fmla="*/ 107 w 645"/>
                        <a:gd name="T13" fmla="*/ 11 h 206"/>
                        <a:gd name="T14" fmla="*/ 0 w 645"/>
                        <a:gd name="T15" fmla="*/ 53 h 2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45" h="206">
                          <a:moveTo>
                            <a:pt x="0" y="160"/>
                          </a:moveTo>
                          <a:lnTo>
                            <a:pt x="142" y="206"/>
                          </a:lnTo>
                          <a:lnTo>
                            <a:pt x="489" y="69"/>
                          </a:lnTo>
                          <a:lnTo>
                            <a:pt x="645" y="113"/>
                          </a:lnTo>
                          <a:lnTo>
                            <a:pt x="561" y="0"/>
                          </a:lnTo>
                          <a:lnTo>
                            <a:pt x="154" y="0"/>
                          </a:lnTo>
                          <a:lnTo>
                            <a:pt x="321" y="34"/>
                          </a:lnTo>
                          <a:lnTo>
                            <a:pt x="0" y="16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3" name="Freeform 103"/>
                    <p:cNvSpPr>
                      <a:spLocks/>
                    </p:cNvSpPr>
                    <p:nvPr/>
                  </p:nvSpPr>
                  <p:spPr bwMode="auto">
                    <a:xfrm>
                      <a:off x="2552" y="3331"/>
                      <a:ext cx="215" cy="73"/>
                    </a:xfrm>
                    <a:custGeom>
                      <a:avLst/>
                      <a:gdLst>
                        <a:gd name="T0" fmla="*/ 215 w 647"/>
                        <a:gd name="T1" fmla="*/ 15 h 219"/>
                        <a:gd name="T2" fmla="*/ 167 w 647"/>
                        <a:gd name="T3" fmla="*/ 0 h 219"/>
                        <a:gd name="T4" fmla="*/ 56 w 647"/>
                        <a:gd name="T5" fmla="*/ 46 h 219"/>
                        <a:gd name="T6" fmla="*/ 0 w 647"/>
                        <a:gd name="T7" fmla="*/ 31 h 219"/>
                        <a:gd name="T8" fmla="*/ 28 w 647"/>
                        <a:gd name="T9" fmla="*/ 73 h 219"/>
                        <a:gd name="T10" fmla="*/ 167 w 647"/>
                        <a:gd name="T11" fmla="*/ 73 h 219"/>
                        <a:gd name="T12" fmla="*/ 108 w 647"/>
                        <a:gd name="T13" fmla="*/ 58 h 219"/>
                        <a:gd name="T14" fmla="*/ 215 w 647"/>
                        <a:gd name="T15" fmla="*/ 15 h 2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47" h="219">
                          <a:moveTo>
                            <a:pt x="647" y="46"/>
                          </a:moveTo>
                          <a:lnTo>
                            <a:pt x="503" y="0"/>
                          </a:lnTo>
                          <a:lnTo>
                            <a:pt x="168" y="138"/>
                          </a:lnTo>
                          <a:lnTo>
                            <a:pt x="0" y="92"/>
                          </a:lnTo>
                          <a:lnTo>
                            <a:pt x="84" y="219"/>
                          </a:lnTo>
                          <a:lnTo>
                            <a:pt x="503" y="219"/>
                          </a:lnTo>
                          <a:lnTo>
                            <a:pt x="324" y="173"/>
                          </a:lnTo>
                          <a:lnTo>
                            <a:pt x="647"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4" name="Freeform 104"/>
                    <p:cNvSpPr>
                      <a:spLocks/>
                    </p:cNvSpPr>
                    <p:nvPr/>
                  </p:nvSpPr>
                  <p:spPr bwMode="auto">
                    <a:xfrm>
                      <a:off x="2552" y="3331"/>
                      <a:ext cx="215" cy="73"/>
                    </a:xfrm>
                    <a:custGeom>
                      <a:avLst/>
                      <a:gdLst>
                        <a:gd name="T0" fmla="*/ 215 w 647"/>
                        <a:gd name="T1" fmla="*/ 15 h 219"/>
                        <a:gd name="T2" fmla="*/ 167 w 647"/>
                        <a:gd name="T3" fmla="*/ 0 h 219"/>
                        <a:gd name="T4" fmla="*/ 56 w 647"/>
                        <a:gd name="T5" fmla="*/ 46 h 219"/>
                        <a:gd name="T6" fmla="*/ 0 w 647"/>
                        <a:gd name="T7" fmla="*/ 31 h 219"/>
                        <a:gd name="T8" fmla="*/ 28 w 647"/>
                        <a:gd name="T9" fmla="*/ 73 h 219"/>
                        <a:gd name="T10" fmla="*/ 167 w 647"/>
                        <a:gd name="T11" fmla="*/ 73 h 219"/>
                        <a:gd name="T12" fmla="*/ 108 w 647"/>
                        <a:gd name="T13" fmla="*/ 58 h 219"/>
                        <a:gd name="T14" fmla="*/ 215 w 647"/>
                        <a:gd name="T15" fmla="*/ 15 h 2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47" h="219">
                          <a:moveTo>
                            <a:pt x="647" y="46"/>
                          </a:moveTo>
                          <a:lnTo>
                            <a:pt x="503" y="0"/>
                          </a:lnTo>
                          <a:lnTo>
                            <a:pt x="168" y="138"/>
                          </a:lnTo>
                          <a:lnTo>
                            <a:pt x="0" y="92"/>
                          </a:lnTo>
                          <a:lnTo>
                            <a:pt x="84" y="219"/>
                          </a:lnTo>
                          <a:lnTo>
                            <a:pt x="503" y="219"/>
                          </a:lnTo>
                          <a:lnTo>
                            <a:pt x="324" y="173"/>
                          </a:lnTo>
                          <a:lnTo>
                            <a:pt x="647"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 name="Freeform 105"/>
                    <p:cNvSpPr>
                      <a:spLocks/>
                    </p:cNvSpPr>
                    <p:nvPr/>
                  </p:nvSpPr>
                  <p:spPr bwMode="auto">
                    <a:xfrm>
                      <a:off x="2564" y="3247"/>
                      <a:ext cx="215" cy="68"/>
                    </a:xfrm>
                    <a:custGeom>
                      <a:avLst/>
                      <a:gdLst>
                        <a:gd name="T0" fmla="*/ 0 w 647"/>
                        <a:gd name="T1" fmla="*/ 15 h 206"/>
                        <a:gd name="T2" fmla="*/ 48 w 647"/>
                        <a:gd name="T3" fmla="*/ 0 h 206"/>
                        <a:gd name="T4" fmla="*/ 163 w 647"/>
                        <a:gd name="T5" fmla="*/ 41 h 206"/>
                        <a:gd name="T6" fmla="*/ 215 w 647"/>
                        <a:gd name="T7" fmla="*/ 30 h 206"/>
                        <a:gd name="T8" fmla="*/ 187 w 647"/>
                        <a:gd name="T9" fmla="*/ 68 h 206"/>
                        <a:gd name="T10" fmla="*/ 52 w 647"/>
                        <a:gd name="T11" fmla="*/ 68 h 206"/>
                        <a:gd name="T12" fmla="*/ 107 w 647"/>
                        <a:gd name="T13" fmla="*/ 57 h 206"/>
                        <a:gd name="T14" fmla="*/ 0 w 647"/>
                        <a:gd name="T15" fmla="*/ 15 h 2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47" h="206">
                          <a:moveTo>
                            <a:pt x="0" y="46"/>
                          </a:moveTo>
                          <a:lnTo>
                            <a:pt x="144" y="0"/>
                          </a:lnTo>
                          <a:lnTo>
                            <a:pt x="491" y="125"/>
                          </a:lnTo>
                          <a:lnTo>
                            <a:pt x="647" y="92"/>
                          </a:lnTo>
                          <a:lnTo>
                            <a:pt x="563" y="206"/>
                          </a:lnTo>
                          <a:lnTo>
                            <a:pt x="156" y="206"/>
                          </a:lnTo>
                          <a:lnTo>
                            <a:pt x="323" y="172"/>
                          </a:lnTo>
                          <a:lnTo>
                            <a:pt x="0"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 name="Freeform 106"/>
                    <p:cNvSpPr>
                      <a:spLocks/>
                    </p:cNvSpPr>
                    <p:nvPr/>
                  </p:nvSpPr>
                  <p:spPr bwMode="auto">
                    <a:xfrm>
                      <a:off x="2564" y="3247"/>
                      <a:ext cx="215" cy="68"/>
                    </a:xfrm>
                    <a:custGeom>
                      <a:avLst/>
                      <a:gdLst>
                        <a:gd name="T0" fmla="*/ 0 w 647"/>
                        <a:gd name="T1" fmla="*/ 15 h 206"/>
                        <a:gd name="T2" fmla="*/ 48 w 647"/>
                        <a:gd name="T3" fmla="*/ 0 h 206"/>
                        <a:gd name="T4" fmla="*/ 163 w 647"/>
                        <a:gd name="T5" fmla="*/ 41 h 206"/>
                        <a:gd name="T6" fmla="*/ 215 w 647"/>
                        <a:gd name="T7" fmla="*/ 30 h 206"/>
                        <a:gd name="T8" fmla="*/ 187 w 647"/>
                        <a:gd name="T9" fmla="*/ 68 h 206"/>
                        <a:gd name="T10" fmla="*/ 52 w 647"/>
                        <a:gd name="T11" fmla="*/ 68 h 206"/>
                        <a:gd name="T12" fmla="*/ 107 w 647"/>
                        <a:gd name="T13" fmla="*/ 57 h 206"/>
                        <a:gd name="T14" fmla="*/ 0 w 647"/>
                        <a:gd name="T15" fmla="*/ 15 h 2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47" h="206">
                          <a:moveTo>
                            <a:pt x="0" y="46"/>
                          </a:moveTo>
                          <a:lnTo>
                            <a:pt x="144" y="0"/>
                          </a:lnTo>
                          <a:lnTo>
                            <a:pt x="491" y="125"/>
                          </a:lnTo>
                          <a:lnTo>
                            <a:pt x="647" y="92"/>
                          </a:lnTo>
                          <a:lnTo>
                            <a:pt x="563" y="206"/>
                          </a:lnTo>
                          <a:lnTo>
                            <a:pt x="156" y="206"/>
                          </a:lnTo>
                          <a:lnTo>
                            <a:pt x="323" y="172"/>
                          </a:lnTo>
                          <a:lnTo>
                            <a:pt x="0"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 name="Freeform 107"/>
                    <p:cNvSpPr>
                      <a:spLocks/>
                    </p:cNvSpPr>
                    <p:nvPr/>
                  </p:nvSpPr>
                  <p:spPr bwMode="auto">
                    <a:xfrm>
                      <a:off x="2779" y="3338"/>
                      <a:ext cx="215" cy="70"/>
                    </a:xfrm>
                    <a:custGeom>
                      <a:avLst/>
                      <a:gdLst>
                        <a:gd name="T0" fmla="*/ 215 w 645"/>
                        <a:gd name="T1" fmla="*/ 54 h 208"/>
                        <a:gd name="T2" fmla="*/ 167 w 645"/>
                        <a:gd name="T3" fmla="*/ 70 h 208"/>
                        <a:gd name="T4" fmla="*/ 55 w 645"/>
                        <a:gd name="T5" fmla="*/ 23 h 208"/>
                        <a:gd name="T6" fmla="*/ 0 w 645"/>
                        <a:gd name="T7" fmla="*/ 39 h 208"/>
                        <a:gd name="T8" fmla="*/ 27 w 645"/>
                        <a:gd name="T9" fmla="*/ 0 h 208"/>
                        <a:gd name="T10" fmla="*/ 167 w 645"/>
                        <a:gd name="T11" fmla="*/ 0 h 208"/>
                        <a:gd name="T12" fmla="*/ 107 w 645"/>
                        <a:gd name="T13" fmla="*/ 12 h 208"/>
                        <a:gd name="T14" fmla="*/ 215 w 645"/>
                        <a:gd name="T15" fmla="*/ 54 h 20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45" h="208">
                          <a:moveTo>
                            <a:pt x="645" y="161"/>
                          </a:moveTo>
                          <a:lnTo>
                            <a:pt x="501" y="208"/>
                          </a:lnTo>
                          <a:lnTo>
                            <a:pt x="166" y="69"/>
                          </a:lnTo>
                          <a:lnTo>
                            <a:pt x="0" y="115"/>
                          </a:lnTo>
                          <a:lnTo>
                            <a:pt x="82" y="0"/>
                          </a:lnTo>
                          <a:lnTo>
                            <a:pt x="501" y="0"/>
                          </a:lnTo>
                          <a:lnTo>
                            <a:pt x="322" y="35"/>
                          </a:lnTo>
                          <a:lnTo>
                            <a:pt x="645" y="1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8" name="Freeform 108"/>
                    <p:cNvSpPr>
                      <a:spLocks/>
                    </p:cNvSpPr>
                    <p:nvPr/>
                  </p:nvSpPr>
                  <p:spPr bwMode="auto">
                    <a:xfrm>
                      <a:off x="2779" y="3338"/>
                      <a:ext cx="215" cy="70"/>
                    </a:xfrm>
                    <a:custGeom>
                      <a:avLst/>
                      <a:gdLst>
                        <a:gd name="T0" fmla="*/ 215 w 645"/>
                        <a:gd name="T1" fmla="*/ 54 h 208"/>
                        <a:gd name="T2" fmla="*/ 167 w 645"/>
                        <a:gd name="T3" fmla="*/ 70 h 208"/>
                        <a:gd name="T4" fmla="*/ 55 w 645"/>
                        <a:gd name="T5" fmla="*/ 23 h 208"/>
                        <a:gd name="T6" fmla="*/ 0 w 645"/>
                        <a:gd name="T7" fmla="*/ 39 h 208"/>
                        <a:gd name="T8" fmla="*/ 27 w 645"/>
                        <a:gd name="T9" fmla="*/ 0 h 208"/>
                        <a:gd name="T10" fmla="*/ 167 w 645"/>
                        <a:gd name="T11" fmla="*/ 0 h 208"/>
                        <a:gd name="T12" fmla="*/ 107 w 645"/>
                        <a:gd name="T13" fmla="*/ 12 h 208"/>
                        <a:gd name="T14" fmla="*/ 215 w 645"/>
                        <a:gd name="T15" fmla="*/ 54 h 20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45" h="208">
                          <a:moveTo>
                            <a:pt x="645" y="161"/>
                          </a:moveTo>
                          <a:lnTo>
                            <a:pt x="501" y="208"/>
                          </a:lnTo>
                          <a:lnTo>
                            <a:pt x="166" y="69"/>
                          </a:lnTo>
                          <a:lnTo>
                            <a:pt x="0" y="115"/>
                          </a:lnTo>
                          <a:lnTo>
                            <a:pt x="82" y="0"/>
                          </a:lnTo>
                          <a:lnTo>
                            <a:pt x="501" y="0"/>
                          </a:lnTo>
                          <a:lnTo>
                            <a:pt x="322" y="35"/>
                          </a:lnTo>
                          <a:lnTo>
                            <a:pt x="645" y="1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227" name="Line 109"/>
                <p:cNvSpPr>
                  <a:spLocks noChangeShapeType="1"/>
                </p:cNvSpPr>
                <p:nvPr/>
              </p:nvSpPr>
              <p:spPr bwMode="auto">
                <a:xfrm>
                  <a:off x="2448" y="3323"/>
                  <a:ext cx="1" cy="153"/>
                </a:xfrm>
                <a:prstGeom prst="line">
                  <a:avLst/>
                </a:prstGeom>
                <a:noFill/>
                <a:ln w="6350">
                  <a:solidFill>
                    <a:srgbClr val="AAE6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8" name="Line 110"/>
                <p:cNvSpPr>
                  <a:spLocks noChangeShapeType="1"/>
                </p:cNvSpPr>
                <p:nvPr/>
              </p:nvSpPr>
              <p:spPr bwMode="auto">
                <a:xfrm>
                  <a:off x="3102" y="3323"/>
                  <a:ext cx="1" cy="153"/>
                </a:xfrm>
                <a:prstGeom prst="line">
                  <a:avLst/>
                </a:prstGeom>
                <a:noFill/>
                <a:ln w="6350">
                  <a:solidFill>
                    <a:srgbClr val="AAE6FF"/>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21" name="Rectangle 111"/>
              <p:cNvSpPr>
                <a:spLocks noChangeArrowheads="1"/>
              </p:cNvSpPr>
              <p:nvPr/>
            </p:nvSpPr>
            <p:spPr bwMode="auto">
              <a:xfrm>
                <a:off x="2544" y="3360"/>
                <a:ext cx="464" cy="179"/>
              </a:xfrm>
              <a:prstGeom prst="rect">
                <a:avLst/>
              </a:prstGeom>
              <a:solidFill>
                <a:schemeClr val="tx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GB" altLang="en-US" sz="1200">
                    <a:solidFill>
                      <a:schemeClr val="bg1"/>
                    </a:solidFill>
                  </a:rPr>
                  <a:t>L2-only</a:t>
                </a:r>
              </a:p>
            </p:txBody>
          </p:sp>
        </p:grpSp>
        <p:sp>
          <p:nvSpPr>
            <p:cNvPr id="161" name="Line 154"/>
            <p:cNvSpPr>
              <a:spLocks noChangeShapeType="1"/>
            </p:cNvSpPr>
            <p:nvPr/>
          </p:nvSpPr>
          <p:spPr bwMode="auto">
            <a:xfrm flipV="1">
              <a:off x="1981200" y="4724400"/>
              <a:ext cx="609600" cy="990600"/>
            </a:xfrm>
            <a:prstGeom prst="line">
              <a:avLst/>
            </a:prstGeom>
            <a:noFill/>
            <a:ln w="25400">
              <a:solidFill>
                <a:srgbClr val="CC020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en-US"/>
            </a:p>
          </p:txBody>
        </p:sp>
        <p:grpSp>
          <p:nvGrpSpPr>
            <p:cNvPr id="162" name="Group 66"/>
            <p:cNvGrpSpPr>
              <a:grpSpLocks/>
            </p:cNvGrpSpPr>
            <p:nvPr/>
          </p:nvGrpSpPr>
          <p:grpSpPr bwMode="auto">
            <a:xfrm>
              <a:off x="1524000" y="5410200"/>
              <a:ext cx="963613" cy="631825"/>
              <a:chOff x="960" y="3216"/>
              <a:chExt cx="607" cy="398"/>
            </a:xfrm>
          </p:grpSpPr>
          <p:grpSp>
            <p:nvGrpSpPr>
              <p:cNvPr id="203" name="Group 67"/>
              <p:cNvGrpSpPr>
                <a:grpSpLocks/>
              </p:cNvGrpSpPr>
              <p:nvPr/>
            </p:nvGrpSpPr>
            <p:grpSpPr bwMode="auto">
              <a:xfrm>
                <a:off x="960" y="3216"/>
                <a:ext cx="607" cy="398"/>
                <a:chOff x="331" y="1428"/>
                <a:chExt cx="463" cy="302"/>
              </a:xfrm>
            </p:grpSpPr>
            <p:sp>
              <p:nvSpPr>
                <p:cNvPr id="205" name="Rectangle 68"/>
                <p:cNvSpPr>
                  <a:spLocks noChangeArrowheads="1"/>
                </p:cNvSpPr>
                <p:nvPr/>
              </p:nvSpPr>
              <p:spPr bwMode="auto">
                <a:xfrm>
                  <a:off x="340" y="1541"/>
                  <a:ext cx="454" cy="10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206" name="Oval 69"/>
                <p:cNvSpPr>
                  <a:spLocks noChangeArrowheads="1"/>
                </p:cNvSpPr>
                <p:nvPr/>
              </p:nvSpPr>
              <p:spPr bwMode="auto">
                <a:xfrm>
                  <a:off x="344" y="1444"/>
                  <a:ext cx="450" cy="19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207" name="Rectangle 70"/>
                <p:cNvSpPr>
                  <a:spLocks noChangeArrowheads="1"/>
                </p:cNvSpPr>
                <p:nvPr/>
              </p:nvSpPr>
              <p:spPr bwMode="auto">
                <a:xfrm>
                  <a:off x="331" y="1525"/>
                  <a:ext cx="454" cy="108"/>
                </a:xfrm>
                <a:prstGeom prst="rect">
                  <a:avLst/>
                </a:prstGeom>
                <a:solidFill>
                  <a:srgbClr val="CC020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208" name="Oval 71"/>
                <p:cNvSpPr>
                  <a:spLocks noChangeArrowheads="1"/>
                </p:cNvSpPr>
                <p:nvPr/>
              </p:nvSpPr>
              <p:spPr bwMode="auto">
                <a:xfrm>
                  <a:off x="336" y="1536"/>
                  <a:ext cx="449" cy="194"/>
                </a:xfrm>
                <a:prstGeom prst="ellipse">
                  <a:avLst/>
                </a:prstGeom>
                <a:solidFill>
                  <a:srgbClr val="CC020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209" name="Oval 72"/>
                <p:cNvSpPr>
                  <a:spLocks noChangeArrowheads="1"/>
                </p:cNvSpPr>
                <p:nvPr/>
              </p:nvSpPr>
              <p:spPr bwMode="auto">
                <a:xfrm>
                  <a:off x="336" y="1428"/>
                  <a:ext cx="449" cy="195"/>
                </a:xfrm>
                <a:prstGeom prst="ellipse">
                  <a:avLst/>
                </a:prstGeom>
                <a:solidFill>
                  <a:srgbClr val="CC020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grpSp>
              <p:nvGrpSpPr>
                <p:cNvPr id="210" name="Group 73"/>
                <p:cNvGrpSpPr>
                  <a:grpSpLocks/>
                </p:cNvGrpSpPr>
                <p:nvPr/>
              </p:nvGrpSpPr>
              <p:grpSpPr bwMode="auto">
                <a:xfrm>
                  <a:off x="419" y="1454"/>
                  <a:ext cx="283" cy="143"/>
                  <a:chOff x="1100" y="1711"/>
                  <a:chExt cx="283" cy="143"/>
                </a:xfrm>
              </p:grpSpPr>
              <p:sp>
                <p:nvSpPr>
                  <p:cNvPr id="216" name="Freeform 74"/>
                  <p:cNvSpPr>
                    <a:spLocks/>
                  </p:cNvSpPr>
                  <p:nvPr/>
                </p:nvSpPr>
                <p:spPr bwMode="auto">
                  <a:xfrm>
                    <a:off x="1100" y="1711"/>
                    <a:ext cx="128" cy="56"/>
                  </a:xfrm>
                  <a:custGeom>
                    <a:avLst/>
                    <a:gdLst>
                      <a:gd name="T0" fmla="*/ 0 w 128"/>
                      <a:gd name="T1" fmla="*/ 10 h 56"/>
                      <a:gd name="T2" fmla="*/ 31 w 128"/>
                      <a:gd name="T3" fmla="*/ 0 h 56"/>
                      <a:gd name="T4" fmla="*/ 97 w 128"/>
                      <a:gd name="T5" fmla="*/ 31 h 56"/>
                      <a:gd name="T6" fmla="*/ 128 w 128"/>
                      <a:gd name="T7" fmla="*/ 20 h 56"/>
                      <a:gd name="T8" fmla="*/ 119 w 128"/>
                      <a:gd name="T9" fmla="*/ 56 h 56"/>
                      <a:gd name="T10" fmla="*/ 31 w 128"/>
                      <a:gd name="T11" fmla="*/ 56 h 56"/>
                      <a:gd name="T12" fmla="*/ 71 w 128"/>
                      <a:gd name="T13" fmla="*/ 46 h 56"/>
                      <a:gd name="T14" fmla="*/ 0 w 128"/>
                      <a:gd name="T15" fmla="*/ 10 h 5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8" h="56">
                        <a:moveTo>
                          <a:pt x="0" y="10"/>
                        </a:moveTo>
                        <a:lnTo>
                          <a:pt x="31" y="0"/>
                        </a:lnTo>
                        <a:lnTo>
                          <a:pt x="97" y="31"/>
                        </a:lnTo>
                        <a:lnTo>
                          <a:pt x="128" y="20"/>
                        </a:lnTo>
                        <a:lnTo>
                          <a:pt x="119" y="56"/>
                        </a:lnTo>
                        <a:lnTo>
                          <a:pt x="31" y="56"/>
                        </a:lnTo>
                        <a:lnTo>
                          <a:pt x="71" y="46"/>
                        </a:lnTo>
                        <a:lnTo>
                          <a:pt x="0"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7" name="Freeform 75"/>
                  <p:cNvSpPr>
                    <a:spLocks/>
                  </p:cNvSpPr>
                  <p:nvPr/>
                </p:nvSpPr>
                <p:spPr bwMode="auto">
                  <a:xfrm>
                    <a:off x="1100" y="1711"/>
                    <a:ext cx="128" cy="56"/>
                  </a:xfrm>
                  <a:custGeom>
                    <a:avLst/>
                    <a:gdLst>
                      <a:gd name="T0" fmla="*/ 0 w 128"/>
                      <a:gd name="T1" fmla="*/ 10 h 56"/>
                      <a:gd name="T2" fmla="*/ 31 w 128"/>
                      <a:gd name="T3" fmla="*/ 0 h 56"/>
                      <a:gd name="T4" fmla="*/ 97 w 128"/>
                      <a:gd name="T5" fmla="*/ 31 h 56"/>
                      <a:gd name="T6" fmla="*/ 128 w 128"/>
                      <a:gd name="T7" fmla="*/ 20 h 56"/>
                      <a:gd name="T8" fmla="*/ 119 w 128"/>
                      <a:gd name="T9" fmla="*/ 56 h 56"/>
                      <a:gd name="T10" fmla="*/ 31 w 128"/>
                      <a:gd name="T11" fmla="*/ 56 h 56"/>
                      <a:gd name="T12" fmla="*/ 71 w 128"/>
                      <a:gd name="T13" fmla="*/ 46 h 56"/>
                      <a:gd name="T14" fmla="*/ 0 w 128"/>
                      <a:gd name="T15" fmla="*/ 10 h 5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8" h="56">
                        <a:moveTo>
                          <a:pt x="0" y="10"/>
                        </a:moveTo>
                        <a:lnTo>
                          <a:pt x="31" y="0"/>
                        </a:lnTo>
                        <a:lnTo>
                          <a:pt x="97" y="31"/>
                        </a:lnTo>
                        <a:lnTo>
                          <a:pt x="128" y="20"/>
                        </a:lnTo>
                        <a:lnTo>
                          <a:pt x="119" y="56"/>
                        </a:lnTo>
                        <a:lnTo>
                          <a:pt x="31" y="56"/>
                        </a:lnTo>
                        <a:lnTo>
                          <a:pt x="71" y="46"/>
                        </a:lnTo>
                        <a:lnTo>
                          <a:pt x="0"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8" name="Freeform 76"/>
                  <p:cNvSpPr>
                    <a:spLocks/>
                  </p:cNvSpPr>
                  <p:nvPr/>
                </p:nvSpPr>
                <p:spPr bwMode="auto">
                  <a:xfrm>
                    <a:off x="1250" y="1803"/>
                    <a:ext cx="133" cy="51"/>
                  </a:xfrm>
                  <a:custGeom>
                    <a:avLst/>
                    <a:gdLst>
                      <a:gd name="T0" fmla="*/ 133 w 133"/>
                      <a:gd name="T1" fmla="*/ 41 h 51"/>
                      <a:gd name="T2" fmla="*/ 102 w 133"/>
                      <a:gd name="T3" fmla="*/ 51 h 51"/>
                      <a:gd name="T4" fmla="*/ 31 w 133"/>
                      <a:gd name="T5" fmla="*/ 25 h 51"/>
                      <a:gd name="T6" fmla="*/ 0 w 133"/>
                      <a:gd name="T7" fmla="*/ 41 h 51"/>
                      <a:gd name="T8" fmla="*/ 9 w 133"/>
                      <a:gd name="T9" fmla="*/ 0 h 51"/>
                      <a:gd name="T10" fmla="*/ 102 w 133"/>
                      <a:gd name="T11" fmla="*/ 0 h 51"/>
                      <a:gd name="T12" fmla="*/ 66 w 133"/>
                      <a:gd name="T13" fmla="*/ 15 h 51"/>
                      <a:gd name="T14" fmla="*/ 133 w 133"/>
                      <a:gd name="T15" fmla="*/ 41 h 5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3" h="51">
                        <a:moveTo>
                          <a:pt x="133" y="41"/>
                        </a:moveTo>
                        <a:lnTo>
                          <a:pt x="102" y="51"/>
                        </a:lnTo>
                        <a:lnTo>
                          <a:pt x="31" y="25"/>
                        </a:lnTo>
                        <a:lnTo>
                          <a:pt x="0" y="41"/>
                        </a:lnTo>
                        <a:lnTo>
                          <a:pt x="9" y="0"/>
                        </a:lnTo>
                        <a:lnTo>
                          <a:pt x="102" y="0"/>
                        </a:lnTo>
                        <a:lnTo>
                          <a:pt x="66" y="15"/>
                        </a:lnTo>
                        <a:lnTo>
                          <a:pt x="133"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9" name="Freeform 77"/>
                  <p:cNvSpPr>
                    <a:spLocks/>
                  </p:cNvSpPr>
                  <p:nvPr/>
                </p:nvSpPr>
                <p:spPr bwMode="auto">
                  <a:xfrm>
                    <a:off x="1250" y="1803"/>
                    <a:ext cx="133" cy="51"/>
                  </a:xfrm>
                  <a:custGeom>
                    <a:avLst/>
                    <a:gdLst>
                      <a:gd name="T0" fmla="*/ 133 w 133"/>
                      <a:gd name="T1" fmla="*/ 41 h 51"/>
                      <a:gd name="T2" fmla="*/ 102 w 133"/>
                      <a:gd name="T3" fmla="*/ 51 h 51"/>
                      <a:gd name="T4" fmla="*/ 31 w 133"/>
                      <a:gd name="T5" fmla="*/ 25 h 51"/>
                      <a:gd name="T6" fmla="*/ 0 w 133"/>
                      <a:gd name="T7" fmla="*/ 41 h 51"/>
                      <a:gd name="T8" fmla="*/ 9 w 133"/>
                      <a:gd name="T9" fmla="*/ 0 h 51"/>
                      <a:gd name="T10" fmla="*/ 102 w 133"/>
                      <a:gd name="T11" fmla="*/ 0 h 51"/>
                      <a:gd name="T12" fmla="*/ 66 w 133"/>
                      <a:gd name="T13" fmla="*/ 15 h 51"/>
                      <a:gd name="T14" fmla="*/ 133 w 133"/>
                      <a:gd name="T15" fmla="*/ 41 h 5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3" h="51">
                        <a:moveTo>
                          <a:pt x="133" y="41"/>
                        </a:moveTo>
                        <a:lnTo>
                          <a:pt x="102" y="51"/>
                        </a:lnTo>
                        <a:lnTo>
                          <a:pt x="31" y="25"/>
                        </a:lnTo>
                        <a:lnTo>
                          <a:pt x="0" y="41"/>
                        </a:lnTo>
                        <a:lnTo>
                          <a:pt x="9" y="0"/>
                        </a:lnTo>
                        <a:lnTo>
                          <a:pt x="102" y="0"/>
                        </a:lnTo>
                        <a:lnTo>
                          <a:pt x="66" y="15"/>
                        </a:lnTo>
                        <a:lnTo>
                          <a:pt x="133"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11" name="Group 78"/>
                <p:cNvGrpSpPr>
                  <a:grpSpLocks/>
                </p:cNvGrpSpPr>
                <p:nvPr/>
              </p:nvGrpSpPr>
              <p:grpSpPr bwMode="auto">
                <a:xfrm>
                  <a:off x="428" y="1454"/>
                  <a:ext cx="265" cy="143"/>
                  <a:chOff x="1109" y="1711"/>
                  <a:chExt cx="265" cy="143"/>
                </a:xfrm>
              </p:grpSpPr>
              <p:sp>
                <p:nvSpPr>
                  <p:cNvPr id="212" name="Freeform 79"/>
                  <p:cNvSpPr>
                    <a:spLocks/>
                  </p:cNvSpPr>
                  <p:nvPr/>
                </p:nvSpPr>
                <p:spPr bwMode="auto">
                  <a:xfrm>
                    <a:off x="1241" y="1711"/>
                    <a:ext cx="133" cy="56"/>
                  </a:xfrm>
                  <a:custGeom>
                    <a:avLst/>
                    <a:gdLst>
                      <a:gd name="T0" fmla="*/ 0 w 133"/>
                      <a:gd name="T1" fmla="*/ 46 h 56"/>
                      <a:gd name="T2" fmla="*/ 31 w 133"/>
                      <a:gd name="T3" fmla="*/ 56 h 56"/>
                      <a:gd name="T4" fmla="*/ 97 w 133"/>
                      <a:gd name="T5" fmla="*/ 20 h 56"/>
                      <a:gd name="T6" fmla="*/ 133 w 133"/>
                      <a:gd name="T7" fmla="*/ 31 h 56"/>
                      <a:gd name="T8" fmla="*/ 120 w 133"/>
                      <a:gd name="T9" fmla="*/ 0 h 56"/>
                      <a:gd name="T10" fmla="*/ 31 w 133"/>
                      <a:gd name="T11" fmla="*/ 0 h 56"/>
                      <a:gd name="T12" fmla="*/ 75 w 133"/>
                      <a:gd name="T13" fmla="*/ 10 h 56"/>
                      <a:gd name="T14" fmla="*/ 0 w 133"/>
                      <a:gd name="T15" fmla="*/ 46 h 5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3" h="56">
                        <a:moveTo>
                          <a:pt x="0" y="46"/>
                        </a:moveTo>
                        <a:lnTo>
                          <a:pt x="31" y="56"/>
                        </a:lnTo>
                        <a:lnTo>
                          <a:pt x="97" y="20"/>
                        </a:lnTo>
                        <a:lnTo>
                          <a:pt x="133" y="31"/>
                        </a:lnTo>
                        <a:lnTo>
                          <a:pt x="120" y="0"/>
                        </a:lnTo>
                        <a:lnTo>
                          <a:pt x="31" y="0"/>
                        </a:lnTo>
                        <a:lnTo>
                          <a:pt x="75" y="10"/>
                        </a:lnTo>
                        <a:lnTo>
                          <a:pt x="0"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3" name="Freeform 80"/>
                  <p:cNvSpPr>
                    <a:spLocks/>
                  </p:cNvSpPr>
                  <p:nvPr/>
                </p:nvSpPr>
                <p:spPr bwMode="auto">
                  <a:xfrm>
                    <a:off x="1241" y="1711"/>
                    <a:ext cx="133" cy="56"/>
                  </a:xfrm>
                  <a:custGeom>
                    <a:avLst/>
                    <a:gdLst>
                      <a:gd name="T0" fmla="*/ 0 w 133"/>
                      <a:gd name="T1" fmla="*/ 46 h 56"/>
                      <a:gd name="T2" fmla="*/ 31 w 133"/>
                      <a:gd name="T3" fmla="*/ 56 h 56"/>
                      <a:gd name="T4" fmla="*/ 97 w 133"/>
                      <a:gd name="T5" fmla="*/ 20 h 56"/>
                      <a:gd name="T6" fmla="*/ 133 w 133"/>
                      <a:gd name="T7" fmla="*/ 31 h 56"/>
                      <a:gd name="T8" fmla="*/ 120 w 133"/>
                      <a:gd name="T9" fmla="*/ 0 h 56"/>
                      <a:gd name="T10" fmla="*/ 31 w 133"/>
                      <a:gd name="T11" fmla="*/ 0 h 56"/>
                      <a:gd name="T12" fmla="*/ 75 w 133"/>
                      <a:gd name="T13" fmla="*/ 10 h 56"/>
                      <a:gd name="T14" fmla="*/ 0 w 133"/>
                      <a:gd name="T15" fmla="*/ 46 h 5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3" h="56">
                        <a:moveTo>
                          <a:pt x="0" y="46"/>
                        </a:moveTo>
                        <a:lnTo>
                          <a:pt x="31" y="56"/>
                        </a:lnTo>
                        <a:lnTo>
                          <a:pt x="97" y="20"/>
                        </a:lnTo>
                        <a:lnTo>
                          <a:pt x="133" y="31"/>
                        </a:lnTo>
                        <a:lnTo>
                          <a:pt x="120" y="0"/>
                        </a:lnTo>
                        <a:lnTo>
                          <a:pt x="31" y="0"/>
                        </a:lnTo>
                        <a:lnTo>
                          <a:pt x="75" y="10"/>
                        </a:lnTo>
                        <a:lnTo>
                          <a:pt x="0"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4" name="Freeform 81"/>
                  <p:cNvSpPr>
                    <a:spLocks/>
                  </p:cNvSpPr>
                  <p:nvPr/>
                </p:nvSpPr>
                <p:spPr bwMode="auto">
                  <a:xfrm>
                    <a:off x="1109" y="1793"/>
                    <a:ext cx="128" cy="61"/>
                  </a:xfrm>
                  <a:custGeom>
                    <a:avLst/>
                    <a:gdLst>
                      <a:gd name="T0" fmla="*/ 128 w 128"/>
                      <a:gd name="T1" fmla="*/ 10 h 61"/>
                      <a:gd name="T2" fmla="*/ 97 w 128"/>
                      <a:gd name="T3" fmla="*/ 0 h 61"/>
                      <a:gd name="T4" fmla="*/ 31 w 128"/>
                      <a:gd name="T5" fmla="*/ 35 h 61"/>
                      <a:gd name="T6" fmla="*/ 0 w 128"/>
                      <a:gd name="T7" fmla="*/ 25 h 61"/>
                      <a:gd name="T8" fmla="*/ 9 w 128"/>
                      <a:gd name="T9" fmla="*/ 61 h 61"/>
                      <a:gd name="T10" fmla="*/ 97 w 128"/>
                      <a:gd name="T11" fmla="*/ 61 h 61"/>
                      <a:gd name="T12" fmla="*/ 58 w 128"/>
                      <a:gd name="T13" fmla="*/ 51 h 61"/>
                      <a:gd name="T14" fmla="*/ 128 w 128"/>
                      <a:gd name="T15" fmla="*/ 1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8" h="61">
                        <a:moveTo>
                          <a:pt x="128" y="10"/>
                        </a:moveTo>
                        <a:lnTo>
                          <a:pt x="97" y="0"/>
                        </a:lnTo>
                        <a:lnTo>
                          <a:pt x="31" y="35"/>
                        </a:lnTo>
                        <a:lnTo>
                          <a:pt x="0" y="25"/>
                        </a:lnTo>
                        <a:lnTo>
                          <a:pt x="9" y="61"/>
                        </a:lnTo>
                        <a:lnTo>
                          <a:pt x="97" y="61"/>
                        </a:lnTo>
                        <a:lnTo>
                          <a:pt x="58" y="51"/>
                        </a:lnTo>
                        <a:lnTo>
                          <a:pt x="128"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 name="Freeform 82"/>
                  <p:cNvSpPr>
                    <a:spLocks/>
                  </p:cNvSpPr>
                  <p:nvPr/>
                </p:nvSpPr>
                <p:spPr bwMode="auto">
                  <a:xfrm>
                    <a:off x="1109" y="1793"/>
                    <a:ext cx="128" cy="61"/>
                  </a:xfrm>
                  <a:custGeom>
                    <a:avLst/>
                    <a:gdLst>
                      <a:gd name="T0" fmla="*/ 128 w 128"/>
                      <a:gd name="T1" fmla="*/ 10 h 61"/>
                      <a:gd name="T2" fmla="*/ 97 w 128"/>
                      <a:gd name="T3" fmla="*/ 0 h 61"/>
                      <a:gd name="T4" fmla="*/ 31 w 128"/>
                      <a:gd name="T5" fmla="*/ 35 h 61"/>
                      <a:gd name="T6" fmla="*/ 0 w 128"/>
                      <a:gd name="T7" fmla="*/ 25 h 61"/>
                      <a:gd name="T8" fmla="*/ 9 w 128"/>
                      <a:gd name="T9" fmla="*/ 61 h 61"/>
                      <a:gd name="T10" fmla="*/ 97 w 128"/>
                      <a:gd name="T11" fmla="*/ 61 h 61"/>
                      <a:gd name="T12" fmla="*/ 58 w 128"/>
                      <a:gd name="T13" fmla="*/ 51 h 61"/>
                      <a:gd name="T14" fmla="*/ 128 w 128"/>
                      <a:gd name="T15" fmla="*/ 1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8" h="61">
                        <a:moveTo>
                          <a:pt x="128" y="10"/>
                        </a:moveTo>
                        <a:lnTo>
                          <a:pt x="97" y="0"/>
                        </a:lnTo>
                        <a:lnTo>
                          <a:pt x="31" y="35"/>
                        </a:lnTo>
                        <a:lnTo>
                          <a:pt x="0" y="25"/>
                        </a:lnTo>
                        <a:lnTo>
                          <a:pt x="9" y="61"/>
                        </a:lnTo>
                        <a:lnTo>
                          <a:pt x="97" y="61"/>
                        </a:lnTo>
                        <a:lnTo>
                          <a:pt x="58" y="51"/>
                        </a:lnTo>
                        <a:lnTo>
                          <a:pt x="128"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204" name="Rectangle 83"/>
              <p:cNvSpPr>
                <a:spLocks noChangeArrowheads="1"/>
              </p:cNvSpPr>
              <p:nvPr/>
            </p:nvSpPr>
            <p:spPr bwMode="auto">
              <a:xfrm>
                <a:off x="1056" y="3312"/>
                <a:ext cx="378" cy="179"/>
              </a:xfrm>
              <a:prstGeom prst="rect">
                <a:avLst/>
              </a:prstGeom>
              <a:solidFill>
                <a:schemeClr val="tx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GB" altLang="en-US" sz="1200">
                    <a:solidFill>
                      <a:schemeClr val="bg1"/>
                    </a:solidFill>
                  </a:rPr>
                  <a:t>L1-L2</a:t>
                </a:r>
              </a:p>
            </p:txBody>
          </p:sp>
        </p:grpSp>
        <p:grpSp>
          <p:nvGrpSpPr>
            <p:cNvPr id="163" name="Group 133"/>
            <p:cNvGrpSpPr>
              <a:grpSpLocks/>
            </p:cNvGrpSpPr>
            <p:nvPr/>
          </p:nvGrpSpPr>
          <p:grpSpPr bwMode="auto">
            <a:xfrm>
              <a:off x="2133600" y="4343400"/>
              <a:ext cx="963613" cy="631825"/>
              <a:chOff x="960" y="3216"/>
              <a:chExt cx="607" cy="398"/>
            </a:xfrm>
          </p:grpSpPr>
          <p:grpSp>
            <p:nvGrpSpPr>
              <p:cNvPr id="186" name="Group 134"/>
              <p:cNvGrpSpPr>
                <a:grpSpLocks/>
              </p:cNvGrpSpPr>
              <p:nvPr/>
            </p:nvGrpSpPr>
            <p:grpSpPr bwMode="auto">
              <a:xfrm>
                <a:off x="960" y="3216"/>
                <a:ext cx="607" cy="398"/>
                <a:chOff x="331" y="1428"/>
                <a:chExt cx="463" cy="302"/>
              </a:xfrm>
            </p:grpSpPr>
            <p:sp>
              <p:nvSpPr>
                <p:cNvPr id="188" name="Rectangle 135"/>
                <p:cNvSpPr>
                  <a:spLocks noChangeArrowheads="1"/>
                </p:cNvSpPr>
                <p:nvPr/>
              </p:nvSpPr>
              <p:spPr bwMode="auto">
                <a:xfrm>
                  <a:off x="340" y="1541"/>
                  <a:ext cx="454" cy="10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189" name="Oval 136"/>
                <p:cNvSpPr>
                  <a:spLocks noChangeArrowheads="1"/>
                </p:cNvSpPr>
                <p:nvPr/>
              </p:nvSpPr>
              <p:spPr bwMode="auto">
                <a:xfrm>
                  <a:off x="344" y="1444"/>
                  <a:ext cx="450" cy="19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190" name="Rectangle 137"/>
                <p:cNvSpPr>
                  <a:spLocks noChangeArrowheads="1"/>
                </p:cNvSpPr>
                <p:nvPr/>
              </p:nvSpPr>
              <p:spPr bwMode="auto">
                <a:xfrm>
                  <a:off x="331" y="1525"/>
                  <a:ext cx="454" cy="108"/>
                </a:xfrm>
                <a:prstGeom prst="rect">
                  <a:avLst/>
                </a:prstGeom>
                <a:solidFill>
                  <a:srgbClr val="CC020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191" name="Oval 138"/>
                <p:cNvSpPr>
                  <a:spLocks noChangeArrowheads="1"/>
                </p:cNvSpPr>
                <p:nvPr/>
              </p:nvSpPr>
              <p:spPr bwMode="auto">
                <a:xfrm>
                  <a:off x="336" y="1536"/>
                  <a:ext cx="449" cy="194"/>
                </a:xfrm>
                <a:prstGeom prst="ellipse">
                  <a:avLst/>
                </a:prstGeom>
                <a:solidFill>
                  <a:srgbClr val="CC020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192" name="Oval 139"/>
                <p:cNvSpPr>
                  <a:spLocks noChangeArrowheads="1"/>
                </p:cNvSpPr>
                <p:nvPr/>
              </p:nvSpPr>
              <p:spPr bwMode="auto">
                <a:xfrm>
                  <a:off x="336" y="1428"/>
                  <a:ext cx="449" cy="195"/>
                </a:xfrm>
                <a:prstGeom prst="ellipse">
                  <a:avLst/>
                </a:prstGeom>
                <a:solidFill>
                  <a:srgbClr val="CC020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grpSp>
              <p:nvGrpSpPr>
                <p:cNvPr id="193" name="Group 140"/>
                <p:cNvGrpSpPr>
                  <a:grpSpLocks/>
                </p:cNvGrpSpPr>
                <p:nvPr/>
              </p:nvGrpSpPr>
              <p:grpSpPr bwMode="auto">
                <a:xfrm>
                  <a:off x="419" y="1454"/>
                  <a:ext cx="283" cy="143"/>
                  <a:chOff x="1100" y="1711"/>
                  <a:chExt cx="283" cy="143"/>
                </a:xfrm>
              </p:grpSpPr>
              <p:sp>
                <p:nvSpPr>
                  <p:cNvPr id="199" name="Freeform 141"/>
                  <p:cNvSpPr>
                    <a:spLocks/>
                  </p:cNvSpPr>
                  <p:nvPr/>
                </p:nvSpPr>
                <p:spPr bwMode="auto">
                  <a:xfrm>
                    <a:off x="1100" y="1711"/>
                    <a:ext cx="128" cy="56"/>
                  </a:xfrm>
                  <a:custGeom>
                    <a:avLst/>
                    <a:gdLst>
                      <a:gd name="T0" fmla="*/ 0 w 128"/>
                      <a:gd name="T1" fmla="*/ 10 h 56"/>
                      <a:gd name="T2" fmla="*/ 31 w 128"/>
                      <a:gd name="T3" fmla="*/ 0 h 56"/>
                      <a:gd name="T4" fmla="*/ 97 w 128"/>
                      <a:gd name="T5" fmla="*/ 31 h 56"/>
                      <a:gd name="T6" fmla="*/ 128 w 128"/>
                      <a:gd name="T7" fmla="*/ 20 h 56"/>
                      <a:gd name="T8" fmla="*/ 119 w 128"/>
                      <a:gd name="T9" fmla="*/ 56 h 56"/>
                      <a:gd name="T10" fmla="*/ 31 w 128"/>
                      <a:gd name="T11" fmla="*/ 56 h 56"/>
                      <a:gd name="T12" fmla="*/ 71 w 128"/>
                      <a:gd name="T13" fmla="*/ 46 h 56"/>
                      <a:gd name="T14" fmla="*/ 0 w 128"/>
                      <a:gd name="T15" fmla="*/ 10 h 5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8" h="56">
                        <a:moveTo>
                          <a:pt x="0" y="10"/>
                        </a:moveTo>
                        <a:lnTo>
                          <a:pt x="31" y="0"/>
                        </a:lnTo>
                        <a:lnTo>
                          <a:pt x="97" y="31"/>
                        </a:lnTo>
                        <a:lnTo>
                          <a:pt x="128" y="20"/>
                        </a:lnTo>
                        <a:lnTo>
                          <a:pt x="119" y="56"/>
                        </a:lnTo>
                        <a:lnTo>
                          <a:pt x="31" y="56"/>
                        </a:lnTo>
                        <a:lnTo>
                          <a:pt x="71" y="46"/>
                        </a:lnTo>
                        <a:lnTo>
                          <a:pt x="0"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0" name="Freeform 142"/>
                  <p:cNvSpPr>
                    <a:spLocks/>
                  </p:cNvSpPr>
                  <p:nvPr/>
                </p:nvSpPr>
                <p:spPr bwMode="auto">
                  <a:xfrm>
                    <a:off x="1100" y="1711"/>
                    <a:ext cx="128" cy="56"/>
                  </a:xfrm>
                  <a:custGeom>
                    <a:avLst/>
                    <a:gdLst>
                      <a:gd name="T0" fmla="*/ 0 w 128"/>
                      <a:gd name="T1" fmla="*/ 10 h 56"/>
                      <a:gd name="T2" fmla="*/ 31 w 128"/>
                      <a:gd name="T3" fmla="*/ 0 h 56"/>
                      <a:gd name="T4" fmla="*/ 97 w 128"/>
                      <a:gd name="T5" fmla="*/ 31 h 56"/>
                      <a:gd name="T6" fmla="*/ 128 w 128"/>
                      <a:gd name="T7" fmla="*/ 20 h 56"/>
                      <a:gd name="T8" fmla="*/ 119 w 128"/>
                      <a:gd name="T9" fmla="*/ 56 h 56"/>
                      <a:gd name="T10" fmla="*/ 31 w 128"/>
                      <a:gd name="T11" fmla="*/ 56 h 56"/>
                      <a:gd name="T12" fmla="*/ 71 w 128"/>
                      <a:gd name="T13" fmla="*/ 46 h 56"/>
                      <a:gd name="T14" fmla="*/ 0 w 128"/>
                      <a:gd name="T15" fmla="*/ 10 h 5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8" h="56">
                        <a:moveTo>
                          <a:pt x="0" y="10"/>
                        </a:moveTo>
                        <a:lnTo>
                          <a:pt x="31" y="0"/>
                        </a:lnTo>
                        <a:lnTo>
                          <a:pt x="97" y="31"/>
                        </a:lnTo>
                        <a:lnTo>
                          <a:pt x="128" y="20"/>
                        </a:lnTo>
                        <a:lnTo>
                          <a:pt x="119" y="56"/>
                        </a:lnTo>
                        <a:lnTo>
                          <a:pt x="31" y="56"/>
                        </a:lnTo>
                        <a:lnTo>
                          <a:pt x="71" y="46"/>
                        </a:lnTo>
                        <a:lnTo>
                          <a:pt x="0"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1" name="Freeform 143"/>
                  <p:cNvSpPr>
                    <a:spLocks/>
                  </p:cNvSpPr>
                  <p:nvPr/>
                </p:nvSpPr>
                <p:spPr bwMode="auto">
                  <a:xfrm>
                    <a:off x="1250" y="1803"/>
                    <a:ext cx="133" cy="51"/>
                  </a:xfrm>
                  <a:custGeom>
                    <a:avLst/>
                    <a:gdLst>
                      <a:gd name="T0" fmla="*/ 133 w 133"/>
                      <a:gd name="T1" fmla="*/ 41 h 51"/>
                      <a:gd name="T2" fmla="*/ 102 w 133"/>
                      <a:gd name="T3" fmla="*/ 51 h 51"/>
                      <a:gd name="T4" fmla="*/ 31 w 133"/>
                      <a:gd name="T5" fmla="*/ 25 h 51"/>
                      <a:gd name="T6" fmla="*/ 0 w 133"/>
                      <a:gd name="T7" fmla="*/ 41 h 51"/>
                      <a:gd name="T8" fmla="*/ 9 w 133"/>
                      <a:gd name="T9" fmla="*/ 0 h 51"/>
                      <a:gd name="T10" fmla="*/ 102 w 133"/>
                      <a:gd name="T11" fmla="*/ 0 h 51"/>
                      <a:gd name="T12" fmla="*/ 66 w 133"/>
                      <a:gd name="T13" fmla="*/ 15 h 51"/>
                      <a:gd name="T14" fmla="*/ 133 w 133"/>
                      <a:gd name="T15" fmla="*/ 41 h 5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3" h="51">
                        <a:moveTo>
                          <a:pt x="133" y="41"/>
                        </a:moveTo>
                        <a:lnTo>
                          <a:pt x="102" y="51"/>
                        </a:lnTo>
                        <a:lnTo>
                          <a:pt x="31" y="25"/>
                        </a:lnTo>
                        <a:lnTo>
                          <a:pt x="0" y="41"/>
                        </a:lnTo>
                        <a:lnTo>
                          <a:pt x="9" y="0"/>
                        </a:lnTo>
                        <a:lnTo>
                          <a:pt x="102" y="0"/>
                        </a:lnTo>
                        <a:lnTo>
                          <a:pt x="66" y="15"/>
                        </a:lnTo>
                        <a:lnTo>
                          <a:pt x="133"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2" name="Freeform 144"/>
                  <p:cNvSpPr>
                    <a:spLocks/>
                  </p:cNvSpPr>
                  <p:nvPr/>
                </p:nvSpPr>
                <p:spPr bwMode="auto">
                  <a:xfrm>
                    <a:off x="1250" y="1803"/>
                    <a:ext cx="133" cy="51"/>
                  </a:xfrm>
                  <a:custGeom>
                    <a:avLst/>
                    <a:gdLst>
                      <a:gd name="T0" fmla="*/ 133 w 133"/>
                      <a:gd name="T1" fmla="*/ 41 h 51"/>
                      <a:gd name="T2" fmla="*/ 102 w 133"/>
                      <a:gd name="T3" fmla="*/ 51 h 51"/>
                      <a:gd name="T4" fmla="*/ 31 w 133"/>
                      <a:gd name="T5" fmla="*/ 25 h 51"/>
                      <a:gd name="T6" fmla="*/ 0 w 133"/>
                      <a:gd name="T7" fmla="*/ 41 h 51"/>
                      <a:gd name="T8" fmla="*/ 9 w 133"/>
                      <a:gd name="T9" fmla="*/ 0 h 51"/>
                      <a:gd name="T10" fmla="*/ 102 w 133"/>
                      <a:gd name="T11" fmla="*/ 0 h 51"/>
                      <a:gd name="T12" fmla="*/ 66 w 133"/>
                      <a:gd name="T13" fmla="*/ 15 h 51"/>
                      <a:gd name="T14" fmla="*/ 133 w 133"/>
                      <a:gd name="T15" fmla="*/ 41 h 5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3" h="51">
                        <a:moveTo>
                          <a:pt x="133" y="41"/>
                        </a:moveTo>
                        <a:lnTo>
                          <a:pt x="102" y="51"/>
                        </a:lnTo>
                        <a:lnTo>
                          <a:pt x="31" y="25"/>
                        </a:lnTo>
                        <a:lnTo>
                          <a:pt x="0" y="41"/>
                        </a:lnTo>
                        <a:lnTo>
                          <a:pt x="9" y="0"/>
                        </a:lnTo>
                        <a:lnTo>
                          <a:pt x="102" y="0"/>
                        </a:lnTo>
                        <a:lnTo>
                          <a:pt x="66" y="15"/>
                        </a:lnTo>
                        <a:lnTo>
                          <a:pt x="133"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94" name="Group 145"/>
                <p:cNvGrpSpPr>
                  <a:grpSpLocks/>
                </p:cNvGrpSpPr>
                <p:nvPr/>
              </p:nvGrpSpPr>
              <p:grpSpPr bwMode="auto">
                <a:xfrm>
                  <a:off x="428" y="1454"/>
                  <a:ext cx="265" cy="143"/>
                  <a:chOff x="1109" y="1711"/>
                  <a:chExt cx="265" cy="143"/>
                </a:xfrm>
              </p:grpSpPr>
              <p:sp>
                <p:nvSpPr>
                  <p:cNvPr id="195" name="Freeform 146"/>
                  <p:cNvSpPr>
                    <a:spLocks/>
                  </p:cNvSpPr>
                  <p:nvPr/>
                </p:nvSpPr>
                <p:spPr bwMode="auto">
                  <a:xfrm>
                    <a:off x="1241" y="1711"/>
                    <a:ext cx="133" cy="56"/>
                  </a:xfrm>
                  <a:custGeom>
                    <a:avLst/>
                    <a:gdLst>
                      <a:gd name="T0" fmla="*/ 0 w 133"/>
                      <a:gd name="T1" fmla="*/ 46 h 56"/>
                      <a:gd name="T2" fmla="*/ 31 w 133"/>
                      <a:gd name="T3" fmla="*/ 56 h 56"/>
                      <a:gd name="T4" fmla="*/ 97 w 133"/>
                      <a:gd name="T5" fmla="*/ 20 h 56"/>
                      <a:gd name="T6" fmla="*/ 133 w 133"/>
                      <a:gd name="T7" fmla="*/ 31 h 56"/>
                      <a:gd name="T8" fmla="*/ 120 w 133"/>
                      <a:gd name="T9" fmla="*/ 0 h 56"/>
                      <a:gd name="T10" fmla="*/ 31 w 133"/>
                      <a:gd name="T11" fmla="*/ 0 h 56"/>
                      <a:gd name="T12" fmla="*/ 75 w 133"/>
                      <a:gd name="T13" fmla="*/ 10 h 56"/>
                      <a:gd name="T14" fmla="*/ 0 w 133"/>
                      <a:gd name="T15" fmla="*/ 46 h 5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3" h="56">
                        <a:moveTo>
                          <a:pt x="0" y="46"/>
                        </a:moveTo>
                        <a:lnTo>
                          <a:pt x="31" y="56"/>
                        </a:lnTo>
                        <a:lnTo>
                          <a:pt x="97" y="20"/>
                        </a:lnTo>
                        <a:lnTo>
                          <a:pt x="133" y="31"/>
                        </a:lnTo>
                        <a:lnTo>
                          <a:pt x="120" y="0"/>
                        </a:lnTo>
                        <a:lnTo>
                          <a:pt x="31" y="0"/>
                        </a:lnTo>
                        <a:lnTo>
                          <a:pt x="75" y="10"/>
                        </a:lnTo>
                        <a:lnTo>
                          <a:pt x="0"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6" name="Freeform 147"/>
                  <p:cNvSpPr>
                    <a:spLocks/>
                  </p:cNvSpPr>
                  <p:nvPr/>
                </p:nvSpPr>
                <p:spPr bwMode="auto">
                  <a:xfrm>
                    <a:off x="1241" y="1711"/>
                    <a:ext cx="133" cy="56"/>
                  </a:xfrm>
                  <a:custGeom>
                    <a:avLst/>
                    <a:gdLst>
                      <a:gd name="T0" fmla="*/ 0 w 133"/>
                      <a:gd name="T1" fmla="*/ 46 h 56"/>
                      <a:gd name="T2" fmla="*/ 31 w 133"/>
                      <a:gd name="T3" fmla="*/ 56 h 56"/>
                      <a:gd name="T4" fmla="*/ 97 w 133"/>
                      <a:gd name="T5" fmla="*/ 20 h 56"/>
                      <a:gd name="T6" fmla="*/ 133 w 133"/>
                      <a:gd name="T7" fmla="*/ 31 h 56"/>
                      <a:gd name="T8" fmla="*/ 120 w 133"/>
                      <a:gd name="T9" fmla="*/ 0 h 56"/>
                      <a:gd name="T10" fmla="*/ 31 w 133"/>
                      <a:gd name="T11" fmla="*/ 0 h 56"/>
                      <a:gd name="T12" fmla="*/ 75 w 133"/>
                      <a:gd name="T13" fmla="*/ 10 h 56"/>
                      <a:gd name="T14" fmla="*/ 0 w 133"/>
                      <a:gd name="T15" fmla="*/ 46 h 5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3" h="56">
                        <a:moveTo>
                          <a:pt x="0" y="46"/>
                        </a:moveTo>
                        <a:lnTo>
                          <a:pt x="31" y="56"/>
                        </a:lnTo>
                        <a:lnTo>
                          <a:pt x="97" y="20"/>
                        </a:lnTo>
                        <a:lnTo>
                          <a:pt x="133" y="31"/>
                        </a:lnTo>
                        <a:lnTo>
                          <a:pt x="120" y="0"/>
                        </a:lnTo>
                        <a:lnTo>
                          <a:pt x="31" y="0"/>
                        </a:lnTo>
                        <a:lnTo>
                          <a:pt x="75" y="10"/>
                        </a:lnTo>
                        <a:lnTo>
                          <a:pt x="0"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7" name="Freeform 148"/>
                  <p:cNvSpPr>
                    <a:spLocks/>
                  </p:cNvSpPr>
                  <p:nvPr/>
                </p:nvSpPr>
                <p:spPr bwMode="auto">
                  <a:xfrm>
                    <a:off x="1109" y="1793"/>
                    <a:ext cx="128" cy="61"/>
                  </a:xfrm>
                  <a:custGeom>
                    <a:avLst/>
                    <a:gdLst>
                      <a:gd name="T0" fmla="*/ 128 w 128"/>
                      <a:gd name="T1" fmla="*/ 10 h 61"/>
                      <a:gd name="T2" fmla="*/ 97 w 128"/>
                      <a:gd name="T3" fmla="*/ 0 h 61"/>
                      <a:gd name="T4" fmla="*/ 31 w 128"/>
                      <a:gd name="T5" fmla="*/ 35 h 61"/>
                      <a:gd name="T6" fmla="*/ 0 w 128"/>
                      <a:gd name="T7" fmla="*/ 25 h 61"/>
                      <a:gd name="T8" fmla="*/ 9 w 128"/>
                      <a:gd name="T9" fmla="*/ 61 h 61"/>
                      <a:gd name="T10" fmla="*/ 97 w 128"/>
                      <a:gd name="T11" fmla="*/ 61 h 61"/>
                      <a:gd name="T12" fmla="*/ 58 w 128"/>
                      <a:gd name="T13" fmla="*/ 51 h 61"/>
                      <a:gd name="T14" fmla="*/ 128 w 128"/>
                      <a:gd name="T15" fmla="*/ 1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8" h="61">
                        <a:moveTo>
                          <a:pt x="128" y="10"/>
                        </a:moveTo>
                        <a:lnTo>
                          <a:pt x="97" y="0"/>
                        </a:lnTo>
                        <a:lnTo>
                          <a:pt x="31" y="35"/>
                        </a:lnTo>
                        <a:lnTo>
                          <a:pt x="0" y="25"/>
                        </a:lnTo>
                        <a:lnTo>
                          <a:pt x="9" y="61"/>
                        </a:lnTo>
                        <a:lnTo>
                          <a:pt x="97" y="61"/>
                        </a:lnTo>
                        <a:lnTo>
                          <a:pt x="58" y="51"/>
                        </a:lnTo>
                        <a:lnTo>
                          <a:pt x="128"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8" name="Freeform 149"/>
                  <p:cNvSpPr>
                    <a:spLocks/>
                  </p:cNvSpPr>
                  <p:nvPr/>
                </p:nvSpPr>
                <p:spPr bwMode="auto">
                  <a:xfrm>
                    <a:off x="1109" y="1793"/>
                    <a:ext cx="128" cy="61"/>
                  </a:xfrm>
                  <a:custGeom>
                    <a:avLst/>
                    <a:gdLst>
                      <a:gd name="T0" fmla="*/ 128 w 128"/>
                      <a:gd name="T1" fmla="*/ 10 h 61"/>
                      <a:gd name="T2" fmla="*/ 97 w 128"/>
                      <a:gd name="T3" fmla="*/ 0 h 61"/>
                      <a:gd name="T4" fmla="*/ 31 w 128"/>
                      <a:gd name="T5" fmla="*/ 35 h 61"/>
                      <a:gd name="T6" fmla="*/ 0 w 128"/>
                      <a:gd name="T7" fmla="*/ 25 h 61"/>
                      <a:gd name="T8" fmla="*/ 9 w 128"/>
                      <a:gd name="T9" fmla="*/ 61 h 61"/>
                      <a:gd name="T10" fmla="*/ 97 w 128"/>
                      <a:gd name="T11" fmla="*/ 61 h 61"/>
                      <a:gd name="T12" fmla="*/ 58 w 128"/>
                      <a:gd name="T13" fmla="*/ 51 h 61"/>
                      <a:gd name="T14" fmla="*/ 128 w 128"/>
                      <a:gd name="T15" fmla="*/ 1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8" h="61">
                        <a:moveTo>
                          <a:pt x="128" y="10"/>
                        </a:moveTo>
                        <a:lnTo>
                          <a:pt x="97" y="0"/>
                        </a:lnTo>
                        <a:lnTo>
                          <a:pt x="31" y="35"/>
                        </a:lnTo>
                        <a:lnTo>
                          <a:pt x="0" y="25"/>
                        </a:lnTo>
                        <a:lnTo>
                          <a:pt x="9" y="61"/>
                        </a:lnTo>
                        <a:lnTo>
                          <a:pt x="97" y="61"/>
                        </a:lnTo>
                        <a:lnTo>
                          <a:pt x="58" y="51"/>
                        </a:lnTo>
                        <a:lnTo>
                          <a:pt x="128"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187" name="Rectangle 150"/>
              <p:cNvSpPr>
                <a:spLocks noChangeArrowheads="1"/>
              </p:cNvSpPr>
              <p:nvPr/>
            </p:nvSpPr>
            <p:spPr bwMode="auto">
              <a:xfrm>
                <a:off x="1056" y="3312"/>
                <a:ext cx="378" cy="179"/>
              </a:xfrm>
              <a:prstGeom prst="rect">
                <a:avLst/>
              </a:prstGeom>
              <a:solidFill>
                <a:schemeClr val="tx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GB" altLang="en-US" sz="1200">
                    <a:solidFill>
                      <a:schemeClr val="bg1"/>
                    </a:solidFill>
                  </a:rPr>
                  <a:t>L1-L2</a:t>
                </a:r>
              </a:p>
            </p:txBody>
          </p:sp>
        </p:grpSp>
        <p:grpSp>
          <p:nvGrpSpPr>
            <p:cNvPr id="164" name="Group 155"/>
            <p:cNvGrpSpPr>
              <a:grpSpLocks/>
            </p:cNvGrpSpPr>
            <p:nvPr/>
          </p:nvGrpSpPr>
          <p:grpSpPr bwMode="auto">
            <a:xfrm>
              <a:off x="1295400" y="3048000"/>
              <a:ext cx="1108075" cy="747713"/>
              <a:chOff x="1488" y="1536"/>
              <a:chExt cx="698" cy="471"/>
            </a:xfrm>
          </p:grpSpPr>
          <p:pic>
            <p:nvPicPr>
              <p:cNvPr id="184" name="Picture 15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8" y="1536"/>
                <a:ext cx="698" cy="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5" name="Rectangle 157"/>
              <p:cNvSpPr>
                <a:spLocks noChangeArrowheads="1"/>
              </p:cNvSpPr>
              <p:nvPr/>
            </p:nvSpPr>
            <p:spPr bwMode="auto">
              <a:xfrm>
                <a:off x="1584" y="1632"/>
                <a:ext cx="464" cy="179"/>
              </a:xfrm>
              <a:prstGeom prst="rect">
                <a:avLst/>
              </a:prstGeom>
              <a:solidFill>
                <a:schemeClr val="tx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GB" altLang="en-US" sz="1200">
                    <a:solidFill>
                      <a:schemeClr val="bg1"/>
                    </a:solidFill>
                  </a:rPr>
                  <a:t>L1-only</a:t>
                </a:r>
              </a:p>
            </p:txBody>
          </p:sp>
        </p:grpSp>
        <p:sp>
          <p:nvSpPr>
            <p:cNvPr id="165" name="AutoShape 131"/>
            <p:cNvSpPr>
              <a:spLocks noChangeArrowheads="1"/>
            </p:cNvSpPr>
            <p:nvPr/>
          </p:nvSpPr>
          <p:spPr bwMode="auto">
            <a:xfrm>
              <a:off x="3124200" y="5181600"/>
              <a:ext cx="3048000" cy="762000"/>
            </a:xfrm>
            <a:prstGeom prst="wedgeRectCallout">
              <a:avLst>
                <a:gd name="adj1" fmla="val -42185"/>
                <a:gd name="adj2" fmla="val -212083"/>
              </a:avLst>
            </a:prstGeom>
            <a:solidFill>
              <a:srgbClr val="FFFF00"/>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GB" altLang="en-US" sz="1200" dirty="0">
                  <a:latin typeface="Helvetica" panose="020B0604020202020204" pitchFamily="34" charset="0"/>
                </a:rPr>
                <a:t>This router has to behave as level-2 </a:t>
              </a:r>
              <a:br>
                <a:rPr lang="en-GB" altLang="en-US" sz="1200" dirty="0">
                  <a:latin typeface="Helvetica" panose="020B0604020202020204" pitchFamily="34" charset="0"/>
                </a:rPr>
              </a:br>
              <a:r>
                <a:rPr lang="en-GB" altLang="en-US" sz="1200" dirty="0">
                  <a:latin typeface="Helvetica" panose="020B0604020202020204" pitchFamily="34" charset="0"/>
                </a:rPr>
                <a:t>as well in order to guarantee backbone </a:t>
              </a:r>
              <a:br>
                <a:rPr lang="en-GB" altLang="en-US" sz="1200" dirty="0">
                  <a:latin typeface="Helvetica" panose="020B0604020202020204" pitchFamily="34" charset="0"/>
                </a:rPr>
              </a:br>
              <a:r>
                <a:rPr lang="en-GB" altLang="en-US" sz="1200" dirty="0">
                  <a:latin typeface="Helvetica" panose="020B0604020202020204" pitchFamily="34" charset="0"/>
                </a:rPr>
                <a:t>continuity</a:t>
              </a:r>
              <a:endParaRPr lang="en-GB" altLang="en-US" sz="1200" b="0" dirty="0"/>
            </a:p>
          </p:txBody>
        </p:sp>
        <p:grpSp>
          <p:nvGrpSpPr>
            <p:cNvPr id="166" name="Group 158"/>
            <p:cNvGrpSpPr>
              <a:grpSpLocks/>
            </p:cNvGrpSpPr>
            <p:nvPr/>
          </p:nvGrpSpPr>
          <p:grpSpPr bwMode="auto">
            <a:xfrm>
              <a:off x="2743200" y="3429000"/>
              <a:ext cx="963613" cy="631825"/>
              <a:chOff x="960" y="3216"/>
              <a:chExt cx="607" cy="398"/>
            </a:xfrm>
          </p:grpSpPr>
          <p:grpSp>
            <p:nvGrpSpPr>
              <p:cNvPr id="167" name="Group 159"/>
              <p:cNvGrpSpPr>
                <a:grpSpLocks/>
              </p:cNvGrpSpPr>
              <p:nvPr/>
            </p:nvGrpSpPr>
            <p:grpSpPr bwMode="auto">
              <a:xfrm>
                <a:off x="960" y="3216"/>
                <a:ext cx="607" cy="398"/>
                <a:chOff x="331" y="1428"/>
                <a:chExt cx="463" cy="302"/>
              </a:xfrm>
            </p:grpSpPr>
            <p:sp>
              <p:nvSpPr>
                <p:cNvPr id="169" name="Rectangle 160"/>
                <p:cNvSpPr>
                  <a:spLocks noChangeArrowheads="1"/>
                </p:cNvSpPr>
                <p:nvPr/>
              </p:nvSpPr>
              <p:spPr bwMode="auto">
                <a:xfrm>
                  <a:off x="340" y="1541"/>
                  <a:ext cx="454" cy="10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170" name="Oval 161"/>
                <p:cNvSpPr>
                  <a:spLocks noChangeArrowheads="1"/>
                </p:cNvSpPr>
                <p:nvPr/>
              </p:nvSpPr>
              <p:spPr bwMode="auto">
                <a:xfrm>
                  <a:off x="344" y="1444"/>
                  <a:ext cx="450" cy="19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171" name="Rectangle 162"/>
                <p:cNvSpPr>
                  <a:spLocks noChangeArrowheads="1"/>
                </p:cNvSpPr>
                <p:nvPr/>
              </p:nvSpPr>
              <p:spPr bwMode="auto">
                <a:xfrm>
                  <a:off x="331" y="1525"/>
                  <a:ext cx="454" cy="108"/>
                </a:xfrm>
                <a:prstGeom prst="rect">
                  <a:avLst/>
                </a:prstGeom>
                <a:solidFill>
                  <a:srgbClr val="CC020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172" name="Oval 163"/>
                <p:cNvSpPr>
                  <a:spLocks noChangeArrowheads="1"/>
                </p:cNvSpPr>
                <p:nvPr/>
              </p:nvSpPr>
              <p:spPr bwMode="auto">
                <a:xfrm>
                  <a:off x="336" y="1536"/>
                  <a:ext cx="449" cy="194"/>
                </a:xfrm>
                <a:prstGeom prst="ellipse">
                  <a:avLst/>
                </a:prstGeom>
                <a:solidFill>
                  <a:srgbClr val="CC020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173" name="Oval 164"/>
                <p:cNvSpPr>
                  <a:spLocks noChangeArrowheads="1"/>
                </p:cNvSpPr>
                <p:nvPr/>
              </p:nvSpPr>
              <p:spPr bwMode="auto">
                <a:xfrm>
                  <a:off x="336" y="1428"/>
                  <a:ext cx="449" cy="195"/>
                </a:xfrm>
                <a:prstGeom prst="ellipse">
                  <a:avLst/>
                </a:prstGeom>
                <a:solidFill>
                  <a:srgbClr val="CC020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grpSp>
              <p:nvGrpSpPr>
                <p:cNvPr id="174" name="Group 165"/>
                <p:cNvGrpSpPr>
                  <a:grpSpLocks/>
                </p:cNvGrpSpPr>
                <p:nvPr/>
              </p:nvGrpSpPr>
              <p:grpSpPr bwMode="auto">
                <a:xfrm>
                  <a:off x="419" y="1454"/>
                  <a:ext cx="283" cy="143"/>
                  <a:chOff x="1100" y="1711"/>
                  <a:chExt cx="283" cy="143"/>
                </a:xfrm>
              </p:grpSpPr>
              <p:sp>
                <p:nvSpPr>
                  <p:cNvPr id="180" name="Freeform 166"/>
                  <p:cNvSpPr>
                    <a:spLocks/>
                  </p:cNvSpPr>
                  <p:nvPr/>
                </p:nvSpPr>
                <p:spPr bwMode="auto">
                  <a:xfrm>
                    <a:off x="1100" y="1711"/>
                    <a:ext cx="128" cy="56"/>
                  </a:xfrm>
                  <a:custGeom>
                    <a:avLst/>
                    <a:gdLst>
                      <a:gd name="T0" fmla="*/ 0 w 128"/>
                      <a:gd name="T1" fmla="*/ 10 h 56"/>
                      <a:gd name="T2" fmla="*/ 31 w 128"/>
                      <a:gd name="T3" fmla="*/ 0 h 56"/>
                      <a:gd name="T4" fmla="*/ 97 w 128"/>
                      <a:gd name="T5" fmla="*/ 31 h 56"/>
                      <a:gd name="T6" fmla="*/ 128 w 128"/>
                      <a:gd name="T7" fmla="*/ 20 h 56"/>
                      <a:gd name="T8" fmla="*/ 119 w 128"/>
                      <a:gd name="T9" fmla="*/ 56 h 56"/>
                      <a:gd name="T10" fmla="*/ 31 w 128"/>
                      <a:gd name="T11" fmla="*/ 56 h 56"/>
                      <a:gd name="T12" fmla="*/ 71 w 128"/>
                      <a:gd name="T13" fmla="*/ 46 h 56"/>
                      <a:gd name="T14" fmla="*/ 0 w 128"/>
                      <a:gd name="T15" fmla="*/ 10 h 5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8" h="56">
                        <a:moveTo>
                          <a:pt x="0" y="10"/>
                        </a:moveTo>
                        <a:lnTo>
                          <a:pt x="31" y="0"/>
                        </a:lnTo>
                        <a:lnTo>
                          <a:pt x="97" y="31"/>
                        </a:lnTo>
                        <a:lnTo>
                          <a:pt x="128" y="20"/>
                        </a:lnTo>
                        <a:lnTo>
                          <a:pt x="119" y="56"/>
                        </a:lnTo>
                        <a:lnTo>
                          <a:pt x="31" y="56"/>
                        </a:lnTo>
                        <a:lnTo>
                          <a:pt x="71" y="46"/>
                        </a:lnTo>
                        <a:lnTo>
                          <a:pt x="0"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1" name="Freeform 167"/>
                  <p:cNvSpPr>
                    <a:spLocks/>
                  </p:cNvSpPr>
                  <p:nvPr/>
                </p:nvSpPr>
                <p:spPr bwMode="auto">
                  <a:xfrm>
                    <a:off x="1100" y="1711"/>
                    <a:ext cx="128" cy="56"/>
                  </a:xfrm>
                  <a:custGeom>
                    <a:avLst/>
                    <a:gdLst>
                      <a:gd name="T0" fmla="*/ 0 w 128"/>
                      <a:gd name="T1" fmla="*/ 10 h 56"/>
                      <a:gd name="T2" fmla="*/ 31 w 128"/>
                      <a:gd name="T3" fmla="*/ 0 h 56"/>
                      <a:gd name="T4" fmla="*/ 97 w 128"/>
                      <a:gd name="T5" fmla="*/ 31 h 56"/>
                      <a:gd name="T6" fmla="*/ 128 w 128"/>
                      <a:gd name="T7" fmla="*/ 20 h 56"/>
                      <a:gd name="T8" fmla="*/ 119 w 128"/>
                      <a:gd name="T9" fmla="*/ 56 h 56"/>
                      <a:gd name="T10" fmla="*/ 31 w 128"/>
                      <a:gd name="T11" fmla="*/ 56 h 56"/>
                      <a:gd name="T12" fmla="*/ 71 w 128"/>
                      <a:gd name="T13" fmla="*/ 46 h 56"/>
                      <a:gd name="T14" fmla="*/ 0 w 128"/>
                      <a:gd name="T15" fmla="*/ 10 h 5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8" h="56">
                        <a:moveTo>
                          <a:pt x="0" y="10"/>
                        </a:moveTo>
                        <a:lnTo>
                          <a:pt x="31" y="0"/>
                        </a:lnTo>
                        <a:lnTo>
                          <a:pt x="97" y="31"/>
                        </a:lnTo>
                        <a:lnTo>
                          <a:pt x="128" y="20"/>
                        </a:lnTo>
                        <a:lnTo>
                          <a:pt x="119" y="56"/>
                        </a:lnTo>
                        <a:lnTo>
                          <a:pt x="31" y="56"/>
                        </a:lnTo>
                        <a:lnTo>
                          <a:pt x="71" y="46"/>
                        </a:lnTo>
                        <a:lnTo>
                          <a:pt x="0"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2" name="Freeform 168"/>
                  <p:cNvSpPr>
                    <a:spLocks/>
                  </p:cNvSpPr>
                  <p:nvPr/>
                </p:nvSpPr>
                <p:spPr bwMode="auto">
                  <a:xfrm>
                    <a:off x="1250" y="1803"/>
                    <a:ext cx="133" cy="51"/>
                  </a:xfrm>
                  <a:custGeom>
                    <a:avLst/>
                    <a:gdLst>
                      <a:gd name="T0" fmla="*/ 133 w 133"/>
                      <a:gd name="T1" fmla="*/ 41 h 51"/>
                      <a:gd name="T2" fmla="*/ 102 w 133"/>
                      <a:gd name="T3" fmla="*/ 51 h 51"/>
                      <a:gd name="T4" fmla="*/ 31 w 133"/>
                      <a:gd name="T5" fmla="*/ 25 h 51"/>
                      <a:gd name="T6" fmla="*/ 0 w 133"/>
                      <a:gd name="T7" fmla="*/ 41 h 51"/>
                      <a:gd name="T8" fmla="*/ 9 w 133"/>
                      <a:gd name="T9" fmla="*/ 0 h 51"/>
                      <a:gd name="T10" fmla="*/ 102 w 133"/>
                      <a:gd name="T11" fmla="*/ 0 h 51"/>
                      <a:gd name="T12" fmla="*/ 66 w 133"/>
                      <a:gd name="T13" fmla="*/ 15 h 51"/>
                      <a:gd name="T14" fmla="*/ 133 w 133"/>
                      <a:gd name="T15" fmla="*/ 41 h 5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3" h="51">
                        <a:moveTo>
                          <a:pt x="133" y="41"/>
                        </a:moveTo>
                        <a:lnTo>
                          <a:pt x="102" y="51"/>
                        </a:lnTo>
                        <a:lnTo>
                          <a:pt x="31" y="25"/>
                        </a:lnTo>
                        <a:lnTo>
                          <a:pt x="0" y="41"/>
                        </a:lnTo>
                        <a:lnTo>
                          <a:pt x="9" y="0"/>
                        </a:lnTo>
                        <a:lnTo>
                          <a:pt x="102" y="0"/>
                        </a:lnTo>
                        <a:lnTo>
                          <a:pt x="66" y="15"/>
                        </a:lnTo>
                        <a:lnTo>
                          <a:pt x="133"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3" name="Freeform 169"/>
                  <p:cNvSpPr>
                    <a:spLocks/>
                  </p:cNvSpPr>
                  <p:nvPr/>
                </p:nvSpPr>
                <p:spPr bwMode="auto">
                  <a:xfrm>
                    <a:off x="1250" y="1803"/>
                    <a:ext cx="133" cy="51"/>
                  </a:xfrm>
                  <a:custGeom>
                    <a:avLst/>
                    <a:gdLst>
                      <a:gd name="T0" fmla="*/ 133 w 133"/>
                      <a:gd name="T1" fmla="*/ 41 h 51"/>
                      <a:gd name="T2" fmla="*/ 102 w 133"/>
                      <a:gd name="T3" fmla="*/ 51 h 51"/>
                      <a:gd name="T4" fmla="*/ 31 w 133"/>
                      <a:gd name="T5" fmla="*/ 25 h 51"/>
                      <a:gd name="T6" fmla="*/ 0 w 133"/>
                      <a:gd name="T7" fmla="*/ 41 h 51"/>
                      <a:gd name="T8" fmla="*/ 9 w 133"/>
                      <a:gd name="T9" fmla="*/ 0 h 51"/>
                      <a:gd name="T10" fmla="*/ 102 w 133"/>
                      <a:gd name="T11" fmla="*/ 0 h 51"/>
                      <a:gd name="T12" fmla="*/ 66 w 133"/>
                      <a:gd name="T13" fmla="*/ 15 h 51"/>
                      <a:gd name="T14" fmla="*/ 133 w 133"/>
                      <a:gd name="T15" fmla="*/ 41 h 5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3" h="51">
                        <a:moveTo>
                          <a:pt x="133" y="41"/>
                        </a:moveTo>
                        <a:lnTo>
                          <a:pt x="102" y="51"/>
                        </a:lnTo>
                        <a:lnTo>
                          <a:pt x="31" y="25"/>
                        </a:lnTo>
                        <a:lnTo>
                          <a:pt x="0" y="41"/>
                        </a:lnTo>
                        <a:lnTo>
                          <a:pt x="9" y="0"/>
                        </a:lnTo>
                        <a:lnTo>
                          <a:pt x="102" y="0"/>
                        </a:lnTo>
                        <a:lnTo>
                          <a:pt x="66" y="15"/>
                        </a:lnTo>
                        <a:lnTo>
                          <a:pt x="133"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75" name="Group 170"/>
                <p:cNvGrpSpPr>
                  <a:grpSpLocks/>
                </p:cNvGrpSpPr>
                <p:nvPr/>
              </p:nvGrpSpPr>
              <p:grpSpPr bwMode="auto">
                <a:xfrm>
                  <a:off x="428" y="1454"/>
                  <a:ext cx="265" cy="143"/>
                  <a:chOff x="1109" y="1711"/>
                  <a:chExt cx="265" cy="143"/>
                </a:xfrm>
              </p:grpSpPr>
              <p:sp>
                <p:nvSpPr>
                  <p:cNvPr id="176" name="Freeform 171"/>
                  <p:cNvSpPr>
                    <a:spLocks/>
                  </p:cNvSpPr>
                  <p:nvPr/>
                </p:nvSpPr>
                <p:spPr bwMode="auto">
                  <a:xfrm>
                    <a:off x="1241" y="1711"/>
                    <a:ext cx="133" cy="56"/>
                  </a:xfrm>
                  <a:custGeom>
                    <a:avLst/>
                    <a:gdLst>
                      <a:gd name="T0" fmla="*/ 0 w 133"/>
                      <a:gd name="T1" fmla="*/ 46 h 56"/>
                      <a:gd name="T2" fmla="*/ 31 w 133"/>
                      <a:gd name="T3" fmla="*/ 56 h 56"/>
                      <a:gd name="T4" fmla="*/ 97 w 133"/>
                      <a:gd name="T5" fmla="*/ 20 h 56"/>
                      <a:gd name="T6" fmla="*/ 133 w 133"/>
                      <a:gd name="T7" fmla="*/ 31 h 56"/>
                      <a:gd name="T8" fmla="*/ 120 w 133"/>
                      <a:gd name="T9" fmla="*/ 0 h 56"/>
                      <a:gd name="T10" fmla="*/ 31 w 133"/>
                      <a:gd name="T11" fmla="*/ 0 h 56"/>
                      <a:gd name="T12" fmla="*/ 75 w 133"/>
                      <a:gd name="T13" fmla="*/ 10 h 56"/>
                      <a:gd name="T14" fmla="*/ 0 w 133"/>
                      <a:gd name="T15" fmla="*/ 46 h 5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3" h="56">
                        <a:moveTo>
                          <a:pt x="0" y="46"/>
                        </a:moveTo>
                        <a:lnTo>
                          <a:pt x="31" y="56"/>
                        </a:lnTo>
                        <a:lnTo>
                          <a:pt x="97" y="20"/>
                        </a:lnTo>
                        <a:lnTo>
                          <a:pt x="133" y="31"/>
                        </a:lnTo>
                        <a:lnTo>
                          <a:pt x="120" y="0"/>
                        </a:lnTo>
                        <a:lnTo>
                          <a:pt x="31" y="0"/>
                        </a:lnTo>
                        <a:lnTo>
                          <a:pt x="75" y="10"/>
                        </a:lnTo>
                        <a:lnTo>
                          <a:pt x="0"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7" name="Freeform 172"/>
                  <p:cNvSpPr>
                    <a:spLocks/>
                  </p:cNvSpPr>
                  <p:nvPr/>
                </p:nvSpPr>
                <p:spPr bwMode="auto">
                  <a:xfrm>
                    <a:off x="1241" y="1711"/>
                    <a:ext cx="133" cy="56"/>
                  </a:xfrm>
                  <a:custGeom>
                    <a:avLst/>
                    <a:gdLst>
                      <a:gd name="T0" fmla="*/ 0 w 133"/>
                      <a:gd name="T1" fmla="*/ 46 h 56"/>
                      <a:gd name="T2" fmla="*/ 31 w 133"/>
                      <a:gd name="T3" fmla="*/ 56 h 56"/>
                      <a:gd name="T4" fmla="*/ 97 w 133"/>
                      <a:gd name="T5" fmla="*/ 20 h 56"/>
                      <a:gd name="T6" fmla="*/ 133 w 133"/>
                      <a:gd name="T7" fmla="*/ 31 h 56"/>
                      <a:gd name="T8" fmla="*/ 120 w 133"/>
                      <a:gd name="T9" fmla="*/ 0 h 56"/>
                      <a:gd name="T10" fmla="*/ 31 w 133"/>
                      <a:gd name="T11" fmla="*/ 0 h 56"/>
                      <a:gd name="T12" fmla="*/ 75 w 133"/>
                      <a:gd name="T13" fmla="*/ 10 h 56"/>
                      <a:gd name="T14" fmla="*/ 0 w 133"/>
                      <a:gd name="T15" fmla="*/ 46 h 5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3" h="56">
                        <a:moveTo>
                          <a:pt x="0" y="46"/>
                        </a:moveTo>
                        <a:lnTo>
                          <a:pt x="31" y="56"/>
                        </a:lnTo>
                        <a:lnTo>
                          <a:pt x="97" y="20"/>
                        </a:lnTo>
                        <a:lnTo>
                          <a:pt x="133" y="31"/>
                        </a:lnTo>
                        <a:lnTo>
                          <a:pt x="120" y="0"/>
                        </a:lnTo>
                        <a:lnTo>
                          <a:pt x="31" y="0"/>
                        </a:lnTo>
                        <a:lnTo>
                          <a:pt x="75" y="10"/>
                        </a:lnTo>
                        <a:lnTo>
                          <a:pt x="0"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8" name="Freeform 173"/>
                  <p:cNvSpPr>
                    <a:spLocks/>
                  </p:cNvSpPr>
                  <p:nvPr/>
                </p:nvSpPr>
                <p:spPr bwMode="auto">
                  <a:xfrm>
                    <a:off x="1109" y="1793"/>
                    <a:ext cx="128" cy="61"/>
                  </a:xfrm>
                  <a:custGeom>
                    <a:avLst/>
                    <a:gdLst>
                      <a:gd name="T0" fmla="*/ 128 w 128"/>
                      <a:gd name="T1" fmla="*/ 10 h 61"/>
                      <a:gd name="T2" fmla="*/ 97 w 128"/>
                      <a:gd name="T3" fmla="*/ 0 h 61"/>
                      <a:gd name="T4" fmla="*/ 31 w 128"/>
                      <a:gd name="T5" fmla="*/ 35 h 61"/>
                      <a:gd name="T6" fmla="*/ 0 w 128"/>
                      <a:gd name="T7" fmla="*/ 25 h 61"/>
                      <a:gd name="T8" fmla="*/ 9 w 128"/>
                      <a:gd name="T9" fmla="*/ 61 h 61"/>
                      <a:gd name="T10" fmla="*/ 97 w 128"/>
                      <a:gd name="T11" fmla="*/ 61 h 61"/>
                      <a:gd name="T12" fmla="*/ 58 w 128"/>
                      <a:gd name="T13" fmla="*/ 51 h 61"/>
                      <a:gd name="T14" fmla="*/ 128 w 128"/>
                      <a:gd name="T15" fmla="*/ 1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8" h="61">
                        <a:moveTo>
                          <a:pt x="128" y="10"/>
                        </a:moveTo>
                        <a:lnTo>
                          <a:pt x="97" y="0"/>
                        </a:lnTo>
                        <a:lnTo>
                          <a:pt x="31" y="35"/>
                        </a:lnTo>
                        <a:lnTo>
                          <a:pt x="0" y="25"/>
                        </a:lnTo>
                        <a:lnTo>
                          <a:pt x="9" y="61"/>
                        </a:lnTo>
                        <a:lnTo>
                          <a:pt x="97" y="61"/>
                        </a:lnTo>
                        <a:lnTo>
                          <a:pt x="58" y="51"/>
                        </a:lnTo>
                        <a:lnTo>
                          <a:pt x="128"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9" name="Freeform 174"/>
                  <p:cNvSpPr>
                    <a:spLocks/>
                  </p:cNvSpPr>
                  <p:nvPr/>
                </p:nvSpPr>
                <p:spPr bwMode="auto">
                  <a:xfrm>
                    <a:off x="1109" y="1793"/>
                    <a:ext cx="128" cy="61"/>
                  </a:xfrm>
                  <a:custGeom>
                    <a:avLst/>
                    <a:gdLst>
                      <a:gd name="T0" fmla="*/ 128 w 128"/>
                      <a:gd name="T1" fmla="*/ 10 h 61"/>
                      <a:gd name="T2" fmla="*/ 97 w 128"/>
                      <a:gd name="T3" fmla="*/ 0 h 61"/>
                      <a:gd name="T4" fmla="*/ 31 w 128"/>
                      <a:gd name="T5" fmla="*/ 35 h 61"/>
                      <a:gd name="T6" fmla="*/ 0 w 128"/>
                      <a:gd name="T7" fmla="*/ 25 h 61"/>
                      <a:gd name="T8" fmla="*/ 9 w 128"/>
                      <a:gd name="T9" fmla="*/ 61 h 61"/>
                      <a:gd name="T10" fmla="*/ 97 w 128"/>
                      <a:gd name="T11" fmla="*/ 61 h 61"/>
                      <a:gd name="T12" fmla="*/ 58 w 128"/>
                      <a:gd name="T13" fmla="*/ 51 h 61"/>
                      <a:gd name="T14" fmla="*/ 128 w 128"/>
                      <a:gd name="T15" fmla="*/ 1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8" h="61">
                        <a:moveTo>
                          <a:pt x="128" y="10"/>
                        </a:moveTo>
                        <a:lnTo>
                          <a:pt x="97" y="0"/>
                        </a:lnTo>
                        <a:lnTo>
                          <a:pt x="31" y="35"/>
                        </a:lnTo>
                        <a:lnTo>
                          <a:pt x="0" y="25"/>
                        </a:lnTo>
                        <a:lnTo>
                          <a:pt x="9" y="61"/>
                        </a:lnTo>
                        <a:lnTo>
                          <a:pt x="97" y="61"/>
                        </a:lnTo>
                        <a:lnTo>
                          <a:pt x="58" y="51"/>
                        </a:lnTo>
                        <a:lnTo>
                          <a:pt x="128"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168" name="Rectangle 175"/>
              <p:cNvSpPr>
                <a:spLocks noChangeArrowheads="1"/>
              </p:cNvSpPr>
              <p:nvPr/>
            </p:nvSpPr>
            <p:spPr bwMode="auto">
              <a:xfrm>
                <a:off x="1056" y="3312"/>
                <a:ext cx="378" cy="179"/>
              </a:xfrm>
              <a:prstGeom prst="rect">
                <a:avLst/>
              </a:prstGeom>
              <a:solidFill>
                <a:schemeClr val="tx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GB" altLang="en-US" sz="1200">
                    <a:solidFill>
                      <a:schemeClr val="bg1"/>
                    </a:solidFill>
                  </a:rPr>
                  <a:t>L1-L2</a:t>
                </a:r>
              </a:p>
            </p:txBody>
          </p:sp>
        </p:grpSp>
      </p:grpSp>
    </p:spTree>
    <p:extLst>
      <p:ext uri="{BB962C8B-B14F-4D97-AF65-F5344CB8AC3E}">
        <p14:creationId xmlns:p14="http://schemas.microsoft.com/office/powerpoint/2010/main" val="4213146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nl-NL" altLang="en-US" smtClean="0"/>
              <a:t>Level-1 routing</a:t>
            </a:r>
          </a:p>
        </p:txBody>
      </p:sp>
      <p:sp>
        <p:nvSpPr>
          <p:cNvPr id="71683" name="Rectangle 3"/>
          <p:cNvSpPr>
            <a:spLocks noGrp="1" noChangeArrowheads="1"/>
          </p:cNvSpPr>
          <p:nvPr>
            <p:ph type="body" idx="1"/>
          </p:nvPr>
        </p:nvSpPr>
        <p:spPr/>
        <p:txBody>
          <a:bodyPr/>
          <a:lstStyle/>
          <a:p>
            <a:r>
              <a:rPr lang="nl-NL" altLang="en-US" smtClean="0"/>
              <a:t>L1-only routers know only topology of their own area (including all ISs and ESs in the area)</a:t>
            </a:r>
          </a:p>
          <a:p>
            <a:r>
              <a:rPr lang="nl-NL" altLang="en-US" smtClean="0"/>
              <a:t>Traffic to other areas  is sent via the closest L2 IS</a:t>
            </a:r>
          </a:p>
          <a:p>
            <a:r>
              <a:rPr lang="nl-NL" altLang="en-US" smtClean="0"/>
              <a:t>L1L2 ISs set the “attached-bit” in their L1 LSP</a:t>
            </a:r>
          </a:p>
        </p:txBody>
      </p:sp>
    </p:spTree>
    <p:extLst>
      <p:ext uri="{BB962C8B-B14F-4D97-AF65-F5344CB8AC3E}">
        <p14:creationId xmlns:p14="http://schemas.microsoft.com/office/powerpoint/2010/main" val="1490453840"/>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nl-NL" altLang="en-US" smtClean="0"/>
              <a:t>Level-2 Routing</a:t>
            </a:r>
          </a:p>
        </p:txBody>
      </p:sp>
      <p:sp>
        <p:nvSpPr>
          <p:cNvPr id="74755" name="Rectangle 3"/>
          <p:cNvSpPr>
            <a:spLocks noGrp="1" noChangeArrowheads="1"/>
          </p:cNvSpPr>
          <p:nvPr>
            <p:ph type="body" idx="1"/>
          </p:nvPr>
        </p:nvSpPr>
        <p:spPr/>
        <p:txBody>
          <a:bodyPr/>
          <a:lstStyle/>
          <a:p>
            <a:r>
              <a:rPr lang="nl-NL" altLang="en-US" dirty="0" smtClean="0"/>
              <a:t>L2 routers know about other areas</a:t>
            </a:r>
          </a:p>
          <a:p>
            <a:pPr lvl="1"/>
            <a:r>
              <a:rPr lang="nl-NL" altLang="en-US" dirty="0" smtClean="0"/>
              <a:t>L2 area addresses and L2 routers</a:t>
            </a:r>
          </a:p>
          <a:p>
            <a:r>
              <a:rPr lang="nl-NL" altLang="en-US" dirty="0" smtClean="0"/>
              <a:t>When doing OSI routing, the L2 ISs must know their own area. Therefore never use L2-only on OSI routers</a:t>
            </a:r>
          </a:p>
          <a:p>
            <a:pPr lvl="1"/>
            <a:r>
              <a:rPr lang="nl-NL" altLang="en-US" dirty="0" smtClean="0"/>
              <a:t>L2-only is possible when doing just IP</a:t>
            </a:r>
          </a:p>
        </p:txBody>
      </p:sp>
    </p:spTree>
    <p:extLst>
      <p:ext uri="{BB962C8B-B14F-4D97-AF65-F5344CB8AC3E}">
        <p14:creationId xmlns:p14="http://schemas.microsoft.com/office/powerpoint/2010/main" val="206543169"/>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nl-NL" altLang="en-US" smtClean="0"/>
              <a:t>Level-2 Routing</a:t>
            </a:r>
          </a:p>
        </p:txBody>
      </p:sp>
      <p:sp>
        <p:nvSpPr>
          <p:cNvPr id="76803" name="Rectangle 3"/>
          <p:cNvSpPr>
            <a:spLocks noGrp="1" noChangeArrowheads="1"/>
          </p:cNvSpPr>
          <p:nvPr>
            <p:ph type="body" idx="1"/>
          </p:nvPr>
        </p:nvSpPr>
        <p:spPr/>
        <p:txBody>
          <a:bodyPr/>
          <a:lstStyle/>
          <a:p>
            <a:r>
              <a:rPr lang="nl-NL" altLang="en-US" smtClean="0"/>
              <a:t>Transit traffic requires routers inside the area to know about other areas</a:t>
            </a:r>
          </a:p>
          <a:p>
            <a:pPr lvl="1"/>
            <a:r>
              <a:rPr lang="nl-NL" altLang="en-US" smtClean="0"/>
              <a:t>routers in transit paths must be L1L2 routers to  have the full L2 LSDB</a:t>
            </a:r>
          </a:p>
          <a:p>
            <a:pPr lvl="1"/>
            <a:r>
              <a:rPr lang="nl-NL" altLang="en-US" smtClean="0"/>
              <a:t>similar to pervasive BGP requirement</a:t>
            </a:r>
          </a:p>
          <a:p>
            <a:r>
              <a:rPr lang="nl-NL" altLang="en-US" smtClean="0"/>
              <a:t>L2 routers must be contiguous</a:t>
            </a:r>
          </a:p>
        </p:txBody>
      </p:sp>
    </p:spTree>
    <p:extLst>
      <p:ext uri="{BB962C8B-B14F-4D97-AF65-F5344CB8AC3E}">
        <p14:creationId xmlns:p14="http://schemas.microsoft.com/office/powerpoint/2010/main" val="546976535"/>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21</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08069"/>
            <a:ext cx="8229600" cy="3879338"/>
          </a:xfrm>
        </p:spPr>
        <p:txBody>
          <a:bodyPr>
            <a:noAutofit/>
          </a:bodyPr>
          <a:lstStyle/>
          <a:p>
            <a:pPr lvl="1">
              <a:buFont typeface="Wingdings" panose="05000000000000000000" pitchFamily="2" charset="2"/>
              <a:buChar char="Ø"/>
            </a:pPr>
            <a:r>
              <a:rPr lang="en-US" dirty="0"/>
              <a:t>As an IS-IS router resides completely within a single area, the Area ID (or area address) is associated with the entire router rather than an interface.</a:t>
            </a:r>
          </a:p>
          <a:p>
            <a:pPr lvl="1">
              <a:buFont typeface="Wingdings" panose="05000000000000000000" pitchFamily="2" charset="2"/>
              <a:buChar char="Ø"/>
            </a:pPr>
            <a:r>
              <a:rPr lang="en-US" dirty="0"/>
              <a:t>A unique feature of IS-IS is that a router can have up to three area addresses, which can be useful during area transitions.</a:t>
            </a:r>
          </a:p>
          <a:p>
            <a:pPr lvl="1">
              <a:buFont typeface="Wingdings" panose="05000000000000000000" pitchFamily="2" charset="2"/>
              <a:buChar char="Ø"/>
            </a:pPr>
            <a:r>
              <a:rPr lang="en-US" dirty="0"/>
              <a:t>Each IS-IS router must also have a way to uniquely identify itself within the routing domain. This identification is the function of the </a:t>
            </a:r>
            <a:r>
              <a:rPr lang="en-US" i="1" dirty="0"/>
              <a:t>System ID</a:t>
            </a:r>
            <a:r>
              <a:rPr lang="en-US" dirty="0"/>
              <a:t>, which is analogous to the OSPF Router ID.</a:t>
            </a:r>
          </a:p>
          <a:p>
            <a:pPr lvl="1">
              <a:buFont typeface="Wingdings" panose="05000000000000000000" pitchFamily="2" charset="2"/>
              <a:buChar char="Ø"/>
            </a:pPr>
            <a:r>
              <a:rPr lang="en-US" dirty="0"/>
              <a:t>Both the Area ID and the System ID are defined on an IS-IS router by a single address, the Network Entity Title (NET).</a:t>
            </a:r>
          </a:p>
        </p:txBody>
      </p:sp>
    </p:spTree>
    <p:extLst>
      <p:ext uri="{BB962C8B-B14F-4D97-AF65-F5344CB8AC3E}">
        <p14:creationId xmlns:p14="http://schemas.microsoft.com/office/powerpoint/2010/main" val="30132902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22</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08069"/>
            <a:ext cx="8229600" cy="3879338"/>
          </a:xfrm>
        </p:spPr>
        <p:txBody>
          <a:bodyPr>
            <a:noAutofit/>
          </a:bodyPr>
          <a:lstStyle/>
          <a:p>
            <a:pPr>
              <a:buFont typeface="Wingdings" panose="05000000000000000000" pitchFamily="2" charset="2"/>
              <a:buChar char="Ø"/>
            </a:pPr>
            <a:r>
              <a:rPr lang="en-US" dirty="0" smtClean="0"/>
              <a:t>Neighbors and adjacencies</a:t>
            </a:r>
          </a:p>
          <a:p>
            <a:pPr lvl="1">
              <a:buFont typeface="Wingdings" panose="05000000000000000000" pitchFamily="2" charset="2"/>
              <a:buChar char="Ø"/>
            </a:pPr>
            <a:r>
              <a:rPr lang="en-US" dirty="0" smtClean="0"/>
              <a:t>IS-IS </a:t>
            </a:r>
            <a:r>
              <a:rPr lang="en-US" dirty="0"/>
              <a:t>routers discover neighbors and form adjacencies by exchanging IS-IS Hello PDUs. </a:t>
            </a:r>
          </a:p>
          <a:p>
            <a:pPr lvl="1">
              <a:buFont typeface="Wingdings" panose="05000000000000000000" pitchFamily="2" charset="2"/>
              <a:buChar char="Ø"/>
            </a:pPr>
            <a:r>
              <a:rPr lang="en-US" dirty="0"/>
              <a:t>Hellos are transmitted every 10 seconds, and on Cisco routers this interval can be changed on a per interface basis with the command </a:t>
            </a:r>
            <a:r>
              <a:rPr lang="en-US" b="1" dirty="0" err="1"/>
              <a:t>isis</a:t>
            </a:r>
            <a:r>
              <a:rPr lang="en-US" b="1" dirty="0"/>
              <a:t> hello-interval</a:t>
            </a:r>
            <a:r>
              <a:rPr lang="en-US" dirty="0"/>
              <a:t>.</a:t>
            </a:r>
          </a:p>
          <a:p>
            <a:pPr lvl="1">
              <a:buFont typeface="Wingdings" panose="05000000000000000000" pitchFamily="2" charset="2"/>
              <a:buChar char="Ø"/>
            </a:pPr>
            <a:r>
              <a:rPr lang="en-US" dirty="0"/>
              <a:t>An IS-IS router uses its Hello PDUs to identify itself and its capabilities and to describe the parameters of the interface on which the Hellos are sent.</a:t>
            </a:r>
          </a:p>
          <a:p>
            <a:pPr lvl="1">
              <a:buFont typeface="Wingdings" panose="05000000000000000000" pitchFamily="2" charset="2"/>
              <a:buChar char="Ø"/>
            </a:pPr>
            <a:r>
              <a:rPr lang="en-US" dirty="0"/>
              <a:t> If two neighbors are in agreement about their respective capabilities and interface parameters, they become adjacent.</a:t>
            </a:r>
          </a:p>
          <a:p>
            <a:pPr lvl="1">
              <a:buFont typeface="Wingdings" panose="05000000000000000000" pitchFamily="2" charset="2"/>
              <a:buChar char="Ø"/>
            </a:pPr>
            <a:r>
              <a:rPr lang="en-US" dirty="0"/>
              <a:t> IS-IS is, however, less strict than OSPF in accepting adjacencies</a:t>
            </a:r>
          </a:p>
        </p:txBody>
      </p:sp>
    </p:spTree>
    <p:extLst>
      <p:ext uri="{BB962C8B-B14F-4D97-AF65-F5344CB8AC3E}">
        <p14:creationId xmlns:p14="http://schemas.microsoft.com/office/powerpoint/2010/main" val="31787226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23</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08069"/>
            <a:ext cx="8229600" cy="3879338"/>
          </a:xfrm>
        </p:spPr>
        <p:txBody>
          <a:bodyPr>
            <a:noAutofit/>
          </a:bodyPr>
          <a:lstStyle/>
          <a:p>
            <a:pPr>
              <a:buFont typeface="Wingdings" panose="05000000000000000000" pitchFamily="2" charset="2"/>
              <a:buChar char="Ø"/>
            </a:pPr>
            <a:r>
              <a:rPr lang="en-US" dirty="0" smtClean="0"/>
              <a:t>Designated routers</a:t>
            </a:r>
          </a:p>
          <a:p>
            <a:pPr lvl="1">
              <a:buFont typeface="Wingdings" panose="05000000000000000000" pitchFamily="2" charset="2"/>
              <a:buChar char="Ø"/>
            </a:pPr>
            <a:r>
              <a:rPr lang="en-US" dirty="0"/>
              <a:t>IS-IS elects a Designated Router (or more officially, a Designated IS) on broadcast multi-access networks for the same reason OSPF does.</a:t>
            </a:r>
          </a:p>
          <a:p>
            <a:pPr lvl="1">
              <a:buFont typeface="Wingdings" panose="05000000000000000000" pitchFamily="2" charset="2"/>
              <a:buChar char="Ø"/>
            </a:pPr>
            <a:r>
              <a:rPr lang="en-US" dirty="0"/>
              <a:t>Unlike OSPF, however, an IS-IS router attached to a broadcast multi-access network establishes adjacencies with all of its neighbors on the network, not just the DR. </a:t>
            </a:r>
          </a:p>
          <a:p>
            <a:pPr lvl="1">
              <a:buFont typeface="Wingdings" panose="05000000000000000000" pitchFamily="2" charset="2"/>
              <a:buChar char="Ø"/>
            </a:pPr>
            <a:r>
              <a:rPr lang="en-US" dirty="0"/>
              <a:t>Each router multicasts its LSPs to all of its neighbors, and the DR uses a system of PDUs called Sequence Number PDUs (SNPs) to ensure that the flooding of LSPs is reliable</a:t>
            </a:r>
            <a:r>
              <a:rPr lang="en-US" dirty="0" smtClean="0"/>
              <a:t>.</a:t>
            </a:r>
            <a:endParaRPr lang="en-US" dirty="0"/>
          </a:p>
        </p:txBody>
      </p:sp>
    </p:spTree>
    <p:extLst>
      <p:ext uri="{BB962C8B-B14F-4D97-AF65-F5344CB8AC3E}">
        <p14:creationId xmlns:p14="http://schemas.microsoft.com/office/powerpoint/2010/main" val="1123376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24</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08069"/>
            <a:ext cx="8229600" cy="3879338"/>
          </a:xfrm>
        </p:spPr>
        <p:txBody>
          <a:bodyPr>
            <a:noAutofit/>
          </a:bodyPr>
          <a:lstStyle/>
          <a:p>
            <a:pPr lvl="1">
              <a:buFont typeface="Wingdings" panose="05000000000000000000" pitchFamily="2" charset="2"/>
              <a:buChar char="Ø"/>
            </a:pPr>
            <a:r>
              <a:rPr lang="en-US" dirty="0"/>
              <a:t>The IS-IS Designated Router election process is quite simple. Every IS-IS router interface is assigned both an L1 priority and an L2 priority in the range of 0 to 127. Cisco router interfaces have a default priority of 64 for both levels, and this value can be changed with the command </a:t>
            </a:r>
            <a:r>
              <a:rPr lang="en-US" b="1" dirty="0" err="1"/>
              <a:t>isis</a:t>
            </a:r>
            <a:r>
              <a:rPr lang="en-US" b="1" dirty="0"/>
              <a:t> priority</a:t>
            </a:r>
            <a:r>
              <a:rPr lang="en-US" dirty="0"/>
              <a:t>.</a:t>
            </a:r>
          </a:p>
        </p:txBody>
      </p:sp>
    </p:spTree>
    <p:extLst>
      <p:ext uri="{BB962C8B-B14F-4D97-AF65-F5344CB8AC3E}">
        <p14:creationId xmlns:p14="http://schemas.microsoft.com/office/powerpoint/2010/main" val="25442483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25</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08069"/>
            <a:ext cx="8229600" cy="3879338"/>
          </a:xfrm>
        </p:spPr>
        <p:txBody>
          <a:bodyPr>
            <a:noAutofit/>
          </a:bodyPr>
          <a:lstStyle/>
          <a:p>
            <a:pPr lvl="1">
              <a:buFont typeface="Wingdings" panose="05000000000000000000" pitchFamily="2" charset="2"/>
              <a:buChar char="Ø"/>
            </a:pPr>
            <a:r>
              <a:rPr lang="en-US" dirty="0"/>
              <a:t>The IS-IS Designated Router election process is quite simple. Every IS-IS router interface is assigned both an L1 priority and an L2 priority in the range of 0 to 127. Cisco router interfaces have a default priority of 64 for both levels, and this value can be changed with the command </a:t>
            </a:r>
            <a:r>
              <a:rPr lang="en-US" b="1" dirty="0" err="1"/>
              <a:t>isis</a:t>
            </a:r>
            <a:r>
              <a:rPr lang="en-US" b="1" dirty="0"/>
              <a:t> priority</a:t>
            </a:r>
            <a:r>
              <a:rPr lang="en-US" dirty="0" smtClean="0"/>
              <a:t>.</a:t>
            </a:r>
          </a:p>
          <a:p>
            <a:pPr lvl="1">
              <a:buFont typeface="Wingdings" panose="05000000000000000000" pitchFamily="2" charset="2"/>
              <a:buChar char="Ø"/>
            </a:pPr>
            <a:r>
              <a:rPr lang="en-US" dirty="0"/>
              <a:t>The router advertises its priority in the Hellos sent from each interface—the L1 priority is advertised in L1 Hellos, and the L2 priority is advertised in L2 Hellos.</a:t>
            </a:r>
          </a:p>
          <a:p>
            <a:pPr lvl="1">
              <a:buFont typeface="Wingdings" panose="05000000000000000000" pitchFamily="2" charset="2"/>
              <a:buChar char="Ø"/>
            </a:pPr>
            <a:r>
              <a:rPr lang="en-US" dirty="0"/>
              <a:t>If the priority is 0, the router is ineligible to become the DR. Interfaces to non-   broadcast networks, on which a DR is not elected, also have a priority of 0. </a:t>
            </a:r>
          </a:p>
        </p:txBody>
      </p:sp>
    </p:spTree>
    <p:extLst>
      <p:ext uri="{BB962C8B-B14F-4D97-AF65-F5344CB8AC3E}">
        <p14:creationId xmlns:p14="http://schemas.microsoft.com/office/powerpoint/2010/main" val="1800205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26</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08069"/>
            <a:ext cx="8229600" cy="3879338"/>
          </a:xfrm>
        </p:spPr>
        <p:txBody>
          <a:bodyPr>
            <a:noAutofit/>
          </a:bodyPr>
          <a:lstStyle/>
          <a:p>
            <a:pPr>
              <a:buFont typeface="Wingdings" panose="05000000000000000000" pitchFamily="2" charset="2"/>
              <a:buChar char="Ø"/>
            </a:pPr>
            <a:r>
              <a:rPr lang="en-US" dirty="0" smtClean="0"/>
              <a:t>Subnetwork Independent Function</a:t>
            </a:r>
          </a:p>
          <a:p>
            <a:pPr lvl="1">
              <a:buFont typeface="Wingdings" panose="05000000000000000000" pitchFamily="2" charset="2"/>
              <a:buChar char="Ø"/>
            </a:pPr>
            <a:r>
              <a:rPr lang="en-US" dirty="0"/>
              <a:t>The functions of the subnetwork-independent sublayer define how CLNS delivers packets throughout the CLNP network and how these services are offered to the transport layer.</a:t>
            </a:r>
          </a:p>
          <a:p>
            <a:pPr lvl="1">
              <a:buFont typeface="Wingdings" panose="05000000000000000000" pitchFamily="2" charset="2"/>
              <a:buChar char="Ø"/>
            </a:pPr>
            <a:r>
              <a:rPr lang="en-US" dirty="0"/>
              <a:t>The routing function itself is divided into four processes: the Update, Decision, Forwarding and Receive processes.</a:t>
            </a:r>
          </a:p>
          <a:p>
            <a:pPr lvl="1">
              <a:buFont typeface="Wingdings" panose="05000000000000000000" pitchFamily="2" charset="2"/>
              <a:buChar char="Ø"/>
            </a:pPr>
            <a:r>
              <a:rPr lang="en-US" dirty="0"/>
              <a:t>As the names of the last two processes suggest, the Forwarding process is responsible for transmitting PDUs, and the Receive process is responsible for the reception of PDUs</a:t>
            </a:r>
          </a:p>
          <a:p>
            <a:pPr>
              <a:buFont typeface="Wingdings" panose="05000000000000000000" pitchFamily="2" charset="2"/>
              <a:buChar char="Ø"/>
            </a:pPr>
            <a:endParaRPr lang="en-US" dirty="0"/>
          </a:p>
          <a:p>
            <a:pPr marL="456248" lvl="1" indent="0">
              <a:buNone/>
            </a:pPr>
            <a:endParaRPr lang="en-US" dirty="0"/>
          </a:p>
        </p:txBody>
      </p:sp>
    </p:spTree>
    <p:extLst>
      <p:ext uri="{BB962C8B-B14F-4D97-AF65-F5344CB8AC3E}">
        <p14:creationId xmlns:p14="http://schemas.microsoft.com/office/powerpoint/2010/main" val="3219915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27</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08069"/>
            <a:ext cx="8229600" cy="3879338"/>
          </a:xfrm>
        </p:spPr>
        <p:txBody>
          <a:bodyPr>
            <a:noAutofit/>
          </a:bodyPr>
          <a:lstStyle/>
          <a:p>
            <a:pPr>
              <a:buFont typeface="Wingdings" panose="05000000000000000000" pitchFamily="2" charset="2"/>
              <a:buChar char="Ø"/>
            </a:pPr>
            <a:r>
              <a:rPr lang="en-US" dirty="0" smtClean="0"/>
              <a:t>Update process</a:t>
            </a:r>
          </a:p>
          <a:p>
            <a:pPr lvl="1">
              <a:buFont typeface="Wingdings" panose="05000000000000000000" pitchFamily="2" charset="2"/>
              <a:buChar char="Ø"/>
            </a:pPr>
            <a:r>
              <a:rPr lang="en-US" dirty="0"/>
              <a:t>The Update process is responsible for constructing the L1 and L2 link-state databases. </a:t>
            </a:r>
          </a:p>
          <a:p>
            <a:pPr lvl="1">
              <a:buFont typeface="Wingdings" panose="05000000000000000000" pitchFamily="2" charset="2"/>
              <a:buChar char="Ø"/>
            </a:pPr>
            <a:r>
              <a:rPr lang="en-US" dirty="0"/>
              <a:t>To do so, L1 LSPs are flooded throughout the area in which they are originated, and L2 LSPs are flooded over all L2 adjacencies.</a:t>
            </a:r>
          </a:p>
          <a:p>
            <a:pPr>
              <a:buFont typeface="Wingdings" panose="05000000000000000000" pitchFamily="2" charset="2"/>
              <a:buChar char="Ø"/>
            </a:pPr>
            <a:endParaRPr lang="en-US" dirty="0"/>
          </a:p>
          <a:p>
            <a:pPr marL="456248" lvl="1" indent="0">
              <a:buNone/>
            </a:pPr>
            <a:endParaRPr lang="en-US" dirty="0"/>
          </a:p>
        </p:txBody>
      </p:sp>
    </p:spTree>
    <p:extLst>
      <p:ext uri="{BB962C8B-B14F-4D97-AF65-F5344CB8AC3E}">
        <p14:creationId xmlns:p14="http://schemas.microsoft.com/office/powerpoint/2010/main" val="13343295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28</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08069"/>
            <a:ext cx="8229600" cy="3879338"/>
          </a:xfrm>
        </p:spPr>
        <p:txBody>
          <a:bodyPr>
            <a:noAutofit/>
          </a:bodyPr>
          <a:lstStyle/>
          <a:p>
            <a:pPr>
              <a:buFont typeface="Wingdings" panose="05000000000000000000" pitchFamily="2" charset="2"/>
              <a:buChar char="Ø"/>
            </a:pPr>
            <a:r>
              <a:rPr lang="en-US" dirty="0" smtClean="0"/>
              <a:t>Decision process</a:t>
            </a:r>
          </a:p>
          <a:p>
            <a:pPr lvl="1"/>
            <a:r>
              <a:rPr lang="en-US" dirty="0"/>
              <a:t>Once the Update process has built the link-state database, the Decision process uses the information in the database to calculate a shortest-path tree. </a:t>
            </a:r>
          </a:p>
          <a:p>
            <a:pPr lvl="1"/>
            <a:r>
              <a:rPr lang="en-US" dirty="0"/>
              <a:t>The process then uses the shortest-path tree to construct a forwarding database (route table). Separate SPF calculations are run for the L1 database and the L2 database.</a:t>
            </a:r>
          </a:p>
          <a:p>
            <a:pPr lvl="1"/>
            <a:r>
              <a:rPr lang="en-US" dirty="0" smtClean="0"/>
              <a:t>ISO 10589 specifies the following metrics (one required and three optional) to be used by IS-IS to calculate the shortest path:</a:t>
            </a:r>
          </a:p>
          <a:p>
            <a:pPr>
              <a:buFont typeface="Wingdings" panose="05000000000000000000" pitchFamily="2" charset="2"/>
              <a:buChar char="Ø"/>
            </a:pPr>
            <a:endParaRPr lang="en-US" dirty="0"/>
          </a:p>
          <a:p>
            <a:pPr marL="456248" lvl="1" indent="0">
              <a:buNone/>
            </a:pPr>
            <a:endParaRPr lang="en-US" dirty="0"/>
          </a:p>
        </p:txBody>
      </p:sp>
    </p:spTree>
    <p:extLst>
      <p:ext uri="{BB962C8B-B14F-4D97-AF65-F5344CB8AC3E}">
        <p14:creationId xmlns:p14="http://schemas.microsoft.com/office/powerpoint/2010/main" val="18688400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29</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08069"/>
            <a:ext cx="8229600" cy="3879338"/>
          </a:xfrm>
        </p:spPr>
        <p:txBody>
          <a:bodyPr>
            <a:noAutofit/>
          </a:bodyPr>
          <a:lstStyle/>
          <a:p>
            <a:pPr lvl="2"/>
            <a:r>
              <a:rPr lang="en-US" b="1" dirty="0"/>
              <a:t>Default </a:t>
            </a:r>
            <a:r>
              <a:rPr lang="en-US" dirty="0"/>
              <a:t>This metric must be supported and understood by every IS-IS router.</a:t>
            </a:r>
          </a:p>
          <a:p>
            <a:pPr lvl="2"/>
            <a:r>
              <a:rPr lang="en-US" b="1" dirty="0"/>
              <a:t>Delay </a:t>
            </a:r>
            <a:r>
              <a:rPr lang="en-US" dirty="0"/>
              <a:t>This optional metric reflects the transit delay of a subnetwork.</a:t>
            </a:r>
          </a:p>
          <a:p>
            <a:pPr lvl="2"/>
            <a:r>
              <a:rPr lang="en-US" b="1" dirty="0"/>
              <a:t>Expense </a:t>
            </a:r>
            <a:r>
              <a:rPr lang="en-US" dirty="0"/>
              <a:t>This optional metric reflects the monetary cost of using the subnetwork.</a:t>
            </a:r>
          </a:p>
          <a:p>
            <a:pPr lvl="2"/>
            <a:r>
              <a:rPr lang="en-US" b="1" dirty="0"/>
              <a:t>Error </a:t>
            </a:r>
            <a:r>
              <a:rPr lang="en-US" dirty="0"/>
              <a:t>This optional metric reflects the residual error probability of the subnetwork, similar to the IGRP/EIGRP reliability metric.</a:t>
            </a:r>
          </a:p>
          <a:p>
            <a:pPr>
              <a:buFont typeface="Wingdings" panose="05000000000000000000" pitchFamily="2" charset="2"/>
              <a:buChar char="Ø"/>
            </a:pPr>
            <a:endParaRPr lang="en-US" dirty="0"/>
          </a:p>
          <a:p>
            <a:pPr marL="456248" lvl="1" indent="0">
              <a:buNone/>
            </a:pPr>
            <a:endParaRPr lang="en-US" dirty="0"/>
          </a:p>
        </p:txBody>
      </p:sp>
    </p:spTree>
    <p:extLst>
      <p:ext uri="{BB962C8B-B14F-4D97-AF65-F5344CB8AC3E}">
        <p14:creationId xmlns:p14="http://schemas.microsoft.com/office/powerpoint/2010/main" val="14898831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30</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08069"/>
            <a:ext cx="8229600" cy="3879338"/>
          </a:xfrm>
        </p:spPr>
        <p:txBody>
          <a:bodyPr>
            <a:noAutofit/>
          </a:bodyPr>
          <a:lstStyle/>
          <a:p>
            <a:pPr lvl="1">
              <a:buFont typeface="Wingdings" panose="05000000000000000000" pitchFamily="2" charset="2"/>
              <a:buChar char="Ø"/>
            </a:pPr>
            <a:r>
              <a:rPr lang="en-US" dirty="0"/>
              <a:t>Each metric is expressed as an integer between 0 and 63, and a separate route is calculated for each metric. </a:t>
            </a:r>
          </a:p>
          <a:p>
            <a:pPr lvl="1">
              <a:buFont typeface="Wingdings" panose="05000000000000000000" pitchFamily="2" charset="2"/>
              <a:buChar char="Ø"/>
            </a:pPr>
            <a:r>
              <a:rPr lang="en-US" dirty="0"/>
              <a:t>Therefore, if a system supports all four metrics, the SPF calculation must be run four times for both L1 routes and L2 routes. </a:t>
            </a:r>
          </a:p>
          <a:p>
            <a:pPr lvl="1">
              <a:buFont typeface="Wingdings" panose="05000000000000000000" pitchFamily="2" charset="2"/>
              <a:buChar char="Ø"/>
            </a:pPr>
            <a:r>
              <a:rPr lang="en-US" dirty="0"/>
              <a:t>Because of the potential for many iterations of the SPF calculation for every destination, resulting in many different route tables, and because the optional metrics provide rudimentary Type of Service routing at best</a:t>
            </a:r>
            <a:r>
              <a:rPr lang="en-US" dirty="0" smtClean="0"/>
              <a:t>,</a:t>
            </a:r>
            <a:endParaRPr lang="en-US" dirty="0"/>
          </a:p>
        </p:txBody>
      </p:sp>
    </p:spTree>
    <p:extLst>
      <p:ext uri="{BB962C8B-B14F-4D97-AF65-F5344CB8AC3E}">
        <p14:creationId xmlns:p14="http://schemas.microsoft.com/office/powerpoint/2010/main" val="7445812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31</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08069"/>
            <a:ext cx="8229600" cy="3879338"/>
          </a:xfrm>
        </p:spPr>
        <p:txBody>
          <a:bodyPr>
            <a:noAutofit/>
          </a:bodyPr>
          <a:lstStyle/>
          <a:p>
            <a:pPr lvl="1">
              <a:buFont typeface="Wingdings" panose="05000000000000000000" pitchFamily="2" charset="2"/>
              <a:buChar char="Ø"/>
            </a:pPr>
            <a:r>
              <a:rPr lang="en-US" dirty="0"/>
              <a:t> Cisco supports only the default metric. Cisco assigns a default metric of 10 to every interface, regardless of the interface type. </a:t>
            </a:r>
          </a:p>
          <a:p>
            <a:pPr lvl="1">
              <a:buFont typeface="Wingdings" panose="05000000000000000000" pitchFamily="2" charset="2"/>
              <a:buChar char="Ø"/>
            </a:pPr>
            <a:r>
              <a:rPr lang="en-US" dirty="0"/>
              <a:t>The command </a:t>
            </a:r>
            <a:r>
              <a:rPr lang="en-US" b="1" dirty="0" err="1"/>
              <a:t>isis</a:t>
            </a:r>
            <a:r>
              <a:rPr lang="en-US" b="1" dirty="0"/>
              <a:t> metric </a:t>
            </a:r>
            <a:r>
              <a:rPr lang="en-US" dirty="0"/>
              <a:t>changes the value of the default metric, and the default can be changed separately for level 1 and level 2. </a:t>
            </a:r>
          </a:p>
          <a:p>
            <a:pPr lvl="1">
              <a:buFont typeface="Wingdings" panose="05000000000000000000" pitchFamily="2" charset="2"/>
              <a:buChar char="Ø"/>
            </a:pPr>
            <a:r>
              <a:rPr lang="en-US" dirty="0"/>
              <a:t>If the metrics are left at 10 for every interface, every subnetwork is considered equal and the IS-IS metric becomes a simple measure of hop count, where each hop has a cost </a:t>
            </a:r>
            <a:r>
              <a:rPr lang="en-US" dirty="0" smtClean="0"/>
              <a:t>of 10.</a:t>
            </a:r>
            <a:endParaRPr lang="en-US" dirty="0"/>
          </a:p>
        </p:txBody>
      </p:sp>
    </p:spTree>
    <p:extLst>
      <p:ext uri="{BB962C8B-B14F-4D97-AF65-F5344CB8AC3E}">
        <p14:creationId xmlns:p14="http://schemas.microsoft.com/office/powerpoint/2010/main" val="22945280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32</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08069"/>
            <a:ext cx="8229600" cy="3879338"/>
          </a:xfrm>
        </p:spPr>
        <p:txBody>
          <a:bodyPr>
            <a:noAutofit/>
          </a:bodyPr>
          <a:lstStyle/>
          <a:p>
            <a:pPr>
              <a:buFont typeface="Wingdings" panose="05000000000000000000" pitchFamily="2" charset="2"/>
              <a:buChar char="Ø"/>
            </a:pPr>
            <a:r>
              <a:rPr lang="en-US" dirty="0"/>
              <a:t> </a:t>
            </a:r>
            <a:r>
              <a:rPr lang="en-US" dirty="0" smtClean="0"/>
              <a:t>IS-IS protocols</a:t>
            </a:r>
          </a:p>
          <a:p>
            <a:pPr lvl="1">
              <a:buFont typeface="Wingdings" panose="05000000000000000000" pitchFamily="2" charset="2"/>
              <a:buChar char="Ø"/>
            </a:pPr>
            <a:r>
              <a:rPr lang="en-US" dirty="0" smtClean="0"/>
              <a:t>IS-IS </a:t>
            </a:r>
            <a:r>
              <a:rPr lang="en-US" dirty="0"/>
              <a:t>consists of three sub-protocols that work in tandem to achieve end-to-end routing which ISO defined as </a:t>
            </a:r>
            <a:r>
              <a:rPr lang="en-US" b="1" dirty="0"/>
              <a:t>Connectionless Network Service (CLNS)</a:t>
            </a:r>
            <a:r>
              <a:rPr lang="en-US" dirty="0"/>
              <a:t>   </a:t>
            </a:r>
          </a:p>
          <a:p>
            <a:pPr marL="1297490" lvl="3">
              <a:lnSpc>
                <a:spcPct val="74000"/>
              </a:lnSpc>
              <a:spcBef>
                <a:spcPts val="1000"/>
              </a:spcBef>
            </a:pPr>
            <a:r>
              <a:rPr lang="en-US" sz="1400" dirty="0">
                <a:latin typeface="Verdana" panose="020B0604030504040204" pitchFamily="34" charset="0"/>
                <a:ea typeface="Verdana" panose="020B0604030504040204" pitchFamily="34" charset="0"/>
                <a:cs typeface="Verdana" panose="020B0604030504040204" pitchFamily="34" charset="0"/>
              </a:rPr>
              <a:t>CLNP (Connectionless Network Protocol) – serves as the Layer-3 protocol for IS-IS </a:t>
            </a:r>
          </a:p>
          <a:p>
            <a:pPr marL="1297490" lvl="3">
              <a:lnSpc>
                <a:spcPct val="74000"/>
              </a:lnSpc>
              <a:spcBef>
                <a:spcPts val="1000"/>
              </a:spcBef>
            </a:pPr>
            <a:r>
              <a:rPr lang="en-US" sz="1400" dirty="0">
                <a:latin typeface="Verdana" panose="020B0604030504040204" pitchFamily="34" charset="0"/>
                <a:ea typeface="Verdana" panose="020B0604030504040204" pitchFamily="34" charset="0"/>
                <a:cs typeface="Verdana" panose="020B0604030504040204" pitchFamily="34" charset="0"/>
              </a:rPr>
              <a:t>ES-IS (End System -to- Intermediate System) – used to route between hosts and  routers</a:t>
            </a:r>
          </a:p>
          <a:p>
            <a:pPr marL="1297490" lvl="3">
              <a:lnSpc>
                <a:spcPct val="74000"/>
              </a:lnSpc>
              <a:spcBef>
                <a:spcPts val="1000"/>
              </a:spcBef>
            </a:pPr>
            <a:r>
              <a:rPr lang="en-US" sz="1400" dirty="0">
                <a:latin typeface="Verdana" panose="020B0604030504040204" pitchFamily="34" charset="0"/>
                <a:ea typeface="Verdana" panose="020B0604030504040204" pitchFamily="34" charset="0"/>
                <a:cs typeface="Verdana" panose="020B0604030504040204" pitchFamily="34" charset="0"/>
              </a:rPr>
              <a:t>IS-IS (Intermediate System -to- Intermediate System) – used to route between routers</a:t>
            </a:r>
            <a:r>
              <a:rPr lang="en-US" sz="1200" dirty="0" smtClean="0">
                <a:latin typeface="Verdana" panose="020B0604030504040204" pitchFamily="34" charset="0"/>
                <a:ea typeface="Verdana" panose="020B0604030504040204" pitchFamily="34" charset="0"/>
                <a:cs typeface="Verdana" panose="020B0604030504040204" pitchFamily="34" charset="0"/>
              </a:rPr>
              <a:t>.</a:t>
            </a:r>
            <a:endParaRPr lang="en-US" sz="12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2422960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33</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08069"/>
            <a:ext cx="8229600" cy="3879338"/>
          </a:xfrm>
        </p:spPr>
        <p:txBody>
          <a:bodyPr>
            <a:noAutofit/>
          </a:bodyPr>
          <a:lstStyle/>
          <a:p>
            <a:pPr lvl="2">
              <a:buFont typeface="Wingdings" panose="05000000000000000000" pitchFamily="2" charset="2"/>
              <a:buChar char="Ø"/>
            </a:pPr>
            <a:r>
              <a:rPr lang="en-US" dirty="0"/>
              <a:t> IS-IS was originally developed to route ISO CLNP addresses . However, CLNP addressing never became prominently used.</a:t>
            </a:r>
          </a:p>
          <a:p>
            <a:pPr lvl="2">
              <a:buFont typeface="Wingdings" panose="05000000000000000000" pitchFamily="2" charset="2"/>
              <a:buChar char="Ø"/>
            </a:pPr>
            <a:r>
              <a:rPr lang="en-US" dirty="0"/>
              <a:t>Thus, IS-IS was modified to additionally support IP routing, and became Integrated (or Dual) IS-IS</a:t>
            </a:r>
          </a:p>
        </p:txBody>
      </p:sp>
    </p:spTree>
    <p:extLst>
      <p:ext uri="{BB962C8B-B14F-4D97-AF65-F5344CB8AC3E}">
        <p14:creationId xmlns:p14="http://schemas.microsoft.com/office/powerpoint/2010/main" val="24836236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34</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08069"/>
            <a:ext cx="8229600" cy="3879338"/>
          </a:xfrm>
        </p:spPr>
        <p:txBody>
          <a:bodyPr>
            <a:noAutofit/>
          </a:bodyPr>
          <a:lstStyle/>
          <a:p>
            <a:pPr>
              <a:buFont typeface="Wingdings" panose="05000000000000000000" pitchFamily="2" charset="2"/>
              <a:buChar char="Ø"/>
            </a:pPr>
            <a:r>
              <a:rPr lang="en-US" sz="3200" dirty="0"/>
              <a:t> </a:t>
            </a:r>
            <a:r>
              <a:rPr lang="en-US" sz="2000" dirty="0">
                <a:latin typeface="Verdana" panose="020B0604030504040204" pitchFamily="34" charset="0"/>
                <a:ea typeface="Verdana" panose="020B0604030504040204" pitchFamily="34" charset="0"/>
                <a:cs typeface="Verdana" panose="020B0604030504040204" pitchFamily="34" charset="0"/>
              </a:rPr>
              <a:t>IS-IS defines four types of packet:</a:t>
            </a:r>
          </a:p>
          <a:p>
            <a:pPr lvl="1">
              <a:buFont typeface="Wingdings" panose="05000000000000000000" pitchFamily="2" charset="2"/>
              <a:buChar char="§"/>
            </a:pPr>
            <a:r>
              <a:rPr lang="en-US" dirty="0">
                <a:latin typeface="Verdana" panose="020B0604030504040204" pitchFamily="34" charset="0"/>
                <a:ea typeface="Verdana" panose="020B0604030504040204" pitchFamily="34" charset="0"/>
                <a:cs typeface="Verdana" panose="020B0604030504040204" pitchFamily="34" charset="0"/>
              </a:rPr>
              <a:t>Hello</a:t>
            </a:r>
          </a:p>
          <a:p>
            <a:pPr lvl="1">
              <a:buFont typeface="Wingdings" panose="05000000000000000000" pitchFamily="2" charset="2"/>
              <a:buChar char="§"/>
            </a:pPr>
            <a:r>
              <a:rPr lang="en-US" dirty="0">
                <a:latin typeface="Verdana" panose="020B0604030504040204" pitchFamily="34" charset="0"/>
                <a:ea typeface="Verdana" panose="020B0604030504040204" pitchFamily="34" charset="0"/>
                <a:cs typeface="Verdana" panose="020B0604030504040204" pitchFamily="34" charset="0"/>
              </a:rPr>
              <a:t>LSP</a:t>
            </a:r>
          </a:p>
          <a:p>
            <a:pPr lvl="1">
              <a:buFont typeface="Wingdings" panose="05000000000000000000" pitchFamily="2" charset="2"/>
              <a:buChar char="§"/>
            </a:pPr>
            <a:r>
              <a:rPr lang="en-US" dirty="0">
                <a:latin typeface="Verdana" panose="020B0604030504040204" pitchFamily="34" charset="0"/>
                <a:ea typeface="Verdana" panose="020B0604030504040204" pitchFamily="34" charset="0"/>
                <a:cs typeface="Verdana" panose="020B0604030504040204" pitchFamily="34" charset="0"/>
              </a:rPr>
              <a:t>CSNP</a:t>
            </a:r>
          </a:p>
          <a:p>
            <a:pPr lvl="1">
              <a:buFont typeface="Wingdings" panose="05000000000000000000" pitchFamily="2" charset="2"/>
              <a:buChar char="§"/>
            </a:pPr>
            <a:r>
              <a:rPr lang="en-US" dirty="0" smtClean="0">
                <a:latin typeface="Verdana" panose="020B0604030504040204" pitchFamily="34" charset="0"/>
                <a:ea typeface="Verdana" panose="020B0604030504040204" pitchFamily="34" charset="0"/>
                <a:cs typeface="Verdana" panose="020B0604030504040204" pitchFamily="34" charset="0"/>
              </a:rPr>
              <a:t>PSNP</a:t>
            </a:r>
            <a:endParaRPr lang="en-US"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5484610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35</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08069"/>
            <a:ext cx="8229600" cy="3879338"/>
          </a:xfrm>
        </p:spPr>
        <p:txBody>
          <a:bodyPr>
            <a:noAutofit/>
          </a:bodyPr>
          <a:lstStyle/>
          <a:p>
            <a:pPr lvl="1">
              <a:buFont typeface="Wingdings" panose="05000000000000000000" pitchFamily="2" charset="2"/>
              <a:buChar char="Ø"/>
            </a:pPr>
            <a:r>
              <a:rPr lang="en-US" sz="1700" dirty="0">
                <a:latin typeface="Verdana" panose="020B0604030504040204" pitchFamily="34" charset="0"/>
                <a:ea typeface="Verdana" panose="020B0604030504040204" pitchFamily="34" charset="0"/>
                <a:cs typeface="Verdana" panose="020B0604030504040204" pitchFamily="34" charset="0"/>
              </a:rPr>
              <a:t>LSP (Link State Packet) : used to share topology information between routers. There are separate LSPs for Level 1 and Level 2 routing.</a:t>
            </a:r>
          </a:p>
          <a:p>
            <a:pPr marL="530352" lvl="1" indent="0">
              <a:buNone/>
            </a:pPr>
            <a:endParaRPr lang="en-US" sz="1700" dirty="0">
              <a:latin typeface="Verdana" panose="020B0604030504040204" pitchFamily="34" charset="0"/>
              <a:ea typeface="Verdana" panose="020B0604030504040204" pitchFamily="34" charset="0"/>
              <a:cs typeface="Verdana" panose="020B0604030504040204" pitchFamily="34" charset="0"/>
            </a:endParaRPr>
          </a:p>
          <a:p>
            <a:pPr lvl="1">
              <a:buFont typeface="Wingdings" panose="05000000000000000000" pitchFamily="2" charset="2"/>
              <a:buChar char="Ø"/>
            </a:pPr>
            <a:r>
              <a:rPr lang="en-US" sz="1700" dirty="0">
                <a:latin typeface="Verdana" panose="020B0604030504040204" pitchFamily="34" charset="0"/>
                <a:ea typeface="Verdana" panose="020B0604030504040204" pitchFamily="34" charset="0"/>
                <a:cs typeface="Verdana" panose="020B0604030504040204" pitchFamily="34" charset="0"/>
              </a:rPr>
              <a:t>CSNP (Complete Sequence Number PDU) : An update containing the full link-state database. IS-IS routers will refresh the full database every 15 minutes.</a:t>
            </a:r>
          </a:p>
          <a:p>
            <a:pPr lvl="1">
              <a:buFont typeface="Wingdings" panose="05000000000000000000" pitchFamily="2" charset="2"/>
              <a:buChar char="Ø"/>
            </a:pPr>
            <a:endParaRPr lang="en-US" sz="1700" dirty="0">
              <a:latin typeface="Verdana" panose="020B0604030504040204" pitchFamily="34" charset="0"/>
              <a:ea typeface="Verdana" panose="020B0604030504040204" pitchFamily="34" charset="0"/>
              <a:cs typeface="Verdana" panose="020B0604030504040204" pitchFamily="34" charset="0"/>
            </a:endParaRPr>
          </a:p>
          <a:p>
            <a:pPr lvl="1">
              <a:buFont typeface="Wingdings" panose="05000000000000000000" pitchFamily="2" charset="2"/>
              <a:buChar char="Ø"/>
            </a:pPr>
            <a:r>
              <a:rPr lang="en-US" sz="1700" dirty="0">
                <a:latin typeface="Verdana" panose="020B0604030504040204" pitchFamily="34" charset="0"/>
                <a:ea typeface="Verdana" panose="020B0604030504040204" pitchFamily="34" charset="0"/>
                <a:cs typeface="Verdana" panose="020B0604030504040204" pitchFamily="34" charset="0"/>
              </a:rPr>
              <a:t>PSNP (Partial Sequence Number PDU) :  Used by IS-IS routers to both request and acknowledge a link-state update.</a:t>
            </a:r>
          </a:p>
        </p:txBody>
      </p:sp>
    </p:spTree>
    <p:extLst>
      <p:ext uri="{BB962C8B-B14F-4D97-AF65-F5344CB8AC3E}">
        <p14:creationId xmlns:p14="http://schemas.microsoft.com/office/powerpoint/2010/main" val="42878475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smtClean="0"/>
              <a:t>IS-IS Protocols and Addressing: CLNS</a:t>
            </a:r>
            <a:endParaRPr lang="en-US"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36</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08069"/>
            <a:ext cx="8229600" cy="3879338"/>
          </a:xfrm>
        </p:spPr>
        <p:txBody>
          <a:bodyPr>
            <a:noAutofit/>
          </a:bodyPr>
          <a:lstStyle/>
          <a:p>
            <a:r>
              <a:rPr lang="en-US" dirty="0"/>
              <a:t>IS-IS consists of three sub-protocols that work in tandem to achieve </a:t>
            </a:r>
            <a:r>
              <a:rPr lang="en-US" dirty="0" smtClean="0"/>
              <a:t>end-to-end </a:t>
            </a:r>
            <a:r>
              <a:rPr lang="en-US" dirty="0"/>
              <a:t>routing which ISO defined as Connectionless Network Service (CLNS): </a:t>
            </a:r>
          </a:p>
          <a:p>
            <a:pPr lvl="1"/>
            <a:r>
              <a:rPr lang="en-US" dirty="0" smtClean="0"/>
              <a:t>CLNP </a:t>
            </a:r>
            <a:r>
              <a:rPr lang="en-US" dirty="0"/>
              <a:t>(Connectionless Network Protocol) – serves as the Layer-3 protocol for IS-IS (and was developed by ISO). </a:t>
            </a:r>
          </a:p>
          <a:p>
            <a:pPr lvl="1"/>
            <a:r>
              <a:rPr lang="en-US" dirty="0" smtClean="0"/>
              <a:t>ES-IS </a:t>
            </a:r>
            <a:r>
              <a:rPr lang="en-US" dirty="0"/>
              <a:t>(End System -to- Intermediate System) – used to route between hosts and routers. </a:t>
            </a:r>
          </a:p>
          <a:p>
            <a:pPr lvl="1"/>
            <a:r>
              <a:rPr lang="en-US" dirty="0" smtClean="0"/>
              <a:t>IS-IS </a:t>
            </a:r>
            <a:r>
              <a:rPr lang="en-US" dirty="0"/>
              <a:t>(Intermediate System -to- Intermediate System) – used to route between routers. </a:t>
            </a:r>
          </a:p>
          <a:p>
            <a:pPr marL="0" indent="0">
              <a:buNone/>
            </a:pPr>
            <a:endParaRPr lang="en-US" sz="2000" dirty="0" smtClean="0"/>
          </a:p>
        </p:txBody>
      </p:sp>
    </p:spTree>
    <p:extLst>
      <p:ext uri="{BB962C8B-B14F-4D97-AF65-F5344CB8AC3E}">
        <p14:creationId xmlns:p14="http://schemas.microsoft.com/office/powerpoint/2010/main" val="27876855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114300"/>
            <a:ext cx="8229600" cy="655280"/>
          </a:xfrm>
        </p:spPr>
        <p:txBody>
          <a:bodyPr>
            <a:normAutofit/>
          </a:bodyPr>
          <a:lstStyle/>
          <a:p>
            <a:pPr algn="ctr"/>
            <a:r>
              <a:rPr lang="en-US" dirty="0" smtClean="0"/>
              <a:t>OSI Protocols</a:t>
            </a:r>
            <a:endParaRPr lang="en-US"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37</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pic>
        <p:nvPicPr>
          <p:cNvPr id="17410" name="Picture 2" descr="Image result for clnp pack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409700"/>
            <a:ext cx="6400800" cy="3486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68566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114300"/>
            <a:ext cx="8229600" cy="655280"/>
          </a:xfrm>
        </p:spPr>
        <p:txBody>
          <a:bodyPr>
            <a:normAutofit/>
          </a:bodyPr>
          <a:lstStyle/>
          <a:p>
            <a:pPr algn="ctr"/>
            <a:r>
              <a:rPr lang="en-US" dirty="0" smtClean="0"/>
              <a:t>OSI Protocols</a:t>
            </a:r>
            <a:endParaRPr lang="en-US"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38</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pic>
        <p:nvPicPr>
          <p:cNvPr id="16386" name="Picture 2" descr="Image result for clnp pack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5777" y="1399901"/>
            <a:ext cx="4829175" cy="3267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77903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114300"/>
            <a:ext cx="8229600" cy="655280"/>
          </a:xfrm>
        </p:spPr>
        <p:txBody>
          <a:bodyPr>
            <a:normAutofit/>
          </a:bodyPr>
          <a:lstStyle/>
          <a:p>
            <a:pPr algn="ctr"/>
            <a:r>
              <a:rPr lang="en-US" dirty="0" smtClean="0"/>
              <a:t>OSI Protocols</a:t>
            </a:r>
            <a:endParaRPr lang="en-US"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39</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pic>
        <p:nvPicPr>
          <p:cNvPr id="18434" name="Picture 2" descr="http://4.bp.blogspot.com/-oCDbutjIC7Q/T0HzOqTZPVI/AAAAAAAAAqI/lXRupNRD-84/s1600/osi+mgmt+stack.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257300"/>
            <a:ext cx="5448300" cy="3933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97026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smtClean="0"/>
              <a:t>IS-IS Protocols and Addressing CLNP</a:t>
            </a:r>
            <a:endParaRPr lang="en-US"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40</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08069"/>
            <a:ext cx="8229600" cy="3879338"/>
          </a:xfrm>
        </p:spPr>
        <p:txBody>
          <a:bodyPr>
            <a:noAutofit/>
          </a:bodyPr>
          <a:lstStyle/>
          <a:p>
            <a:r>
              <a:rPr lang="en-US" dirty="0"/>
              <a:t>IS-IS was originally developed to route ISO CLNP addresses (outlined in RFC 1142). </a:t>
            </a:r>
            <a:endParaRPr lang="en-US" dirty="0" smtClean="0"/>
          </a:p>
          <a:p>
            <a:r>
              <a:rPr lang="en-US" dirty="0" smtClean="0"/>
              <a:t>However</a:t>
            </a:r>
            <a:r>
              <a:rPr lang="en-US" dirty="0"/>
              <a:t>, CLNP addressing never became prominently used. </a:t>
            </a:r>
            <a:endParaRPr lang="en-US" dirty="0" smtClean="0"/>
          </a:p>
          <a:p>
            <a:r>
              <a:rPr lang="en-US" dirty="0" smtClean="0"/>
              <a:t>Thus</a:t>
            </a:r>
            <a:r>
              <a:rPr lang="en-US" dirty="0"/>
              <a:t>, IS-IS was modified to additionally support IP routing, and became Integrated (or Dual) IS-IS (outlined in RFC 1195). </a:t>
            </a:r>
            <a:endParaRPr lang="en-US" sz="2000" dirty="0" smtClean="0"/>
          </a:p>
        </p:txBody>
      </p:sp>
    </p:spTree>
    <p:extLst>
      <p:ext uri="{BB962C8B-B14F-4D97-AF65-F5344CB8AC3E}">
        <p14:creationId xmlns:p14="http://schemas.microsoft.com/office/powerpoint/2010/main" val="35847037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smtClean="0"/>
              <a:t>IS-IS Protocols and Addressing: CLNP</a:t>
            </a:r>
            <a:endParaRPr lang="en-US"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41</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08069"/>
            <a:ext cx="8229600" cy="3879338"/>
          </a:xfrm>
        </p:spPr>
        <p:txBody>
          <a:bodyPr>
            <a:noAutofit/>
          </a:bodyPr>
          <a:lstStyle/>
          <a:p>
            <a:r>
              <a:rPr lang="en-US" dirty="0" smtClean="0"/>
              <a:t>The IS-IS CLNP address is hexadecimal and of variable length, and can range from 64 to 160 bits in length. </a:t>
            </a:r>
          </a:p>
        </p:txBody>
      </p:sp>
    </p:spTree>
    <p:extLst>
      <p:ext uri="{BB962C8B-B14F-4D97-AF65-F5344CB8AC3E}">
        <p14:creationId xmlns:p14="http://schemas.microsoft.com/office/powerpoint/2010/main" val="38126677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smtClean="0"/>
              <a:t>IS-IS Protocols and Addressing: CLNP</a:t>
            </a:r>
            <a:endParaRPr lang="en-US"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42</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08069"/>
            <a:ext cx="8229600" cy="3879338"/>
          </a:xfrm>
        </p:spPr>
        <p:txBody>
          <a:bodyPr>
            <a:noAutofit/>
          </a:bodyPr>
          <a:lstStyle/>
          <a:p>
            <a:pPr defTabSz="914400" eaLnBrk="0" fontAlgn="base" hangingPunct="0">
              <a:spcBef>
                <a:spcPct val="0"/>
              </a:spcBef>
              <a:spcAft>
                <a:spcPct val="0"/>
              </a:spcAft>
              <a:buClrTx/>
            </a:pPr>
            <a:r>
              <a:rPr lang="en-US" altLang="en-US" dirty="0">
                <a:solidFill>
                  <a:srgbClr val="707070"/>
                </a:solidFill>
                <a:latin typeface="open-sans"/>
              </a:rPr>
              <a:t>Because it was developed as part of the OSI network protocols and not part of TCP/IP, IS-IS doesn’t use IP addresses. </a:t>
            </a:r>
            <a:r>
              <a:rPr lang="en-US" altLang="en-US" dirty="0" smtClean="0">
                <a:solidFill>
                  <a:srgbClr val="707070"/>
                </a:solidFill>
                <a:latin typeface="open-sans"/>
              </a:rPr>
              <a:t>I</a:t>
            </a:r>
          </a:p>
          <a:p>
            <a:pPr defTabSz="914400" eaLnBrk="0" fontAlgn="base" hangingPunct="0">
              <a:spcBef>
                <a:spcPct val="0"/>
              </a:spcBef>
              <a:spcAft>
                <a:spcPct val="0"/>
              </a:spcAft>
              <a:buClrTx/>
            </a:pPr>
            <a:r>
              <a:rPr lang="en-US" altLang="en-US" dirty="0" smtClean="0">
                <a:solidFill>
                  <a:srgbClr val="707070"/>
                </a:solidFill>
                <a:latin typeface="open-sans"/>
              </a:rPr>
              <a:t>S-IS </a:t>
            </a:r>
            <a:r>
              <a:rPr lang="en-US" altLang="en-US" dirty="0">
                <a:solidFill>
                  <a:srgbClr val="707070"/>
                </a:solidFill>
                <a:latin typeface="open-sans"/>
              </a:rPr>
              <a:t>addresses are called NETs, or network entity titles. </a:t>
            </a:r>
            <a:endParaRPr lang="en-US" altLang="en-US" dirty="0" smtClean="0">
              <a:solidFill>
                <a:srgbClr val="707070"/>
              </a:solidFill>
              <a:latin typeface="open-sans"/>
            </a:endParaRPr>
          </a:p>
          <a:p>
            <a:pPr defTabSz="914400" eaLnBrk="0" fontAlgn="base" hangingPunct="0">
              <a:spcBef>
                <a:spcPct val="0"/>
              </a:spcBef>
              <a:spcAft>
                <a:spcPct val="0"/>
              </a:spcAft>
              <a:buClrTx/>
            </a:pPr>
            <a:r>
              <a:rPr lang="en-US" altLang="en-US" dirty="0" smtClean="0">
                <a:solidFill>
                  <a:srgbClr val="707070"/>
                </a:solidFill>
                <a:latin typeface="open-sans"/>
              </a:rPr>
              <a:t>While </a:t>
            </a:r>
            <a:r>
              <a:rPr lang="en-US" altLang="en-US" dirty="0">
                <a:solidFill>
                  <a:srgbClr val="707070"/>
                </a:solidFill>
                <a:latin typeface="open-sans"/>
              </a:rPr>
              <a:t>IP addresses are 32 bits long and are normally written in dotted quad notation (such as 192.168.1.2), NETs can be 8 to 20 bytes long, but are generally 10 bytes long and are written as shown in this example:</a:t>
            </a:r>
            <a:endParaRPr lang="en-US" altLang="en-US" sz="2000" dirty="0">
              <a:solidFill>
                <a:srgbClr val="333333"/>
              </a:solidFill>
              <a:latin typeface="Menlo"/>
            </a:endParaRPr>
          </a:p>
          <a:p>
            <a:pPr marL="0" lvl="0" indent="0" defTabSz="914400" eaLnBrk="0" fontAlgn="base" hangingPunct="0">
              <a:spcBef>
                <a:spcPct val="0"/>
              </a:spcBef>
              <a:spcAft>
                <a:spcPct val="0"/>
              </a:spcAft>
              <a:buClrTx/>
              <a:buNone/>
            </a:pPr>
            <a:endParaRPr lang="en-US" altLang="en-US" sz="2000" dirty="0" smtClean="0">
              <a:solidFill>
                <a:srgbClr val="333333"/>
              </a:solidFill>
              <a:latin typeface="Menlo"/>
            </a:endParaRPr>
          </a:p>
          <a:p>
            <a:pPr marL="0" lvl="0" indent="0" defTabSz="914400" eaLnBrk="0" fontAlgn="base" hangingPunct="0">
              <a:spcBef>
                <a:spcPct val="0"/>
              </a:spcBef>
              <a:spcAft>
                <a:spcPct val="0"/>
              </a:spcAft>
              <a:buClrTx/>
              <a:buNone/>
            </a:pPr>
            <a:r>
              <a:rPr lang="en-US" altLang="en-US" sz="2000" dirty="0">
                <a:solidFill>
                  <a:srgbClr val="333333"/>
                </a:solidFill>
                <a:latin typeface="Menlo"/>
              </a:rPr>
              <a:t>	</a:t>
            </a:r>
            <a:r>
              <a:rPr lang="en-US" altLang="en-US" sz="2000" dirty="0" smtClean="0">
                <a:solidFill>
                  <a:srgbClr val="333333"/>
                </a:solidFill>
                <a:latin typeface="Menlo"/>
              </a:rPr>
              <a:t>	</a:t>
            </a:r>
            <a:r>
              <a:rPr lang="en-US" altLang="en-US" sz="3200" dirty="0" smtClean="0">
                <a:solidFill>
                  <a:srgbClr val="333333"/>
                </a:solidFill>
                <a:latin typeface="Menlo"/>
              </a:rPr>
              <a:t>49.0001.1921.6800.1002.00</a:t>
            </a:r>
            <a:r>
              <a:rPr lang="en-US" altLang="en-US" sz="1050" dirty="0" smtClean="0"/>
              <a:t> </a:t>
            </a:r>
            <a:endParaRPr lang="en-US" altLang="en-US" sz="6600" dirty="0">
              <a:latin typeface="Arial" panose="020B0604020202020204" pitchFamily="34" charset="0"/>
            </a:endParaRPr>
          </a:p>
        </p:txBody>
      </p:sp>
      <p:sp>
        <p:nvSpPr>
          <p:cNvPr id="6" name="Rectangle 2"/>
          <p:cNvSpPr>
            <a:spLocks noChangeArrowheads="1"/>
          </p:cNvSpPr>
          <p:nvPr/>
        </p:nvSpPr>
        <p:spPr bwMode="auto">
          <a:xfrm>
            <a:off x="0" y="63659"/>
            <a:ext cx="65" cy="32988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5237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639243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smtClean="0"/>
              <a:t>IS-IS Protocols and Addressing: CLNP</a:t>
            </a:r>
            <a:endParaRPr lang="en-US"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43</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08069"/>
            <a:ext cx="8229600" cy="3879338"/>
          </a:xfrm>
        </p:spPr>
        <p:txBody>
          <a:bodyPr>
            <a:noAutofit/>
          </a:bodyPr>
          <a:lstStyle/>
          <a:p>
            <a:r>
              <a:rPr lang="en-US" dirty="0"/>
              <a:t>The IS-IS address consists of three parts:</a:t>
            </a:r>
          </a:p>
          <a:p>
            <a:r>
              <a:rPr lang="en-US" b="1" dirty="0"/>
              <a:t>Area identifier: </a:t>
            </a:r>
            <a:r>
              <a:rPr lang="en-US" dirty="0"/>
              <a:t>The first three bytes are the area ID.</a:t>
            </a:r>
            <a:r>
              <a:rPr lang="en-US" b="1" dirty="0"/>
              <a:t> </a:t>
            </a:r>
            <a:r>
              <a:rPr lang="en-US" dirty="0"/>
              <a:t>The first byte of this example — 49 — is the address family identifier (AFI) of the authority, which is equivalent to the IP address space that is assigned to an autonomous system. </a:t>
            </a:r>
            <a:endParaRPr lang="en-US" dirty="0" smtClean="0"/>
          </a:p>
          <a:p>
            <a:pPr lvl="1"/>
            <a:r>
              <a:rPr lang="en-US" dirty="0" smtClean="0"/>
              <a:t>The </a:t>
            </a:r>
            <a:r>
              <a:rPr lang="en-US" dirty="0"/>
              <a:t>AFI value 49 is what IS-IS uses for private addressing, which is the equivalent of RFC 1918 address space for IP protocols.</a:t>
            </a:r>
          </a:p>
        </p:txBody>
      </p:sp>
      <p:sp>
        <p:nvSpPr>
          <p:cNvPr id="6" name="Rectangle 2"/>
          <p:cNvSpPr>
            <a:spLocks noChangeArrowheads="1"/>
          </p:cNvSpPr>
          <p:nvPr/>
        </p:nvSpPr>
        <p:spPr bwMode="auto">
          <a:xfrm>
            <a:off x="0" y="63659"/>
            <a:ext cx="65" cy="32988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5237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2"/>
          <p:cNvSpPr/>
          <p:nvPr/>
        </p:nvSpPr>
        <p:spPr>
          <a:xfrm>
            <a:off x="2208220" y="4457700"/>
            <a:ext cx="4727576" cy="523220"/>
          </a:xfrm>
          <a:prstGeom prst="rect">
            <a:avLst/>
          </a:prstGeom>
        </p:spPr>
        <p:txBody>
          <a:bodyPr wrap="none">
            <a:spAutoFit/>
          </a:bodyPr>
          <a:lstStyle/>
          <a:p>
            <a:pPr lvl="0" defTabSz="914400" eaLnBrk="0" hangingPunct="0"/>
            <a:r>
              <a:rPr lang="en-US" altLang="en-US" sz="2800" dirty="0">
                <a:solidFill>
                  <a:srgbClr val="FF0000"/>
                </a:solidFill>
                <a:latin typeface="Menlo"/>
              </a:rPr>
              <a:t>49</a:t>
            </a:r>
            <a:r>
              <a:rPr lang="en-US" altLang="en-US" sz="2800" dirty="0">
                <a:solidFill>
                  <a:srgbClr val="333333"/>
                </a:solidFill>
                <a:latin typeface="Menlo"/>
              </a:rPr>
              <a:t>.0001.1921.6800.1002.00</a:t>
            </a:r>
            <a:r>
              <a:rPr lang="en-US" altLang="en-US" sz="1050" dirty="0"/>
              <a:t> </a:t>
            </a:r>
            <a:endParaRPr lang="en-US" altLang="en-US" sz="6000" dirty="0">
              <a:latin typeface="Arial" panose="020B0604020202020204" pitchFamily="34" charset="0"/>
            </a:endParaRPr>
          </a:p>
        </p:txBody>
      </p:sp>
    </p:spTree>
    <p:extLst>
      <p:ext uri="{BB962C8B-B14F-4D97-AF65-F5344CB8AC3E}">
        <p14:creationId xmlns:p14="http://schemas.microsoft.com/office/powerpoint/2010/main" val="32141730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smtClean="0"/>
              <a:t>IS-IS Protocols and Addressing: CLNP</a:t>
            </a:r>
            <a:endParaRPr lang="en-US"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44</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08069"/>
            <a:ext cx="8229600" cy="3879338"/>
          </a:xfrm>
        </p:spPr>
        <p:txBody>
          <a:bodyPr>
            <a:noAutofit/>
          </a:bodyPr>
          <a:lstStyle/>
          <a:p>
            <a:r>
              <a:rPr lang="en-US" dirty="0"/>
              <a:t>The second two bytes of the area ID — 0001 — represent the IS-IS area number. In this example, the area number is 1.</a:t>
            </a:r>
          </a:p>
        </p:txBody>
      </p:sp>
      <p:sp>
        <p:nvSpPr>
          <p:cNvPr id="6" name="Rectangle 2"/>
          <p:cNvSpPr>
            <a:spLocks noChangeArrowheads="1"/>
          </p:cNvSpPr>
          <p:nvPr/>
        </p:nvSpPr>
        <p:spPr bwMode="auto">
          <a:xfrm>
            <a:off x="0" y="63659"/>
            <a:ext cx="65" cy="32988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5237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2"/>
          <p:cNvSpPr/>
          <p:nvPr/>
        </p:nvSpPr>
        <p:spPr>
          <a:xfrm>
            <a:off x="2138943" y="2640315"/>
            <a:ext cx="4727576" cy="523220"/>
          </a:xfrm>
          <a:prstGeom prst="rect">
            <a:avLst/>
          </a:prstGeom>
        </p:spPr>
        <p:txBody>
          <a:bodyPr wrap="none">
            <a:spAutoFit/>
          </a:bodyPr>
          <a:lstStyle/>
          <a:p>
            <a:pPr lvl="0" defTabSz="914400" eaLnBrk="0" hangingPunct="0"/>
            <a:r>
              <a:rPr lang="en-US" altLang="en-US" sz="2800" dirty="0">
                <a:latin typeface="Menlo"/>
              </a:rPr>
              <a:t>49</a:t>
            </a:r>
            <a:r>
              <a:rPr lang="en-US" altLang="en-US" sz="2800" dirty="0">
                <a:solidFill>
                  <a:srgbClr val="FF0000"/>
                </a:solidFill>
                <a:latin typeface="Menlo"/>
              </a:rPr>
              <a:t>.0001.</a:t>
            </a:r>
            <a:r>
              <a:rPr lang="en-US" altLang="en-US" sz="2800" dirty="0">
                <a:solidFill>
                  <a:srgbClr val="333333"/>
                </a:solidFill>
                <a:latin typeface="Menlo"/>
              </a:rPr>
              <a:t>1921.6800.1002.00</a:t>
            </a:r>
            <a:r>
              <a:rPr lang="en-US" altLang="en-US" sz="1050" dirty="0"/>
              <a:t> </a:t>
            </a:r>
            <a:endParaRPr lang="en-US" altLang="en-US" sz="6000" dirty="0">
              <a:latin typeface="Arial" panose="020B0604020202020204" pitchFamily="34" charset="0"/>
            </a:endParaRPr>
          </a:p>
        </p:txBody>
      </p:sp>
    </p:spTree>
    <p:extLst>
      <p:ext uri="{BB962C8B-B14F-4D97-AF65-F5344CB8AC3E}">
        <p14:creationId xmlns:p14="http://schemas.microsoft.com/office/powerpoint/2010/main" val="23861933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smtClean="0"/>
              <a:t>IS-IS Protocols and Addressing: CLNP</a:t>
            </a:r>
            <a:endParaRPr lang="en-US"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45</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387931" y="1208069"/>
            <a:ext cx="8229600" cy="3879338"/>
          </a:xfrm>
        </p:spPr>
        <p:txBody>
          <a:bodyPr>
            <a:noAutofit/>
          </a:bodyPr>
          <a:lstStyle/>
          <a:p>
            <a:r>
              <a:rPr lang="en-US" sz="1800" b="1" dirty="0"/>
              <a:t>System identifier:</a:t>
            </a:r>
            <a:r>
              <a:rPr lang="en-US" sz="1800" dirty="0"/>
              <a:t> The next six bytes identify the node (that is, the router) on the network. The system identifier is equivalent to the host or address portion on an IP address.</a:t>
            </a:r>
          </a:p>
          <a:p>
            <a:r>
              <a:rPr lang="en-US" sz="1800" dirty="0"/>
              <a:t>Although you can choose any value for the system identifier, a commonly used method is to use binary-coded decimal (BCD) which involves taking the router’s IP address (the address you assigned to the lo0 loopback interface), filling in all leading zeros, and then repositioning the decimal points to form three two-byte numbers.</a:t>
            </a:r>
          </a:p>
          <a:p>
            <a:r>
              <a:rPr lang="en-US" sz="1800" dirty="0"/>
              <a:t>In this example, if you pad the IP address 192.168.1.2 with zeros, the result is 192.168.001.002. Rearranging the decimal points gives you 1921.6800.1002.</a:t>
            </a:r>
          </a:p>
        </p:txBody>
      </p:sp>
      <p:sp>
        <p:nvSpPr>
          <p:cNvPr id="6" name="Rectangle 2"/>
          <p:cNvSpPr>
            <a:spLocks noChangeArrowheads="1"/>
          </p:cNvSpPr>
          <p:nvPr/>
        </p:nvSpPr>
        <p:spPr bwMode="auto">
          <a:xfrm>
            <a:off x="0" y="63659"/>
            <a:ext cx="65" cy="32988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5237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2"/>
          <p:cNvSpPr/>
          <p:nvPr/>
        </p:nvSpPr>
        <p:spPr>
          <a:xfrm>
            <a:off x="2590800" y="4564187"/>
            <a:ext cx="4724370" cy="523220"/>
          </a:xfrm>
          <a:prstGeom prst="rect">
            <a:avLst/>
          </a:prstGeom>
        </p:spPr>
        <p:txBody>
          <a:bodyPr wrap="none">
            <a:spAutoFit/>
          </a:bodyPr>
          <a:lstStyle/>
          <a:p>
            <a:pPr lvl="0" defTabSz="914400" eaLnBrk="0" hangingPunct="0"/>
            <a:r>
              <a:rPr lang="en-US" altLang="en-US" sz="2800" dirty="0">
                <a:solidFill>
                  <a:srgbClr val="333333"/>
                </a:solidFill>
                <a:latin typeface="Menlo"/>
              </a:rPr>
              <a:t>49.0001.</a:t>
            </a:r>
            <a:r>
              <a:rPr lang="en-US" altLang="en-US" sz="2800" dirty="0">
                <a:solidFill>
                  <a:srgbClr val="FF0000"/>
                </a:solidFill>
                <a:latin typeface="Menlo"/>
              </a:rPr>
              <a:t>1921.6800.1002.</a:t>
            </a:r>
            <a:r>
              <a:rPr lang="en-US" altLang="en-US" sz="2800" dirty="0">
                <a:solidFill>
                  <a:srgbClr val="333333"/>
                </a:solidFill>
                <a:latin typeface="Menlo"/>
              </a:rPr>
              <a:t>00</a:t>
            </a:r>
            <a:r>
              <a:rPr lang="en-US" altLang="en-US" sz="1050" dirty="0"/>
              <a:t> </a:t>
            </a:r>
            <a:endParaRPr lang="en-US" altLang="en-US" sz="6000" dirty="0">
              <a:latin typeface="Arial" panose="020B0604020202020204" pitchFamily="34" charset="0"/>
            </a:endParaRPr>
          </a:p>
        </p:txBody>
      </p:sp>
    </p:spTree>
    <p:extLst>
      <p:ext uri="{BB962C8B-B14F-4D97-AF65-F5344CB8AC3E}">
        <p14:creationId xmlns:p14="http://schemas.microsoft.com/office/powerpoint/2010/main" val="18478181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smtClean="0"/>
              <a:t>IS-IS Protocols and Addressing: CLNP</a:t>
            </a:r>
            <a:endParaRPr lang="en-US"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46</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387931" y="1208069"/>
            <a:ext cx="8229600" cy="3879338"/>
          </a:xfrm>
        </p:spPr>
        <p:txBody>
          <a:bodyPr>
            <a:noAutofit/>
          </a:bodyPr>
          <a:lstStyle/>
          <a:p>
            <a:r>
              <a:rPr lang="en-US" dirty="0"/>
              <a:t>Another common way to assign the system identifier is to start with the router’s media access control (MAC) address, which is a six-byte address and rearrange the decimal points to create three two-byte numbers. </a:t>
            </a:r>
            <a:endParaRPr lang="en-US" dirty="0" smtClean="0"/>
          </a:p>
          <a:p>
            <a:r>
              <a:rPr lang="en-US" dirty="0" smtClean="0"/>
              <a:t>So</a:t>
            </a:r>
            <a:r>
              <a:rPr lang="en-US" dirty="0"/>
              <a:t>, for example, for a router MAC address of 00:1B:63:31:86:BE, the IS-IS system identifier is 001b.6331.86be.</a:t>
            </a:r>
            <a:endParaRPr lang="en-US" sz="1800" dirty="0"/>
          </a:p>
        </p:txBody>
      </p:sp>
      <p:sp>
        <p:nvSpPr>
          <p:cNvPr id="6" name="Rectangle 2"/>
          <p:cNvSpPr>
            <a:spLocks noChangeArrowheads="1"/>
          </p:cNvSpPr>
          <p:nvPr/>
        </p:nvSpPr>
        <p:spPr bwMode="auto">
          <a:xfrm>
            <a:off x="0" y="63659"/>
            <a:ext cx="65" cy="32988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5237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2"/>
          <p:cNvSpPr/>
          <p:nvPr/>
        </p:nvSpPr>
        <p:spPr>
          <a:xfrm>
            <a:off x="1738800" y="4226205"/>
            <a:ext cx="5343129" cy="584775"/>
          </a:xfrm>
          <a:prstGeom prst="rect">
            <a:avLst/>
          </a:prstGeom>
        </p:spPr>
        <p:txBody>
          <a:bodyPr wrap="none">
            <a:spAutoFit/>
          </a:bodyPr>
          <a:lstStyle/>
          <a:p>
            <a:pPr lvl="0" defTabSz="914400" eaLnBrk="0" hangingPunct="0"/>
            <a:r>
              <a:rPr lang="en-US" altLang="en-US" sz="3200" dirty="0" smtClean="0">
                <a:solidFill>
                  <a:srgbClr val="333333"/>
                </a:solidFill>
                <a:latin typeface="Menlo"/>
              </a:rPr>
              <a:t>49.0001.</a:t>
            </a:r>
            <a:r>
              <a:rPr lang="en-US" sz="3200" dirty="0" smtClean="0">
                <a:solidFill>
                  <a:srgbClr val="FF0000"/>
                </a:solidFill>
              </a:rPr>
              <a:t>001b.6331.86be</a:t>
            </a:r>
            <a:r>
              <a:rPr lang="en-US" altLang="en-US" sz="3200" dirty="0" smtClean="0">
                <a:solidFill>
                  <a:srgbClr val="333333"/>
                </a:solidFill>
                <a:latin typeface="Menlo"/>
              </a:rPr>
              <a:t>.00</a:t>
            </a:r>
            <a:r>
              <a:rPr lang="en-US" altLang="en-US" sz="1100" dirty="0" smtClean="0"/>
              <a:t> </a:t>
            </a:r>
            <a:endParaRPr lang="en-US" altLang="en-US" sz="6600" dirty="0">
              <a:latin typeface="Arial" panose="020B0604020202020204" pitchFamily="34" charset="0"/>
            </a:endParaRPr>
          </a:p>
        </p:txBody>
      </p:sp>
    </p:spTree>
    <p:extLst>
      <p:ext uri="{BB962C8B-B14F-4D97-AF65-F5344CB8AC3E}">
        <p14:creationId xmlns:p14="http://schemas.microsoft.com/office/powerpoint/2010/main" val="13433276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smtClean="0"/>
              <a:t>IS-IS Protocols and Addressing: CLNP</a:t>
            </a:r>
            <a:endParaRPr lang="en-US"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47</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387931" y="1208069"/>
            <a:ext cx="8229600" cy="3879338"/>
          </a:xfrm>
        </p:spPr>
        <p:txBody>
          <a:bodyPr>
            <a:noAutofit/>
          </a:bodyPr>
          <a:lstStyle/>
          <a:p>
            <a:r>
              <a:rPr lang="en-US" b="1" dirty="0"/>
              <a:t>NET selector:</a:t>
            </a:r>
            <a:r>
              <a:rPr lang="en-US" dirty="0"/>
              <a:t> The final two bytes are the NET selector (NSEL). For IS-IS, they must always be 00, to indicate “this system.”</a:t>
            </a:r>
            <a:endParaRPr lang="en-US" sz="1800" dirty="0"/>
          </a:p>
        </p:txBody>
      </p:sp>
      <p:sp>
        <p:nvSpPr>
          <p:cNvPr id="6" name="Rectangle 2"/>
          <p:cNvSpPr>
            <a:spLocks noChangeArrowheads="1"/>
          </p:cNvSpPr>
          <p:nvPr/>
        </p:nvSpPr>
        <p:spPr bwMode="auto">
          <a:xfrm>
            <a:off x="0" y="63659"/>
            <a:ext cx="65" cy="32988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5237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2"/>
          <p:cNvSpPr/>
          <p:nvPr/>
        </p:nvSpPr>
        <p:spPr>
          <a:xfrm>
            <a:off x="1651451" y="3058724"/>
            <a:ext cx="5993949" cy="646331"/>
          </a:xfrm>
          <a:prstGeom prst="rect">
            <a:avLst/>
          </a:prstGeom>
        </p:spPr>
        <p:txBody>
          <a:bodyPr wrap="none">
            <a:spAutoFit/>
          </a:bodyPr>
          <a:lstStyle/>
          <a:p>
            <a:pPr lvl="0" defTabSz="914400" eaLnBrk="0" hangingPunct="0"/>
            <a:r>
              <a:rPr lang="en-US" altLang="en-US" sz="3600" dirty="0">
                <a:solidFill>
                  <a:srgbClr val="333333"/>
                </a:solidFill>
                <a:latin typeface="Menlo"/>
              </a:rPr>
              <a:t>49.0001.1921.6800.1002.</a:t>
            </a:r>
            <a:r>
              <a:rPr lang="en-US" altLang="en-US" sz="3600" dirty="0">
                <a:solidFill>
                  <a:srgbClr val="FF0000"/>
                </a:solidFill>
                <a:latin typeface="Menlo"/>
              </a:rPr>
              <a:t>00</a:t>
            </a:r>
            <a:r>
              <a:rPr lang="en-US" altLang="en-US" sz="1200" dirty="0"/>
              <a:t> </a:t>
            </a:r>
            <a:endParaRPr lang="en-US" altLang="en-US" sz="7200" dirty="0">
              <a:latin typeface="Arial" panose="020B0604020202020204" pitchFamily="34" charset="0"/>
            </a:endParaRPr>
          </a:p>
        </p:txBody>
      </p:sp>
    </p:spTree>
    <p:extLst>
      <p:ext uri="{BB962C8B-B14F-4D97-AF65-F5344CB8AC3E}">
        <p14:creationId xmlns:p14="http://schemas.microsoft.com/office/powerpoint/2010/main" val="26433453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smtClean="0"/>
              <a:t>IS-IS Protocols and Addressing</a:t>
            </a:r>
            <a:endParaRPr lang="en-US"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48</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95101" y="1814367"/>
            <a:ext cx="5353797" cy="2086266"/>
          </a:xfrm>
          <a:prstGeom prst="rect">
            <a:avLst/>
          </a:prstGeom>
        </p:spPr>
      </p:pic>
    </p:spTree>
    <p:extLst>
      <p:ext uri="{BB962C8B-B14F-4D97-AF65-F5344CB8AC3E}">
        <p14:creationId xmlns:p14="http://schemas.microsoft.com/office/powerpoint/2010/main" val="9971779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pPr algn="ctr"/>
            <a:r>
              <a:rPr lang="en-US" dirty="0"/>
              <a:t>IS-IS Protocols and Addressing: </a:t>
            </a:r>
            <a:br>
              <a:rPr lang="en-US" dirty="0"/>
            </a:br>
            <a:r>
              <a:rPr lang="en-US" dirty="0"/>
              <a:t>CLNS Address Example</a:t>
            </a:r>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49</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431320"/>
            <a:ext cx="8619835" cy="1268431"/>
          </a:xfrm>
        </p:spPr>
        <p:txBody>
          <a:bodyPr>
            <a:noAutofit/>
          </a:bodyPr>
          <a:lstStyle/>
          <a:p>
            <a:r>
              <a:rPr lang="en-US" sz="1800" dirty="0"/>
              <a:t>The System-ID is usually populated by the device’s MAC address or IP v4 address.  </a:t>
            </a:r>
          </a:p>
          <a:p>
            <a:r>
              <a:rPr lang="en-US" sz="1800" dirty="0"/>
              <a:t>Recall that CLNS addresses are of variable length. We can specify addresses without an IDI field: </a:t>
            </a:r>
          </a:p>
          <a:p>
            <a:pPr marL="0" indent="0" algn="ctr">
              <a:buNone/>
            </a:pPr>
            <a:r>
              <a:rPr lang="en-US" sz="1800" dirty="0"/>
              <a:t>47.0001.1111.2222.3333.00 </a:t>
            </a:r>
          </a:p>
          <a:p>
            <a:r>
              <a:rPr lang="en-US" sz="1800" dirty="0"/>
              <a:t>Thus, the above address contains an AFI (Autonomous System), HO-DSP (Area), System-ID (in this example, a MAC Address), and the NSEL (SEL). Because the SEL field has a zero value (0x00), the above address is defined as a NET address, and not an NSAP address. </a:t>
            </a:r>
          </a:p>
        </p:txBody>
      </p:sp>
    </p:spTree>
    <p:extLst>
      <p:ext uri="{BB962C8B-B14F-4D97-AF65-F5344CB8AC3E}">
        <p14:creationId xmlns:p14="http://schemas.microsoft.com/office/powerpoint/2010/main" val="39156312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pPr algn="ctr"/>
            <a:r>
              <a:rPr lang="en-US" dirty="0"/>
              <a:t>IS-IS Protocols and Addressing: </a:t>
            </a:r>
            <a:br>
              <a:rPr lang="en-US" dirty="0"/>
            </a:br>
            <a:r>
              <a:rPr lang="en-US" dirty="0"/>
              <a:t>CLNS Address Example</a:t>
            </a:r>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50</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431320"/>
            <a:ext cx="8619835" cy="1268431"/>
          </a:xfrm>
        </p:spPr>
        <p:txBody>
          <a:bodyPr>
            <a:noAutofit/>
          </a:bodyPr>
          <a:lstStyle/>
          <a:p>
            <a:r>
              <a:rPr lang="en-US" sz="1800" dirty="0"/>
              <a:t>ISO CLNS addresses are not applied on an interface-by-interface basis. Instead, a single CLNS address is applied to the entire device. </a:t>
            </a:r>
          </a:p>
          <a:p>
            <a:r>
              <a:rPr lang="en-US" sz="1800" dirty="0"/>
              <a:t>Even if Integrated IS-IS is being used (thus indicating that IPv4 is being routed instead of CLNS), a CLNS address is still required on the IS-IS router. This is configured under the IS-IS router process. </a:t>
            </a:r>
          </a:p>
          <a:p>
            <a:r>
              <a:rPr lang="en-US" sz="1800" dirty="0"/>
              <a:t>Routers within the same area must share identical AFI, IDI, and HO-DSP values, but each must have a unique System-ID </a:t>
            </a:r>
            <a:endParaRPr lang="en-US" sz="1400" dirty="0"/>
          </a:p>
        </p:txBody>
      </p:sp>
    </p:spTree>
    <p:extLst>
      <p:ext uri="{BB962C8B-B14F-4D97-AF65-F5344CB8AC3E}">
        <p14:creationId xmlns:p14="http://schemas.microsoft.com/office/powerpoint/2010/main" val="9474390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pPr algn="ctr"/>
            <a:r>
              <a:rPr lang="en-US" dirty="0"/>
              <a:t>IS-IS Protocols and Addressing: </a:t>
            </a:r>
            <a:br>
              <a:rPr lang="en-US" dirty="0"/>
            </a:br>
            <a:r>
              <a:rPr lang="en-US" dirty="0"/>
              <a:t>CLNS Address Example</a:t>
            </a:r>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51</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135658"/>
            <a:ext cx="8619835" cy="1268431"/>
          </a:xfrm>
        </p:spPr>
        <p:txBody>
          <a:bodyPr>
            <a:noAutofit/>
          </a:bodyPr>
          <a:lstStyle/>
          <a:p>
            <a:r>
              <a:rPr lang="en-US" sz="1800" dirty="0"/>
              <a:t>The System-ID is usually populated by the device’s MAC address or IP v4 address.  </a:t>
            </a:r>
          </a:p>
          <a:p>
            <a:r>
              <a:rPr lang="en-US" sz="1800" dirty="0"/>
              <a:t>Recall that CLNS addresses are of variable length. We can specify addresses without an IDI field: </a:t>
            </a:r>
          </a:p>
          <a:p>
            <a:pPr marL="0" indent="0" algn="ctr">
              <a:buNone/>
            </a:pPr>
            <a:r>
              <a:rPr lang="en-US" sz="1800" dirty="0"/>
              <a:t>47.0001.1111.2222.3333.00 </a:t>
            </a:r>
          </a:p>
          <a:p>
            <a:r>
              <a:rPr lang="en-US" sz="1800" dirty="0"/>
              <a:t>Thus, the above address contains an AFI (Autonomous System), HO-DSP (Area), System-ID (in this example, a MAC Address), and the NSEL (SEL). Because the SEL field has a zero value (0x00), the above address is defined as a NET address, and not an NSAP address. </a:t>
            </a:r>
          </a:p>
          <a:p>
            <a:r>
              <a:rPr lang="en-US" sz="1800" dirty="0"/>
              <a:t>ISO CLNS addresses are not applied on an interface-by-interface basis. Instead, a single CLNS address is applied to the entire device. </a:t>
            </a:r>
          </a:p>
        </p:txBody>
      </p:sp>
    </p:spTree>
    <p:extLst>
      <p:ext uri="{BB962C8B-B14F-4D97-AF65-F5344CB8AC3E}">
        <p14:creationId xmlns:p14="http://schemas.microsoft.com/office/powerpoint/2010/main" val="40068892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pPr algn="ctr"/>
            <a:r>
              <a:rPr lang="en-US" dirty="0"/>
              <a:t>IS-IS Protocols and Addressing: </a:t>
            </a:r>
            <a:br>
              <a:rPr lang="en-US" dirty="0"/>
            </a:br>
            <a:r>
              <a:rPr lang="en-US" dirty="0"/>
              <a:t>CLNS Address Example</a:t>
            </a:r>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52</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326779" y="1409700"/>
            <a:ext cx="8619835" cy="1268431"/>
          </a:xfrm>
        </p:spPr>
        <p:txBody>
          <a:bodyPr>
            <a:noAutofit/>
          </a:bodyPr>
          <a:lstStyle/>
          <a:p>
            <a:r>
              <a:rPr lang="en-US" sz="1800" dirty="0"/>
              <a:t>Even if Integrated IS-IS is being used (thus indicating that IPv4 is being routed instead of CLNS), a CLNS address is still required on the IS-IS router. This is configured under the IS-IS router process. </a:t>
            </a:r>
          </a:p>
          <a:p>
            <a:r>
              <a:rPr lang="en-US" sz="1800" dirty="0"/>
              <a:t>Routers within the same area must share identical AFI, IDI, and HO-DSP values, but each must have a unique System-ID </a:t>
            </a:r>
            <a:endParaRPr lang="en-US" sz="1400" dirty="0"/>
          </a:p>
        </p:txBody>
      </p:sp>
    </p:spTree>
    <p:extLst>
      <p:ext uri="{BB962C8B-B14F-4D97-AF65-F5344CB8AC3E}">
        <p14:creationId xmlns:p14="http://schemas.microsoft.com/office/powerpoint/2010/main" val="34707965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7931" y="277831"/>
            <a:ext cx="8229600" cy="952500"/>
          </a:xfrm>
        </p:spPr>
        <p:txBody>
          <a:bodyPr>
            <a:normAutofit fontScale="90000"/>
          </a:bodyPr>
          <a:lstStyle/>
          <a:p>
            <a:pPr algn="ctr"/>
            <a:r>
              <a:rPr lang="en-US" dirty="0"/>
              <a:t>IS-IS </a:t>
            </a:r>
            <a:r>
              <a:rPr lang="en-US" dirty="0" smtClean="0"/>
              <a:t>Packet Types </a:t>
            </a:r>
            <a:r>
              <a:rPr lang="en-US" dirty="0"/>
              <a:t/>
            </a:r>
            <a:br>
              <a:rPr lang="en-US" dirty="0"/>
            </a:br>
            <a:endParaRPr lang="en-US"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53</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326779" y="1409700"/>
            <a:ext cx="8619835" cy="3352800"/>
          </a:xfrm>
        </p:spPr>
        <p:txBody>
          <a:bodyPr>
            <a:noAutofit/>
          </a:bodyPr>
          <a:lstStyle/>
          <a:p>
            <a:r>
              <a:rPr lang="en-US" dirty="0"/>
              <a:t>IS-IS defines two categories of network devices</a:t>
            </a:r>
            <a:r>
              <a:rPr lang="en-US" dirty="0" smtClean="0"/>
              <a:t>:</a:t>
            </a:r>
          </a:p>
          <a:p>
            <a:pPr lvl="1"/>
            <a:r>
              <a:rPr lang="en-US" dirty="0" smtClean="0"/>
              <a:t>ES </a:t>
            </a:r>
            <a:r>
              <a:rPr lang="en-US" dirty="0"/>
              <a:t>(End System) – identifies an end host.</a:t>
            </a:r>
          </a:p>
          <a:p>
            <a:pPr lvl="1"/>
            <a:r>
              <a:rPr lang="en-US" dirty="0" smtClean="0"/>
              <a:t>IS </a:t>
            </a:r>
            <a:r>
              <a:rPr lang="en-US" dirty="0"/>
              <a:t>(Intermediate System) – identifies a Layer 3 router</a:t>
            </a:r>
            <a:r>
              <a:rPr lang="en-US" dirty="0" smtClean="0"/>
              <a:t>.</a:t>
            </a:r>
          </a:p>
          <a:p>
            <a:r>
              <a:rPr lang="en-US" dirty="0" smtClean="0"/>
              <a:t>IS-IS </a:t>
            </a:r>
            <a:r>
              <a:rPr lang="en-US" dirty="0"/>
              <a:t>additionally defines four categories of packet types</a:t>
            </a:r>
            <a:r>
              <a:rPr lang="en-US" dirty="0" smtClean="0"/>
              <a:t>:</a:t>
            </a:r>
          </a:p>
          <a:p>
            <a:pPr lvl="1"/>
            <a:r>
              <a:rPr lang="en-US" dirty="0" smtClean="0">
                <a:solidFill>
                  <a:srgbClr val="FF0000"/>
                </a:solidFill>
              </a:rPr>
              <a:t>Hello</a:t>
            </a:r>
            <a:endParaRPr lang="en-US" dirty="0">
              <a:solidFill>
                <a:srgbClr val="FF0000"/>
              </a:solidFill>
            </a:endParaRPr>
          </a:p>
          <a:p>
            <a:pPr lvl="1"/>
            <a:r>
              <a:rPr lang="en-US" dirty="0" smtClean="0">
                <a:solidFill>
                  <a:srgbClr val="FF0000"/>
                </a:solidFill>
              </a:rPr>
              <a:t>LSP</a:t>
            </a:r>
            <a:endParaRPr lang="en-US" dirty="0">
              <a:solidFill>
                <a:srgbClr val="FF0000"/>
              </a:solidFill>
            </a:endParaRPr>
          </a:p>
          <a:p>
            <a:pPr lvl="1"/>
            <a:r>
              <a:rPr lang="en-US" dirty="0" smtClean="0">
                <a:solidFill>
                  <a:srgbClr val="FF0000"/>
                </a:solidFill>
              </a:rPr>
              <a:t>CSNP</a:t>
            </a:r>
            <a:endParaRPr lang="en-US" dirty="0">
              <a:solidFill>
                <a:srgbClr val="FF0000"/>
              </a:solidFill>
            </a:endParaRPr>
          </a:p>
          <a:p>
            <a:pPr lvl="1"/>
            <a:r>
              <a:rPr lang="en-US" dirty="0" smtClean="0">
                <a:solidFill>
                  <a:srgbClr val="FF0000"/>
                </a:solidFill>
              </a:rPr>
              <a:t>PSNP</a:t>
            </a:r>
          </a:p>
          <a:p>
            <a:endParaRPr lang="en-US" dirty="0" smtClean="0"/>
          </a:p>
          <a:p>
            <a:endParaRPr lang="en-US" sz="1800" dirty="0"/>
          </a:p>
        </p:txBody>
      </p:sp>
    </p:spTree>
    <p:extLst>
      <p:ext uri="{BB962C8B-B14F-4D97-AF65-F5344CB8AC3E}">
        <p14:creationId xmlns:p14="http://schemas.microsoft.com/office/powerpoint/2010/main" val="38468309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7931" y="277831"/>
            <a:ext cx="8229600" cy="952500"/>
          </a:xfrm>
        </p:spPr>
        <p:txBody>
          <a:bodyPr>
            <a:normAutofit fontScale="90000"/>
          </a:bodyPr>
          <a:lstStyle/>
          <a:p>
            <a:pPr algn="ctr"/>
            <a:r>
              <a:rPr lang="en-US" dirty="0"/>
              <a:t>IS-IS </a:t>
            </a:r>
            <a:r>
              <a:rPr lang="en-US" dirty="0" smtClean="0"/>
              <a:t>Packet Types </a:t>
            </a:r>
            <a:r>
              <a:rPr lang="en-US" dirty="0"/>
              <a:t/>
            </a:r>
            <a:br>
              <a:rPr lang="en-US" dirty="0"/>
            </a:br>
            <a:endParaRPr lang="en-US"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54</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326779" y="1409700"/>
            <a:ext cx="8619835" cy="3352800"/>
          </a:xfrm>
        </p:spPr>
        <p:txBody>
          <a:bodyPr>
            <a:noAutofit/>
          </a:bodyPr>
          <a:lstStyle/>
          <a:p>
            <a:r>
              <a:rPr lang="en-US" dirty="0"/>
              <a:t>Hello packets are exchanged for neighbor discovery. Three types of IS-IS Hello packets exist: </a:t>
            </a:r>
            <a:endParaRPr lang="en-US" dirty="0" smtClean="0"/>
          </a:p>
          <a:p>
            <a:pPr lvl="1"/>
            <a:r>
              <a:rPr lang="en-US" dirty="0" smtClean="0"/>
              <a:t>IIH </a:t>
            </a:r>
            <a:r>
              <a:rPr lang="en-US" dirty="0"/>
              <a:t>(IS-IS Hello) – exchanged between routers (or IS’s) to form neighbor adjacencies.</a:t>
            </a:r>
          </a:p>
          <a:p>
            <a:pPr lvl="1"/>
            <a:r>
              <a:rPr lang="en-US" dirty="0" smtClean="0"/>
              <a:t>ESH </a:t>
            </a:r>
            <a:r>
              <a:rPr lang="en-US" dirty="0"/>
              <a:t>(ES Hello) – sent from an ES to discover a router.</a:t>
            </a:r>
          </a:p>
          <a:p>
            <a:pPr lvl="1"/>
            <a:r>
              <a:rPr lang="en-US" dirty="0" smtClean="0"/>
              <a:t>ISH </a:t>
            </a:r>
            <a:r>
              <a:rPr lang="en-US" dirty="0"/>
              <a:t>(IS Hello) – sent from an IS to announce its presence to ES’s</a:t>
            </a:r>
            <a:endParaRPr lang="en-US" dirty="0" smtClean="0"/>
          </a:p>
          <a:p>
            <a:endParaRPr lang="en-US" sz="1800" dirty="0"/>
          </a:p>
        </p:txBody>
      </p:sp>
    </p:spTree>
    <p:extLst>
      <p:ext uri="{BB962C8B-B14F-4D97-AF65-F5344CB8AC3E}">
        <p14:creationId xmlns:p14="http://schemas.microsoft.com/office/powerpoint/2010/main" val="29308003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smtClean="0"/>
              <a:t>IS-IS Protocols and Addressing</a:t>
            </a:r>
            <a:endParaRPr lang="en-US"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55</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745" y="1049147"/>
            <a:ext cx="7248525" cy="4248150"/>
          </a:xfrm>
          <a:prstGeom prst="rect">
            <a:avLst/>
          </a:prstGeom>
        </p:spPr>
      </p:pic>
    </p:spTree>
    <p:extLst>
      <p:ext uri="{BB962C8B-B14F-4D97-AF65-F5344CB8AC3E}">
        <p14:creationId xmlns:p14="http://schemas.microsoft.com/office/powerpoint/2010/main" val="4230463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7931" y="277831"/>
            <a:ext cx="8229600" cy="952500"/>
          </a:xfrm>
        </p:spPr>
        <p:txBody>
          <a:bodyPr>
            <a:normAutofit fontScale="90000"/>
          </a:bodyPr>
          <a:lstStyle/>
          <a:p>
            <a:pPr algn="ctr"/>
            <a:r>
              <a:rPr lang="en-US" dirty="0"/>
              <a:t>IS-IS </a:t>
            </a:r>
            <a:r>
              <a:rPr lang="en-US" dirty="0" smtClean="0"/>
              <a:t>Packet Types </a:t>
            </a:r>
            <a:r>
              <a:rPr lang="en-US" dirty="0"/>
              <a:t/>
            </a:r>
            <a:br>
              <a:rPr lang="en-US" dirty="0"/>
            </a:br>
            <a:endParaRPr lang="en-US"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56</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326779" y="1409700"/>
            <a:ext cx="8619835" cy="3352800"/>
          </a:xfrm>
        </p:spPr>
        <p:txBody>
          <a:bodyPr>
            <a:noAutofit/>
          </a:bodyPr>
          <a:lstStyle/>
          <a:p>
            <a:r>
              <a:rPr lang="en-US" dirty="0"/>
              <a:t>An LSP (Link State Packet) is used to share topology information between routers. There are separate LSPs for Level 1 and Level 2 routing. LSP’s are covered in great detail shortly. </a:t>
            </a:r>
          </a:p>
          <a:p>
            <a:pPr lvl="1"/>
            <a:r>
              <a:rPr lang="en-US" dirty="0"/>
              <a:t>A CSNP (Complete Sequence Number PDU) is an update containing the full link-state database. IS-IS routers will refresh the full database every 15 minutes. </a:t>
            </a:r>
          </a:p>
          <a:p>
            <a:pPr lvl="1"/>
            <a:r>
              <a:rPr lang="en-US" dirty="0"/>
              <a:t>A PSNP (Partial Sequence Number PDU) is used by IS-IS routers to both request and acknowledge a link-state update. </a:t>
            </a:r>
            <a:endParaRPr lang="en-US" dirty="0" smtClean="0"/>
          </a:p>
          <a:p>
            <a:endParaRPr lang="en-US" sz="1800" dirty="0"/>
          </a:p>
        </p:txBody>
      </p:sp>
    </p:spTree>
    <p:extLst>
      <p:ext uri="{BB962C8B-B14F-4D97-AF65-F5344CB8AC3E}">
        <p14:creationId xmlns:p14="http://schemas.microsoft.com/office/powerpoint/2010/main" val="13774087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7931" y="277831"/>
            <a:ext cx="8229600" cy="952500"/>
          </a:xfrm>
        </p:spPr>
        <p:txBody>
          <a:bodyPr>
            <a:normAutofit fontScale="90000"/>
          </a:bodyPr>
          <a:lstStyle/>
          <a:p>
            <a:pPr algn="ctr"/>
            <a:r>
              <a:rPr lang="en-US" dirty="0"/>
              <a:t>IS-IS </a:t>
            </a:r>
            <a:r>
              <a:rPr lang="en-US" dirty="0" smtClean="0"/>
              <a:t>Packet Types </a:t>
            </a:r>
            <a:r>
              <a:rPr lang="en-US" dirty="0"/>
              <a:t/>
            </a:r>
            <a:br>
              <a:rPr lang="en-US" dirty="0"/>
            </a:br>
            <a:endParaRPr lang="en-US"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57</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326779" y="1409700"/>
            <a:ext cx="8619835" cy="3352800"/>
          </a:xfrm>
        </p:spPr>
        <p:txBody>
          <a:bodyPr>
            <a:noAutofit/>
          </a:bodyPr>
          <a:lstStyle/>
          <a:p>
            <a:r>
              <a:rPr lang="en-US" dirty="0"/>
              <a:t>Neighbors build their topology tables by sharing LSP’s (Link-State Packets), which are roughly the equivalent of OSPF LSA’s. </a:t>
            </a:r>
            <a:endParaRPr lang="en-US" dirty="0" smtClean="0"/>
          </a:p>
          <a:p>
            <a:r>
              <a:rPr lang="en-US" dirty="0" smtClean="0"/>
              <a:t>Depending </a:t>
            </a:r>
            <a:r>
              <a:rPr lang="en-US" dirty="0"/>
              <a:t>on the type of adjacency, a router will send out either a Level-1 or Level-2 LSP.</a:t>
            </a:r>
            <a:endParaRPr lang="en-US" sz="1800" dirty="0"/>
          </a:p>
        </p:txBody>
      </p:sp>
    </p:spTree>
    <p:extLst>
      <p:ext uri="{BB962C8B-B14F-4D97-AF65-F5344CB8AC3E}">
        <p14:creationId xmlns:p14="http://schemas.microsoft.com/office/powerpoint/2010/main" val="16794019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7931" y="277831"/>
            <a:ext cx="8229600" cy="952500"/>
          </a:xfrm>
        </p:spPr>
        <p:txBody>
          <a:bodyPr>
            <a:normAutofit fontScale="90000"/>
          </a:bodyPr>
          <a:lstStyle/>
          <a:p>
            <a:pPr algn="ctr"/>
            <a:r>
              <a:rPr lang="en-US" dirty="0" smtClean="0"/>
              <a:t>IS-IS</a:t>
            </a:r>
            <a:r>
              <a:rPr lang="en-US" dirty="0"/>
              <a:t/>
            </a:r>
            <a:br>
              <a:rPr lang="en-US" dirty="0"/>
            </a:br>
            <a:endParaRPr lang="en-US"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58</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326779" y="1409700"/>
            <a:ext cx="8619835" cy="3352800"/>
          </a:xfrm>
        </p:spPr>
        <p:txBody>
          <a:bodyPr>
            <a:noAutofit/>
          </a:bodyPr>
          <a:lstStyle/>
          <a:p>
            <a:r>
              <a:rPr lang="en-US" dirty="0" smtClean="0"/>
              <a:t>IS-IS only</a:t>
            </a:r>
          </a:p>
          <a:p>
            <a:r>
              <a:rPr lang="en-US" dirty="0" smtClean="0"/>
              <a:t>IS-IS and IP separately (separate route tables)</a:t>
            </a:r>
          </a:p>
          <a:p>
            <a:r>
              <a:rPr lang="en-US" dirty="0"/>
              <a:t>IS-IS and IP </a:t>
            </a:r>
            <a:r>
              <a:rPr lang="en-US" dirty="0" smtClean="0"/>
              <a:t>concurrently (single route </a:t>
            </a:r>
            <a:r>
              <a:rPr lang="en-US" dirty="0"/>
              <a:t>tables)</a:t>
            </a:r>
          </a:p>
          <a:p>
            <a:endParaRPr lang="en-US" dirty="0"/>
          </a:p>
          <a:p>
            <a:endParaRPr lang="en-US" dirty="0" smtClean="0"/>
          </a:p>
          <a:p>
            <a:endParaRPr lang="en-US" sz="1400" dirty="0"/>
          </a:p>
          <a:p>
            <a:endParaRPr lang="en-US" dirty="0" smtClean="0"/>
          </a:p>
        </p:txBody>
      </p:sp>
    </p:spTree>
    <p:extLst>
      <p:ext uri="{BB962C8B-B14F-4D97-AF65-F5344CB8AC3E}">
        <p14:creationId xmlns:p14="http://schemas.microsoft.com/office/powerpoint/2010/main" val="22188747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7931" y="277831"/>
            <a:ext cx="8229600" cy="952500"/>
          </a:xfrm>
        </p:spPr>
        <p:txBody>
          <a:bodyPr>
            <a:normAutofit fontScale="90000"/>
          </a:bodyPr>
          <a:lstStyle/>
          <a:p>
            <a:pPr algn="ctr"/>
            <a:r>
              <a:rPr lang="en-US" dirty="0" smtClean="0"/>
              <a:t>Overview of IP-Specific Info for IS-IS</a:t>
            </a:r>
            <a:r>
              <a:rPr lang="en-US" dirty="0"/>
              <a:t/>
            </a:r>
            <a:br>
              <a:rPr lang="en-US" dirty="0"/>
            </a:br>
            <a:endParaRPr lang="en-US"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59</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326779" y="1409700"/>
            <a:ext cx="8619835" cy="3352800"/>
          </a:xfrm>
        </p:spPr>
        <p:txBody>
          <a:bodyPr>
            <a:noAutofit/>
          </a:bodyPr>
          <a:lstStyle/>
          <a:p>
            <a:pPr lvl="0" defTabSz="914400" eaLnBrk="0" fontAlgn="base" hangingPunct="0">
              <a:spcBef>
                <a:spcPct val="0"/>
              </a:spcBef>
              <a:spcAft>
                <a:spcPct val="0"/>
              </a:spcAft>
              <a:buClrTx/>
            </a:pPr>
            <a:r>
              <a:rPr lang="en-US" altLang="en-US" dirty="0">
                <a:latin typeface="Arial Unicode MS" panose="020B0604020202020204" pitchFamily="34" charset="-128"/>
              </a:rPr>
              <a:t>There are six new fields defined for the Integrated </a:t>
            </a:r>
            <a:r>
              <a:rPr lang="en-US" altLang="en-US" dirty="0" smtClean="0">
                <a:latin typeface="Arial Unicode MS" panose="020B0604020202020204" pitchFamily="34" charset="-128"/>
              </a:rPr>
              <a:t>IS-IS: </a:t>
            </a:r>
          </a:p>
          <a:p>
            <a:pPr marL="913448" lvl="1" indent="-457200" defTabSz="914400" eaLnBrk="0" fontAlgn="base" hangingPunct="0">
              <a:spcBef>
                <a:spcPct val="0"/>
              </a:spcBef>
              <a:spcAft>
                <a:spcPct val="0"/>
              </a:spcAft>
              <a:buClrTx/>
              <a:buFont typeface="+mj-lt"/>
              <a:buAutoNum type="arabicPeriod"/>
            </a:pPr>
            <a:r>
              <a:rPr lang="en-US" altLang="en-US" dirty="0" smtClean="0">
                <a:latin typeface="Arial Unicode MS" panose="020B0604020202020204" pitchFamily="34" charset="-128"/>
              </a:rPr>
              <a:t>Protocols Supported</a:t>
            </a:r>
          </a:p>
          <a:p>
            <a:pPr marL="913448" lvl="1" indent="-457200" defTabSz="914400" eaLnBrk="0" fontAlgn="base" hangingPunct="0">
              <a:spcBef>
                <a:spcPct val="0"/>
              </a:spcBef>
              <a:spcAft>
                <a:spcPct val="0"/>
              </a:spcAft>
              <a:buClrTx/>
              <a:buFont typeface="+mj-lt"/>
              <a:buAutoNum type="arabicPeriod"/>
            </a:pPr>
            <a:r>
              <a:rPr lang="en-US" altLang="en-US" dirty="0" smtClean="0">
                <a:latin typeface="Arial Unicode MS" panose="020B0604020202020204" pitchFamily="34" charset="-128"/>
              </a:rPr>
              <a:t>IP </a:t>
            </a:r>
            <a:r>
              <a:rPr lang="en-US" altLang="en-US" dirty="0">
                <a:latin typeface="Arial Unicode MS" panose="020B0604020202020204" pitchFamily="34" charset="-128"/>
              </a:rPr>
              <a:t>Interface </a:t>
            </a:r>
            <a:r>
              <a:rPr lang="en-US" altLang="en-US" dirty="0" smtClean="0">
                <a:latin typeface="Arial Unicode MS" panose="020B0604020202020204" pitchFamily="34" charset="-128"/>
              </a:rPr>
              <a:t>Address</a:t>
            </a:r>
          </a:p>
          <a:p>
            <a:pPr marL="913448" lvl="1" indent="-457200" defTabSz="914400" eaLnBrk="0" fontAlgn="base" hangingPunct="0">
              <a:spcBef>
                <a:spcPct val="0"/>
              </a:spcBef>
              <a:spcAft>
                <a:spcPct val="0"/>
              </a:spcAft>
              <a:buClrTx/>
              <a:buFont typeface="+mj-lt"/>
              <a:buAutoNum type="arabicPeriod"/>
            </a:pPr>
            <a:r>
              <a:rPr lang="en-US" altLang="en-US" dirty="0" smtClean="0">
                <a:latin typeface="Arial Unicode MS" panose="020B0604020202020204" pitchFamily="34" charset="-128"/>
              </a:rPr>
              <a:t>Authentication Information</a:t>
            </a:r>
          </a:p>
          <a:p>
            <a:pPr marL="913448" lvl="1" indent="-457200" defTabSz="914400" eaLnBrk="0" fontAlgn="base" hangingPunct="0">
              <a:spcBef>
                <a:spcPct val="0"/>
              </a:spcBef>
              <a:spcAft>
                <a:spcPct val="0"/>
              </a:spcAft>
              <a:buClrTx/>
              <a:buFont typeface="+mj-lt"/>
              <a:buAutoNum type="arabicPeriod"/>
            </a:pPr>
            <a:r>
              <a:rPr lang="en-US" altLang="en-US" dirty="0" smtClean="0">
                <a:latin typeface="Arial Unicode MS" panose="020B0604020202020204" pitchFamily="34" charset="-128"/>
              </a:rPr>
              <a:t>IP </a:t>
            </a:r>
            <a:r>
              <a:rPr lang="en-US" altLang="en-US" dirty="0">
                <a:latin typeface="Arial Unicode MS" panose="020B0604020202020204" pitchFamily="34" charset="-128"/>
              </a:rPr>
              <a:t>Internal Reachability </a:t>
            </a:r>
            <a:r>
              <a:rPr lang="en-US" altLang="en-US" dirty="0" smtClean="0">
                <a:latin typeface="Arial Unicode MS" panose="020B0604020202020204" pitchFamily="34" charset="-128"/>
              </a:rPr>
              <a:t>Information</a:t>
            </a:r>
          </a:p>
          <a:p>
            <a:pPr marL="913448" lvl="1" indent="-457200" defTabSz="914400" eaLnBrk="0" fontAlgn="base" hangingPunct="0">
              <a:spcBef>
                <a:spcPct val="0"/>
              </a:spcBef>
              <a:spcAft>
                <a:spcPct val="0"/>
              </a:spcAft>
              <a:buClrTx/>
              <a:buFont typeface="+mj-lt"/>
              <a:buAutoNum type="arabicPeriod"/>
            </a:pPr>
            <a:r>
              <a:rPr lang="en-US" altLang="en-US" dirty="0" smtClean="0">
                <a:latin typeface="Arial Unicode MS" panose="020B0604020202020204" pitchFamily="34" charset="-128"/>
              </a:rPr>
              <a:t>IP </a:t>
            </a:r>
            <a:r>
              <a:rPr lang="en-US" altLang="en-US" dirty="0">
                <a:latin typeface="Arial Unicode MS" panose="020B0604020202020204" pitchFamily="34" charset="-128"/>
              </a:rPr>
              <a:t>External Reachability </a:t>
            </a:r>
            <a:r>
              <a:rPr lang="en-US" altLang="en-US" dirty="0" smtClean="0">
                <a:latin typeface="Arial Unicode MS" panose="020B0604020202020204" pitchFamily="34" charset="-128"/>
              </a:rPr>
              <a:t>Information</a:t>
            </a:r>
          </a:p>
          <a:p>
            <a:pPr marL="913448" lvl="1" indent="-457200" defTabSz="914400" eaLnBrk="0" fontAlgn="base" hangingPunct="0">
              <a:spcBef>
                <a:spcPct val="0"/>
              </a:spcBef>
              <a:spcAft>
                <a:spcPct val="0"/>
              </a:spcAft>
              <a:buClrTx/>
              <a:buFont typeface="+mj-lt"/>
              <a:buAutoNum type="arabicPeriod"/>
            </a:pPr>
            <a:r>
              <a:rPr lang="en-US" altLang="en-US" dirty="0" smtClean="0">
                <a:latin typeface="Arial Unicode MS" panose="020B0604020202020204" pitchFamily="34" charset="-128"/>
              </a:rPr>
              <a:t>Inter-Domain </a:t>
            </a:r>
            <a:r>
              <a:rPr lang="en-US" altLang="en-US" dirty="0">
                <a:latin typeface="Arial Unicode MS" panose="020B0604020202020204" pitchFamily="34" charset="-128"/>
              </a:rPr>
              <a:t>Routing Protocol </a:t>
            </a:r>
            <a:r>
              <a:rPr lang="en-US" altLang="en-US" dirty="0" smtClean="0">
                <a:latin typeface="Arial Unicode MS" panose="020B0604020202020204" pitchFamily="34" charset="-128"/>
              </a:rPr>
              <a:t>Information</a:t>
            </a:r>
            <a:r>
              <a:rPr lang="en-US" altLang="en-US" sz="1400" dirty="0" smtClean="0"/>
              <a:t> </a:t>
            </a:r>
            <a:endParaRPr lang="en-US" altLang="en-US" sz="4400" dirty="0">
              <a:latin typeface="Arial" panose="020B0604020202020204" pitchFamily="34" charset="0"/>
            </a:endParaRPr>
          </a:p>
        </p:txBody>
      </p:sp>
    </p:spTree>
    <p:extLst>
      <p:ext uri="{BB962C8B-B14F-4D97-AF65-F5344CB8AC3E}">
        <p14:creationId xmlns:p14="http://schemas.microsoft.com/office/powerpoint/2010/main" val="9422826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7931" y="277831"/>
            <a:ext cx="8229600" cy="952500"/>
          </a:xfrm>
        </p:spPr>
        <p:txBody>
          <a:bodyPr>
            <a:normAutofit fontScale="90000"/>
          </a:bodyPr>
          <a:lstStyle/>
          <a:p>
            <a:pPr algn="ctr"/>
            <a:r>
              <a:rPr lang="en-US" dirty="0" smtClean="0"/>
              <a:t>Overview of IP-Specific Info for IS-IS</a:t>
            </a:r>
            <a:r>
              <a:rPr lang="en-US" dirty="0"/>
              <a:t/>
            </a:r>
            <a:br>
              <a:rPr lang="en-US" dirty="0"/>
            </a:br>
            <a:endParaRPr lang="en-US"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60</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43572" y="1070109"/>
            <a:ext cx="8619835" cy="3352800"/>
          </a:xfrm>
        </p:spPr>
        <p:txBody>
          <a:bodyPr>
            <a:noAutofit/>
          </a:bodyPr>
          <a:lstStyle/>
          <a:p>
            <a:pPr lvl="0" defTabSz="914400" eaLnBrk="0" fontAlgn="base" hangingPunct="0">
              <a:spcBef>
                <a:spcPct val="0"/>
              </a:spcBef>
              <a:spcAft>
                <a:spcPct val="0"/>
              </a:spcAft>
              <a:buClrTx/>
            </a:pPr>
            <a:r>
              <a:rPr lang="en-US" altLang="en-US" dirty="0">
                <a:latin typeface="Arial Unicode MS" panose="020B0604020202020204" pitchFamily="34" charset="-128"/>
              </a:rPr>
              <a:t>The "Protocols Supported" field identifies the protocols which are</a:t>
            </a:r>
            <a:r>
              <a:rPr lang="en-US" altLang="en-US" sz="1800" dirty="0"/>
              <a:t> </a:t>
            </a:r>
            <a:r>
              <a:rPr lang="en-US" altLang="en-US" dirty="0">
                <a:latin typeface="Arial Unicode MS" panose="020B0604020202020204" pitchFamily="34" charset="-128"/>
              </a:rPr>
              <a:t>supported by each </a:t>
            </a:r>
            <a:r>
              <a:rPr lang="en-US" altLang="en-US" dirty="0" smtClean="0">
                <a:latin typeface="Arial Unicode MS" panose="020B0604020202020204" pitchFamily="34" charset="-128"/>
              </a:rPr>
              <a:t>router.</a:t>
            </a:r>
          </a:p>
          <a:p>
            <a:pPr defTabSz="914400" eaLnBrk="0" fontAlgn="base" hangingPunct="0">
              <a:spcBef>
                <a:spcPct val="0"/>
              </a:spcBef>
              <a:spcAft>
                <a:spcPct val="0"/>
              </a:spcAft>
              <a:buClrTx/>
            </a:pPr>
            <a:r>
              <a:rPr lang="en-US" altLang="en-US" dirty="0">
                <a:latin typeface="Arial Unicode MS" panose="020B0604020202020204" pitchFamily="34" charset="-128"/>
              </a:rPr>
              <a:t>The "IP Interface Address" is included in all IS-IS Hello packets and LSPs transmitted by IP-only and dual routers. In the Hello packets, this field occurs once only, and contains the IP address(</a:t>
            </a:r>
            <a:r>
              <a:rPr lang="en-US" altLang="en-US" dirty="0" err="1">
                <a:latin typeface="Arial Unicode MS" panose="020B0604020202020204" pitchFamily="34" charset="-128"/>
              </a:rPr>
              <a:t>es</a:t>
            </a:r>
            <a:r>
              <a:rPr lang="en-US" altLang="en-US" dirty="0">
                <a:latin typeface="Arial Unicode MS" panose="020B0604020202020204" pitchFamily="34" charset="-128"/>
              </a:rPr>
              <a:t>) of the interface on which the Hello packet is transmitted (up to a maximum of 63 IP addresses on each interface). </a:t>
            </a:r>
            <a:endParaRPr lang="en-US" altLang="en-US" dirty="0" smtClean="0">
              <a:latin typeface="Arial Unicode MS" panose="020B0604020202020204" pitchFamily="34" charset="-128"/>
            </a:endParaRPr>
          </a:p>
          <a:p>
            <a:pPr lvl="0" defTabSz="914400" eaLnBrk="0" fontAlgn="base" hangingPunct="0">
              <a:spcBef>
                <a:spcPct val="0"/>
              </a:spcBef>
              <a:spcAft>
                <a:spcPct val="0"/>
              </a:spcAft>
              <a:buClrTx/>
            </a:pPr>
            <a:r>
              <a:rPr lang="en-US" altLang="en-US" dirty="0">
                <a:latin typeface="Arial Unicode MS" panose="020B0604020202020204" pitchFamily="34" charset="-128"/>
              </a:rPr>
              <a:t>The "Authentication Information" field is optional in all IS-IS PDUs. If used, it contains information used to authenticate the packet.</a:t>
            </a:r>
            <a:r>
              <a:rPr lang="en-US" altLang="en-US" sz="1800" dirty="0"/>
              <a:t> </a:t>
            </a:r>
          </a:p>
          <a:p>
            <a:pPr defTabSz="914400" eaLnBrk="0" fontAlgn="base" hangingPunct="0">
              <a:spcBef>
                <a:spcPct val="0"/>
              </a:spcBef>
              <a:spcAft>
                <a:spcPct val="0"/>
              </a:spcAft>
              <a:buClrTx/>
            </a:pPr>
            <a:endParaRPr lang="en-US" altLang="en-US" dirty="0">
              <a:latin typeface="Arial" panose="020B0604020202020204" pitchFamily="34" charset="0"/>
            </a:endParaRPr>
          </a:p>
          <a:p>
            <a:pPr lvl="0" defTabSz="914400" eaLnBrk="0" fontAlgn="base" hangingPunct="0">
              <a:spcBef>
                <a:spcPct val="0"/>
              </a:spcBef>
              <a:spcAft>
                <a:spcPct val="0"/>
              </a:spcAft>
              <a:buClrTx/>
            </a:pPr>
            <a:endParaRPr lang="en-US" altLang="en-US" dirty="0" smtClean="0">
              <a:latin typeface="Arial Unicode MS" panose="020B0604020202020204" pitchFamily="34" charset="-128"/>
            </a:endParaRPr>
          </a:p>
          <a:p>
            <a:pPr marL="0" lvl="0" indent="0" defTabSz="914400" eaLnBrk="0" fontAlgn="base" hangingPunct="0">
              <a:spcBef>
                <a:spcPct val="0"/>
              </a:spcBef>
              <a:spcAft>
                <a:spcPct val="0"/>
              </a:spcAft>
              <a:buClrTx/>
              <a:buNone/>
            </a:pPr>
            <a:endParaRPr lang="en-US" altLang="en-US" sz="4800" dirty="0">
              <a:latin typeface="Arial" panose="020B0604020202020204" pitchFamily="34" charset="0"/>
            </a:endParaRPr>
          </a:p>
        </p:txBody>
      </p:sp>
      <p:sp>
        <p:nvSpPr>
          <p:cNvPr id="9" name="Rectangle 4"/>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5"/>
          <p:cNvSpPr>
            <a:spLocks noChangeArrowheads="1"/>
          </p:cNvSpPr>
          <p:nvPr/>
        </p:nvSpPr>
        <p:spPr bwMode="auto">
          <a:xfrm>
            <a:off x="0" y="105489"/>
            <a:ext cx="24878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smtClean="0">
                <a:ln>
                  <a:noFill/>
                </a:ln>
                <a:solidFill>
                  <a:schemeClr val="tx1"/>
                </a:solidFill>
                <a:effectLst/>
                <a:latin typeface="Arial Unicode MS" panose="020B0604020202020204" pitchFamily="34" charset="-128"/>
              </a:rPr>
              <a:t>.</a:t>
            </a:r>
            <a:r>
              <a:rPr kumimoji="0" lang="en-US" altLang="en-US" sz="8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296678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7931" y="277831"/>
            <a:ext cx="8229600" cy="952500"/>
          </a:xfrm>
        </p:spPr>
        <p:txBody>
          <a:bodyPr>
            <a:normAutofit fontScale="90000"/>
          </a:bodyPr>
          <a:lstStyle/>
          <a:p>
            <a:pPr algn="ctr"/>
            <a:r>
              <a:rPr lang="en-US" dirty="0" smtClean="0"/>
              <a:t>Overview of IP-Specific Info for IS-IS</a:t>
            </a:r>
            <a:r>
              <a:rPr lang="en-US" dirty="0"/>
              <a:t/>
            </a:r>
            <a:br>
              <a:rPr lang="en-US" dirty="0"/>
            </a:br>
            <a:endParaRPr lang="en-US"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61</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326779" y="1409700"/>
            <a:ext cx="8619835" cy="3352800"/>
          </a:xfrm>
        </p:spPr>
        <p:txBody>
          <a:bodyPr>
            <a:noAutofit/>
          </a:bodyPr>
          <a:lstStyle/>
          <a:p>
            <a:pPr defTabSz="914400" eaLnBrk="0" fontAlgn="base" hangingPunct="0">
              <a:spcBef>
                <a:spcPct val="0"/>
              </a:spcBef>
              <a:spcAft>
                <a:spcPct val="0"/>
              </a:spcAft>
              <a:buClrTx/>
            </a:pPr>
            <a:r>
              <a:rPr lang="en-US" altLang="en-US" sz="2000" dirty="0">
                <a:latin typeface="Arial Unicode MS" panose="020B0604020202020204" pitchFamily="34" charset="-128"/>
              </a:rPr>
              <a:t>The "IP Internal Reachability Information" field may be present in all LSPs transmitted by IP-capable routers. </a:t>
            </a:r>
          </a:p>
          <a:p>
            <a:pPr defTabSz="914400" eaLnBrk="0" fontAlgn="base" hangingPunct="0">
              <a:spcBef>
                <a:spcPct val="0"/>
              </a:spcBef>
              <a:spcAft>
                <a:spcPct val="0"/>
              </a:spcAft>
              <a:buClrTx/>
            </a:pPr>
            <a:r>
              <a:rPr lang="en-US" altLang="en-US" sz="2000" dirty="0" smtClean="0">
                <a:latin typeface="Arial Unicode MS" panose="020B0604020202020204" pitchFamily="34" charset="-128"/>
              </a:rPr>
              <a:t>It </a:t>
            </a:r>
            <a:r>
              <a:rPr lang="en-US" altLang="en-US" sz="2000" dirty="0">
                <a:latin typeface="Arial Unicode MS" panose="020B0604020202020204" pitchFamily="34" charset="-128"/>
              </a:rPr>
              <a:t>identifies a list of zero or more [IP address, subnet mask, metrics] reachable by the router which originates the LSP. Each entry must contain a default metric, and may contain delay, expense, and error metrics. </a:t>
            </a:r>
          </a:p>
          <a:p>
            <a:pPr defTabSz="914400" eaLnBrk="0" fontAlgn="base" hangingPunct="0">
              <a:spcBef>
                <a:spcPct val="0"/>
              </a:spcBef>
              <a:spcAft>
                <a:spcPct val="0"/>
              </a:spcAft>
              <a:buClrTx/>
            </a:pPr>
            <a:r>
              <a:rPr lang="en-US" altLang="en-US" sz="2000" dirty="0" smtClean="0">
                <a:latin typeface="Arial Unicode MS" panose="020B0604020202020204" pitchFamily="34" charset="-128"/>
              </a:rPr>
              <a:t>In </a:t>
            </a:r>
            <a:r>
              <a:rPr lang="en-US" altLang="en-US" sz="2000" dirty="0">
                <a:latin typeface="Arial Unicode MS" panose="020B0604020202020204" pitchFamily="34" charset="-128"/>
              </a:rPr>
              <a:t>level 1 LSPs, this field includes only entries directly reachable by the router which originates the LSP, via one of its interfaces. </a:t>
            </a:r>
            <a:endParaRPr lang="en-US" altLang="en-US" sz="2000" dirty="0" smtClean="0">
              <a:latin typeface="Arial Unicode MS" panose="020B0604020202020204" pitchFamily="34" charset="-128"/>
            </a:endParaRPr>
          </a:p>
          <a:p>
            <a:pPr defTabSz="914400" eaLnBrk="0" fontAlgn="base" hangingPunct="0">
              <a:spcBef>
                <a:spcPct val="0"/>
              </a:spcBef>
              <a:spcAft>
                <a:spcPct val="0"/>
              </a:spcAft>
              <a:buClrTx/>
            </a:pPr>
            <a:r>
              <a:rPr lang="en-US" altLang="en-US" sz="2000" dirty="0" smtClean="0">
                <a:latin typeface="Arial Unicode MS" panose="020B0604020202020204" pitchFamily="34" charset="-128"/>
              </a:rPr>
              <a:t>In </a:t>
            </a:r>
            <a:r>
              <a:rPr lang="en-US" altLang="en-US" sz="2000" dirty="0">
                <a:latin typeface="Arial Unicode MS" panose="020B0604020202020204" pitchFamily="34" charset="-128"/>
              </a:rPr>
              <a:t>level 2 LSPs, this field includes only entries reachable by the router which originates the LSP, either via one of its interfaces, or indirectly via level 1 routing. </a:t>
            </a:r>
            <a:endParaRPr lang="en-US" altLang="en-US" sz="1600" dirty="0">
              <a:latin typeface="Arial" panose="020B0604020202020204" pitchFamily="34" charset="0"/>
            </a:endParaRPr>
          </a:p>
          <a:p>
            <a:pPr lvl="0" defTabSz="914400" eaLnBrk="0" fontAlgn="base" hangingPunct="0">
              <a:spcBef>
                <a:spcPct val="0"/>
              </a:spcBef>
              <a:spcAft>
                <a:spcPct val="0"/>
              </a:spcAft>
              <a:buClrTx/>
            </a:pPr>
            <a:endParaRPr lang="en-US" altLang="en-US" sz="1800" dirty="0" smtClean="0">
              <a:latin typeface="Arial Unicode MS" panose="020B0604020202020204" pitchFamily="34" charset="-128"/>
            </a:endParaRPr>
          </a:p>
          <a:p>
            <a:pPr marL="0" lvl="0" indent="0" defTabSz="914400" eaLnBrk="0" fontAlgn="base" hangingPunct="0">
              <a:spcBef>
                <a:spcPct val="0"/>
              </a:spcBef>
              <a:spcAft>
                <a:spcPct val="0"/>
              </a:spcAft>
              <a:buClrTx/>
              <a:buNone/>
            </a:pPr>
            <a:endParaRPr lang="en-US" altLang="en-US" sz="4000" dirty="0">
              <a:latin typeface="Arial" panose="020B0604020202020204" pitchFamily="34" charset="0"/>
            </a:endParaRPr>
          </a:p>
        </p:txBody>
      </p:sp>
      <p:sp>
        <p:nvSpPr>
          <p:cNvPr id="9" name="Rectangle 4"/>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5"/>
          <p:cNvSpPr>
            <a:spLocks noChangeArrowheads="1"/>
          </p:cNvSpPr>
          <p:nvPr/>
        </p:nvSpPr>
        <p:spPr bwMode="auto">
          <a:xfrm>
            <a:off x="0" y="105489"/>
            <a:ext cx="24878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smtClean="0">
                <a:ln>
                  <a:noFill/>
                </a:ln>
                <a:solidFill>
                  <a:schemeClr val="tx1"/>
                </a:solidFill>
                <a:effectLst/>
                <a:latin typeface="Arial Unicode MS" panose="020B0604020202020204" pitchFamily="34" charset="-128"/>
              </a:rPr>
              <a:t>.</a:t>
            </a:r>
            <a:r>
              <a:rPr kumimoji="0" lang="en-US" altLang="en-US" sz="8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678873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7931" y="277831"/>
            <a:ext cx="8229600" cy="952500"/>
          </a:xfrm>
        </p:spPr>
        <p:txBody>
          <a:bodyPr>
            <a:normAutofit fontScale="90000"/>
          </a:bodyPr>
          <a:lstStyle/>
          <a:p>
            <a:pPr algn="ctr"/>
            <a:r>
              <a:rPr lang="en-US" dirty="0" smtClean="0"/>
              <a:t>Overview of IP-Specific Info for IS-IS</a:t>
            </a:r>
            <a:r>
              <a:rPr lang="en-US" dirty="0"/>
              <a:t/>
            </a:r>
            <a:br>
              <a:rPr lang="en-US" dirty="0"/>
            </a:br>
            <a:endParaRPr lang="en-US"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62</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326779" y="1409700"/>
            <a:ext cx="8619835" cy="3352800"/>
          </a:xfrm>
        </p:spPr>
        <p:txBody>
          <a:bodyPr>
            <a:noAutofit/>
          </a:bodyPr>
          <a:lstStyle/>
          <a:p>
            <a:pPr defTabSz="914400" eaLnBrk="0" fontAlgn="base" hangingPunct="0">
              <a:spcBef>
                <a:spcPct val="0"/>
              </a:spcBef>
              <a:spcAft>
                <a:spcPct val="0"/>
              </a:spcAft>
              <a:buClrTx/>
            </a:pPr>
            <a:r>
              <a:rPr lang="en-US" altLang="en-US" sz="2000" dirty="0">
                <a:latin typeface="Arial Unicode MS" panose="020B0604020202020204" pitchFamily="34" charset="-128"/>
              </a:rPr>
              <a:t>The "IP External Reachability Information" field may be present in level 2 LSPs transmitted by level 2 IP-capable routers. </a:t>
            </a:r>
          </a:p>
          <a:p>
            <a:pPr defTabSz="914400" eaLnBrk="0" fontAlgn="base" hangingPunct="0">
              <a:spcBef>
                <a:spcPct val="0"/>
              </a:spcBef>
              <a:spcAft>
                <a:spcPct val="0"/>
              </a:spcAft>
              <a:buClrTx/>
            </a:pPr>
            <a:r>
              <a:rPr lang="en-US" altLang="en-US" sz="2000" dirty="0" smtClean="0">
                <a:latin typeface="Arial Unicode MS" panose="020B0604020202020204" pitchFamily="34" charset="-128"/>
              </a:rPr>
              <a:t>If </a:t>
            </a:r>
            <a:r>
              <a:rPr lang="en-US" altLang="en-US" sz="2000" dirty="0">
                <a:latin typeface="Arial Unicode MS" panose="020B0604020202020204" pitchFamily="34" charset="-128"/>
              </a:rPr>
              <a:t>present, it identifies a list of zero or more [IP address, subnet mask, metrics] entries reachable by the router which originates the level 2 </a:t>
            </a:r>
            <a:r>
              <a:rPr lang="en-US" altLang="en-US" sz="2000" dirty="0" smtClean="0">
                <a:latin typeface="Arial Unicode MS" panose="020B0604020202020204" pitchFamily="34" charset="-128"/>
              </a:rPr>
              <a:t>LSP.</a:t>
            </a:r>
          </a:p>
          <a:p>
            <a:pPr defTabSz="914400" eaLnBrk="0" fontAlgn="base" hangingPunct="0">
              <a:spcBef>
                <a:spcPct val="0"/>
              </a:spcBef>
              <a:spcAft>
                <a:spcPct val="0"/>
              </a:spcAft>
              <a:buClrTx/>
            </a:pPr>
            <a:r>
              <a:rPr lang="en-US" altLang="en-US" sz="2000" dirty="0" smtClean="0">
                <a:latin typeface="Arial Unicode MS" panose="020B0604020202020204" pitchFamily="34" charset="-128"/>
              </a:rPr>
              <a:t>Each </a:t>
            </a:r>
            <a:r>
              <a:rPr lang="en-US" altLang="en-US" sz="2000" dirty="0">
                <a:latin typeface="Arial Unicode MS" panose="020B0604020202020204" pitchFamily="34" charset="-128"/>
              </a:rPr>
              <a:t>entry must contain a default metric, and may contain delay, expense, and error metrics. Each entry may contain metrics of type "internal", or of type "external". If a level 2 router does not have </a:t>
            </a:r>
            <a:endParaRPr lang="en-US" altLang="en-US" sz="4400" dirty="0">
              <a:latin typeface="Arial" panose="020B0604020202020204" pitchFamily="34" charset="0"/>
            </a:endParaRPr>
          </a:p>
          <a:p>
            <a:pPr lvl="0" defTabSz="914400" eaLnBrk="0" fontAlgn="base" hangingPunct="0">
              <a:spcBef>
                <a:spcPct val="0"/>
              </a:spcBef>
              <a:spcAft>
                <a:spcPct val="0"/>
              </a:spcAft>
              <a:buClrTx/>
            </a:pPr>
            <a:endParaRPr lang="en-US" altLang="en-US" sz="1800" dirty="0" smtClean="0">
              <a:latin typeface="Arial Unicode MS" panose="020B0604020202020204" pitchFamily="34" charset="-128"/>
            </a:endParaRPr>
          </a:p>
          <a:p>
            <a:pPr marL="0" lvl="0" indent="0" defTabSz="914400" eaLnBrk="0" fontAlgn="base" hangingPunct="0">
              <a:spcBef>
                <a:spcPct val="0"/>
              </a:spcBef>
              <a:spcAft>
                <a:spcPct val="0"/>
              </a:spcAft>
              <a:buClrTx/>
              <a:buNone/>
            </a:pPr>
            <a:endParaRPr lang="en-US" altLang="en-US" sz="4000" dirty="0">
              <a:latin typeface="Arial" panose="020B0604020202020204" pitchFamily="34" charset="0"/>
            </a:endParaRPr>
          </a:p>
        </p:txBody>
      </p:sp>
      <p:sp>
        <p:nvSpPr>
          <p:cNvPr id="9" name="Rectangle 4"/>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5"/>
          <p:cNvSpPr>
            <a:spLocks noChangeArrowheads="1"/>
          </p:cNvSpPr>
          <p:nvPr/>
        </p:nvSpPr>
        <p:spPr bwMode="auto">
          <a:xfrm>
            <a:off x="0" y="105489"/>
            <a:ext cx="24878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smtClean="0">
                <a:ln>
                  <a:noFill/>
                </a:ln>
                <a:solidFill>
                  <a:schemeClr val="tx1"/>
                </a:solidFill>
                <a:effectLst/>
                <a:latin typeface="Arial Unicode MS" panose="020B0604020202020204" pitchFamily="34" charset="-128"/>
              </a:rPr>
              <a:t>.</a:t>
            </a:r>
            <a:r>
              <a:rPr kumimoji="0" lang="en-US" altLang="en-US" sz="8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766508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7931" y="277831"/>
            <a:ext cx="8229600" cy="952500"/>
          </a:xfrm>
        </p:spPr>
        <p:txBody>
          <a:bodyPr>
            <a:normAutofit fontScale="90000"/>
          </a:bodyPr>
          <a:lstStyle/>
          <a:p>
            <a:pPr algn="ctr"/>
            <a:r>
              <a:rPr lang="en-US" dirty="0" smtClean="0"/>
              <a:t>Overview of IP-Specific Info for IS-IS</a:t>
            </a:r>
            <a:r>
              <a:rPr lang="en-US" dirty="0"/>
              <a:t/>
            </a:r>
            <a:br>
              <a:rPr lang="en-US" dirty="0"/>
            </a:br>
            <a:endParaRPr lang="en-US"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63</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326779" y="1409700"/>
            <a:ext cx="8619835" cy="3352800"/>
          </a:xfrm>
        </p:spPr>
        <p:txBody>
          <a:bodyPr>
            <a:noAutofit/>
          </a:bodyPr>
          <a:lstStyle/>
          <a:p>
            <a:pPr defTabSz="914400" eaLnBrk="0" fontAlgn="base" hangingPunct="0">
              <a:spcBef>
                <a:spcPct val="0"/>
              </a:spcBef>
              <a:spcAft>
                <a:spcPct val="0"/>
              </a:spcAft>
              <a:buClrTx/>
            </a:pPr>
            <a:r>
              <a:rPr lang="en-US" altLang="en-US" sz="2000" dirty="0">
                <a:latin typeface="Arial Unicode MS" panose="020B0604020202020204" pitchFamily="34" charset="-128"/>
              </a:rPr>
              <a:t>The "Inter-Domain Routing Protocol Information" field may be present in level 2 LSPs transmitted by level 2 IP-capable routers. </a:t>
            </a:r>
            <a:endParaRPr lang="en-US" altLang="en-US" sz="2000" dirty="0" smtClean="0">
              <a:latin typeface="Arial Unicode MS" panose="020B0604020202020204" pitchFamily="34" charset="-128"/>
            </a:endParaRPr>
          </a:p>
          <a:p>
            <a:pPr defTabSz="914400" eaLnBrk="0" fontAlgn="base" hangingPunct="0">
              <a:spcBef>
                <a:spcPct val="0"/>
              </a:spcBef>
              <a:spcAft>
                <a:spcPct val="0"/>
              </a:spcAft>
              <a:buClrTx/>
            </a:pPr>
            <a:r>
              <a:rPr lang="en-US" altLang="en-US" sz="2000" dirty="0" smtClean="0">
                <a:latin typeface="Arial Unicode MS" panose="020B0604020202020204" pitchFamily="34" charset="-128"/>
              </a:rPr>
              <a:t>This </a:t>
            </a:r>
            <a:r>
              <a:rPr lang="en-US" altLang="en-US" sz="2000" dirty="0">
                <a:latin typeface="Arial Unicode MS" panose="020B0604020202020204" pitchFamily="34" charset="-128"/>
              </a:rPr>
              <a:t>field is transmitted for the convenience of the external routing protocol, and is not used by the IS-IS. </a:t>
            </a:r>
            <a:endParaRPr lang="en-US" altLang="en-US" sz="2000" dirty="0" smtClean="0">
              <a:latin typeface="Arial Unicode MS" panose="020B0604020202020204" pitchFamily="34" charset="-128"/>
            </a:endParaRPr>
          </a:p>
          <a:p>
            <a:pPr defTabSz="914400" eaLnBrk="0" fontAlgn="base" hangingPunct="0">
              <a:spcBef>
                <a:spcPct val="0"/>
              </a:spcBef>
              <a:spcAft>
                <a:spcPct val="0"/>
              </a:spcAft>
              <a:buClrTx/>
            </a:pPr>
            <a:r>
              <a:rPr lang="en-US" altLang="en-US" sz="2000" dirty="0" smtClean="0">
                <a:latin typeface="Arial Unicode MS" panose="020B0604020202020204" pitchFamily="34" charset="-128"/>
              </a:rPr>
              <a:t>For </a:t>
            </a:r>
            <a:r>
              <a:rPr lang="en-US" altLang="en-US" sz="2000" dirty="0">
                <a:latin typeface="Arial Unicode MS" panose="020B0604020202020204" pitchFamily="34" charset="-128"/>
              </a:rPr>
              <a:t>example, this may be used to allow border routers to find each other. This field may occur multiple times in a level 2 LSP, and may occur in an LSP with any LSP number.</a:t>
            </a:r>
            <a:r>
              <a:rPr lang="en-US" altLang="en-US" sz="1600" dirty="0"/>
              <a:t> </a:t>
            </a:r>
            <a:endParaRPr lang="en-US" altLang="en-US" sz="4400" dirty="0">
              <a:latin typeface="Arial" panose="020B0604020202020204" pitchFamily="34" charset="0"/>
            </a:endParaRPr>
          </a:p>
          <a:p>
            <a:pPr lvl="0" defTabSz="914400" eaLnBrk="0" fontAlgn="base" hangingPunct="0">
              <a:spcBef>
                <a:spcPct val="0"/>
              </a:spcBef>
              <a:spcAft>
                <a:spcPct val="0"/>
              </a:spcAft>
              <a:buClrTx/>
            </a:pPr>
            <a:endParaRPr lang="en-US" altLang="en-US" sz="1800" dirty="0" smtClean="0">
              <a:latin typeface="Arial Unicode MS" panose="020B0604020202020204" pitchFamily="34" charset="-128"/>
            </a:endParaRPr>
          </a:p>
          <a:p>
            <a:pPr marL="0" lvl="0" indent="0" defTabSz="914400" eaLnBrk="0" fontAlgn="base" hangingPunct="0">
              <a:spcBef>
                <a:spcPct val="0"/>
              </a:spcBef>
              <a:spcAft>
                <a:spcPct val="0"/>
              </a:spcAft>
              <a:buClrTx/>
              <a:buNone/>
            </a:pPr>
            <a:endParaRPr lang="en-US" altLang="en-US" sz="4000" dirty="0">
              <a:latin typeface="Arial" panose="020B0604020202020204" pitchFamily="34" charset="0"/>
            </a:endParaRPr>
          </a:p>
        </p:txBody>
      </p:sp>
      <p:sp>
        <p:nvSpPr>
          <p:cNvPr id="9" name="Rectangle 4"/>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5"/>
          <p:cNvSpPr>
            <a:spLocks noChangeArrowheads="1"/>
          </p:cNvSpPr>
          <p:nvPr/>
        </p:nvSpPr>
        <p:spPr bwMode="auto">
          <a:xfrm>
            <a:off x="0" y="105489"/>
            <a:ext cx="24878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smtClean="0">
                <a:ln>
                  <a:noFill/>
                </a:ln>
                <a:solidFill>
                  <a:schemeClr val="tx1"/>
                </a:solidFill>
                <a:effectLst/>
                <a:latin typeface="Arial Unicode MS" panose="020B0604020202020204" pitchFamily="34" charset="-128"/>
              </a:rPr>
              <a:t>.</a:t>
            </a:r>
            <a:r>
              <a:rPr kumimoji="0" lang="en-US" altLang="en-US" sz="8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426005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pPr algn="ctr"/>
            <a:r>
              <a:rPr lang="en-US" dirty="0" smtClean="0"/>
              <a:t>Overview of IP-Specific Info for IS-IS</a:t>
            </a:r>
            <a:r>
              <a:rPr lang="en-US" dirty="0"/>
              <a:t/>
            </a:r>
            <a:br>
              <a:rPr lang="en-US" dirty="0"/>
            </a:br>
            <a:endParaRPr lang="en-US" dirty="0"/>
          </a:p>
        </p:txBody>
      </p:sp>
      <p:sp>
        <p:nvSpPr>
          <p:cNvPr id="7" name="Content Placeholder 6"/>
          <p:cNvSpPr>
            <a:spLocks noGrp="1"/>
          </p:cNvSpPr>
          <p:nvPr>
            <p:ph idx="1"/>
          </p:nvPr>
        </p:nvSpPr>
        <p:spPr>
          <a:xfrm>
            <a:off x="457208" y="1225815"/>
            <a:ext cx="8229600" cy="1860285"/>
          </a:xfrm>
        </p:spPr>
        <p:txBody>
          <a:bodyPr>
            <a:noAutofit/>
          </a:bodyPr>
          <a:lstStyle/>
          <a:p>
            <a:r>
              <a:rPr lang="en-US" dirty="0" smtClean="0"/>
              <a:t>Type Length Values (TLV’s)</a:t>
            </a:r>
          </a:p>
          <a:p>
            <a:pPr lvl="0"/>
            <a:r>
              <a:rPr lang="en-US" altLang="en-US" dirty="0">
                <a:latin typeface="Arial Unicode MS" panose="020B0604020202020204" pitchFamily="34" charset="-128"/>
              </a:rPr>
              <a:t>All IP-specific information is encoded in IS-IS packets as variable length fields. All variable length fields in IS-IS are encoded as follows:</a:t>
            </a:r>
            <a:r>
              <a:rPr lang="en-US" altLang="en-US" sz="2000" dirty="0"/>
              <a:t> </a:t>
            </a:r>
            <a:endParaRPr lang="en-US" altLang="en-US" sz="5400" dirty="0">
              <a:latin typeface="Arial" panose="020B0604020202020204" pitchFamily="34" charset="0"/>
            </a:endParaRPr>
          </a:p>
          <a:p>
            <a:endParaRPr lang="en-US" dirty="0"/>
          </a:p>
        </p:txBody>
      </p:sp>
      <p:sp>
        <p:nvSpPr>
          <p:cNvPr id="4" name="Slide Number Placeholder 3"/>
          <p:cNvSpPr>
            <a:spLocks noGrp="1"/>
          </p:cNvSpPr>
          <p:nvPr>
            <p:ph type="sldNum" sz="quarter" idx="4294967295"/>
          </p:nvPr>
        </p:nvSpPr>
        <p:spPr>
          <a:xfrm>
            <a:off x="7010400" y="5297488"/>
            <a:ext cx="2133600" cy="304800"/>
          </a:xfrm>
        </p:spPr>
        <p:txBody>
          <a:bodyPr/>
          <a:lstStyle/>
          <a:p>
            <a:fld id="{1C0FA7A3-0FBF-4EC3-BE45-825983E95E58}" type="slidenum">
              <a:rPr lang="en-US" smtClean="0"/>
              <a:pPr/>
              <a:t>64</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9" name="Rectangle 4"/>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5"/>
          <p:cNvSpPr>
            <a:spLocks noChangeArrowheads="1"/>
          </p:cNvSpPr>
          <p:nvPr/>
        </p:nvSpPr>
        <p:spPr bwMode="auto">
          <a:xfrm>
            <a:off x="0" y="105489"/>
            <a:ext cx="24878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smtClean="0">
                <a:ln>
                  <a:noFill/>
                </a:ln>
                <a:solidFill>
                  <a:schemeClr val="tx1"/>
                </a:solidFill>
                <a:effectLst/>
                <a:latin typeface="Arial Unicode MS" panose="020B0604020202020204" pitchFamily="34" charset="-128"/>
              </a:rPr>
              <a:t>.</a:t>
            </a:r>
            <a:r>
              <a:rPr kumimoji="0" lang="en-US" altLang="en-US" sz="8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387458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41601" y="228599"/>
            <a:ext cx="8229600" cy="952500"/>
          </a:xfrm>
        </p:spPr>
        <p:txBody>
          <a:bodyPr>
            <a:normAutofit fontScale="90000"/>
          </a:bodyPr>
          <a:lstStyle/>
          <a:p>
            <a:pPr lvl="0" algn="ctr"/>
            <a:r>
              <a:rPr lang="en-US" altLang="en-US" dirty="0">
                <a:solidFill>
                  <a:schemeClr val="tx1"/>
                </a:solidFill>
                <a:latin typeface="Arial Unicode MS" panose="020B0604020202020204" pitchFamily="34" charset="-128"/>
              </a:rPr>
              <a:t>Encoding of IP-Specific Fields in IS-IS PDUs</a:t>
            </a:r>
            <a:br>
              <a:rPr lang="en-US" altLang="en-US" dirty="0">
                <a:solidFill>
                  <a:schemeClr val="tx1"/>
                </a:solidFill>
                <a:latin typeface="Arial Unicode MS" panose="020B0604020202020204" pitchFamily="34" charset="-128"/>
              </a:rPr>
            </a:br>
            <a:endParaRPr lang="en-US" dirty="0"/>
          </a:p>
        </p:txBody>
      </p:sp>
      <p:sp>
        <p:nvSpPr>
          <p:cNvPr id="7" name="Content Placeholder 6"/>
          <p:cNvSpPr>
            <a:spLocks noGrp="1"/>
          </p:cNvSpPr>
          <p:nvPr>
            <p:ph idx="1"/>
          </p:nvPr>
        </p:nvSpPr>
        <p:spPr>
          <a:xfrm>
            <a:off x="457208" y="1225815"/>
            <a:ext cx="8229600" cy="1860285"/>
          </a:xfrm>
        </p:spPr>
        <p:txBody>
          <a:bodyPr>
            <a:noAutofit/>
          </a:bodyPr>
          <a:lstStyle/>
          <a:p>
            <a:r>
              <a:rPr lang="en-US" dirty="0" smtClean="0"/>
              <a:t>Type Length Values (TLV’s)</a:t>
            </a:r>
          </a:p>
          <a:p>
            <a:pPr lvl="0"/>
            <a:r>
              <a:rPr lang="en-US" altLang="en-US" dirty="0">
                <a:latin typeface="Arial Unicode MS" panose="020B0604020202020204" pitchFamily="34" charset="-128"/>
              </a:rPr>
              <a:t>All IP-specific information is encoded in IS-IS packets as variable length fields. All variable length fields in IS-IS are encoded as follows:</a:t>
            </a:r>
            <a:r>
              <a:rPr lang="en-US" altLang="en-US" sz="2000" dirty="0"/>
              <a:t> </a:t>
            </a:r>
            <a:endParaRPr lang="en-US" altLang="en-US" sz="5400" dirty="0">
              <a:latin typeface="Arial" panose="020B0604020202020204" pitchFamily="34" charset="0"/>
            </a:endParaRPr>
          </a:p>
        </p:txBody>
      </p:sp>
      <p:sp>
        <p:nvSpPr>
          <p:cNvPr id="4" name="Slide Number Placeholder 3"/>
          <p:cNvSpPr>
            <a:spLocks noGrp="1"/>
          </p:cNvSpPr>
          <p:nvPr>
            <p:ph type="sldNum" sz="quarter" idx="4294967295"/>
          </p:nvPr>
        </p:nvSpPr>
        <p:spPr>
          <a:xfrm>
            <a:off x="7010400" y="5297488"/>
            <a:ext cx="2133600" cy="304800"/>
          </a:xfrm>
        </p:spPr>
        <p:txBody>
          <a:bodyPr/>
          <a:lstStyle/>
          <a:p>
            <a:fld id="{1C0FA7A3-0FBF-4EC3-BE45-825983E95E58}" type="slidenum">
              <a:rPr lang="en-US" smtClean="0"/>
              <a:pPr/>
              <a:t>65</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9" name="Rectangle 4"/>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5"/>
          <p:cNvSpPr>
            <a:spLocks noChangeArrowheads="1"/>
          </p:cNvSpPr>
          <p:nvPr/>
        </p:nvSpPr>
        <p:spPr bwMode="auto">
          <a:xfrm>
            <a:off x="0" y="105489"/>
            <a:ext cx="24878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smtClean="0">
                <a:ln>
                  <a:noFill/>
                </a:ln>
                <a:solidFill>
                  <a:schemeClr val="tx1"/>
                </a:solidFill>
                <a:effectLst/>
                <a:latin typeface="Arial Unicode MS" panose="020B0604020202020204" pitchFamily="34" charset="-128"/>
              </a:rPr>
              <a:t>.</a:t>
            </a:r>
            <a:r>
              <a:rPr kumimoji="0" lang="en-US" altLang="en-US" sz="8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9219" name="Picture 3" descr="byte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6588" y="3130816"/>
            <a:ext cx="4619625" cy="120015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609600" y="4528202"/>
            <a:ext cx="8195898" cy="369332"/>
          </a:xfrm>
          <a:prstGeom prst="rect">
            <a:avLst/>
          </a:prstGeom>
          <a:noFill/>
        </p:spPr>
        <p:txBody>
          <a:bodyPr wrap="none" rtlCol="0">
            <a:spAutoFit/>
          </a:bodyPr>
          <a:lstStyle/>
          <a:p>
            <a:r>
              <a:rPr lang="en-US" dirty="0" smtClean="0"/>
              <a:t>TLV’s for IP address and IP route tables propagated using TLV’s 129 and 132. </a:t>
            </a:r>
            <a:endParaRPr lang="en-US" dirty="0"/>
          </a:p>
        </p:txBody>
      </p:sp>
    </p:spTree>
    <p:extLst>
      <p:ext uri="{BB962C8B-B14F-4D97-AF65-F5344CB8AC3E}">
        <p14:creationId xmlns:p14="http://schemas.microsoft.com/office/powerpoint/2010/main" val="11800119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114300"/>
            <a:ext cx="8229600" cy="655280"/>
          </a:xfrm>
        </p:spPr>
        <p:txBody>
          <a:bodyPr>
            <a:normAutofit/>
          </a:bodyPr>
          <a:lstStyle/>
          <a:p>
            <a:pPr algn="ctr"/>
            <a:r>
              <a:rPr lang="en-US" dirty="0"/>
              <a:t>Basic and Common IS-IS TLVs</a:t>
            </a:r>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66</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pic>
        <p:nvPicPr>
          <p:cNvPr id="14338" name="Picture 2" descr="http://1.bp.blogspot.com/-iGSyZeif_CQ/T0-SB2SlRAI/AAAAAAAAAsQ/ysLJby9kfWI/s1600/is-is+tlv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333500"/>
            <a:ext cx="5905500" cy="3581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15307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smtClean="0"/>
              <a:t>I</a:t>
            </a:r>
            <a:r>
              <a:rPr lang="en-US" dirty="0"/>
              <a:t>S-IS PDU Format and IS-IS PDU Type Numbers</a:t>
            </a:r>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67</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pic>
        <p:nvPicPr>
          <p:cNvPr id="10244" name="Picture 4" descr="http://4.bp.blogspot.com/-pyVxcxB9a4M/T0-P2ZDR72I/AAAAAAAAAsA/UV5aVVklJYQ/s1600/pdu+forma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6481" y="1333500"/>
            <a:ext cx="6362700" cy="3581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92897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pPr algn="ctr"/>
            <a:r>
              <a:rPr lang="en-US" dirty="0"/>
              <a:t>IS-IS PDU Format – LAN Hello PDU, Point-to-Point Hello PDU, LSP, CSNP, and PSNP</a:t>
            </a:r>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68</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pic>
        <p:nvPicPr>
          <p:cNvPr id="13314" name="Picture 2" descr="http://1.bp.blogspot.com/-9_nvv3M8ToU/T0-QsqCGc3I/AAAAAAAAAsI/YcBnXq2mkQI/s1600/pdu+format+i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5895" y="1420588"/>
            <a:ext cx="6372225" cy="3454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78896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69</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08069"/>
            <a:ext cx="8229600" cy="3879338"/>
          </a:xfrm>
        </p:spPr>
        <p:txBody>
          <a:bodyPr>
            <a:noAutofit/>
          </a:bodyPr>
          <a:lstStyle/>
          <a:p>
            <a:pPr>
              <a:buFont typeface="Wingdings" panose="05000000000000000000" pitchFamily="2" charset="2"/>
              <a:buChar char="Ø"/>
            </a:pPr>
            <a:endParaRPr lang="en-US" dirty="0">
              <a:hlinkClick r:id="rId3"/>
            </a:endParaRPr>
          </a:p>
          <a:p>
            <a:pPr>
              <a:buFont typeface="Wingdings" panose="05000000000000000000" pitchFamily="2" charset="2"/>
              <a:buChar char="Ø"/>
            </a:pPr>
            <a:r>
              <a:rPr lang="en-US" dirty="0" smtClean="0"/>
              <a:t>IS-IS cheat sheet</a:t>
            </a:r>
          </a:p>
          <a:p>
            <a:pPr marL="0" indent="0">
              <a:buNone/>
            </a:pPr>
            <a:r>
              <a:rPr lang="en-US" dirty="0">
                <a:hlinkClick r:id="rId4"/>
              </a:rPr>
              <a:t>http://</a:t>
            </a:r>
            <a:r>
              <a:rPr lang="en-US" dirty="0" smtClean="0">
                <a:hlinkClick r:id="rId4"/>
              </a:rPr>
              <a:t>packetlife.net/media/library/9/IS-IS.pdf</a:t>
            </a:r>
            <a:endParaRPr lang="en-US" dirty="0" smtClean="0"/>
          </a:p>
          <a:p>
            <a:pPr marL="0" indent="0">
              <a:buNone/>
            </a:pPr>
            <a:endParaRPr lang="en-US" dirty="0" smtClean="0"/>
          </a:p>
        </p:txBody>
      </p:sp>
    </p:spTree>
    <p:extLst>
      <p:ext uri="{BB962C8B-B14F-4D97-AF65-F5344CB8AC3E}">
        <p14:creationId xmlns:p14="http://schemas.microsoft.com/office/powerpoint/2010/main" val="2703545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Intermediate System-Intermediate </a:t>
            </a:r>
            <a:r>
              <a:rPr lang="en-US" dirty="0" smtClean="0">
                <a:latin typeface="Calibri" panose="020F0502020204030204" pitchFamily="34" charset="0"/>
                <a:cs typeface="Calibri" panose="020F0502020204030204" pitchFamily="34" charset="0"/>
              </a:rPr>
              <a:t>System (IS </a:t>
            </a:r>
            <a:r>
              <a:rPr lang="en-US" dirty="0">
                <a:latin typeface="Calibri" panose="020F0502020204030204" pitchFamily="34" charset="0"/>
                <a:cs typeface="Calibri" panose="020F0502020204030204" pitchFamily="34" charset="0"/>
              </a:rPr>
              <a:t>– IS</a:t>
            </a:r>
            <a:r>
              <a:rPr lang="en-US" dirty="0"/>
              <a:t>)</a:t>
            </a:r>
            <a:endParaRPr lang="en-US" b="0" dirty="0"/>
          </a:p>
        </p:txBody>
      </p:sp>
      <p:sp>
        <p:nvSpPr>
          <p:cNvPr id="4" name="Slide Number Placeholder 3"/>
          <p:cNvSpPr>
            <a:spLocks noGrp="1"/>
          </p:cNvSpPr>
          <p:nvPr>
            <p:ph type="sldNum" sz="quarter" idx="4294967295"/>
          </p:nvPr>
        </p:nvSpPr>
        <p:spPr/>
        <p:txBody>
          <a:bodyPr/>
          <a:lstStyle/>
          <a:p>
            <a:fld id="{1C0FA7A3-0FBF-4EC3-BE45-825983E95E58}" type="slidenum">
              <a:rPr lang="en-US" smtClean="0"/>
              <a:pPr/>
              <a:t>70</a:t>
            </a:fld>
            <a:endParaRPr lang="en-US" dirty="0"/>
          </a:p>
        </p:txBody>
      </p:sp>
      <p:sp>
        <p:nvSpPr>
          <p:cNvPr id="8" name="TextBox 7"/>
          <p:cNvSpPr txBox="1"/>
          <p:nvPr/>
        </p:nvSpPr>
        <p:spPr>
          <a:xfrm>
            <a:off x="4318000" y="3810000"/>
            <a:ext cx="184731" cy="369332"/>
          </a:xfrm>
          <a:prstGeom prst="rect">
            <a:avLst/>
          </a:prstGeom>
          <a:noFill/>
        </p:spPr>
        <p:txBody>
          <a:bodyPr wrap="none" rtlCol="0">
            <a:spAutoFit/>
          </a:bodyPr>
          <a:lstStyle/>
          <a:p>
            <a:endParaRPr lang="en-US" dirty="0"/>
          </a:p>
        </p:txBody>
      </p:sp>
      <p:sp>
        <p:nvSpPr>
          <p:cNvPr id="2" name="Content Placeholder 1"/>
          <p:cNvSpPr>
            <a:spLocks noGrp="1"/>
          </p:cNvSpPr>
          <p:nvPr>
            <p:ph idx="1"/>
          </p:nvPr>
        </p:nvSpPr>
        <p:spPr>
          <a:xfrm>
            <a:off x="295565" y="1208069"/>
            <a:ext cx="8229600" cy="3879338"/>
          </a:xfrm>
        </p:spPr>
        <p:txBody>
          <a:bodyPr>
            <a:noAutofit/>
          </a:bodyPr>
          <a:lstStyle/>
          <a:p>
            <a:pPr>
              <a:buFont typeface="Wingdings" panose="05000000000000000000" pitchFamily="2" charset="2"/>
              <a:buChar char="Ø"/>
            </a:pPr>
            <a:endParaRPr lang="en-US" dirty="0">
              <a:hlinkClick r:id="rId3"/>
            </a:endParaRPr>
          </a:p>
          <a:p>
            <a:pPr>
              <a:buFont typeface="Wingdings" panose="05000000000000000000" pitchFamily="2" charset="2"/>
              <a:buChar char="Ø"/>
            </a:pPr>
            <a:r>
              <a:rPr lang="en-US" dirty="0">
                <a:hlinkClick r:id="rId4"/>
              </a:rPr>
              <a:t>https://www.youtube.com/watch?v=I6OX6f6yMCs&amp;t=21s</a:t>
            </a:r>
          </a:p>
          <a:p>
            <a:pPr>
              <a:buFont typeface="Wingdings" panose="05000000000000000000" pitchFamily="2" charset="2"/>
              <a:buChar char="Ø"/>
            </a:pPr>
            <a:r>
              <a:rPr lang="en-US" dirty="0" smtClean="0">
                <a:hlinkClick r:id="rId4"/>
              </a:rPr>
              <a:t>https</a:t>
            </a:r>
            <a:r>
              <a:rPr lang="en-US" dirty="0" smtClean="0">
                <a:hlinkClick r:id="rId4"/>
              </a:rPr>
              <a:t>://www.youtube.com/watch?v=o1k1TlxL5Dk</a:t>
            </a:r>
            <a:endParaRPr lang="en-US" dirty="0" smtClean="0"/>
          </a:p>
          <a:p>
            <a:pPr>
              <a:buFont typeface="Wingdings" panose="05000000000000000000" pitchFamily="2" charset="2"/>
              <a:buChar char="Ø"/>
            </a:pPr>
            <a:r>
              <a:rPr lang="en-US" dirty="0" smtClean="0">
                <a:hlinkClick r:id="rId3"/>
              </a:rPr>
              <a:t>https</a:t>
            </a:r>
            <a:r>
              <a:rPr lang="en-US" dirty="0">
                <a:hlinkClick r:id="rId3"/>
              </a:rPr>
              <a:t>://www.youtube.com/watch?v=tUf5q28Q1lM</a:t>
            </a:r>
            <a:r>
              <a:rPr lang="en-US" dirty="0"/>
              <a:t> </a:t>
            </a:r>
            <a:endParaRPr lang="en-US" dirty="0">
              <a:hlinkClick r:id="rId3"/>
            </a:endParaRPr>
          </a:p>
          <a:p>
            <a:pPr marL="0" indent="0">
              <a:buNone/>
            </a:pPr>
            <a:endParaRPr lang="en-US" dirty="0" smtClean="0"/>
          </a:p>
        </p:txBody>
      </p:sp>
    </p:spTree>
    <p:extLst>
      <p:ext uri="{BB962C8B-B14F-4D97-AF65-F5344CB8AC3E}">
        <p14:creationId xmlns:p14="http://schemas.microsoft.com/office/powerpoint/2010/main" val="21989808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2_SMU New 3">
  <a:themeElements>
    <a:clrScheme name="SMU">
      <a:dk1>
        <a:sysClr val="windowText" lastClr="000000"/>
      </a:dk1>
      <a:lt1>
        <a:sysClr val="window" lastClr="FFFFFF"/>
      </a:lt1>
      <a:dk2>
        <a:srgbClr val="032B66"/>
      </a:dk2>
      <a:lt2>
        <a:srgbClr val="E8E1C7"/>
      </a:lt2>
      <a:accent1>
        <a:srgbClr val="B10000"/>
      </a:accent1>
      <a:accent2>
        <a:srgbClr val="032B66"/>
      </a:accent2>
      <a:accent3>
        <a:srgbClr val="E8E1C7"/>
      </a:accent3>
      <a:accent4>
        <a:srgbClr val="0B2B58"/>
      </a:accent4>
      <a:accent5>
        <a:srgbClr val="5D6C93"/>
      </a:accent5>
      <a:accent6>
        <a:srgbClr val="F79646"/>
      </a:accent6>
      <a:hlink>
        <a:srgbClr val="0038A8"/>
      </a:hlink>
      <a:folHlink>
        <a:srgbClr val="B10000"/>
      </a:folHlink>
    </a:clrScheme>
    <a:fontScheme name="Revolution">
      <a:majorFont>
        <a:latin typeface="Trebuchet MS"/>
        <a:ea typeface=""/>
        <a:cs typeface=""/>
        <a:font script="Jpan" typeface="ＭＳ ゴシック"/>
        <a:font script="Hans" typeface="宋体"/>
        <a:font script="Hant" typeface="新細明體"/>
      </a:majorFont>
      <a:minorFont>
        <a:latin typeface="Trebuchet MS"/>
        <a:ea typeface=""/>
        <a:cs typeface=""/>
        <a:font script="Jpan" typeface="ＭＳ ゴシック"/>
        <a:font script="Hans" typeface="宋体"/>
        <a:font script="Hant" typeface="新細明體"/>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SMU New 3.thmx</Template>
  <TotalTime>28598</TotalTime>
  <Words>4826</Words>
  <Application>Microsoft Office PowerPoint</Application>
  <PresentationFormat>On-screen Show (16:10)</PresentationFormat>
  <Paragraphs>486</Paragraphs>
  <Slides>70</Slides>
  <Notes>70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70</vt:i4>
      </vt:variant>
    </vt:vector>
  </HeadingPairs>
  <TitlesOfParts>
    <vt:vector size="81" baseType="lpstr">
      <vt:lpstr>Arial</vt:lpstr>
      <vt:lpstr>Arial Unicode MS</vt:lpstr>
      <vt:lpstr>Calibri</vt:lpstr>
      <vt:lpstr>Helvetica</vt:lpstr>
      <vt:lpstr>Menlo</vt:lpstr>
      <vt:lpstr>open-sans</vt:lpstr>
      <vt:lpstr>Times</vt:lpstr>
      <vt:lpstr>Trebuchet MS</vt:lpstr>
      <vt:lpstr>Verdana</vt:lpstr>
      <vt:lpstr>Wingdings</vt:lpstr>
      <vt:lpstr>2_SMU New 3</vt:lpstr>
      <vt:lpstr>EETS 8332 Advanced Network Design</vt:lpstr>
      <vt:lpstr>Intermediate System-Intermediate System (IS – IS)</vt:lpstr>
      <vt:lpstr>Intermediate System-Intermediate System (IS – IS)</vt:lpstr>
      <vt:lpstr>Intermediate System-Intermediate System (IS – IS)</vt:lpstr>
      <vt:lpstr>Intermediate System-Intermediate System (IS – IS)</vt:lpstr>
      <vt:lpstr>Intermediate System-Intermediate System (IS – IS)</vt:lpstr>
      <vt:lpstr>Intermediate System-Intermediate System (IS – IS)</vt:lpstr>
      <vt:lpstr>Intermediate System-Intermediate System (IS – IS)</vt:lpstr>
      <vt:lpstr>Intermediate System-Intermediate System (IS – IS)</vt:lpstr>
      <vt:lpstr>Intermediate System-Intermediate System (IS – IS)</vt:lpstr>
      <vt:lpstr>Intermediate System-Intermediate System (IS – IS)</vt:lpstr>
      <vt:lpstr>Intermediate System-Intermediate System (IS – IS)</vt:lpstr>
      <vt:lpstr>Intermediate System-Intermediate System (IS – IS)</vt:lpstr>
      <vt:lpstr>Intermediate System-Intermediate System (IS – IS)</vt:lpstr>
      <vt:lpstr>Intermediate System-Intermediate System (IS – IS)</vt:lpstr>
      <vt:lpstr>Intermediate System-Intermediate System (IS – IS)</vt:lpstr>
      <vt:lpstr>IS-IS PDU Format – LAN Hello PDU, Point-to-Point Hello PDU, LSP, CSNP, and PSNP</vt:lpstr>
      <vt:lpstr>Level-1 routing</vt:lpstr>
      <vt:lpstr>Level-2 Routing</vt:lpstr>
      <vt:lpstr>Level-2 Routing</vt:lpstr>
      <vt:lpstr>Intermediate System-Intermediate System (IS – IS)</vt:lpstr>
      <vt:lpstr>Intermediate System-Intermediate System (IS – IS)</vt:lpstr>
      <vt:lpstr>Intermediate System-Intermediate System (IS – IS)</vt:lpstr>
      <vt:lpstr>Intermediate System-Intermediate System (IS – IS)</vt:lpstr>
      <vt:lpstr>Intermediate System-Intermediate System (IS – IS)</vt:lpstr>
      <vt:lpstr>Intermediate System-Intermediate System (IS – IS)</vt:lpstr>
      <vt:lpstr>Intermediate System-Intermediate System (IS – IS)</vt:lpstr>
      <vt:lpstr>Intermediate System-Intermediate System (IS – IS)</vt:lpstr>
      <vt:lpstr>Intermediate System-Intermediate System (IS – IS)</vt:lpstr>
      <vt:lpstr>Intermediate System-Intermediate System (IS – IS)</vt:lpstr>
      <vt:lpstr>Intermediate System-Intermediate System (IS – IS)</vt:lpstr>
      <vt:lpstr>Intermediate System-Intermediate System (IS – IS)</vt:lpstr>
      <vt:lpstr>Intermediate System-Intermediate System (IS – IS)</vt:lpstr>
      <vt:lpstr>Intermediate System-Intermediate System (IS – IS)</vt:lpstr>
      <vt:lpstr>Intermediate System-Intermediate System (IS – IS)</vt:lpstr>
      <vt:lpstr>IS-IS Protocols and Addressing: CLNS</vt:lpstr>
      <vt:lpstr>OSI Protocols</vt:lpstr>
      <vt:lpstr>OSI Protocols</vt:lpstr>
      <vt:lpstr>OSI Protocols</vt:lpstr>
      <vt:lpstr>IS-IS Protocols and Addressing CLNP</vt:lpstr>
      <vt:lpstr>IS-IS Protocols and Addressing: CLNP</vt:lpstr>
      <vt:lpstr>IS-IS Protocols and Addressing: CLNP</vt:lpstr>
      <vt:lpstr>IS-IS Protocols and Addressing: CLNP</vt:lpstr>
      <vt:lpstr>IS-IS Protocols and Addressing: CLNP</vt:lpstr>
      <vt:lpstr>IS-IS Protocols and Addressing: CLNP</vt:lpstr>
      <vt:lpstr>IS-IS Protocols and Addressing: CLNP</vt:lpstr>
      <vt:lpstr>IS-IS Protocols and Addressing: CLNP</vt:lpstr>
      <vt:lpstr>IS-IS Protocols and Addressing</vt:lpstr>
      <vt:lpstr>IS-IS Protocols and Addressing:  CLNS Address Example</vt:lpstr>
      <vt:lpstr>IS-IS Protocols and Addressing:  CLNS Address Example</vt:lpstr>
      <vt:lpstr>IS-IS Protocols and Addressing:  CLNS Address Example</vt:lpstr>
      <vt:lpstr>IS-IS Protocols and Addressing:  CLNS Address Example</vt:lpstr>
      <vt:lpstr>IS-IS Packet Types  </vt:lpstr>
      <vt:lpstr>IS-IS Packet Types  </vt:lpstr>
      <vt:lpstr>IS-IS Protocols and Addressing</vt:lpstr>
      <vt:lpstr>IS-IS Packet Types  </vt:lpstr>
      <vt:lpstr>IS-IS Packet Types  </vt:lpstr>
      <vt:lpstr>IS-IS </vt:lpstr>
      <vt:lpstr>Overview of IP-Specific Info for IS-IS </vt:lpstr>
      <vt:lpstr>Overview of IP-Specific Info for IS-IS </vt:lpstr>
      <vt:lpstr>Overview of IP-Specific Info for IS-IS </vt:lpstr>
      <vt:lpstr>Overview of IP-Specific Info for IS-IS </vt:lpstr>
      <vt:lpstr>Overview of IP-Specific Info for IS-IS </vt:lpstr>
      <vt:lpstr>Overview of IP-Specific Info for IS-IS </vt:lpstr>
      <vt:lpstr>Encoding of IP-Specific Fields in IS-IS PDUs </vt:lpstr>
      <vt:lpstr>Basic and Common IS-IS TLVs</vt:lpstr>
      <vt:lpstr>IS-IS PDU Format and IS-IS PDU Type Numbers</vt:lpstr>
      <vt:lpstr>IS-IS PDU Format – LAN Hello PDU, Point-to-Point Hello PDU, LSP, CSNP, and PSNP</vt:lpstr>
      <vt:lpstr>Intermediate System-Intermediate System (IS – IS)</vt:lpstr>
      <vt:lpstr>Intermediate System-Intermediate System (IS – IS)</vt:lpstr>
    </vt:vector>
  </TitlesOfParts>
  <Company>SMU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James VanDyke</dc:creator>
  <cp:lastModifiedBy>Kingsley, Scott</cp:lastModifiedBy>
  <cp:revision>939</cp:revision>
  <cp:lastPrinted>2017-09-04T23:53:04Z</cp:lastPrinted>
  <dcterms:created xsi:type="dcterms:W3CDTF">2009-12-04T00:24:29Z</dcterms:created>
  <dcterms:modified xsi:type="dcterms:W3CDTF">2021-09-16T14:17:24Z</dcterms:modified>
</cp:coreProperties>
</file>